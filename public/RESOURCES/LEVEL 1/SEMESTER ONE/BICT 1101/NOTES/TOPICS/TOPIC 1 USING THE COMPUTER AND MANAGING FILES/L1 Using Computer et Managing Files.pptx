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2" r:id="rId4"/>
    <p:sldId id="274" r:id="rId5"/>
    <p:sldId id="275" r:id="rId6"/>
    <p:sldId id="276" r:id="rId7"/>
    <p:sldId id="278" r:id="rId8"/>
    <p:sldId id="279" r:id="rId9"/>
    <p:sldId id="273" r:id="rId10"/>
    <p:sldId id="280" r:id="rId11"/>
    <p:sldId id="283" r:id="rId12"/>
    <p:sldId id="311" r:id="rId13"/>
    <p:sldId id="266" r:id="rId14"/>
    <p:sldId id="281" r:id="rId15"/>
    <p:sldId id="291" r:id="rId16"/>
    <p:sldId id="300" r:id="rId17"/>
    <p:sldId id="282" r:id="rId18"/>
    <p:sldId id="299" r:id="rId19"/>
    <p:sldId id="284" r:id="rId20"/>
    <p:sldId id="302" r:id="rId21"/>
    <p:sldId id="285" r:id="rId22"/>
    <p:sldId id="287" r:id="rId23"/>
    <p:sldId id="301" r:id="rId24"/>
    <p:sldId id="286" r:id="rId25"/>
    <p:sldId id="288" r:id="rId26"/>
    <p:sldId id="289" r:id="rId27"/>
    <p:sldId id="292" r:id="rId28"/>
    <p:sldId id="312" r:id="rId29"/>
    <p:sldId id="293" r:id="rId30"/>
    <p:sldId id="304" r:id="rId31"/>
    <p:sldId id="303" r:id="rId32"/>
    <p:sldId id="305" r:id="rId33"/>
    <p:sldId id="306" r:id="rId34"/>
    <p:sldId id="307" r:id="rId35"/>
    <p:sldId id="294" r:id="rId36"/>
    <p:sldId id="295" r:id="rId37"/>
    <p:sldId id="296" r:id="rId38"/>
    <p:sldId id="298" r:id="rId39"/>
    <p:sldId id="308" r:id="rId40"/>
    <p:sldId id="309" r:id="rId41"/>
    <p:sldId id="310" r:id="rId42"/>
    <p:sldId id="313" r:id="rId43"/>
    <p:sldId id="316" r:id="rId44"/>
    <p:sldId id="340" r:id="rId45"/>
    <p:sldId id="314" r:id="rId46"/>
    <p:sldId id="318" r:id="rId47"/>
    <p:sldId id="319" r:id="rId48"/>
    <p:sldId id="325" r:id="rId49"/>
    <p:sldId id="320" r:id="rId50"/>
    <p:sldId id="321" r:id="rId51"/>
    <p:sldId id="328" r:id="rId52"/>
    <p:sldId id="322" r:id="rId53"/>
    <p:sldId id="317" r:id="rId54"/>
    <p:sldId id="323" r:id="rId55"/>
    <p:sldId id="324" r:id="rId56"/>
    <p:sldId id="315" r:id="rId57"/>
    <p:sldId id="326" r:id="rId58"/>
    <p:sldId id="327" r:id="rId59"/>
    <p:sldId id="329" r:id="rId60"/>
    <p:sldId id="331" r:id="rId61"/>
    <p:sldId id="334" r:id="rId62"/>
    <p:sldId id="330" r:id="rId63"/>
    <p:sldId id="337" r:id="rId64"/>
    <p:sldId id="339" r:id="rId65"/>
    <p:sldId id="332" r:id="rId66"/>
    <p:sldId id="335" r:id="rId67"/>
    <p:sldId id="336" r:id="rId68"/>
    <p:sldId id="342" r:id="rId69"/>
    <p:sldId id="341" r:id="rId70"/>
    <p:sldId id="345" r:id="rId71"/>
    <p:sldId id="333" r:id="rId72"/>
    <p:sldId id="346" r:id="rId73"/>
    <p:sldId id="347" r:id="rId7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001" autoAdjust="0"/>
    <p:restoredTop sz="94660"/>
  </p:normalViewPr>
  <p:slideViewPr>
    <p:cSldViewPr snapToGrid="0">
      <p:cViewPr varScale="1">
        <p:scale>
          <a:sx n="80" d="100"/>
          <a:sy n="80" d="100"/>
        </p:scale>
        <p:origin x="4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809A04F-37D5-497A-A54C-D41E0AC9D3B1}" type="datetimeFigureOut">
              <a:rPr lang="en-US" smtClean="0"/>
              <a:t>3/25/2024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2D737E2-8B26-47C0-991F-C99AF718C629}" type="slidenum">
              <a:rPr lang="en-US" smtClean="0"/>
              <a:t>‹#›</a:t>
            </a:fld>
            <a:endParaRPr lang="en-US"/>
          </a:p>
        </p:txBody>
      </p:sp>
    </p:spTree>
    <p:extLst>
      <p:ext uri="{BB962C8B-B14F-4D97-AF65-F5344CB8AC3E}">
        <p14:creationId xmlns:p14="http://schemas.microsoft.com/office/powerpoint/2010/main" val="2662522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9A04F-37D5-497A-A54C-D41E0AC9D3B1}" type="datetimeFigureOut">
              <a:rPr lang="en-US" smtClean="0"/>
              <a:t>3/25/2024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2D737E2-8B26-47C0-991F-C99AF718C629}" type="slidenum">
              <a:rPr lang="en-US" smtClean="0"/>
              <a:t>‹#›</a:t>
            </a:fld>
            <a:endParaRPr lang="en-US"/>
          </a:p>
        </p:txBody>
      </p:sp>
    </p:spTree>
    <p:extLst>
      <p:ext uri="{BB962C8B-B14F-4D97-AF65-F5344CB8AC3E}">
        <p14:creationId xmlns:p14="http://schemas.microsoft.com/office/powerpoint/2010/main" val="2844490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9A04F-37D5-497A-A54C-D41E0AC9D3B1}" type="datetimeFigureOut">
              <a:rPr lang="en-US" smtClean="0"/>
              <a:t>3/25/2024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2D737E2-8B26-47C0-991F-C99AF718C629}" type="slidenum">
              <a:rPr lang="en-US" smtClean="0"/>
              <a:t>‹#›</a:t>
            </a:fld>
            <a:endParaRPr lang="en-US"/>
          </a:p>
        </p:txBody>
      </p:sp>
    </p:spTree>
    <p:extLst>
      <p:ext uri="{BB962C8B-B14F-4D97-AF65-F5344CB8AC3E}">
        <p14:creationId xmlns:p14="http://schemas.microsoft.com/office/powerpoint/2010/main" val="1333709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09A04F-37D5-497A-A54C-D41E0AC9D3B1}" type="datetimeFigureOut">
              <a:rPr lang="en-US" smtClean="0"/>
              <a:t>3/25/2024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2D737E2-8B26-47C0-991F-C99AF718C629}" type="slidenum">
              <a:rPr lang="en-US" smtClean="0"/>
              <a:t>‹#›</a:t>
            </a:fld>
            <a:endParaRPr lang="en-US"/>
          </a:p>
        </p:txBody>
      </p:sp>
    </p:spTree>
    <p:extLst>
      <p:ext uri="{BB962C8B-B14F-4D97-AF65-F5344CB8AC3E}">
        <p14:creationId xmlns:p14="http://schemas.microsoft.com/office/powerpoint/2010/main" val="844606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09A04F-37D5-497A-A54C-D41E0AC9D3B1}" type="datetimeFigureOut">
              <a:rPr lang="en-US" smtClean="0"/>
              <a:t>3/25/2024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2D737E2-8B26-47C0-991F-C99AF718C629}" type="slidenum">
              <a:rPr lang="en-US" smtClean="0"/>
              <a:t>‹#›</a:t>
            </a:fld>
            <a:endParaRPr lang="en-US"/>
          </a:p>
        </p:txBody>
      </p:sp>
    </p:spTree>
    <p:extLst>
      <p:ext uri="{BB962C8B-B14F-4D97-AF65-F5344CB8AC3E}">
        <p14:creationId xmlns:p14="http://schemas.microsoft.com/office/powerpoint/2010/main" val="1366023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09A04F-37D5-497A-A54C-D41E0AC9D3B1}" type="datetimeFigureOut">
              <a:rPr lang="en-US" smtClean="0"/>
              <a:t>3/25/2024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2D737E2-8B26-47C0-991F-C99AF718C629}" type="slidenum">
              <a:rPr lang="en-US" smtClean="0"/>
              <a:t>‹#›</a:t>
            </a:fld>
            <a:endParaRPr lang="en-US"/>
          </a:p>
        </p:txBody>
      </p:sp>
    </p:spTree>
    <p:extLst>
      <p:ext uri="{BB962C8B-B14F-4D97-AF65-F5344CB8AC3E}">
        <p14:creationId xmlns:p14="http://schemas.microsoft.com/office/powerpoint/2010/main" val="3695094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09A04F-37D5-497A-A54C-D41E0AC9D3B1}" type="datetimeFigureOut">
              <a:rPr lang="en-US" smtClean="0"/>
              <a:t>3/25/2024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2D737E2-8B26-47C0-991F-C99AF718C629}" type="slidenum">
              <a:rPr lang="en-US" smtClean="0"/>
              <a:t>‹#›</a:t>
            </a:fld>
            <a:endParaRPr lang="en-US"/>
          </a:p>
        </p:txBody>
      </p:sp>
    </p:spTree>
    <p:extLst>
      <p:ext uri="{BB962C8B-B14F-4D97-AF65-F5344CB8AC3E}">
        <p14:creationId xmlns:p14="http://schemas.microsoft.com/office/powerpoint/2010/main" val="2733154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09A04F-37D5-497A-A54C-D41E0AC9D3B1}" type="datetimeFigureOut">
              <a:rPr lang="en-US" smtClean="0"/>
              <a:t>3/25/2024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2D737E2-8B26-47C0-991F-C99AF718C629}" type="slidenum">
              <a:rPr lang="en-US" smtClean="0"/>
              <a:t>‹#›</a:t>
            </a:fld>
            <a:endParaRPr lang="en-US"/>
          </a:p>
        </p:txBody>
      </p:sp>
    </p:spTree>
    <p:extLst>
      <p:ext uri="{BB962C8B-B14F-4D97-AF65-F5344CB8AC3E}">
        <p14:creationId xmlns:p14="http://schemas.microsoft.com/office/powerpoint/2010/main" val="4436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09A04F-37D5-497A-A54C-D41E0AC9D3B1}" type="datetimeFigureOut">
              <a:rPr lang="en-US" smtClean="0"/>
              <a:t>3/25/2024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2D737E2-8B26-47C0-991F-C99AF718C629}" type="slidenum">
              <a:rPr lang="en-US" smtClean="0"/>
              <a:t>‹#›</a:t>
            </a:fld>
            <a:endParaRPr lang="en-US"/>
          </a:p>
        </p:txBody>
      </p:sp>
    </p:spTree>
    <p:extLst>
      <p:ext uri="{BB962C8B-B14F-4D97-AF65-F5344CB8AC3E}">
        <p14:creationId xmlns:p14="http://schemas.microsoft.com/office/powerpoint/2010/main" val="328412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9A04F-37D5-497A-A54C-D41E0AC9D3B1}" type="datetimeFigureOut">
              <a:rPr lang="en-US" smtClean="0"/>
              <a:t>3/25/2024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2D737E2-8B26-47C0-991F-C99AF718C629}" type="slidenum">
              <a:rPr lang="en-US" smtClean="0"/>
              <a:t>‹#›</a:t>
            </a:fld>
            <a:endParaRPr lang="en-US"/>
          </a:p>
        </p:txBody>
      </p:sp>
    </p:spTree>
    <p:extLst>
      <p:ext uri="{BB962C8B-B14F-4D97-AF65-F5344CB8AC3E}">
        <p14:creationId xmlns:p14="http://schemas.microsoft.com/office/powerpoint/2010/main" val="925394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9A04F-37D5-497A-A54C-D41E0AC9D3B1}" type="datetimeFigureOut">
              <a:rPr lang="en-US" smtClean="0"/>
              <a:t>3/25/2024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2D737E2-8B26-47C0-991F-C99AF718C629}"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52209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809A04F-37D5-497A-A54C-D41E0AC9D3B1}" type="datetimeFigureOut">
              <a:rPr lang="en-US" smtClean="0"/>
              <a:t>3/25/2024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2D737E2-8B26-47C0-991F-C99AF718C629}" type="slidenum">
              <a:rPr lang="en-US" smtClean="0"/>
              <a:t>‹#›</a:t>
            </a:fld>
            <a:endParaRPr lang="en-US"/>
          </a:p>
        </p:txBody>
      </p:sp>
    </p:spTree>
    <p:extLst>
      <p:ext uri="{BB962C8B-B14F-4D97-AF65-F5344CB8AC3E}">
        <p14:creationId xmlns:p14="http://schemas.microsoft.com/office/powerpoint/2010/main" val="4754256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809A04F-37D5-497A-A54C-D41E0AC9D3B1}" type="datetimeFigureOut">
              <a:rPr lang="en-US" smtClean="0"/>
              <a:t>3/25/2024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2D737E2-8B26-47C0-991F-C99AF718C629}"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19003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809A04F-37D5-497A-A54C-D41E0AC9D3B1}" type="datetimeFigureOut">
              <a:rPr lang="en-US" smtClean="0"/>
              <a:t>3/25/2024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2D737E2-8B26-47C0-991F-C99AF718C629}" type="slidenum">
              <a:rPr lang="en-US" smtClean="0"/>
              <a:t>‹#›</a:t>
            </a:fld>
            <a:endParaRPr lang="en-US"/>
          </a:p>
        </p:txBody>
      </p:sp>
    </p:spTree>
    <p:extLst>
      <p:ext uri="{BB962C8B-B14F-4D97-AF65-F5344CB8AC3E}">
        <p14:creationId xmlns:p14="http://schemas.microsoft.com/office/powerpoint/2010/main" val="3817666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9A04F-37D5-497A-A54C-D41E0AC9D3B1}" type="datetimeFigureOut">
              <a:rPr lang="en-US" smtClean="0"/>
              <a:t>3/25/2024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2D737E2-8B26-47C0-991F-C99AF718C629}" type="slidenum">
              <a:rPr lang="en-US" smtClean="0"/>
              <a:t>‹#›</a:t>
            </a:fld>
            <a:endParaRPr lang="en-US"/>
          </a:p>
        </p:txBody>
      </p:sp>
    </p:spTree>
    <p:extLst>
      <p:ext uri="{BB962C8B-B14F-4D97-AF65-F5344CB8AC3E}">
        <p14:creationId xmlns:p14="http://schemas.microsoft.com/office/powerpoint/2010/main" val="36549933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9A04F-37D5-497A-A54C-D41E0AC9D3B1}" type="datetimeFigureOut">
              <a:rPr lang="en-US" smtClean="0"/>
              <a:t>3/25/2024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2D737E2-8B26-47C0-991F-C99AF718C629}" type="slidenum">
              <a:rPr lang="en-US" smtClean="0"/>
              <a:t>‹#›</a:t>
            </a:fld>
            <a:endParaRPr lang="en-US"/>
          </a:p>
        </p:txBody>
      </p:sp>
    </p:spTree>
    <p:extLst>
      <p:ext uri="{BB962C8B-B14F-4D97-AF65-F5344CB8AC3E}">
        <p14:creationId xmlns:p14="http://schemas.microsoft.com/office/powerpoint/2010/main" val="3676294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809A04F-37D5-497A-A54C-D41E0AC9D3B1}" type="datetimeFigureOut">
              <a:rPr lang="en-US" smtClean="0"/>
              <a:t>3/25/2024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2D737E2-8B26-47C0-991F-C99AF718C629}" type="slidenum">
              <a:rPr lang="en-US" smtClean="0"/>
              <a:t>‹#›</a:t>
            </a:fld>
            <a:endParaRPr lang="en-US"/>
          </a:p>
        </p:txBody>
      </p:sp>
    </p:spTree>
    <p:extLst>
      <p:ext uri="{BB962C8B-B14F-4D97-AF65-F5344CB8AC3E}">
        <p14:creationId xmlns:p14="http://schemas.microsoft.com/office/powerpoint/2010/main" val="27206037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2C106-E900-47B3-83F3-0A4EB1BE1882}"/>
              </a:ext>
            </a:extLst>
          </p:cNvPr>
          <p:cNvSpPr>
            <a:spLocks noGrp="1"/>
          </p:cNvSpPr>
          <p:nvPr>
            <p:ph type="ctrTitle"/>
          </p:nvPr>
        </p:nvSpPr>
        <p:spPr>
          <a:xfrm>
            <a:off x="1524000" y="1122362"/>
            <a:ext cx="9144000" cy="2866542"/>
          </a:xfrm>
        </p:spPr>
        <p:txBody>
          <a:bodyPr>
            <a:normAutofit fontScale="90000"/>
          </a:bodyPr>
          <a:lstStyle/>
          <a:p>
            <a:r>
              <a:rPr kumimoji="0" lang="en-GB" sz="5400" b="1" i="0" u="none" strike="noStrike" kern="1200" cap="none" spc="0" normalizeH="0" baseline="0" noProof="0" dirty="0">
                <a:ln>
                  <a:noFill/>
                </a:ln>
                <a:solidFill>
                  <a:prstClr val="black"/>
                </a:solidFill>
                <a:effectLst/>
                <a:uLnTx/>
                <a:uFillTx/>
                <a:latin typeface="Calibri Light" panose="020F0302020204030204"/>
                <a:ea typeface="+mj-ea"/>
                <a:cs typeface="+mj-cs"/>
              </a:rPr>
              <a:t>End User Computing </a:t>
            </a:r>
            <a:br>
              <a:rPr kumimoji="0" lang="en-US" sz="54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5400" b="1" i="0" u="none" strike="noStrike" kern="1200" cap="none" spc="0" normalizeH="0" baseline="0" noProof="0" dirty="0">
                <a:ln>
                  <a:noFill/>
                </a:ln>
                <a:solidFill>
                  <a:prstClr val="black"/>
                </a:solidFill>
                <a:effectLst/>
                <a:uLnTx/>
                <a:uFillTx/>
                <a:latin typeface="Calibri Light" panose="020F0302020204030204"/>
                <a:ea typeface="+mj-ea"/>
                <a:cs typeface="+mj-cs"/>
              </a:rPr>
              <a:t> </a:t>
            </a:r>
            <a:br>
              <a:rPr kumimoji="0" lang="en-US" sz="54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GB" sz="5400" b="1" i="0" u="none" strike="noStrike" kern="1200" cap="none" spc="0" normalizeH="0" baseline="0" noProof="0" dirty="0">
                <a:ln>
                  <a:noFill/>
                </a:ln>
                <a:solidFill>
                  <a:prstClr val="black"/>
                </a:solidFill>
                <a:effectLst/>
                <a:uLnTx/>
                <a:uFillTx/>
                <a:latin typeface="Calibri Light" panose="020F0302020204030204"/>
                <a:ea typeface="+mj-ea"/>
                <a:cs typeface="+mj-cs"/>
              </a:rPr>
              <a:t>BICT 1101</a:t>
            </a:r>
            <a:br>
              <a:rPr kumimoji="0" lang="en-US" sz="5400" b="0" i="0" u="none" strike="noStrike" kern="1200" cap="none" spc="0" normalizeH="0" baseline="0" noProof="0" dirty="0">
                <a:ln>
                  <a:noFill/>
                </a:ln>
                <a:solidFill>
                  <a:prstClr val="black"/>
                </a:solidFill>
                <a:effectLst/>
                <a:uLnTx/>
                <a:uFillTx/>
                <a:latin typeface="Calibri Light" panose="020F0302020204030204"/>
                <a:ea typeface="+mj-ea"/>
                <a:cs typeface="+mj-cs"/>
              </a:rPr>
            </a:br>
            <a:endParaRPr lang="en-US" dirty="0"/>
          </a:p>
        </p:txBody>
      </p:sp>
      <p:sp>
        <p:nvSpPr>
          <p:cNvPr id="3" name="Subtitle 2">
            <a:extLst>
              <a:ext uri="{FF2B5EF4-FFF2-40B4-BE49-F238E27FC236}">
                <a16:creationId xmlns:a16="http://schemas.microsoft.com/office/drawing/2014/main" id="{37078BFF-CAF1-4225-8F45-95ADCB13B3C3}"/>
              </a:ext>
            </a:extLst>
          </p:cNvPr>
          <p:cNvSpPr>
            <a:spLocks noGrp="1"/>
          </p:cNvSpPr>
          <p:nvPr>
            <p:ph type="subTitle" idx="1"/>
          </p:nvPr>
        </p:nvSpPr>
        <p:spPr>
          <a:xfrm>
            <a:off x="1769327" y="4959060"/>
            <a:ext cx="9144000" cy="1219200"/>
          </a:xfrm>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9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Lecture 1: Using the Computer and Managing Files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9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endParaRPr lang="en-US" dirty="0"/>
          </a:p>
        </p:txBody>
      </p:sp>
    </p:spTree>
    <p:extLst>
      <p:ext uri="{BB962C8B-B14F-4D97-AF65-F5344CB8AC3E}">
        <p14:creationId xmlns:p14="http://schemas.microsoft.com/office/powerpoint/2010/main" val="3153963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F77EA-F2E3-4B35-9D56-FC238B5BF3F9}"/>
              </a:ext>
            </a:extLst>
          </p:cNvPr>
          <p:cNvSpPr>
            <a:spLocks noGrp="1"/>
          </p:cNvSpPr>
          <p:nvPr>
            <p:ph type="title"/>
          </p:nvPr>
        </p:nvSpPr>
        <p:spPr/>
        <p:txBody>
          <a:bodyPr/>
          <a:lstStyle/>
          <a:p>
            <a:r>
              <a:rPr lang="en-US"/>
              <a:t>Topics</a:t>
            </a:r>
            <a:endParaRPr lang="en-US" dirty="0"/>
          </a:p>
        </p:txBody>
      </p:sp>
      <p:sp>
        <p:nvSpPr>
          <p:cNvPr id="3" name="Content Placeholder 2">
            <a:extLst>
              <a:ext uri="{FF2B5EF4-FFF2-40B4-BE49-F238E27FC236}">
                <a16:creationId xmlns:a16="http://schemas.microsoft.com/office/drawing/2014/main" id="{9ADFDF89-AA85-44F5-ACA8-4FB21A1984CB}"/>
              </a:ext>
            </a:extLst>
          </p:cNvPr>
          <p:cNvSpPr>
            <a:spLocks noGrp="1"/>
          </p:cNvSpPr>
          <p:nvPr>
            <p:ph idx="1"/>
          </p:nvPr>
        </p:nvSpPr>
        <p:spPr/>
        <p:txBody>
          <a:bodyPr/>
          <a:lstStyle/>
          <a:p>
            <a:pPr marL="514350" indent="-514350">
              <a:buFont typeface="+mj-lt"/>
              <a:buAutoNum type="arabicPeriod"/>
            </a:pPr>
            <a:r>
              <a:rPr lang="en-US" dirty="0"/>
              <a:t>Getting Started with Windows and Linux</a:t>
            </a:r>
          </a:p>
          <a:p>
            <a:pPr marL="514350" indent="-514350">
              <a:buFont typeface="+mj-lt"/>
              <a:buAutoNum type="arabicPeriod"/>
            </a:pPr>
            <a:r>
              <a:rPr lang="en-US" dirty="0"/>
              <a:t>Menus, commands and dialogue boxes</a:t>
            </a:r>
          </a:p>
          <a:p>
            <a:pPr marL="514350" indent="-514350">
              <a:buFont typeface="+mj-lt"/>
              <a:buAutoNum type="arabicPeriod"/>
            </a:pPr>
            <a:r>
              <a:rPr lang="en-US" dirty="0"/>
              <a:t>The start Menu and Taskbar</a:t>
            </a:r>
          </a:p>
          <a:p>
            <a:pPr marL="514350" indent="-514350">
              <a:buFont typeface="+mj-lt"/>
              <a:buAutoNum type="arabicPeriod"/>
            </a:pPr>
            <a:r>
              <a:rPr lang="en-US" dirty="0"/>
              <a:t>Working with Folders</a:t>
            </a:r>
          </a:p>
          <a:p>
            <a:pPr marL="514350" indent="-514350">
              <a:buFont typeface="+mj-lt"/>
              <a:buAutoNum type="arabicPeriod"/>
            </a:pPr>
            <a:r>
              <a:rPr lang="en-US" dirty="0"/>
              <a:t>Working with Files</a:t>
            </a:r>
          </a:p>
          <a:p>
            <a:pPr marL="514350" indent="-514350">
              <a:buFont typeface="+mj-lt"/>
              <a:buAutoNum type="arabicPeriod"/>
            </a:pPr>
            <a:r>
              <a:rPr lang="en-US" dirty="0"/>
              <a:t>Windows and Linux Applications</a:t>
            </a:r>
          </a:p>
          <a:p>
            <a:pPr marL="514350" indent="-514350">
              <a:buFont typeface="+mj-lt"/>
              <a:buAutoNum type="arabicPeriod"/>
            </a:pPr>
            <a:r>
              <a:rPr lang="en-US" dirty="0"/>
              <a:t>Customizing the Desktop</a:t>
            </a:r>
          </a:p>
          <a:p>
            <a:pPr marL="514350" indent="-514350">
              <a:buFont typeface="+mj-lt"/>
              <a:buAutoNum type="arabicPeriod"/>
            </a:pPr>
            <a:r>
              <a:rPr lang="en-US" dirty="0"/>
              <a:t>Printing</a:t>
            </a:r>
          </a:p>
        </p:txBody>
      </p:sp>
    </p:spTree>
    <p:extLst>
      <p:ext uri="{BB962C8B-B14F-4D97-AF65-F5344CB8AC3E}">
        <p14:creationId xmlns:p14="http://schemas.microsoft.com/office/powerpoint/2010/main" val="2232952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D157-79AF-48C1-B3F6-AE4CC6498786}"/>
              </a:ext>
            </a:extLst>
          </p:cNvPr>
          <p:cNvSpPr>
            <a:spLocks noGrp="1"/>
          </p:cNvSpPr>
          <p:nvPr>
            <p:ph type="title"/>
          </p:nvPr>
        </p:nvSpPr>
        <p:spPr>
          <a:xfrm>
            <a:off x="1628079" y="624110"/>
            <a:ext cx="9876534" cy="981666"/>
          </a:xfrm>
        </p:spPr>
        <p:txBody>
          <a:bodyPr/>
          <a:lstStyle/>
          <a:p>
            <a:r>
              <a:rPr lang="en-US" dirty="0"/>
              <a:t>INTRODUCTION</a:t>
            </a:r>
          </a:p>
        </p:txBody>
      </p:sp>
      <p:sp>
        <p:nvSpPr>
          <p:cNvPr id="3" name="Content Placeholder 2">
            <a:extLst>
              <a:ext uri="{FF2B5EF4-FFF2-40B4-BE49-F238E27FC236}">
                <a16:creationId xmlns:a16="http://schemas.microsoft.com/office/drawing/2014/main" id="{5805B44D-2EBB-4881-9165-272EAD9822AE}"/>
              </a:ext>
            </a:extLst>
          </p:cNvPr>
          <p:cNvSpPr>
            <a:spLocks noGrp="1"/>
          </p:cNvSpPr>
          <p:nvPr>
            <p:ph idx="1"/>
          </p:nvPr>
        </p:nvSpPr>
        <p:spPr>
          <a:xfrm>
            <a:off x="1628078" y="1438507"/>
            <a:ext cx="9876534" cy="4472715"/>
          </a:xfrm>
        </p:spPr>
        <p:txBody>
          <a:bodyPr>
            <a:normAutofit/>
          </a:bodyPr>
          <a:lstStyle/>
          <a:p>
            <a:r>
              <a:rPr lang="en-US" sz="2400" dirty="0"/>
              <a:t>Know what a computer is.</a:t>
            </a:r>
          </a:p>
          <a:p>
            <a:r>
              <a:rPr lang="en-US" sz="2400" dirty="0"/>
              <a:t>Learn how to use a computer  – basic skill needed.</a:t>
            </a:r>
          </a:p>
          <a:p>
            <a:r>
              <a:rPr lang="en-US" sz="2400" dirty="0"/>
              <a:t>A computer is a system of components</a:t>
            </a:r>
          </a:p>
          <a:p>
            <a:pPr lvl="1"/>
            <a:r>
              <a:rPr lang="en-US" sz="2400" dirty="0"/>
              <a:t>Input data and display output i.e. Input and Output devices; </a:t>
            </a:r>
          </a:p>
          <a:p>
            <a:pPr lvl="1"/>
            <a:r>
              <a:rPr lang="en-US" sz="2400" dirty="0"/>
              <a:t>Processing unit called the Central Processing Unit (CPU) and </a:t>
            </a:r>
          </a:p>
          <a:p>
            <a:pPr lvl="1"/>
            <a:r>
              <a:rPr lang="en-US" sz="2400" dirty="0"/>
              <a:t>Memory space which can be Read Only Memory (ROM) or Random Access Memory (RAM). </a:t>
            </a:r>
          </a:p>
        </p:txBody>
      </p:sp>
    </p:spTree>
    <p:extLst>
      <p:ext uri="{BB962C8B-B14F-4D97-AF65-F5344CB8AC3E}">
        <p14:creationId xmlns:p14="http://schemas.microsoft.com/office/powerpoint/2010/main" val="4050537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D157-79AF-48C1-B3F6-AE4CC6498786}"/>
              </a:ext>
            </a:extLst>
          </p:cNvPr>
          <p:cNvSpPr>
            <a:spLocks noGrp="1"/>
          </p:cNvSpPr>
          <p:nvPr>
            <p:ph type="title"/>
          </p:nvPr>
        </p:nvSpPr>
        <p:spPr>
          <a:xfrm>
            <a:off x="1628079" y="512956"/>
            <a:ext cx="9876534" cy="791737"/>
          </a:xfrm>
        </p:spPr>
        <p:txBody>
          <a:bodyPr/>
          <a:lstStyle/>
          <a:p>
            <a:r>
              <a:rPr lang="en-US" dirty="0"/>
              <a:t>CONT…</a:t>
            </a:r>
          </a:p>
        </p:txBody>
      </p:sp>
      <p:sp>
        <p:nvSpPr>
          <p:cNvPr id="3" name="Content Placeholder 2">
            <a:extLst>
              <a:ext uri="{FF2B5EF4-FFF2-40B4-BE49-F238E27FC236}">
                <a16:creationId xmlns:a16="http://schemas.microsoft.com/office/drawing/2014/main" id="{5805B44D-2EBB-4881-9165-272EAD9822AE}"/>
              </a:ext>
            </a:extLst>
          </p:cNvPr>
          <p:cNvSpPr>
            <a:spLocks noGrp="1"/>
          </p:cNvSpPr>
          <p:nvPr>
            <p:ph idx="1"/>
          </p:nvPr>
        </p:nvSpPr>
        <p:spPr>
          <a:xfrm>
            <a:off x="1628078" y="1304692"/>
            <a:ext cx="9876534" cy="5269309"/>
          </a:xfrm>
        </p:spPr>
        <p:txBody>
          <a:bodyPr/>
          <a:lstStyle/>
          <a:p>
            <a:pPr marL="0" indent="0">
              <a:buNone/>
            </a:pPr>
            <a:r>
              <a:rPr lang="en-US" sz="2000" b="1" dirty="0"/>
              <a:t>COMPUTER SYSTEM</a:t>
            </a:r>
          </a:p>
          <a:p>
            <a:r>
              <a:rPr lang="en-US" sz="2000" dirty="0"/>
              <a:t>A computer system is usually defined as a combination of hardware and software. </a:t>
            </a:r>
          </a:p>
          <a:p>
            <a:r>
              <a:rPr lang="en-US" sz="2000" dirty="0"/>
              <a:t>Computer hardware is the physical and visible components/equipment while software is the collection of programs or set of instructions that make the hardware do its job, perform a specific task.</a:t>
            </a:r>
          </a:p>
          <a:p>
            <a:endParaRPr lang="en-US" dirty="0"/>
          </a:p>
        </p:txBody>
      </p:sp>
      <p:pic>
        <p:nvPicPr>
          <p:cNvPr id="4" name="Picture 3">
            <a:extLst>
              <a:ext uri="{FF2B5EF4-FFF2-40B4-BE49-F238E27FC236}">
                <a16:creationId xmlns:a16="http://schemas.microsoft.com/office/drawing/2014/main" id="{B8AE79AE-6BAD-4E42-B292-2C696A03B6EE}"/>
              </a:ext>
            </a:extLst>
          </p:cNvPr>
          <p:cNvPicPr>
            <a:picLocks noChangeAspect="1"/>
          </p:cNvPicPr>
          <p:nvPr/>
        </p:nvPicPr>
        <p:blipFill>
          <a:blip r:embed="rId2"/>
          <a:stretch>
            <a:fillRect/>
          </a:stretch>
        </p:blipFill>
        <p:spPr>
          <a:xfrm>
            <a:off x="4110074" y="3429000"/>
            <a:ext cx="5613789" cy="3145002"/>
          </a:xfrm>
          <a:prstGeom prst="rect">
            <a:avLst/>
          </a:prstGeom>
        </p:spPr>
      </p:pic>
    </p:spTree>
    <p:extLst>
      <p:ext uri="{BB962C8B-B14F-4D97-AF65-F5344CB8AC3E}">
        <p14:creationId xmlns:p14="http://schemas.microsoft.com/office/powerpoint/2010/main" val="1098270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D157-79AF-48C1-B3F6-AE4CC6498786}"/>
              </a:ext>
            </a:extLst>
          </p:cNvPr>
          <p:cNvSpPr>
            <a:spLocks noGrp="1"/>
          </p:cNvSpPr>
          <p:nvPr>
            <p:ph type="title"/>
          </p:nvPr>
        </p:nvSpPr>
        <p:spPr>
          <a:xfrm>
            <a:off x="1628079" y="312234"/>
            <a:ext cx="9876534" cy="802888"/>
          </a:xfrm>
        </p:spPr>
        <p:txBody>
          <a:bodyPr/>
          <a:lstStyle/>
          <a:p>
            <a:r>
              <a:rPr lang="en-US" dirty="0"/>
              <a:t>CONT…</a:t>
            </a:r>
          </a:p>
        </p:txBody>
      </p:sp>
      <p:sp>
        <p:nvSpPr>
          <p:cNvPr id="3" name="Content Placeholder 2">
            <a:extLst>
              <a:ext uri="{FF2B5EF4-FFF2-40B4-BE49-F238E27FC236}">
                <a16:creationId xmlns:a16="http://schemas.microsoft.com/office/drawing/2014/main" id="{5805B44D-2EBB-4881-9165-272EAD9822AE}"/>
              </a:ext>
            </a:extLst>
          </p:cNvPr>
          <p:cNvSpPr>
            <a:spLocks noGrp="1"/>
          </p:cNvSpPr>
          <p:nvPr>
            <p:ph idx="1"/>
          </p:nvPr>
        </p:nvSpPr>
        <p:spPr>
          <a:xfrm>
            <a:off x="1628078" y="1115123"/>
            <a:ext cx="9876534" cy="4796100"/>
          </a:xfrm>
        </p:spPr>
        <p:txBody>
          <a:bodyPr>
            <a:normAutofit fontScale="85000" lnSpcReduction="20000"/>
          </a:bodyPr>
          <a:lstStyle/>
          <a:p>
            <a:pPr marL="0" marR="0" lvl="0" indent="0" algn="l" defTabSz="457200" rtl="0" eaLnBrk="1" fontAlgn="auto" latinLnBrk="0" hangingPunct="1">
              <a:lnSpc>
                <a:spcPct val="100000"/>
              </a:lnSpc>
              <a:spcBef>
                <a:spcPts val="1000"/>
              </a:spcBef>
              <a:spcAft>
                <a:spcPts val="0"/>
              </a:spcAft>
              <a:buClr>
                <a:srgbClr val="A53010"/>
              </a:buClr>
              <a:buSzTx/>
              <a:buFont typeface="Wingdings 3" charset="2"/>
              <a:buNone/>
              <a:tabLst/>
              <a:defRPr/>
            </a:pP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HARDWARE</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In order to accomplish a particular task the computer performs a series of jobs, namely, </a:t>
            </a: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Input</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Storage</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Processing </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and </a:t>
            </a: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Output</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 which it handles in a very special way as follows:</a:t>
            </a:r>
          </a:p>
          <a:p>
            <a:pPr marL="914400" marR="0" lvl="1" indent="-457200" algn="l" defTabSz="457200" rtl="0" eaLnBrk="1" fontAlgn="auto" latinLnBrk="0" hangingPunct="1">
              <a:lnSpc>
                <a:spcPct val="100000"/>
              </a:lnSpc>
              <a:spcBef>
                <a:spcPts val="1000"/>
              </a:spcBef>
              <a:spcAft>
                <a:spcPts val="0"/>
              </a:spcAft>
              <a:buClr>
                <a:srgbClr val="A53010"/>
              </a:buClr>
              <a:buSzTx/>
              <a:buFont typeface="+mj-lt"/>
              <a:buAutoNum type="alphaLcPeriod"/>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It accepts the data (input) from the user.</a:t>
            </a:r>
          </a:p>
          <a:p>
            <a:pPr marL="914400" marR="0" lvl="1" indent="-457200" algn="l" defTabSz="457200" rtl="0" eaLnBrk="1" fontAlgn="auto" latinLnBrk="0" hangingPunct="1">
              <a:lnSpc>
                <a:spcPct val="100000"/>
              </a:lnSpc>
              <a:spcBef>
                <a:spcPts val="1000"/>
              </a:spcBef>
              <a:spcAft>
                <a:spcPts val="0"/>
              </a:spcAft>
              <a:buClr>
                <a:srgbClr val="A53010"/>
              </a:buClr>
              <a:buSzTx/>
              <a:buFont typeface="+mj-lt"/>
              <a:buAutoNum type="alphaLcPeriod"/>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The computer has memory chips, which are designed to hold data until it is needed.</a:t>
            </a:r>
          </a:p>
          <a:p>
            <a:pPr marL="914400" marR="0" lvl="1" indent="-457200" algn="l" defTabSz="457200" rtl="0" eaLnBrk="1" fontAlgn="auto" latinLnBrk="0" hangingPunct="1">
              <a:lnSpc>
                <a:spcPct val="100000"/>
              </a:lnSpc>
              <a:spcBef>
                <a:spcPts val="1000"/>
              </a:spcBef>
              <a:spcAft>
                <a:spcPts val="0"/>
              </a:spcAft>
              <a:buClr>
                <a:srgbClr val="A53010"/>
              </a:buClr>
              <a:buSzTx/>
              <a:buFont typeface="+mj-lt"/>
              <a:buAutoNum type="alphaLcPeriod"/>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It processes this data into information. The computer has an electronic brain called the </a:t>
            </a: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Central Processing Unit</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 which is responsible for processing all data into information according to the instructions given to the computer.</a:t>
            </a:r>
          </a:p>
          <a:p>
            <a:pPr marL="914400" marR="0" lvl="1" indent="-457200" algn="l" defTabSz="457200" rtl="0" eaLnBrk="1" fontAlgn="auto" latinLnBrk="0" hangingPunct="1">
              <a:lnSpc>
                <a:spcPct val="100000"/>
              </a:lnSpc>
              <a:spcBef>
                <a:spcPts val="1000"/>
              </a:spcBef>
              <a:spcAft>
                <a:spcPts val="0"/>
              </a:spcAft>
              <a:buClr>
                <a:srgbClr val="A53010"/>
              </a:buClr>
              <a:buSzTx/>
              <a:buFont typeface="+mj-lt"/>
              <a:buAutoNum type="alphaLcPeriod"/>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It then returns the processed information (output) to the user.</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For performing each of the jobs listed above, every computer has special parts/components, for </a:t>
            </a: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Input Device (Keyboard, Mouse)</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Storage Device </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Central Processing Unit</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 and </a:t>
            </a: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Output Device (Monitor, Printer)</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a:t>
            </a:r>
          </a:p>
          <a:p>
            <a:endParaRPr lang="en-US" sz="2400" dirty="0"/>
          </a:p>
        </p:txBody>
      </p:sp>
    </p:spTree>
    <p:extLst>
      <p:ext uri="{BB962C8B-B14F-4D97-AF65-F5344CB8AC3E}">
        <p14:creationId xmlns:p14="http://schemas.microsoft.com/office/powerpoint/2010/main" val="2940926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D157-79AF-48C1-B3F6-AE4CC6498786}"/>
              </a:ext>
            </a:extLst>
          </p:cNvPr>
          <p:cNvSpPr>
            <a:spLocks noGrp="1"/>
          </p:cNvSpPr>
          <p:nvPr>
            <p:ph type="title"/>
          </p:nvPr>
        </p:nvSpPr>
        <p:spPr>
          <a:xfrm>
            <a:off x="1628079" y="312234"/>
            <a:ext cx="9876534" cy="802888"/>
          </a:xfrm>
        </p:spPr>
        <p:txBody>
          <a:bodyPr/>
          <a:lstStyle/>
          <a:p>
            <a:r>
              <a:rPr lang="en-US" dirty="0"/>
              <a:t>CONT…</a:t>
            </a:r>
          </a:p>
        </p:txBody>
      </p:sp>
      <p:sp>
        <p:nvSpPr>
          <p:cNvPr id="3" name="Content Placeholder 2">
            <a:extLst>
              <a:ext uri="{FF2B5EF4-FFF2-40B4-BE49-F238E27FC236}">
                <a16:creationId xmlns:a16="http://schemas.microsoft.com/office/drawing/2014/main" id="{5805B44D-2EBB-4881-9165-272EAD9822AE}"/>
              </a:ext>
            </a:extLst>
          </p:cNvPr>
          <p:cNvSpPr>
            <a:spLocks noGrp="1"/>
          </p:cNvSpPr>
          <p:nvPr>
            <p:ph idx="1"/>
          </p:nvPr>
        </p:nvSpPr>
        <p:spPr>
          <a:xfrm>
            <a:off x="1628078" y="1115123"/>
            <a:ext cx="9876534" cy="4796100"/>
          </a:xfrm>
        </p:spPr>
        <p:txBody>
          <a:bodyPr>
            <a:normAutofit/>
          </a:bodyPr>
          <a:lstStyle/>
          <a:p>
            <a:pPr marL="0" marR="0" lvl="0" indent="0" algn="l" defTabSz="457200" rtl="0" eaLnBrk="1" fontAlgn="auto" latinLnBrk="0" hangingPunct="1">
              <a:lnSpc>
                <a:spcPct val="100000"/>
              </a:lnSpc>
              <a:spcBef>
                <a:spcPts val="1000"/>
              </a:spcBef>
              <a:spcAft>
                <a:spcPts val="0"/>
              </a:spcAft>
              <a:buClr>
                <a:srgbClr val="A53010"/>
              </a:buClr>
              <a:buSzTx/>
              <a:buFont typeface="Wingdings 3" charset="2"/>
              <a:buNone/>
              <a:tabLst/>
              <a:defRPr/>
            </a:pPr>
            <a:r>
              <a:rPr lang="en-US" sz="2400" b="1" dirty="0">
                <a:solidFill>
                  <a:prstClr val="black">
                    <a:lumMod val="75000"/>
                    <a:lumOff val="25000"/>
                  </a:prstClr>
                </a:solidFill>
              </a:rPr>
              <a:t>SOFT</a:t>
            </a: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WARE</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It is divided into two main categories</a:t>
            </a:r>
          </a:p>
          <a:p>
            <a:pPr lvl="1" indent="-342900">
              <a:buClr>
                <a:srgbClr val="A53010"/>
              </a:buClr>
              <a:defRPr/>
            </a:pPr>
            <a:r>
              <a:rPr lang="en-US" sz="2200" dirty="0">
                <a:solidFill>
                  <a:prstClr val="black">
                    <a:lumMod val="75000"/>
                    <a:lumOff val="25000"/>
                  </a:prstClr>
                </a:solidFill>
              </a:rPr>
              <a:t>System Software – runs the computers hardware and application software and make the computer system available for use (acts as an interface between hardware, application software and the user).E.g. Operating System, Device driver, programming software, etc.</a:t>
            </a:r>
          </a:p>
          <a:p>
            <a:pPr lvl="1" indent="-342900">
              <a:buClr>
                <a:srgbClr val="A53010"/>
              </a:buClr>
              <a:defRPr/>
            </a:pPr>
            <a:r>
              <a:rPr lang="en-US" sz="2200" dirty="0">
                <a:solidFill>
                  <a:prstClr val="black">
                    <a:lumMod val="75000"/>
                    <a:lumOff val="25000"/>
                  </a:prstClr>
                </a:solidFill>
              </a:rPr>
              <a:t>Application Software – a computer program that provides users with tools to accomplish a specific task. E.g. Microsoft Office-  Word processing, Spreadsheets, Presentation, Database management,</a:t>
            </a:r>
            <a:r>
              <a:rPr kumimoji="0" lang="en-US" sz="2200" b="0" i="0" u="none" strike="noStrike" kern="1200" cap="none" spc="0" normalizeH="0" baseline="0" noProof="0" dirty="0">
                <a:ln>
                  <a:noFill/>
                </a:ln>
                <a:solidFill>
                  <a:prstClr val="black">
                    <a:lumMod val="75000"/>
                    <a:lumOff val="25000"/>
                  </a:prstClr>
                </a:solidFill>
                <a:effectLst/>
                <a:uLnTx/>
                <a:uFillTx/>
                <a:ea typeface="+mn-ea"/>
                <a:cs typeface="+mn-cs"/>
              </a:rPr>
              <a:t> LibreOffice,</a:t>
            </a:r>
            <a:r>
              <a:rPr lang="en-US" sz="2200" dirty="0">
                <a:solidFill>
                  <a:prstClr val="black">
                    <a:lumMod val="75000"/>
                    <a:lumOff val="25000"/>
                  </a:prstClr>
                </a:solidFill>
              </a:rPr>
              <a:t> Accounting, VLC, etc.</a:t>
            </a:r>
            <a:endParaRPr lang="en-US" sz="2200" dirty="0"/>
          </a:p>
        </p:txBody>
      </p:sp>
    </p:spTree>
    <p:extLst>
      <p:ext uri="{BB962C8B-B14F-4D97-AF65-F5344CB8AC3E}">
        <p14:creationId xmlns:p14="http://schemas.microsoft.com/office/powerpoint/2010/main" val="3508839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D157-79AF-48C1-B3F6-AE4CC6498786}"/>
              </a:ext>
            </a:extLst>
          </p:cNvPr>
          <p:cNvSpPr>
            <a:spLocks noGrp="1"/>
          </p:cNvSpPr>
          <p:nvPr>
            <p:ph type="title"/>
          </p:nvPr>
        </p:nvSpPr>
        <p:spPr>
          <a:xfrm>
            <a:off x="1628079" y="312234"/>
            <a:ext cx="9876534" cy="802888"/>
          </a:xfrm>
        </p:spPr>
        <p:txBody>
          <a:bodyPr/>
          <a:lstStyle/>
          <a:p>
            <a:r>
              <a:rPr lang="en-US" dirty="0"/>
              <a:t>CONT…</a:t>
            </a:r>
          </a:p>
        </p:txBody>
      </p:sp>
      <p:sp>
        <p:nvSpPr>
          <p:cNvPr id="3" name="Content Placeholder 2">
            <a:extLst>
              <a:ext uri="{FF2B5EF4-FFF2-40B4-BE49-F238E27FC236}">
                <a16:creationId xmlns:a16="http://schemas.microsoft.com/office/drawing/2014/main" id="{5805B44D-2EBB-4881-9165-272EAD9822AE}"/>
              </a:ext>
            </a:extLst>
          </p:cNvPr>
          <p:cNvSpPr>
            <a:spLocks noGrp="1"/>
          </p:cNvSpPr>
          <p:nvPr>
            <p:ph idx="1"/>
          </p:nvPr>
        </p:nvSpPr>
        <p:spPr>
          <a:xfrm>
            <a:off x="1628078" y="1115123"/>
            <a:ext cx="9876534" cy="4796100"/>
          </a:xfrm>
        </p:spPr>
        <p:txBody>
          <a:bodyPr>
            <a:normAutofit/>
          </a:bodyPr>
          <a:lstStyle/>
          <a:p>
            <a:pPr>
              <a:spcAft>
                <a:spcPts val="800"/>
              </a:spcAft>
            </a:pPr>
            <a:r>
              <a:rPr lang="en-US" sz="2400" dirty="0">
                <a:effectLst/>
                <a:ea typeface="Calibri" panose="020F0502020204030204" pitchFamily="34" charset="0"/>
                <a:cs typeface="Arial" panose="020B0604020202020204" pitchFamily="34" charset="0"/>
              </a:rPr>
              <a:t>An Operating System (OS) is a program that acts as an interface between a computer user and computer hardware and controls the execution of all kinds of programs. </a:t>
            </a:r>
          </a:p>
          <a:p>
            <a:pPr>
              <a:spcAft>
                <a:spcPts val="800"/>
              </a:spcAft>
            </a:pPr>
            <a:r>
              <a:rPr lang="en-US" sz="2400" dirty="0">
                <a:ea typeface="Calibri" panose="020F0502020204030204" pitchFamily="34" charset="0"/>
                <a:cs typeface="Arial" panose="020B0604020202020204" pitchFamily="34" charset="0"/>
              </a:rPr>
              <a:t>It</a:t>
            </a:r>
            <a:r>
              <a:rPr lang="en-US" sz="2400" dirty="0">
                <a:effectLst/>
                <a:ea typeface="Calibri" panose="020F0502020204030204" pitchFamily="34" charset="0"/>
                <a:cs typeface="Arial" panose="020B0604020202020204" pitchFamily="34" charset="0"/>
              </a:rPr>
              <a:t> is a software which performs all the basic tasks like file management, memory management, process management, handling input and output, and controlling peripheral devices such as disk drives and printers. </a:t>
            </a:r>
          </a:p>
          <a:p>
            <a:pPr>
              <a:spcAft>
                <a:spcPts val="800"/>
              </a:spcAft>
            </a:pPr>
            <a:r>
              <a:rPr lang="en-US" sz="2400" dirty="0">
                <a:effectLst/>
                <a:ea typeface="Calibri" panose="020F0502020204030204" pitchFamily="34" charset="0"/>
                <a:cs typeface="Arial" panose="020B0604020202020204" pitchFamily="34" charset="0"/>
              </a:rPr>
              <a:t>Some popular Operating Systems include Windows Operating System, Linux Operating System, iOS, etc.</a:t>
            </a:r>
          </a:p>
          <a:p>
            <a:pPr marL="0" indent="0">
              <a:spcAft>
                <a:spcPts val="800"/>
              </a:spcAft>
              <a:buNone/>
            </a:pPr>
            <a:endParaRPr lang="en-US" sz="2400" dirty="0">
              <a:effectLst/>
              <a:ea typeface="Calibri" panose="020F0502020204030204" pitchFamily="34" charset="0"/>
              <a:cs typeface="Arial" panose="020B0604020202020204" pitchFamily="34" charset="0"/>
            </a:endParaRPr>
          </a:p>
          <a:p>
            <a:pPr>
              <a:spcAft>
                <a:spcPts val="800"/>
              </a:spcAft>
            </a:pPr>
            <a:endParaRPr lang="en-MW" sz="2000" dirty="0">
              <a:effectLst/>
              <a:ea typeface="Calibri" panose="020F0502020204030204" pitchFamily="34" charset="0"/>
              <a:cs typeface="DokChampa" panose="020B0604020202020204" pitchFamily="34" charset="-34"/>
            </a:endParaRPr>
          </a:p>
          <a:p>
            <a:pPr marL="0" marR="0" lvl="0" indent="0" algn="l" defTabSz="457200" rtl="0" eaLnBrk="1" fontAlgn="auto" latinLnBrk="0" hangingPunct="1">
              <a:lnSpc>
                <a:spcPct val="100000"/>
              </a:lnSpc>
              <a:spcBef>
                <a:spcPts val="1000"/>
              </a:spcBef>
              <a:spcAft>
                <a:spcPts val="0"/>
              </a:spcAft>
              <a:buClr>
                <a:srgbClr val="A53010"/>
              </a:buClr>
              <a:buSzTx/>
              <a:buFont typeface="Wingdings 3" charset="2"/>
              <a:buNone/>
              <a:tabLst/>
              <a:defRPr/>
            </a:pPr>
            <a:endParaRPr lang="en-US" sz="2200" dirty="0"/>
          </a:p>
        </p:txBody>
      </p:sp>
    </p:spTree>
    <p:extLst>
      <p:ext uri="{BB962C8B-B14F-4D97-AF65-F5344CB8AC3E}">
        <p14:creationId xmlns:p14="http://schemas.microsoft.com/office/powerpoint/2010/main" val="540068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D157-79AF-48C1-B3F6-AE4CC6498786}"/>
              </a:ext>
            </a:extLst>
          </p:cNvPr>
          <p:cNvSpPr>
            <a:spLocks noGrp="1"/>
          </p:cNvSpPr>
          <p:nvPr>
            <p:ph type="title"/>
          </p:nvPr>
        </p:nvSpPr>
        <p:spPr>
          <a:xfrm>
            <a:off x="1628079" y="312234"/>
            <a:ext cx="9876534" cy="802888"/>
          </a:xfrm>
        </p:spPr>
        <p:txBody>
          <a:bodyPr/>
          <a:lstStyle/>
          <a:p>
            <a:r>
              <a:rPr lang="en-US" dirty="0"/>
              <a:t>CONT…</a:t>
            </a:r>
          </a:p>
        </p:txBody>
      </p:sp>
      <p:sp>
        <p:nvSpPr>
          <p:cNvPr id="3" name="Content Placeholder 2">
            <a:extLst>
              <a:ext uri="{FF2B5EF4-FFF2-40B4-BE49-F238E27FC236}">
                <a16:creationId xmlns:a16="http://schemas.microsoft.com/office/drawing/2014/main" id="{5805B44D-2EBB-4881-9165-272EAD9822AE}"/>
              </a:ext>
            </a:extLst>
          </p:cNvPr>
          <p:cNvSpPr>
            <a:spLocks noGrp="1"/>
          </p:cNvSpPr>
          <p:nvPr>
            <p:ph idx="1"/>
          </p:nvPr>
        </p:nvSpPr>
        <p:spPr>
          <a:xfrm>
            <a:off x="1628078" y="1115123"/>
            <a:ext cx="9876534" cy="4796100"/>
          </a:xfrm>
        </p:spPr>
        <p:txBody>
          <a:bodyPr>
            <a:normAutofit fontScale="55000" lnSpcReduction="20000"/>
          </a:bodyPr>
          <a:lstStyle/>
          <a:p>
            <a:pPr>
              <a:lnSpc>
                <a:spcPct val="120000"/>
              </a:lnSpc>
              <a:spcAft>
                <a:spcPts val="800"/>
              </a:spcAft>
            </a:pPr>
            <a:r>
              <a:rPr lang="en-US" sz="2900" dirty="0">
                <a:effectLst/>
                <a:ea typeface="Calibri" panose="020F0502020204030204" pitchFamily="34" charset="0"/>
                <a:cs typeface="Arial" panose="020B0604020202020204" pitchFamily="34" charset="0"/>
              </a:rPr>
              <a:t>Following are some of important functions of an operating System.</a:t>
            </a:r>
            <a:endParaRPr lang="en-MW" sz="2900" dirty="0">
              <a:effectLst/>
              <a:ea typeface="Calibri" panose="020F0502020204030204" pitchFamily="34" charset="0"/>
              <a:cs typeface="DokChampa" panose="020B0604020202020204" pitchFamily="34" charset="-34"/>
            </a:endParaRPr>
          </a:p>
          <a:p>
            <a:pPr lvl="1" indent="-342900">
              <a:lnSpc>
                <a:spcPct val="120000"/>
              </a:lnSpc>
              <a:spcAft>
                <a:spcPts val="800"/>
              </a:spcAft>
              <a:buSzPts val="1000"/>
              <a:buFont typeface="Symbol" panose="05050102010706020507" pitchFamily="18" charset="2"/>
              <a:buChar char=""/>
              <a:tabLst>
                <a:tab pos="457200" algn="l"/>
              </a:tabLst>
            </a:pPr>
            <a:r>
              <a:rPr lang="en-US" sz="2900" dirty="0">
                <a:effectLst/>
                <a:ea typeface="Calibri" panose="020F0502020204030204" pitchFamily="34" charset="0"/>
                <a:cs typeface="Arial" panose="020B0604020202020204" pitchFamily="34" charset="0"/>
              </a:rPr>
              <a:t>Memory Management</a:t>
            </a:r>
            <a:endParaRPr lang="en-MW" sz="2900" dirty="0">
              <a:effectLst/>
              <a:ea typeface="Calibri" panose="020F0502020204030204" pitchFamily="34" charset="0"/>
              <a:cs typeface="DokChampa" panose="020B0604020202020204" pitchFamily="34" charset="-34"/>
            </a:endParaRPr>
          </a:p>
          <a:p>
            <a:pPr lvl="1" indent="-342900">
              <a:lnSpc>
                <a:spcPct val="120000"/>
              </a:lnSpc>
              <a:spcAft>
                <a:spcPts val="800"/>
              </a:spcAft>
              <a:buSzPts val="1000"/>
              <a:buFont typeface="Symbol" panose="05050102010706020507" pitchFamily="18" charset="2"/>
              <a:buChar char=""/>
              <a:tabLst>
                <a:tab pos="457200" algn="l"/>
              </a:tabLst>
            </a:pPr>
            <a:r>
              <a:rPr lang="en-US" sz="2900" dirty="0">
                <a:effectLst/>
                <a:ea typeface="Calibri" panose="020F0502020204030204" pitchFamily="34" charset="0"/>
                <a:cs typeface="Arial" panose="020B0604020202020204" pitchFamily="34" charset="0"/>
              </a:rPr>
              <a:t>Processor Management</a:t>
            </a:r>
            <a:endParaRPr lang="en-MW" sz="2900" dirty="0">
              <a:effectLst/>
              <a:ea typeface="Calibri" panose="020F0502020204030204" pitchFamily="34" charset="0"/>
              <a:cs typeface="DokChampa" panose="020B0604020202020204" pitchFamily="34" charset="-34"/>
            </a:endParaRPr>
          </a:p>
          <a:p>
            <a:pPr lvl="1" indent="-342900">
              <a:lnSpc>
                <a:spcPct val="120000"/>
              </a:lnSpc>
              <a:spcAft>
                <a:spcPts val="800"/>
              </a:spcAft>
              <a:buSzPts val="1000"/>
              <a:buFont typeface="Symbol" panose="05050102010706020507" pitchFamily="18" charset="2"/>
              <a:buChar char=""/>
              <a:tabLst>
                <a:tab pos="457200" algn="l"/>
              </a:tabLst>
            </a:pPr>
            <a:r>
              <a:rPr lang="en-US" sz="2900" dirty="0">
                <a:effectLst/>
                <a:ea typeface="Calibri" panose="020F0502020204030204" pitchFamily="34" charset="0"/>
                <a:cs typeface="Arial" panose="020B0604020202020204" pitchFamily="34" charset="0"/>
              </a:rPr>
              <a:t>Device Management</a:t>
            </a:r>
            <a:endParaRPr lang="en-MW" sz="2900" dirty="0">
              <a:effectLst/>
              <a:ea typeface="Calibri" panose="020F0502020204030204" pitchFamily="34" charset="0"/>
              <a:cs typeface="DokChampa" panose="020B0604020202020204" pitchFamily="34" charset="-34"/>
            </a:endParaRPr>
          </a:p>
          <a:p>
            <a:pPr lvl="1" indent="-342900">
              <a:lnSpc>
                <a:spcPct val="120000"/>
              </a:lnSpc>
              <a:spcAft>
                <a:spcPts val="800"/>
              </a:spcAft>
              <a:buSzPts val="1000"/>
              <a:buFont typeface="Symbol" panose="05050102010706020507" pitchFamily="18" charset="2"/>
              <a:buChar char=""/>
              <a:tabLst>
                <a:tab pos="457200" algn="l"/>
              </a:tabLst>
            </a:pPr>
            <a:r>
              <a:rPr lang="en-US" sz="2900" dirty="0">
                <a:effectLst/>
                <a:ea typeface="Calibri" panose="020F0502020204030204" pitchFamily="34" charset="0"/>
                <a:cs typeface="Arial" panose="020B0604020202020204" pitchFamily="34" charset="0"/>
              </a:rPr>
              <a:t>File Management</a:t>
            </a:r>
            <a:endParaRPr lang="en-MW" sz="2900" dirty="0">
              <a:effectLst/>
              <a:ea typeface="Calibri" panose="020F0502020204030204" pitchFamily="34" charset="0"/>
              <a:cs typeface="DokChampa" panose="020B0604020202020204" pitchFamily="34" charset="-34"/>
            </a:endParaRPr>
          </a:p>
          <a:p>
            <a:pPr lvl="1" indent="-342900">
              <a:lnSpc>
                <a:spcPct val="120000"/>
              </a:lnSpc>
              <a:spcAft>
                <a:spcPts val="800"/>
              </a:spcAft>
              <a:buSzPts val="1000"/>
              <a:buFont typeface="Symbol" panose="05050102010706020507" pitchFamily="18" charset="2"/>
              <a:buChar char=""/>
              <a:tabLst>
                <a:tab pos="457200" algn="l"/>
              </a:tabLst>
            </a:pPr>
            <a:r>
              <a:rPr lang="en-US" sz="2900" dirty="0">
                <a:effectLst/>
                <a:ea typeface="Calibri" panose="020F0502020204030204" pitchFamily="34" charset="0"/>
                <a:cs typeface="Arial" panose="020B0604020202020204" pitchFamily="34" charset="0"/>
              </a:rPr>
              <a:t>Security</a:t>
            </a:r>
            <a:endParaRPr lang="en-MW" sz="2900" dirty="0">
              <a:effectLst/>
              <a:ea typeface="Calibri" panose="020F0502020204030204" pitchFamily="34" charset="0"/>
              <a:cs typeface="DokChampa" panose="020B0604020202020204" pitchFamily="34" charset="-34"/>
            </a:endParaRPr>
          </a:p>
          <a:p>
            <a:pPr lvl="1" indent="-342900">
              <a:lnSpc>
                <a:spcPct val="120000"/>
              </a:lnSpc>
              <a:spcAft>
                <a:spcPts val="800"/>
              </a:spcAft>
              <a:buSzPts val="1000"/>
              <a:buFont typeface="Symbol" panose="05050102010706020507" pitchFamily="18" charset="2"/>
              <a:buChar char=""/>
              <a:tabLst>
                <a:tab pos="457200" algn="l"/>
              </a:tabLst>
            </a:pPr>
            <a:r>
              <a:rPr lang="en-US" sz="2900" dirty="0">
                <a:effectLst/>
                <a:ea typeface="Calibri" panose="020F0502020204030204" pitchFamily="34" charset="0"/>
                <a:cs typeface="Arial" panose="020B0604020202020204" pitchFamily="34" charset="0"/>
              </a:rPr>
              <a:t>Control over system performance</a:t>
            </a:r>
            <a:endParaRPr lang="en-MW" sz="2900" dirty="0">
              <a:effectLst/>
              <a:ea typeface="Calibri" panose="020F0502020204030204" pitchFamily="34" charset="0"/>
              <a:cs typeface="DokChampa" panose="020B0604020202020204" pitchFamily="34" charset="-34"/>
            </a:endParaRPr>
          </a:p>
          <a:p>
            <a:pPr lvl="1" indent="-342900">
              <a:lnSpc>
                <a:spcPct val="120000"/>
              </a:lnSpc>
              <a:spcAft>
                <a:spcPts val="800"/>
              </a:spcAft>
              <a:buSzPts val="1000"/>
              <a:buFont typeface="Symbol" panose="05050102010706020507" pitchFamily="18" charset="2"/>
              <a:buChar char=""/>
              <a:tabLst>
                <a:tab pos="457200" algn="l"/>
              </a:tabLst>
            </a:pPr>
            <a:r>
              <a:rPr lang="en-US" sz="2900" dirty="0">
                <a:effectLst/>
                <a:ea typeface="Calibri" panose="020F0502020204030204" pitchFamily="34" charset="0"/>
                <a:cs typeface="Arial" panose="020B0604020202020204" pitchFamily="34" charset="0"/>
              </a:rPr>
              <a:t>Job accounting</a:t>
            </a:r>
            <a:endParaRPr lang="en-MW" sz="2900" dirty="0">
              <a:effectLst/>
              <a:ea typeface="Calibri" panose="020F0502020204030204" pitchFamily="34" charset="0"/>
              <a:cs typeface="DokChampa" panose="020B0604020202020204" pitchFamily="34" charset="-34"/>
            </a:endParaRPr>
          </a:p>
          <a:p>
            <a:pPr lvl="1" indent="-342900">
              <a:lnSpc>
                <a:spcPct val="120000"/>
              </a:lnSpc>
              <a:spcAft>
                <a:spcPts val="800"/>
              </a:spcAft>
              <a:buSzPts val="1000"/>
              <a:buFont typeface="Symbol" panose="05050102010706020507" pitchFamily="18" charset="2"/>
              <a:buChar char=""/>
              <a:tabLst>
                <a:tab pos="457200" algn="l"/>
              </a:tabLst>
            </a:pPr>
            <a:r>
              <a:rPr lang="en-US" sz="2900" dirty="0">
                <a:effectLst/>
                <a:ea typeface="Calibri" panose="020F0502020204030204" pitchFamily="34" charset="0"/>
                <a:cs typeface="Arial" panose="020B0604020202020204" pitchFamily="34" charset="0"/>
              </a:rPr>
              <a:t>Error detecting aids</a:t>
            </a:r>
            <a:endParaRPr lang="en-MW" sz="2900" dirty="0">
              <a:effectLst/>
              <a:ea typeface="Calibri" panose="020F0502020204030204" pitchFamily="34" charset="0"/>
              <a:cs typeface="DokChampa" panose="020B0604020202020204" pitchFamily="34" charset="-34"/>
            </a:endParaRPr>
          </a:p>
          <a:p>
            <a:pPr lvl="1" indent="-342900">
              <a:lnSpc>
                <a:spcPct val="120000"/>
              </a:lnSpc>
              <a:spcAft>
                <a:spcPts val="800"/>
              </a:spcAft>
              <a:buSzPts val="1000"/>
              <a:buFont typeface="Symbol" panose="05050102010706020507" pitchFamily="18" charset="2"/>
              <a:buChar char=""/>
              <a:tabLst>
                <a:tab pos="457200" algn="l"/>
              </a:tabLst>
            </a:pPr>
            <a:r>
              <a:rPr lang="en-US" sz="2900" dirty="0">
                <a:effectLst/>
                <a:ea typeface="Calibri" panose="020F0502020204030204" pitchFamily="34" charset="0"/>
                <a:cs typeface="Arial" panose="020B0604020202020204" pitchFamily="34" charset="0"/>
              </a:rPr>
              <a:t>Coordination between other software and users</a:t>
            </a:r>
            <a:endParaRPr lang="en-MW" sz="2900" dirty="0">
              <a:effectLst/>
              <a:ea typeface="Calibri" panose="020F0502020204030204" pitchFamily="34" charset="0"/>
              <a:cs typeface="DokChampa" panose="020B0604020202020204" pitchFamily="34" charset="-34"/>
            </a:endParaRPr>
          </a:p>
          <a:p>
            <a:pPr marL="0" marR="0" lvl="0" indent="0" algn="l" defTabSz="457200" rtl="0" eaLnBrk="1" fontAlgn="auto" latinLnBrk="0" hangingPunct="1">
              <a:lnSpc>
                <a:spcPct val="100000"/>
              </a:lnSpc>
              <a:spcBef>
                <a:spcPts val="1000"/>
              </a:spcBef>
              <a:spcAft>
                <a:spcPts val="0"/>
              </a:spcAft>
              <a:buClr>
                <a:srgbClr val="A53010"/>
              </a:buClr>
              <a:buSzTx/>
              <a:buFont typeface="Wingdings 3" charset="2"/>
              <a:buNone/>
              <a:tabLst/>
              <a:defRPr/>
            </a:pPr>
            <a:endParaRPr lang="en-US" sz="2200" dirty="0"/>
          </a:p>
        </p:txBody>
      </p:sp>
    </p:spTree>
    <p:extLst>
      <p:ext uri="{BB962C8B-B14F-4D97-AF65-F5344CB8AC3E}">
        <p14:creationId xmlns:p14="http://schemas.microsoft.com/office/powerpoint/2010/main" val="533148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D157-79AF-48C1-B3F6-AE4CC6498786}"/>
              </a:ext>
            </a:extLst>
          </p:cNvPr>
          <p:cNvSpPr>
            <a:spLocks noGrp="1"/>
          </p:cNvSpPr>
          <p:nvPr>
            <p:ph type="title"/>
          </p:nvPr>
        </p:nvSpPr>
        <p:spPr>
          <a:xfrm>
            <a:off x="1616927" y="356840"/>
            <a:ext cx="9887685" cy="769434"/>
          </a:xfrm>
        </p:spPr>
        <p:txBody>
          <a:bodyPr>
            <a:normAutofit fontScale="90000"/>
          </a:bodyPr>
          <a:lstStyle/>
          <a:p>
            <a:r>
              <a:rPr lang="en-US" dirty="0"/>
              <a:t>GETTING STARTED WITH WINDOWS AND LINUX</a:t>
            </a:r>
          </a:p>
        </p:txBody>
      </p:sp>
      <p:sp>
        <p:nvSpPr>
          <p:cNvPr id="3" name="Content Placeholder 2">
            <a:extLst>
              <a:ext uri="{FF2B5EF4-FFF2-40B4-BE49-F238E27FC236}">
                <a16:creationId xmlns:a16="http://schemas.microsoft.com/office/drawing/2014/main" id="{5805B44D-2EBB-4881-9165-272EAD9822AE}"/>
              </a:ext>
            </a:extLst>
          </p:cNvPr>
          <p:cNvSpPr>
            <a:spLocks noGrp="1"/>
          </p:cNvSpPr>
          <p:nvPr>
            <p:ph idx="1"/>
          </p:nvPr>
        </p:nvSpPr>
        <p:spPr>
          <a:xfrm>
            <a:off x="1616927" y="1126273"/>
            <a:ext cx="9887685" cy="5263375"/>
          </a:xfrm>
        </p:spPr>
        <p:txBody>
          <a:bodyPr/>
          <a:lstStyle/>
          <a:p>
            <a:pPr>
              <a:lnSpc>
                <a:spcPct val="107000"/>
              </a:lnSpc>
              <a:spcAft>
                <a:spcPts val="800"/>
              </a:spcAft>
            </a:pPr>
            <a:r>
              <a:rPr lang="en-US" sz="1800" b="1" dirty="0">
                <a:effectLst/>
                <a:ea typeface="Calibri" panose="020F0502020204030204" pitchFamily="34" charset="0"/>
                <a:cs typeface="Arial" panose="020B0604020202020204" pitchFamily="34" charset="0"/>
              </a:rPr>
              <a:t>Turn on your computer </a:t>
            </a:r>
            <a:endParaRPr lang="en-MW" sz="1800" dirty="0">
              <a:effectLst/>
              <a:ea typeface="Calibri" panose="020F0502020204030204" pitchFamily="34" charset="0"/>
              <a:cs typeface="DokChampa" panose="020B0604020202020204" pitchFamily="34" charset="-34"/>
            </a:endParaRPr>
          </a:p>
          <a:p>
            <a:pPr lvl="1" indent="-342900">
              <a:lnSpc>
                <a:spcPct val="107000"/>
              </a:lnSpc>
              <a:buFont typeface="Symbol" panose="05050102010706020507" pitchFamily="18" charset="2"/>
              <a:buChar char=""/>
            </a:pPr>
            <a:r>
              <a:rPr lang="en-US" dirty="0">
                <a:effectLst/>
                <a:ea typeface="Calibri" panose="020F0502020204030204" pitchFamily="34" charset="0"/>
                <a:cs typeface="Arial" panose="020B0604020202020204" pitchFamily="34" charset="0"/>
              </a:rPr>
              <a:t>The computer turns on by pressing the power button which is located on the computer case. </a:t>
            </a:r>
          </a:p>
          <a:p>
            <a:pPr lvl="1" indent="-342900">
              <a:lnSpc>
                <a:spcPct val="107000"/>
              </a:lnSpc>
              <a:buFont typeface="Symbol" panose="05050102010706020507" pitchFamily="18" charset="2"/>
              <a:buChar char=""/>
            </a:pPr>
            <a:r>
              <a:rPr lang="en-US" dirty="0">
                <a:effectLst/>
                <a:ea typeface="Calibri" panose="020F0502020204030204" pitchFamily="34" charset="0"/>
                <a:cs typeface="DokChampa" panose="020B0604020202020204" pitchFamily="34" charset="-34"/>
              </a:rPr>
              <a:t>To switch/turn on your PC, press the big round button (power button) located on the computer case. You may also need to switch on the monitor (screen) by pressing its big round button.</a:t>
            </a:r>
          </a:p>
          <a:p>
            <a:pPr lvl="1" indent="-342900">
              <a:lnSpc>
                <a:spcPct val="107000"/>
              </a:lnSpc>
              <a:buFont typeface="Symbol" panose="05050102010706020507" pitchFamily="18" charset="2"/>
              <a:buChar char=""/>
            </a:pPr>
            <a:r>
              <a:rPr lang="en-US" dirty="0">
                <a:effectLst/>
                <a:ea typeface="Calibri" panose="020F0502020204030204" pitchFamily="34" charset="0"/>
                <a:cs typeface="DokChampa" panose="020B0604020202020204" pitchFamily="34" charset="-34"/>
              </a:rPr>
              <a:t>Once your PC has started up, if necessary you will be asked to enter a username and a password. Once you have entered the correct password, you will see the desktop.</a:t>
            </a:r>
            <a:endParaRPr lang="en-MW" dirty="0">
              <a:effectLst/>
              <a:ea typeface="Calibri" panose="020F0502020204030204" pitchFamily="34" charset="0"/>
              <a:cs typeface="DokChampa" panose="020B0604020202020204" pitchFamily="34" charset="-34"/>
            </a:endParaRPr>
          </a:p>
          <a:p>
            <a:pPr marL="0" indent="0">
              <a:buNone/>
            </a:pPr>
            <a:endParaRPr lang="en-US" dirty="0"/>
          </a:p>
        </p:txBody>
      </p:sp>
      <p:pic>
        <p:nvPicPr>
          <p:cNvPr id="5" name="Picture 4">
            <a:extLst>
              <a:ext uri="{FF2B5EF4-FFF2-40B4-BE49-F238E27FC236}">
                <a16:creationId xmlns:a16="http://schemas.microsoft.com/office/drawing/2014/main" id="{F10CDC60-F456-4391-9DEC-31021866301B}"/>
              </a:ext>
            </a:extLst>
          </p:cNvPr>
          <p:cNvPicPr>
            <a:picLocks noChangeAspect="1"/>
          </p:cNvPicPr>
          <p:nvPr/>
        </p:nvPicPr>
        <p:blipFill>
          <a:blip r:embed="rId2"/>
          <a:stretch>
            <a:fillRect/>
          </a:stretch>
        </p:blipFill>
        <p:spPr>
          <a:xfrm>
            <a:off x="4235774" y="3769112"/>
            <a:ext cx="5237018" cy="2531327"/>
          </a:xfrm>
          <a:prstGeom prst="rect">
            <a:avLst/>
          </a:prstGeom>
        </p:spPr>
      </p:pic>
    </p:spTree>
    <p:extLst>
      <p:ext uri="{BB962C8B-B14F-4D97-AF65-F5344CB8AC3E}">
        <p14:creationId xmlns:p14="http://schemas.microsoft.com/office/powerpoint/2010/main" val="4203213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D157-79AF-48C1-B3F6-AE4CC6498786}"/>
              </a:ext>
            </a:extLst>
          </p:cNvPr>
          <p:cNvSpPr>
            <a:spLocks noGrp="1"/>
          </p:cNvSpPr>
          <p:nvPr>
            <p:ph type="title"/>
          </p:nvPr>
        </p:nvSpPr>
        <p:spPr>
          <a:xfrm>
            <a:off x="1616927" y="356840"/>
            <a:ext cx="9887685" cy="769434"/>
          </a:xfrm>
        </p:spPr>
        <p:txBody>
          <a:bodyPr>
            <a:normAutofit/>
          </a:bodyPr>
          <a:lstStyle/>
          <a:p>
            <a:r>
              <a:rPr lang="en-US" dirty="0"/>
              <a:t>CONT…</a:t>
            </a:r>
          </a:p>
        </p:txBody>
      </p:sp>
      <p:sp>
        <p:nvSpPr>
          <p:cNvPr id="3" name="Content Placeholder 2">
            <a:extLst>
              <a:ext uri="{FF2B5EF4-FFF2-40B4-BE49-F238E27FC236}">
                <a16:creationId xmlns:a16="http://schemas.microsoft.com/office/drawing/2014/main" id="{5805B44D-2EBB-4881-9165-272EAD9822AE}"/>
              </a:ext>
            </a:extLst>
          </p:cNvPr>
          <p:cNvSpPr>
            <a:spLocks noGrp="1"/>
          </p:cNvSpPr>
          <p:nvPr>
            <p:ph idx="1"/>
          </p:nvPr>
        </p:nvSpPr>
        <p:spPr>
          <a:xfrm>
            <a:off x="1616927" y="1126273"/>
            <a:ext cx="9887685" cy="5263375"/>
          </a:xfrm>
        </p:spPr>
        <p:txBody>
          <a:bodyPr>
            <a:normAutofit/>
          </a:bodyPr>
          <a:lstStyle/>
          <a:p>
            <a:r>
              <a:rPr lang="en-US" sz="2400" dirty="0"/>
              <a:t>To </a:t>
            </a:r>
            <a:r>
              <a:rPr lang="en-US" sz="2400" b="1" dirty="0"/>
              <a:t>switch off </a:t>
            </a:r>
            <a:r>
              <a:rPr lang="en-US" sz="2400" dirty="0"/>
              <a:t>your pc, click on the “</a:t>
            </a:r>
            <a:r>
              <a:rPr lang="en-US" sz="2400" b="1" dirty="0"/>
              <a:t>Start menu</a:t>
            </a:r>
            <a:r>
              <a:rPr lang="en-US" sz="2400" dirty="0"/>
              <a:t>” button, then select “</a:t>
            </a:r>
            <a:r>
              <a:rPr lang="en-US" sz="2400" b="1" dirty="0"/>
              <a:t>Powe</a:t>
            </a:r>
            <a:r>
              <a:rPr lang="en-US" sz="2400" dirty="0"/>
              <a:t>r”, then select “</a:t>
            </a:r>
            <a:r>
              <a:rPr lang="en-US" sz="2400" b="1" dirty="0"/>
              <a:t>Shut Down</a:t>
            </a:r>
            <a:r>
              <a:rPr lang="en-US" sz="2400" dirty="0"/>
              <a:t>”.</a:t>
            </a:r>
          </a:p>
          <a:p>
            <a:r>
              <a:rPr lang="en-US" sz="2400" dirty="0"/>
              <a:t>You will then be given the following options to choose from a drop down menu:</a:t>
            </a:r>
          </a:p>
          <a:p>
            <a:pPr lvl="1"/>
            <a:r>
              <a:rPr lang="en-US" sz="2400" dirty="0"/>
              <a:t>Log Off </a:t>
            </a:r>
          </a:p>
          <a:p>
            <a:pPr lvl="1"/>
            <a:r>
              <a:rPr lang="en-US" sz="2400" dirty="0"/>
              <a:t>Sleep</a:t>
            </a:r>
          </a:p>
          <a:p>
            <a:pPr lvl="1"/>
            <a:r>
              <a:rPr lang="en-US" sz="2400" dirty="0"/>
              <a:t>Shut Down</a:t>
            </a:r>
          </a:p>
          <a:p>
            <a:pPr lvl="1"/>
            <a:r>
              <a:rPr lang="en-US" sz="2400" dirty="0"/>
              <a:t>Restart</a:t>
            </a:r>
          </a:p>
          <a:p>
            <a:r>
              <a:rPr lang="en-US" sz="2400" dirty="0"/>
              <a:t>You could also choose to log off, to let another user access their files, or to restart the PC from this menu.</a:t>
            </a:r>
          </a:p>
        </p:txBody>
      </p:sp>
    </p:spTree>
    <p:extLst>
      <p:ext uri="{BB962C8B-B14F-4D97-AF65-F5344CB8AC3E}">
        <p14:creationId xmlns:p14="http://schemas.microsoft.com/office/powerpoint/2010/main" val="125816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D157-79AF-48C1-B3F6-AE4CC6498786}"/>
              </a:ext>
            </a:extLst>
          </p:cNvPr>
          <p:cNvSpPr>
            <a:spLocks noGrp="1"/>
          </p:cNvSpPr>
          <p:nvPr>
            <p:ph type="title"/>
          </p:nvPr>
        </p:nvSpPr>
        <p:spPr>
          <a:xfrm>
            <a:off x="1616927" y="356840"/>
            <a:ext cx="9887685" cy="769434"/>
          </a:xfrm>
        </p:spPr>
        <p:txBody>
          <a:bodyPr>
            <a:normAutofit/>
          </a:bodyPr>
          <a:lstStyle/>
          <a:p>
            <a:r>
              <a:rPr lang="en-US" dirty="0"/>
              <a:t>CONT…</a:t>
            </a:r>
          </a:p>
        </p:txBody>
      </p:sp>
      <p:sp>
        <p:nvSpPr>
          <p:cNvPr id="3" name="Content Placeholder 2">
            <a:extLst>
              <a:ext uri="{FF2B5EF4-FFF2-40B4-BE49-F238E27FC236}">
                <a16:creationId xmlns:a16="http://schemas.microsoft.com/office/drawing/2014/main" id="{5805B44D-2EBB-4881-9165-272EAD9822AE}"/>
              </a:ext>
            </a:extLst>
          </p:cNvPr>
          <p:cNvSpPr>
            <a:spLocks noGrp="1"/>
          </p:cNvSpPr>
          <p:nvPr>
            <p:ph idx="1"/>
          </p:nvPr>
        </p:nvSpPr>
        <p:spPr>
          <a:xfrm>
            <a:off x="1616927" y="1126273"/>
            <a:ext cx="9887685" cy="5263375"/>
          </a:xfrm>
        </p:spPr>
        <p:txBody>
          <a:bodyPr>
            <a:normAutofit lnSpcReduction="10000"/>
          </a:bodyPr>
          <a:lstStyle/>
          <a:p>
            <a:r>
              <a:rPr lang="en-US" sz="2400" dirty="0"/>
              <a:t>The Start menu is the starting point of the system. Some of the things done through this menu include: </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Access programs </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Open frequently used folders</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Configure settings on the computer</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Access the Help function</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Shut down the computer</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Put the computer to sleep mode</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Restart the computer</a:t>
            </a:r>
            <a:endParaRPr lang="en-US" sz="2400" dirty="0"/>
          </a:p>
          <a:p>
            <a:r>
              <a:rPr lang="en-US" sz="2400" dirty="0"/>
              <a:t>Correct procedure for turning off the computer: </a:t>
            </a:r>
          </a:p>
          <a:p>
            <a:pPr lvl="1"/>
            <a:r>
              <a:rPr lang="en-US" sz="2400" dirty="0"/>
              <a:t>The computer shuts down via Start menu, by clicking the Shut Down button </a:t>
            </a:r>
          </a:p>
          <a:p>
            <a:pPr lvl="1"/>
            <a:endParaRPr lang="en-US" sz="2200" dirty="0"/>
          </a:p>
          <a:p>
            <a:pPr lvl="1"/>
            <a:endParaRPr lang="en-US" sz="2200" dirty="0"/>
          </a:p>
        </p:txBody>
      </p:sp>
    </p:spTree>
    <p:extLst>
      <p:ext uri="{BB962C8B-B14F-4D97-AF65-F5344CB8AC3E}">
        <p14:creationId xmlns:p14="http://schemas.microsoft.com/office/powerpoint/2010/main" val="2776656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D157-79AF-48C1-B3F6-AE4CC6498786}"/>
              </a:ext>
            </a:extLst>
          </p:cNvPr>
          <p:cNvSpPr>
            <a:spLocks noGrp="1"/>
          </p:cNvSpPr>
          <p:nvPr>
            <p:ph type="title"/>
          </p:nvPr>
        </p:nvSpPr>
        <p:spPr>
          <a:xfrm>
            <a:off x="1616927" y="356840"/>
            <a:ext cx="9887685" cy="769434"/>
          </a:xfrm>
        </p:spPr>
        <p:txBody>
          <a:bodyPr>
            <a:normAutofit/>
          </a:bodyPr>
          <a:lstStyle/>
          <a:p>
            <a:r>
              <a:rPr lang="en-US" dirty="0"/>
              <a:t>USING THE MOUSE</a:t>
            </a:r>
          </a:p>
        </p:txBody>
      </p:sp>
      <p:sp>
        <p:nvSpPr>
          <p:cNvPr id="3" name="Content Placeholder 2">
            <a:extLst>
              <a:ext uri="{FF2B5EF4-FFF2-40B4-BE49-F238E27FC236}">
                <a16:creationId xmlns:a16="http://schemas.microsoft.com/office/drawing/2014/main" id="{5805B44D-2EBB-4881-9165-272EAD9822AE}"/>
              </a:ext>
            </a:extLst>
          </p:cNvPr>
          <p:cNvSpPr>
            <a:spLocks noGrp="1"/>
          </p:cNvSpPr>
          <p:nvPr>
            <p:ph idx="1"/>
          </p:nvPr>
        </p:nvSpPr>
        <p:spPr>
          <a:xfrm>
            <a:off x="1616927" y="1126273"/>
            <a:ext cx="9887685" cy="5263375"/>
          </a:xfrm>
        </p:spPr>
        <p:txBody>
          <a:bodyPr>
            <a:normAutofit/>
          </a:bodyPr>
          <a:lstStyle/>
          <a:p>
            <a:r>
              <a:rPr lang="en-US" sz="2200" dirty="0"/>
              <a:t>There are two buttons on the mouse that you will use regularly.</a:t>
            </a:r>
          </a:p>
          <a:p>
            <a:r>
              <a:rPr lang="en-US" sz="2200" dirty="0"/>
              <a:t>The first button is the </a:t>
            </a:r>
            <a:r>
              <a:rPr lang="en-US" sz="2200" b="1" dirty="0"/>
              <a:t>left button</a:t>
            </a:r>
            <a:r>
              <a:rPr lang="en-US" sz="2200" dirty="0"/>
              <a:t>. This is the button which you will use most regularly. The left button can be clicked once, or quickly twice, which is known as double-clicking.</a:t>
            </a:r>
          </a:p>
          <a:p>
            <a:r>
              <a:rPr lang="en-US" sz="2200" b="1" dirty="0"/>
              <a:t>Clicking the left button once </a:t>
            </a:r>
            <a:r>
              <a:rPr lang="en-US" sz="2200" dirty="0"/>
              <a:t>will select whichever icon you click on. It is also the button you will use when resizing windows, pictures and text boxes.</a:t>
            </a:r>
          </a:p>
          <a:p>
            <a:r>
              <a:rPr lang="en-US" sz="2200" b="1" dirty="0"/>
              <a:t>Double-clicking</a:t>
            </a:r>
            <a:r>
              <a:rPr lang="en-US" sz="2200" dirty="0"/>
              <a:t> allows you to open files and folders, and start up applications from your desktop.</a:t>
            </a:r>
          </a:p>
          <a:p>
            <a:r>
              <a:rPr lang="en-US" sz="2200" dirty="0"/>
              <a:t>The second button is the </a:t>
            </a:r>
            <a:r>
              <a:rPr lang="en-US" sz="2200" b="1" dirty="0"/>
              <a:t>right button</a:t>
            </a:r>
            <a:r>
              <a:rPr lang="en-US" sz="2200" dirty="0"/>
              <a:t>. Right clicking on a folder or file will show you a </a:t>
            </a:r>
            <a:r>
              <a:rPr lang="en-US" sz="2200" b="1" dirty="0"/>
              <a:t>menu of options </a:t>
            </a:r>
            <a:r>
              <a:rPr lang="en-US" sz="2200" dirty="0"/>
              <a:t>of tasks that you can do </a:t>
            </a:r>
          </a:p>
          <a:p>
            <a:pPr marL="0" indent="0">
              <a:buNone/>
            </a:pPr>
            <a:r>
              <a:rPr lang="en-US" sz="2200" dirty="0"/>
              <a:t>    with the file/folder.</a:t>
            </a:r>
          </a:p>
          <a:p>
            <a:pPr marL="0" indent="0">
              <a:buNone/>
            </a:pPr>
            <a:endParaRPr lang="en-US" sz="2200" dirty="0"/>
          </a:p>
          <a:p>
            <a:pPr marL="0" indent="0">
              <a:buNone/>
            </a:pPr>
            <a:endParaRPr lang="en-US" sz="2200" dirty="0"/>
          </a:p>
          <a:p>
            <a:pPr marL="0" indent="0">
              <a:buNone/>
            </a:pPr>
            <a:endParaRPr lang="en-US" sz="2200" dirty="0"/>
          </a:p>
        </p:txBody>
      </p:sp>
      <p:pic>
        <p:nvPicPr>
          <p:cNvPr id="5" name="Picture 4">
            <a:extLst>
              <a:ext uri="{FF2B5EF4-FFF2-40B4-BE49-F238E27FC236}">
                <a16:creationId xmlns:a16="http://schemas.microsoft.com/office/drawing/2014/main" id="{330FA7D1-BE5F-486E-A02A-9D3BB4D00B64}"/>
              </a:ext>
            </a:extLst>
          </p:cNvPr>
          <p:cNvPicPr>
            <a:picLocks noChangeAspect="1"/>
          </p:cNvPicPr>
          <p:nvPr/>
        </p:nvPicPr>
        <p:blipFill>
          <a:blip r:embed="rId2"/>
          <a:stretch>
            <a:fillRect/>
          </a:stretch>
        </p:blipFill>
        <p:spPr>
          <a:xfrm>
            <a:off x="10034587" y="5103773"/>
            <a:ext cx="1266825" cy="1285875"/>
          </a:xfrm>
          <a:prstGeom prst="rect">
            <a:avLst/>
          </a:prstGeom>
        </p:spPr>
      </p:pic>
    </p:spTree>
    <p:extLst>
      <p:ext uri="{BB962C8B-B14F-4D97-AF65-F5344CB8AC3E}">
        <p14:creationId xmlns:p14="http://schemas.microsoft.com/office/powerpoint/2010/main" val="1315993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880946"/>
          </a:xfrm>
        </p:spPr>
        <p:txBody>
          <a:bodyPr/>
          <a:lstStyle/>
          <a:p>
            <a:r>
              <a:rPr lang="en-US" dirty="0"/>
              <a:t>THE DESKTOP</a:t>
            </a:r>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1137424"/>
            <a:ext cx="9887685" cy="4984596"/>
          </a:xfrm>
        </p:spPr>
        <p:txBody>
          <a:bodyPr>
            <a:normAutofit/>
          </a:bodyPr>
          <a:lstStyle/>
          <a:p>
            <a:r>
              <a:rPr lang="en-US" sz="2000" dirty="0"/>
              <a:t>The Desktop is the first screen you see when your computer has started. It can be customized to look how you want and make it easier for you to do your work.</a:t>
            </a:r>
          </a:p>
          <a:p>
            <a:r>
              <a:rPr lang="en-US" sz="2000" dirty="0"/>
              <a:t>Each desktop look a little different. </a:t>
            </a:r>
          </a:p>
          <a:p>
            <a:r>
              <a:rPr lang="en-US" sz="2000" dirty="0"/>
              <a:t>Almost each and every Desktop screen has got: </a:t>
            </a:r>
          </a:p>
          <a:p>
            <a:pPr lvl="1"/>
            <a:r>
              <a:rPr lang="en-US" sz="2000" dirty="0"/>
              <a:t>Icons</a:t>
            </a:r>
          </a:p>
          <a:p>
            <a:pPr lvl="1"/>
            <a:r>
              <a:rPr lang="en-US" sz="2000" dirty="0"/>
              <a:t>Background</a:t>
            </a:r>
          </a:p>
          <a:p>
            <a:pPr lvl="1"/>
            <a:r>
              <a:rPr lang="en-US" sz="2000" dirty="0"/>
              <a:t>Start Button</a:t>
            </a:r>
          </a:p>
          <a:p>
            <a:pPr lvl="1"/>
            <a:r>
              <a:rPr lang="en-US" sz="2000" dirty="0"/>
              <a:t>Task Bar</a:t>
            </a:r>
          </a:p>
          <a:p>
            <a:pPr lvl="1"/>
            <a:r>
              <a:rPr lang="en-US" sz="2000" dirty="0"/>
              <a:t>Quick launch Area</a:t>
            </a:r>
          </a:p>
          <a:p>
            <a:pPr lvl="1"/>
            <a:r>
              <a:rPr lang="en-US" sz="2000" dirty="0"/>
              <a:t>System Tray</a:t>
            </a:r>
          </a:p>
          <a:p>
            <a:pPr lvl="1"/>
            <a:r>
              <a:rPr lang="en-US" sz="2000" dirty="0"/>
              <a:t>Clock, etc.</a:t>
            </a:r>
          </a:p>
          <a:p>
            <a:pPr marL="0" indent="0">
              <a:buNone/>
            </a:pPr>
            <a:endParaRPr lang="en-US" dirty="0"/>
          </a:p>
          <a:p>
            <a:endParaRPr lang="en-US" dirty="0"/>
          </a:p>
          <a:p>
            <a:endParaRPr lang="en-US" dirty="0"/>
          </a:p>
          <a:p>
            <a:endParaRPr lang="en-US" dirty="0"/>
          </a:p>
        </p:txBody>
      </p:sp>
    </p:spTree>
    <p:extLst>
      <p:ext uri="{BB962C8B-B14F-4D97-AF65-F5344CB8AC3E}">
        <p14:creationId xmlns:p14="http://schemas.microsoft.com/office/powerpoint/2010/main" val="2537751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D157-79AF-48C1-B3F6-AE4CC6498786}"/>
              </a:ext>
            </a:extLst>
          </p:cNvPr>
          <p:cNvSpPr>
            <a:spLocks noGrp="1"/>
          </p:cNvSpPr>
          <p:nvPr>
            <p:ph type="title"/>
          </p:nvPr>
        </p:nvSpPr>
        <p:spPr>
          <a:xfrm>
            <a:off x="1616927" y="356840"/>
            <a:ext cx="9887685" cy="769434"/>
          </a:xfrm>
        </p:spPr>
        <p:txBody>
          <a:bodyPr>
            <a:normAutofit/>
          </a:bodyPr>
          <a:lstStyle/>
          <a:p>
            <a:r>
              <a:rPr lang="en-US" dirty="0"/>
              <a:t>CONT…</a:t>
            </a:r>
          </a:p>
        </p:txBody>
      </p:sp>
      <p:sp>
        <p:nvSpPr>
          <p:cNvPr id="3" name="Content Placeholder 2">
            <a:extLst>
              <a:ext uri="{FF2B5EF4-FFF2-40B4-BE49-F238E27FC236}">
                <a16:creationId xmlns:a16="http://schemas.microsoft.com/office/drawing/2014/main" id="{5805B44D-2EBB-4881-9165-272EAD9822AE}"/>
              </a:ext>
            </a:extLst>
          </p:cNvPr>
          <p:cNvSpPr>
            <a:spLocks noGrp="1"/>
          </p:cNvSpPr>
          <p:nvPr>
            <p:ph idx="1"/>
          </p:nvPr>
        </p:nvSpPr>
        <p:spPr>
          <a:xfrm>
            <a:off x="1616927" y="1126273"/>
            <a:ext cx="9887685" cy="5263375"/>
          </a:xfrm>
        </p:spPr>
        <p:txBody>
          <a:bodyPr>
            <a:normAutofit lnSpcReduction="10000"/>
          </a:bodyPr>
          <a:lstStyle/>
          <a:p>
            <a:pPr marL="0" indent="0">
              <a:buNone/>
            </a:pPr>
            <a:r>
              <a:rPr lang="en-US" sz="2400" b="1" dirty="0"/>
              <a:t>Taskbar</a:t>
            </a:r>
          </a:p>
          <a:p>
            <a:r>
              <a:rPr lang="en-US" sz="2400" dirty="0"/>
              <a:t>It is a black bar located at the bottom of your display screen when computer is in use. It’s location and other settings can be changed by right clicking on the taskbar then clicking on “Taskbar Settings”.</a:t>
            </a:r>
          </a:p>
          <a:p>
            <a:r>
              <a:rPr lang="en-US" sz="2400" dirty="0"/>
              <a:t>It allows one to easily locate and launch apps, view programs that are currently open, search from the computer, access notifications, access system and network shortcut. Also provides a way of switching between open applications.</a:t>
            </a:r>
          </a:p>
          <a:p>
            <a:r>
              <a:rPr lang="en-US" sz="2400" dirty="0"/>
              <a:t>Elements of a taskbar include:</a:t>
            </a:r>
          </a:p>
          <a:p>
            <a:pPr lvl="1"/>
            <a:r>
              <a:rPr lang="en-US" sz="2200" b="1" dirty="0"/>
              <a:t>Start menu button </a:t>
            </a:r>
            <a:r>
              <a:rPr lang="en-US" sz="2200" dirty="0"/>
              <a:t>– also known as the windows button, located on the left end of the taskbar.</a:t>
            </a:r>
          </a:p>
          <a:p>
            <a:pPr lvl="1"/>
            <a:r>
              <a:rPr lang="en-US" sz="2200" b="1" dirty="0"/>
              <a:t>Search bar </a:t>
            </a:r>
            <a:r>
              <a:rPr lang="en-US" sz="2200" dirty="0"/>
              <a:t>– Found on next to the start button. Used to quickly find files or apps on the computer.</a:t>
            </a:r>
          </a:p>
          <a:p>
            <a:endParaRPr lang="en-US" sz="2200" dirty="0"/>
          </a:p>
        </p:txBody>
      </p:sp>
    </p:spTree>
    <p:extLst>
      <p:ext uri="{BB962C8B-B14F-4D97-AF65-F5344CB8AC3E}">
        <p14:creationId xmlns:p14="http://schemas.microsoft.com/office/powerpoint/2010/main" val="4013253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D157-79AF-48C1-B3F6-AE4CC6498786}"/>
              </a:ext>
            </a:extLst>
          </p:cNvPr>
          <p:cNvSpPr>
            <a:spLocks noGrp="1"/>
          </p:cNvSpPr>
          <p:nvPr>
            <p:ph type="title"/>
          </p:nvPr>
        </p:nvSpPr>
        <p:spPr>
          <a:xfrm>
            <a:off x="1616927" y="356840"/>
            <a:ext cx="9887685" cy="769434"/>
          </a:xfrm>
        </p:spPr>
        <p:txBody>
          <a:bodyPr>
            <a:normAutofit/>
          </a:bodyPr>
          <a:lstStyle/>
          <a:p>
            <a:r>
              <a:rPr lang="en-US" dirty="0"/>
              <a:t>CONT…</a:t>
            </a:r>
          </a:p>
        </p:txBody>
      </p:sp>
      <p:sp>
        <p:nvSpPr>
          <p:cNvPr id="3" name="Content Placeholder 2">
            <a:extLst>
              <a:ext uri="{FF2B5EF4-FFF2-40B4-BE49-F238E27FC236}">
                <a16:creationId xmlns:a16="http://schemas.microsoft.com/office/drawing/2014/main" id="{5805B44D-2EBB-4881-9165-272EAD9822AE}"/>
              </a:ext>
            </a:extLst>
          </p:cNvPr>
          <p:cNvSpPr>
            <a:spLocks noGrp="1"/>
          </p:cNvSpPr>
          <p:nvPr>
            <p:ph idx="1"/>
          </p:nvPr>
        </p:nvSpPr>
        <p:spPr>
          <a:xfrm>
            <a:off x="1616927" y="1126273"/>
            <a:ext cx="9887685" cy="5263375"/>
          </a:xfrm>
        </p:spPr>
        <p:txBody>
          <a:bodyPr>
            <a:normAutofit lnSpcReduction="10000"/>
          </a:bodyPr>
          <a:lstStyle/>
          <a:p>
            <a:pPr lvl="1"/>
            <a:r>
              <a:rPr lang="en-US" sz="2200" b="1" dirty="0"/>
              <a:t>Task View button </a:t>
            </a:r>
            <a:r>
              <a:rPr lang="en-US" sz="2200" dirty="0"/>
              <a:t>– Found right next to the search bar. It displays all open windows on the computer and allows one to switch between them. Clicking the task View button also allows one to create and switch between multiple workspaces.</a:t>
            </a:r>
            <a:endParaRPr lang="en-US" sz="2200" b="1" dirty="0"/>
          </a:p>
          <a:p>
            <a:pPr lvl="1"/>
            <a:r>
              <a:rPr lang="en-US" sz="2200" b="1" dirty="0"/>
              <a:t>Quick launch area </a:t>
            </a:r>
            <a:r>
              <a:rPr lang="en-US" sz="2200" dirty="0"/>
              <a:t>– this is the wide space in the middle of the taskbar. This region accommodates program and application shortcuts. It provides quick access to applications on your computer. It can be customized by pinning/adding and unpinning/removing apps from the taskbar. To pin an app to the taskbar, simply right-click on the app on the desktop and select “pin to taskbar”.</a:t>
            </a:r>
            <a:endParaRPr lang="en-US" sz="2200" b="1" dirty="0"/>
          </a:p>
          <a:p>
            <a:pPr lvl="1"/>
            <a:r>
              <a:rPr lang="en-US" sz="2200" b="1" dirty="0"/>
              <a:t>System Tray/Notification Area </a:t>
            </a:r>
            <a:r>
              <a:rPr lang="en-US" sz="2200" dirty="0"/>
              <a:t>– Contains the date, clock and icons for some of the programs running in the background. Can be used to change some of the computer settings and also provides information e.g. whether you have a certain software in use or when using laptop it shows when battery is low.</a:t>
            </a:r>
          </a:p>
        </p:txBody>
      </p:sp>
    </p:spTree>
    <p:extLst>
      <p:ext uri="{BB962C8B-B14F-4D97-AF65-F5344CB8AC3E}">
        <p14:creationId xmlns:p14="http://schemas.microsoft.com/office/powerpoint/2010/main" val="2705130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D157-79AF-48C1-B3F6-AE4CC6498786}"/>
              </a:ext>
            </a:extLst>
          </p:cNvPr>
          <p:cNvSpPr>
            <a:spLocks noGrp="1"/>
          </p:cNvSpPr>
          <p:nvPr>
            <p:ph type="title"/>
          </p:nvPr>
        </p:nvSpPr>
        <p:spPr>
          <a:xfrm>
            <a:off x="1616927" y="356840"/>
            <a:ext cx="9887685" cy="769434"/>
          </a:xfrm>
        </p:spPr>
        <p:txBody>
          <a:bodyPr>
            <a:normAutofit/>
          </a:bodyPr>
          <a:lstStyle/>
          <a:p>
            <a:r>
              <a:rPr lang="en-US" dirty="0"/>
              <a:t>CONT…</a:t>
            </a:r>
          </a:p>
        </p:txBody>
      </p:sp>
      <p:sp>
        <p:nvSpPr>
          <p:cNvPr id="3" name="Content Placeholder 2">
            <a:extLst>
              <a:ext uri="{FF2B5EF4-FFF2-40B4-BE49-F238E27FC236}">
                <a16:creationId xmlns:a16="http://schemas.microsoft.com/office/drawing/2014/main" id="{5805B44D-2EBB-4881-9165-272EAD9822AE}"/>
              </a:ext>
            </a:extLst>
          </p:cNvPr>
          <p:cNvSpPr>
            <a:spLocks noGrp="1"/>
          </p:cNvSpPr>
          <p:nvPr>
            <p:ph idx="1"/>
          </p:nvPr>
        </p:nvSpPr>
        <p:spPr>
          <a:xfrm>
            <a:off x="1616927" y="1126273"/>
            <a:ext cx="9887685" cy="5263375"/>
          </a:xfrm>
        </p:spPr>
        <p:txBody>
          <a:bodyPr>
            <a:normAutofit/>
          </a:bodyPr>
          <a:lstStyle/>
          <a:p>
            <a:pPr marL="0" indent="0">
              <a:buNone/>
            </a:pPr>
            <a:r>
              <a:rPr lang="en-US" sz="2400" b="1" dirty="0"/>
              <a:t>Windows Search Box/Pane</a:t>
            </a:r>
          </a:p>
          <a:p>
            <a:r>
              <a:rPr lang="en-US" sz="2400" dirty="0"/>
              <a:t>It is found next to the start menu.</a:t>
            </a:r>
          </a:p>
          <a:p>
            <a:r>
              <a:rPr lang="en-US" sz="2400" dirty="0"/>
              <a:t>It allows to execute searches on the internet, in windows.</a:t>
            </a:r>
          </a:p>
          <a:p>
            <a:r>
              <a:rPr lang="en-US" sz="2400" dirty="0"/>
              <a:t>After typing in your search text, press enter to open the highlighted program or file in the search results.</a:t>
            </a:r>
          </a:p>
          <a:p>
            <a:pPr marL="0" marR="0" lvl="0" indent="0" algn="l" defTabSz="457200" rtl="0" eaLnBrk="1" fontAlgn="auto" latinLnBrk="0" hangingPunct="1">
              <a:lnSpc>
                <a:spcPct val="100000"/>
              </a:lnSpc>
              <a:spcBef>
                <a:spcPts val="1000"/>
              </a:spcBef>
              <a:spcAft>
                <a:spcPts val="0"/>
              </a:spcAft>
              <a:buClr>
                <a:srgbClr val="A53010"/>
              </a:buClr>
              <a:buSzTx/>
              <a:buFont typeface="Wingdings 3" charset="2"/>
              <a:buNone/>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Background</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Changes the color and pattern of the desktop.</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This can be customized to anything you like e.g. your picture.</a:t>
            </a:r>
          </a:p>
          <a:p>
            <a:pPr marL="0" indent="0">
              <a:buNone/>
            </a:pPr>
            <a:endParaRPr lang="en-US" sz="2200" dirty="0"/>
          </a:p>
        </p:txBody>
      </p:sp>
    </p:spTree>
    <p:extLst>
      <p:ext uri="{BB962C8B-B14F-4D97-AF65-F5344CB8AC3E}">
        <p14:creationId xmlns:p14="http://schemas.microsoft.com/office/powerpoint/2010/main" val="550078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D157-79AF-48C1-B3F6-AE4CC6498786}"/>
              </a:ext>
            </a:extLst>
          </p:cNvPr>
          <p:cNvSpPr>
            <a:spLocks noGrp="1"/>
          </p:cNvSpPr>
          <p:nvPr>
            <p:ph type="title"/>
          </p:nvPr>
        </p:nvSpPr>
        <p:spPr>
          <a:xfrm>
            <a:off x="1616927" y="356840"/>
            <a:ext cx="9887685" cy="769434"/>
          </a:xfrm>
        </p:spPr>
        <p:txBody>
          <a:bodyPr>
            <a:normAutofit/>
          </a:bodyPr>
          <a:lstStyle/>
          <a:p>
            <a:r>
              <a:rPr lang="en-US" dirty="0"/>
              <a:t>CONT…</a:t>
            </a:r>
          </a:p>
        </p:txBody>
      </p:sp>
      <p:sp>
        <p:nvSpPr>
          <p:cNvPr id="3" name="Content Placeholder 2">
            <a:extLst>
              <a:ext uri="{FF2B5EF4-FFF2-40B4-BE49-F238E27FC236}">
                <a16:creationId xmlns:a16="http://schemas.microsoft.com/office/drawing/2014/main" id="{5805B44D-2EBB-4881-9165-272EAD9822AE}"/>
              </a:ext>
            </a:extLst>
          </p:cNvPr>
          <p:cNvSpPr>
            <a:spLocks noGrp="1"/>
          </p:cNvSpPr>
          <p:nvPr>
            <p:ph idx="1"/>
          </p:nvPr>
        </p:nvSpPr>
        <p:spPr>
          <a:xfrm>
            <a:off x="1616927" y="1126273"/>
            <a:ext cx="9887685" cy="5263375"/>
          </a:xfrm>
        </p:spPr>
        <p:txBody>
          <a:bodyPr>
            <a:normAutofit/>
          </a:bodyPr>
          <a:lstStyle/>
          <a:p>
            <a:pPr marL="0" indent="0">
              <a:buNone/>
            </a:pPr>
            <a:r>
              <a:rPr lang="en-US" sz="2400" b="1" dirty="0"/>
              <a:t>Using the Help function </a:t>
            </a:r>
          </a:p>
          <a:p>
            <a:r>
              <a:rPr lang="en-US" sz="2400" dirty="0"/>
              <a:t>Windows 10 has a “Get Help” application that provides solutions to most problems.</a:t>
            </a:r>
          </a:p>
          <a:p>
            <a:r>
              <a:rPr lang="en-US" sz="2400" dirty="0"/>
              <a:t>The Get Help app is located in the start menu. You can either:</a:t>
            </a:r>
          </a:p>
          <a:p>
            <a:pPr lvl="1"/>
            <a:r>
              <a:rPr lang="en-US" sz="2400" dirty="0"/>
              <a:t>Type “Get Help”, in the search box and when “Get help” appears click “</a:t>
            </a:r>
            <a:r>
              <a:rPr lang="en-US" sz="2400" dirty="0" err="1"/>
              <a:t>Open”or</a:t>
            </a:r>
            <a:r>
              <a:rPr lang="en-US" sz="2400" dirty="0"/>
              <a:t> press enter.</a:t>
            </a:r>
          </a:p>
          <a:p>
            <a:pPr lvl="1"/>
            <a:r>
              <a:rPr lang="en-US" sz="2400" dirty="0"/>
              <a:t>Click the start button, scroll through the list of applications at the left side of the start menu and click “Get Help” shortcut.</a:t>
            </a:r>
          </a:p>
          <a:p>
            <a:r>
              <a:rPr lang="en-US" sz="2400" dirty="0"/>
              <a:t>Clicking on the Get Help app connects one to a virtual agent, which tries to find answers to what you have asked for by typing.</a:t>
            </a:r>
          </a:p>
          <a:p>
            <a:r>
              <a:rPr lang="en-US" sz="2400" dirty="0"/>
              <a:t>You can also press “F1 key” on your keyboard for help.</a:t>
            </a:r>
          </a:p>
        </p:txBody>
      </p:sp>
    </p:spTree>
    <p:extLst>
      <p:ext uri="{BB962C8B-B14F-4D97-AF65-F5344CB8AC3E}">
        <p14:creationId xmlns:p14="http://schemas.microsoft.com/office/powerpoint/2010/main" val="1750083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880946"/>
          </a:xfrm>
        </p:spPr>
        <p:txBody>
          <a:bodyPr/>
          <a:lstStyle/>
          <a:p>
            <a:r>
              <a:rPr lang="en-US" dirty="0"/>
              <a:t>CUSTOMIZING THE DESKTOP</a:t>
            </a:r>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1137424"/>
            <a:ext cx="9887685" cy="4984596"/>
          </a:xfrm>
        </p:spPr>
        <p:txBody>
          <a:bodyPr>
            <a:normAutofit/>
          </a:bodyPr>
          <a:lstStyle/>
          <a:p>
            <a:pPr marL="0" indent="0">
              <a:buNone/>
            </a:pPr>
            <a:r>
              <a:rPr lang="en-US" sz="2000" b="1" dirty="0"/>
              <a:t>GENERAL INFORMATION AND ADJUSTING COMPUTER SETTINGS </a:t>
            </a:r>
          </a:p>
          <a:p>
            <a:r>
              <a:rPr lang="en-US" sz="2000" b="1" dirty="0"/>
              <a:t>System Information </a:t>
            </a:r>
          </a:p>
          <a:p>
            <a:pPr lvl="1"/>
            <a:r>
              <a:rPr lang="en-US" sz="2000" dirty="0"/>
              <a:t>Click the Windows Start menu/button → click on settings (gear icon)</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 In settings menu, click on system then scroll down and click About. From this screen you will be able to view your system information/specifications (processor, memory and other information.</a:t>
            </a:r>
            <a:endParaRPr lang="en-US" sz="2000" dirty="0"/>
          </a:p>
          <a:p>
            <a:pPr lvl="1"/>
            <a:r>
              <a:rPr lang="en-US" sz="2000" dirty="0"/>
              <a:t>Use the search box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r>
              <a:rPr lang="en-US" sz="2000" dirty="0"/>
              <a:t> type control panel in search box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open control panel and select</a:t>
            </a:r>
            <a:r>
              <a:rPr lang="en-US" sz="2000" dirty="0"/>
              <a:t> System and Security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click on System</a:t>
            </a:r>
            <a:r>
              <a:rPr lang="en-US" sz="2000" dirty="0"/>
              <a:t>.</a:t>
            </a:r>
          </a:p>
          <a:p>
            <a:r>
              <a:rPr lang="en-US" sz="2000" b="1" dirty="0"/>
              <a:t>Date and Time </a:t>
            </a:r>
          </a:p>
          <a:p>
            <a:pPr lvl="1"/>
            <a:r>
              <a:rPr lang="en-US" sz="2000" dirty="0"/>
              <a:t>To change the time and date you need to right click on the Date and Time button found on the right corner of the taskbar at the bottom of the screen. </a:t>
            </a:r>
          </a:p>
          <a:p>
            <a:pPr lvl="1"/>
            <a:r>
              <a:rPr lang="en-US" sz="2000" dirty="0"/>
              <a:t>Click “Adjust date/time” settings in the window opened.</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216461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880946"/>
          </a:xfrm>
        </p:spPr>
        <p:txBody>
          <a:bodyPr/>
          <a:lstStyle/>
          <a:p>
            <a:r>
              <a:rPr lang="en-US" dirty="0"/>
              <a:t>CONT…</a:t>
            </a:r>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1137424"/>
            <a:ext cx="9887685" cy="4773798"/>
          </a:xfrm>
        </p:spPr>
        <p:txBody>
          <a:bodyPr>
            <a:normAutofit/>
          </a:bodyPr>
          <a:lstStyle/>
          <a:p>
            <a:pPr marL="0" indent="0">
              <a:buNone/>
            </a:pPr>
            <a:r>
              <a:rPr lang="en-US" sz="2400" b="1" dirty="0"/>
              <a:t>Speaker Volume </a:t>
            </a:r>
          </a:p>
          <a:p>
            <a:pPr lvl="1"/>
            <a:r>
              <a:rPr lang="en-US" sz="2400" dirty="0"/>
              <a:t>In order to change the speaker volume, you need to click on the      icon in the notification area on the right corner of the taskbar. </a:t>
            </a:r>
          </a:p>
          <a:p>
            <a:pPr lvl="1"/>
            <a:r>
              <a:rPr lang="en-US" sz="2400" dirty="0"/>
              <a:t>By moving the vertical scroll bar, you can change the volume. Clicking the Toggle Mute button    turns off the sound.</a:t>
            </a:r>
          </a:p>
          <a:p>
            <a:pPr lvl="1"/>
            <a:r>
              <a:rPr lang="en-US" sz="2400" dirty="0"/>
              <a:t>You can also use keys on your keyboard.</a:t>
            </a:r>
          </a:p>
          <a:p>
            <a:endParaRPr lang="en-US" dirty="0"/>
          </a:p>
          <a:p>
            <a:pPr marL="0" indent="0">
              <a:buNone/>
            </a:pPr>
            <a:endParaRPr lang="en-US" dirty="0"/>
          </a:p>
        </p:txBody>
      </p:sp>
      <p:pic>
        <p:nvPicPr>
          <p:cNvPr id="4" name="Picture 3">
            <a:extLst>
              <a:ext uri="{FF2B5EF4-FFF2-40B4-BE49-F238E27FC236}">
                <a16:creationId xmlns:a16="http://schemas.microsoft.com/office/drawing/2014/main" id="{24AAA952-A9E8-4AB2-A1BB-A578A3EE41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15770" y="2206547"/>
            <a:ext cx="276225" cy="190500"/>
          </a:xfrm>
          <a:prstGeom prst="rect">
            <a:avLst/>
          </a:prstGeom>
          <a:noFill/>
          <a:ln>
            <a:noFill/>
          </a:ln>
        </p:spPr>
      </p:pic>
      <p:pic>
        <p:nvPicPr>
          <p:cNvPr id="5" name="Picture 4">
            <a:extLst>
              <a:ext uri="{FF2B5EF4-FFF2-40B4-BE49-F238E27FC236}">
                <a16:creationId xmlns:a16="http://schemas.microsoft.com/office/drawing/2014/main" id="{E9756385-0A4F-4BB4-9598-B3D43F66637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19415" y="3372779"/>
            <a:ext cx="238125" cy="190500"/>
          </a:xfrm>
          <a:prstGeom prst="rect">
            <a:avLst/>
          </a:prstGeom>
          <a:noFill/>
          <a:ln>
            <a:noFill/>
          </a:ln>
        </p:spPr>
      </p:pic>
    </p:spTree>
    <p:extLst>
      <p:ext uri="{BB962C8B-B14F-4D97-AF65-F5344CB8AC3E}">
        <p14:creationId xmlns:p14="http://schemas.microsoft.com/office/powerpoint/2010/main" val="30894597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880946"/>
          </a:xfrm>
        </p:spPr>
        <p:txBody>
          <a:bodyPr/>
          <a:lstStyle/>
          <a:p>
            <a:r>
              <a:rPr lang="en-US" dirty="0"/>
              <a:t>CONT…</a:t>
            </a:r>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1137424"/>
            <a:ext cx="9887685" cy="4773798"/>
          </a:xfrm>
        </p:spPr>
        <p:txBody>
          <a:bodyPr>
            <a:normAutofit/>
          </a:bodyPr>
          <a:lstStyle/>
          <a:p>
            <a:pPr marL="0" indent="0">
              <a:buNone/>
            </a:pPr>
            <a:r>
              <a:rPr lang="en-US" sz="2400" b="1" dirty="0"/>
              <a:t>Desktop Background/Wallpaper</a:t>
            </a:r>
          </a:p>
          <a:p>
            <a:r>
              <a:rPr lang="en-US" sz="2400" dirty="0"/>
              <a:t>This is a picture you can have on your desktop background.</a:t>
            </a:r>
          </a:p>
          <a:p>
            <a:r>
              <a:rPr lang="en-US" sz="2400" dirty="0"/>
              <a:t>The appearance of your desktop background/wallpaper can be changed in the following manner:</a:t>
            </a:r>
          </a:p>
          <a:p>
            <a:pPr lvl="1"/>
            <a:r>
              <a:rPr lang="en-US" sz="2400" dirty="0"/>
              <a:t>Right click on your desktop and chose personalize. Then click on background, click the drop-down list to chose a picture or color to cover your background with. Or</a:t>
            </a:r>
          </a:p>
          <a:p>
            <a:pPr lvl="1"/>
            <a:r>
              <a:rPr lang="en-US" sz="2400" dirty="0"/>
              <a:t>Click the Start menu button, then click on Settings then click the Personalization icon.</a:t>
            </a:r>
          </a:p>
          <a:p>
            <a:pPr lvl="1"/>
            <a:r>
              <a:rPr lang="en-US" sz="2400" dirty="0"/>
              <a:t>Click save after setting your background for changes to take effect.</a:t>
            </a:r>
          </a:p>
          <a:p>
            <a:endParaRPr lang="en-US" dirty="0"/>
          </a:p>
          <a:p>
            <a:endParaRPr lang="en-US" dirty="0"/>
          </a:p>
        </p:txBody>
      </p:sp>
    </p:spTree>
    <p:extLst>
      <p:ext uri="{BB962C8B-B14F-4D97-AF65-F5344CB8AC3E}">
        <p14:creationId xmlns:p14="http://schemas.microsoft.com/office/powerpoint/2010/main" val="36623340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880946"/>
          </a:xfrm>
        </p:spPr>
        <p:txBody>
          <a:bodyPr/>
          <a:lstStyle/>
          <a:p>
            <a:r>
              <a:rPr lang="en-US" dirty="0"/>
              <a:t>CONT…</a:t>
            </a:r>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1137424"/>
            <a:ext cx="9887685" cy="4773798"/>
          </a:xfrm>
        </p:spPr>
        <p:txBody>
          <a:bodyPr>
            <a:normAutofit fontScale="77500" lnSpcReduction="20000"/>
          </a:bodyPr>
          <a:lstStyle/>
          <a:p>
            <a:r>
              <a:rPr lang="en-US" sz="2400" b="1" dirty="0"/>
              <a:t>Screen Saver: </a:t>
            </a:r>
            <a:r>
              <a:rPr lang="en-US" sz="2400" dirty="0"/>
              <a:t>Modifies what will come on the screen when your PC has been inactive for a set amount of time</a:t>
            </a:r>
            <a:r>
              <a:rPr lang="en-US" sz="2400" b="1" dirty="0"/>
              <a:t>.</a:t>
            </a:r>
          </a:p>
          <a:p>
            <a:r>
              <a:rPr lang="en-US" sz="2400" dirty="0"/>
              <a:t>It protects your computer</a:t>
            </a:r>
            <a:r>
              <a:rPr lang="en-US" sz="2400" dirty="0">
                <a:sym typeface="Wingdings" panose="05000000000000000000" pitchFamily="2" charset="2"/>
              </a:rPr>
              <a:t> (i</a:t>
            </a:r>
            <a:r>
              <a:rPr lang="en-US" sz="2400" dirty="0"/>
              <a:t>f you do not want people to use your computer while you are away from your desk then you can specify a password that must be entered to clear the password).</a:t>
            </a:r>
          </a:p>
          <a:p>
            <a:r>
              <a:rPr lang="en-US" sz="2400" dirty="0"/>
              <a:t>To set a screen saver:</a:t>
            </a:r>
          </a:p>
          <a:p>
            <a:pPr lvl="1"/>
            <a:r>
              <a:rPr lang="en-US" sz="2400" dirty="0"/>
              <a:t>Click on personalization icon, then click Lock screen followed by clicking the Screen saver setting link.</a:t>
            </a:r>
          </a:p>
          <a:p>
            <a:pPr lvl="1"/>
            <a:r>
              <a:rPr lang="en-US" sz="2400" dirty="0"/>
              <a:t>Under Screen saver, use the drop down menu and select your preferred screen saver.</a:t>
            </a:r>
          </a:p>
          <a:p>
            <a:pPr lvl="1"/>
            <a:r>
              <a:rPr lang="en-US" sz="2400" dirty="0"/>
              <a:t>The “Wait” option lets you set the number of minutes of inactivity before the screen saver turns on.</a:t>
            </a:r>
          </a:p>
          <a:p>
            <a:pPr lvl="1"/>
            <a:r>
              <a:rPr lang="en-US" sz="2400" dirty="0"/>
              <a:t>Click </a:t>
            </a:r>
            <a:r>
              <a:rPr lang="en-US" sz="2400" b="1" dirty="0"/>
              <a:t>Apply</a:t>
            </a:r>
            <a:r>
              <a:rPr lang="en-US" sz="2400" dirty="0"/>
              <a:t> button then </a:t>
            </a:r>
            <a:r>
              <a:rPr lang="en-US" sz="2400" b="1" dirty="0"/>
              <a:t>OK</a:t>
            </a:r>
            <a:r>
              <a:rPr lang="en-US" sz="2400" dirty="0"/>
              <a:t> button.</a:t>
            </a:r>
          </a:p>
          <a:p>
            <a:pPr marL="457200" lvl="1" indent="0">
              <a:buNone/>
            </a:pPr>
            <a:endParaRPr lang="en-US" sz="2400" dirty="0"/>
          </a:p>
          <a:p>
            <a:pPr marL="0" indent="0" algn="ctr">
              <a:lnSpc>
                <a:spcPct val="107000"/>
              </a:lnSpc>
              <a:spcAft>
                <a:spcPts val="800"/>
              </a:spcAft>
              <a:buNone/>
            </a:pPr>
            <a:r>
              <a:rPr lang="en-US" sz="2400" b="1" dirty="0">
                <a:solidFill>
                  <a:srgbClr val="FF0000"/>
                </a:solidFill>
                <a:effectLst/>
                <a:ea typeface="Calibri" panose="020F0502020204030204" pitchFamily="34" charset="0"/>
                <a:cs typeface="Arial" panose="020B0604020202020204" pitchFamily="34" charset="0"/>
              </a:rPr>
              <a:t>***** Explore other things in Personalize, including password setting ******</a:t>
            </a:r>
            <a:endParaRPr lang="en-MW" sz="2400" dirty="0">
              <a:solidFill>
                <a:srgbClr val="FF0000"/>
              </a:solidFill>
              <a:effectLst/>
              <a:ea typeface="Calibri" panose="020F0502020204030204" pitchFamily="34" charset="0"/>
              <a:cs typeface="DokChampa" panose="020B0604020202020204" pitchFamily="34" charset="-34"/>
            </a:endParaRPr>
          </a:p>
          <a:p>
            <a:pPr marL="457200" lvl="1" indent="0">
              <a:buNone/>
            </a:pPr>
            <a:endParaRPr lang="en-US" dirty="0"/>
          </a:p>
          <a:p>
            <a:endParaRPr lang="en-US" dirty="0"/>
          </a:p>
        </p:txBody>
      </p:sp>
    </p:spTree>
    <p:extLst>
      <p:ext uri="{BB962C8B-B14F-4D97-AF65-F5344CB8AC3E}">
        <p14:creationId xmlns:p14="http://schemas.microsoft.com/office/powerpoint/2010/main" val="1051415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122664"/>
            <a:ext cx="9887685" cy="691376"/>
          </a:xfrm>
        </p:spPr>
        <p:txBody>
          <a:bodyPr/>
          <a:lstStyle/>
          <a:p>
            <a:r>
              <a:rPr lang="en-US" dirty="0"/>
              <a:t>CONT…</a:t>
            </a:r>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360449" y="814040"/>
            <a:ext cx="10437541" cy="5687121"/>
          </a:xfrm>
        </p:spPr>
        <p:txBody>
          <a:bodyPr>
            <a:normAutofit fontScale="32500" lnSpcReduction="20000"/>
          </a:bodyPr>
          <a:lstStyle/>
          <a:p>
            <a:pPr>
              <a:spcAft>
                <a:spcPts val="800"/>
              </a:spcAft>
            </a:pPr>
            <a:r>
              <a:rPr lang="en-US" sz="7400" b="1" dirty="0">
                <a:effectLst/>
                <a:ea typeface="Calibri" panose="020F0502020204030204" pitchFamily="34" charset="0"/>
                <a:cs typeface="Arial" panose="020B0604020202020204" pitchFamily="34" charset="0"/>
              </a:rPr>
              <a:t>Resolution: </a:t>
            </a:r>
            <a:r>
              <a:rPr lang="en-US" sz="7400" dirty="0">
                <a:effectLst/>
                <a:ea typeface="Calibri" panose="020F0502020204030204" pitchFamily="34" charset="0"/>
                <a:cs typeface="Arial" panose="020B0604020202020204" pitchFamily="34" charset="0"/>
              </a:rPr>
              <a:t>If you are having difficulty seeing your computer display you might want to change the screen resolution.</a:t>
            </a:r>
          </a:p>
          <a:p>
            <a:pPr>
              <a:spcAft>
                <a:spcPts val="800"/>
              </a:spcAft>
            </a:pPr>
            <a:r>
              <a:rPr lang="en-US" sz="7400" dirty="0">
                <a:effectLst/>
                <a:ea typeface="Calibri" panose="020F0502020204030204" pitchFamily="34" charset="0"/>
                <a:cs typeface="Arial" panose="020B0604020202020204" pitchFamily="34" charset="0"/>
              </a:rPr>
              <a:t>How well your computer screen displays depends on its resolution.</a:t>
            </a:r>
          </a:p>
          <a:p>
            <a:pPr>
              <a:spcAft>
                <a:spcPts val="800"/>
              </a:spcAft>
            </a:pPr>
            <a:r>
              <a:rPr lang="en-US" sz="7400" dirty="0">
                <a:effectLst/>
                <a:ea typeface="Calibri" panose="020F0502020204030204" pitchFamily="34" charset="0"/>
                <a:cs typeface="Arial" panose="020B0604020202020204" pitchFamily="34" charset="0"/>
              </a:rPr>
              <a:t>Resolution is measured in pixels. If you look closel</a:t>
            </a:r>
            <a:r>
              <a:rPr lang="en-US" sz="7400" dirty="0">
                <a:ea typeface="Calibri" panose="020F0502020204030204" pitchFamily="34" charset="0"/>
                <a:cs typeface="Arial" panose="020B0604020202020204" pitchFamily="34" charset="0"/>
              </a:rPr>
              <a:t>y to your computer screen you can see that it is made up of lots and lots of dots, or pixels.</a:t>
            </a:r>
          </a:p>
          <a:p>
            <a:pPr>
              <a:spcAft>
                <a:spcPts val="800"/>
              </a:spcAft>
            </a:pPr>
            <a:r>
              <a:rPr lang="en-US" sz="7400" dirty="0">
                <a:ea typeface="Calibri" panose="020F0502020204030204" pitchFamily="34" charset="0"/>
                <a:cs typeface="Arial" panose="020B0604020202020204" pitchFamily="34" charset="0"/>
              </a:rPr>
              <a:t>If you c</a:t>
            </a:r>
            <a:r>
              <a:rPr lang="en-US" sz="7400" dirty="0">
                <a:effectLst/>
                <a:ea typeface="Calibri" panose="020F0502020204030204" pitchFamily="34" charset="0"/>
                <a:cs typeface="Arial" panose="020B0604020202020204" pitchFamily="34" charset="0"/>
              </a:rPr>
              <a:t>hange the number of pixels per square inch that your computer displays, you will change the size and quality of </a:t>
            </a:r>
            <a:r>
              <a:rPr lang="en-US" sz="7400" dirty="0">
                <a:ea typeface="Calibri" panose="020F0502020204030204" pitchFamily="34" charset="0"/>
                <a:cs typeface="Arial" panose="020B0604020202020204" pitchFamily="34" charset="0"/>
              </a:rPr>
              <a:t>display.</a:t>
            </a:r>
            <a:r>
              <a:rPr lang="en-US" sz="7400" dirty="0">
                <a:effectLst/>
                <a:ea typeface="Calibri" panose="020F0502020204030204" pitchFamily="34" charset="0"/>
                <a:cs typeface="Arial" panose="020B0604020202020204" pitchFamily="34" charset="0"/>
              </a:rPr>
              <a:t> </a:t>
            </a:r>
            <a:endParaRPr lang="en-MW" sz="7400" dirty="0">
              <a:effectLst/>
              <a:ea typeface="Calibri" panose="020F0502020204030204" pitchFamily="34" charset="0"/>
              <a:cs typeface="DokChampa" panose="020B0604020202020204" pitchFamily="34" charset="-34"/>
            </a:endParaRPr>
          </a:p>
          <a:p>
            <a:pPr lvl="1">
              <a:spcAft>
                <a:spcPts val="800"/>
              </a:spcAft>
            </a:pPr>
            <a:r>
              <a:rPr lang="en-US" sz="7400" dirty="0">
                <a:effectLst/>
                <a:ea typeface="Calibri" panose="020F0502020204030204" pitchFamily="34" charset="0"/>
                <a:cs typeface="Arial" panose="020B0604020202020204" pitchFamily="34" charset="0"/>
              </a:rPr>
              <a:t>To change the screen resolution, </a:t>
            </a:r>
            <a:r>
              <a:rPr lang="en-US" sz="7400" dirty="0">
                <a:ea typeface="Calibri" panose="020F0502020204030204" pitchFamily="34" charset="0"/>
                <a:cs typeface="Arial" panose="020B0604020202020204" pitchFamily="34" charset="0"/>
              </a:rPr>
              <a:t>C</a:t>
            </a:r>
            <a:r>
              <a:rPr lang="en-US" sz="7400" dirty="0">
                <a:effectLst/>
                <a:ea typeface="Calibri" panose="020F0502020204030204" pitchFamily="34" charset="0"/>
                <a:cs typeface="Arial" panose="020B0604020202020204" pitchFamily="34" charset="0"/>
              </a:rPr>
              <a:t>lick the Start menu button, </a:t>
            </a:r>
            <a:r>
              <a:rPr lang="en-US" sz="7400" dirty="0">
                <a:ea typeface="Calibri" panose="020F0502020204030204" pitchFamily="34" charset="0"/>
                <a:cs typeface="Arial" panose="020B0604020202020204" pitchFamily="34" charset="0"/>
              </a:rPr>
              <a:t>then select the Settings icon, select System, click Advanced display settings. Then click on the menu under Resolution and select your desired option. </a:t>
            </a:r>
          </a:p>
          <a:p>
            <a:pPr lvl="1">
              <a:spcAft>
                <a:spcPts val="800"/>
              </a:spcAft>
            </a:pPr>
            <a:r>
              <a:rPr lang="en-US" sz="7400" dirty="0">
                <a:effectLst/>
                <a:ea typeface="Calibri" panose="020F0502020204030204" pitchFamily="34" charset="0"/>
                <a:cs typeface="Arial" panose="020B0604020202020204" pitchFamily="34" charset="0"/>
              </a:rPr>
              <a:t>It is strongly advised to select the one that </a:t>
            </a:r>
            <a:r>
              <a:rPr lang="en-US" sz="7400" dirty="0">
                <a:ea typeface="Calibri" panose="020F0502020204030204" pitchFamily="34" charset="0"/>
                <a:cs typeface="Arial" panose="020B0604020202020204" pitchFamily="34" charset="0"/>
              </a:rPr>
              <a:t>ha recommended” next to it. Then click apply</a:t>
            </a:r>
          </a:p>
          <a:p>
            <a:pPr marL="457200" lvl="1" indent="0">
              <a:buNone/>
            </a:pPr>
            <a:endParaRPr lang="en-US" dirty="0"/>
          </a:p>
          <a:p>
            <a:endParaRPr lang="en-US" dirty="0"/>
          </a:p>
        </p:txBody>
      </p:sp>
    </p:spTree>
    <p:extLst>
      <p:ext uri="{BB962C8B-B14F-4D97-AF65-F5344CB8AC3E}">
        <p14:creationId xmlns:p14="http://schemas.microsoft.com/office/powerpoint/2010/main" val="4060005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122664"/>
            <a:ext cx="9887685" cy="691376"/>
          </a:xfrm>
        </p:spPr>
        <p:txBody>
          <a:bodyPr/>
          <a:lstStyle/>
          <a:p>
            <a:r>
              <a:rPr lang="en-US" dirty="0"/>
              <a:t>CONT…</a:t>
            </a:r>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360449" y="814040"/>
            <a:ext cx="10437541" cy="5687121"/>
          </a:xfrm>
        </p:spPr>
        <p:txBody>
          <a:bodyPr>
            <a:normAutofit fontScale="47500" lnSpcReduction="20000"/>
          </a:bodyPr>
          <a:lstStyle/>
          <a:p>
            <a:pPr>
              <a:spcAft>
                <a:spcPts val="800"/>
              </a:spcAft>
            </a:pPr>
            <a:r>
              <a:rPr lang="en-US" sz="5100" b="1" dirty="0">
                <a:effectLst/>
                <a:ea typeface="Calibri" panose="020F0502020204030204" pitchFamily="34" charset="0"/>
                <a:cs typeface="Arial" panose="020B0604020202020204" pitchFamily="34" charset="0"/>
              </a:rPr>
              <a:t>Control Panel</a:t>
            </a:r>
            <a:r>
              <a:rPr lang="en-US" sz="5100" dirty="0">
                <a:effectLst/>
                <a:ea typeface="Calibri" panose="020F0502020204030204" pitchFamily="34" charset="0"/>
                <a:cs typeface="Arial" panose="020B0604020202020204" pitchFamily="34" charset="0"/>
              </a:rPr>
              <a:t> </a:t>
            </a:r>
            <a:endParaRPr lang="en-MW" sz="5100" dirty="0">
              <a:effectLst/>
              <a:ea typeface="Calibri" panose="020F0502020204030204" pitchFamily="34" charset="0"/>
              <a:cs typeface="DokChampa" panose="020B0604020202020204" pitchFamily="34" charset="-34"/>
            </a:endParaRPr>
          </a:p>
          <a:p>
            <a:pPr lvl="1">
              <a:lnSpc>
                <a:spcPct val="170000"/>
              </a:lnSpc>
              <a:spcAft>
                <a:spcPts val="800"/>
              </a:spcAft>
            </a:pPr>
            <a:r>
              <a:rPr lang="en-US" sz="5100" dirty="0">
                <a:effectLst/>
                <a:ea typeface="Calibri" panose="020F0502020204030204" pitchFamily="34" charset="0"/>
                <a:cs typeface="Arial" panose="020B0604020202020204" pitchFamily="34" charset="0"/>
              </a:rPr>
              <a:t>The Control Panel is a special folder in which you can adjust the system settings through various system setting options (adjust the keyboard, mouse, sound and so on) </a:t>
            </a:r>
            <a:r>
              <a:rPr kumimoji="0" lang="en-US" sz="51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Calibri" panose="020F0502020204030204" pitchFamily="34" charset="0"/>
                <a:cs typeface="Arial" panose="020B0604020202020204" pitchFamily="34" charset="0"/>
              </a:rPr>
              <a:t>uninstall programs, </a:t>
            </a:r>
            <a:r>
              <a:rPr lang="en-US" sz="5100" dirty="0">
                <a:effectLst/>
                <a:ea typeface="Calibri" panose="020F0502020204030204" pitchFamily="34" charset="0"/>
                <a:cs typeface="Arial" panose="020B0604020202020204" pitchFamily="34" charset="0"/>
              </a:rPr>
              <a:t>which can be viewed by category or in the form of small/large icons</a:t>
            </a:r>
            <a:endParaRPr lang="en-MW" sz="5100" dirty="0">
              <a:effectLst/>
              <a:ea typeface="Calibri" panose="020F0502020204030204" pitchFamily="34" charset="0"/>
              <a:cs typeface="DokChampa" panose="020B0604020202020204" pitchFamily="34" charset="-34"/>
            </a:endParaRPr>
          </a:p>
          <a:p>
            <a:pPr lvl="1">
              <a:lnSpc>
                <a:spcPct val="170000"/>
              </a:lnSpc>
              <a:spcAft>
                <a:spcPts val="800"/>
              </a:spcAft>
            </a:pPr>
            <a:r>
              <a:rPr lang="en-US" sz="5100" dirty="0">
                <a:effectLst/>
                <a:ea typeface="Calibri" panose="020F0502020204030204" pitchFamily="34" charset="0"/>
                <a:cs typeface="Arial" panose="020B0604020202020204" pitchFamily="34" charset="0"/>
              </a:rPr>
              <a:t>The Control Panel </a:t>
            </a:r>
            <a:r>
              <a:rPr lang="en-US" sz="5100" dirty="0">
                <a:ea typeface="Calibri" panose="020F0502020204030204" pitchFamily="34" charset="0"/>
                <a:cs typeface="Arial" panose="020B0604020202020204" pitchFamily="34" charset="0"/>
              </a:rPr>
              <a:t>can be</a:t>
            </a:r>
            <a:r>
              <a:rPr lang="en-US" sz="5100" dirty="0">
                <a:effectLst/>
                <a:ea typeface="Calibri" panose="020F0502020204030204" pitchFamily="34" charset="0"/>
                <a:cs typeface="Arial" panose="020B0604020202020204" pitchFamily="34" charset="0"/>
              </a:rPr>
              <a:t> accessed by typing in the search box, type “Control panel” then select the result.  </a:t>
            </a:r>
          </a:p>
          <a:p>
            <a:pPr lvl="1">
              <a:lnSpc>
                <a:spcPct val="170000"/>
              </a:lnSpc>
              <a:spcAft>
                <a:spcPts val="800"/>
              </a:spcAft>
            </a:pPr>
            <a:r>
              <a:rPr lang="en-US" sz="5100" dirty="0">
                <a:ea typeface="Calibri" panose="020F0502020204030204" pitchFamily="34" charset="0"/>
                <a:cs typeface="Arial" panose="020B0604020202020204" pitchFamily="34" charset="0"/>
              </a:rPr>
              <a:t>Press </a:t>
            </a:r>
            <a:r>
              <a:rPr lang="en-US" sz="5100" b="1" dirty="0">
                <a:ea typeface="Calibri" panose="020F0502020204030204" pitchFamily="34" charset="0"/>
                <a:cs typeface="Arial" panose="020B0604020202020204" pitchFamily="34" charset="0"/>
              </a:rPr>
              <a:t>Windows + R </a:t>
            </a:r>
            <a:r>
              <a:rPr lang="en-US" sz="5100" dirty="0">
                <a:ea typeface="Calibri" panose="020F0502020204030204" pitchFamily="34" charset="0"/>
                <a:cs typeface="Arial" panose="020B0604020202020204" pitchFamily="34" charset="0"/>
              </a:rPr>
              <a:t>to open the Run dialog, type </a:t>
            </a:r>
            <a:r>
              <a:rPr lang="en-US" sz="5100" b="1" dirty="0">
                <a:ea typeface="Calibri" panose="020F0502020204030204" pitchFamily="34" charset="0"/>
                <a:cs typeface="Arial" panose="020B0604020202020204" pitchFamily="34" charset="0"/>
              </a:rPr>
              <a:t>Control Panel </a:t>
            </a:r>
            <a:r>
              <a:rPr lang="en-US" sz="5100" dirty="0">
                <a:ea typeface="Calibri" panose="020F0502020204030204" pitchFamily="34" charset="0"/>
                <a:cs typeface="Arial" panose="020B0604020202020204" pitchFamily="34" charset="0"/>
              </a:rPr>
              <a:t>in the empty box and click </a:t>
            </a:r>
            <a:r>
              <a:rPr lang="en-US" sz="5100" b="1" dirty="0">
                <a:ea typeface="Calibri" panose="020F0502020204030204" pitchFamily="34" charset="0"/>
                <a:cs typeface="Arial" panose="020B0604020202020204" pitchFamily="34" charset="0"/>
              </a:rPr>
              <a:t>OK.</a:t>
            </a:r>
          </a:p>
          <a:p>
            <a:pPr marL="457200" lvl="1" indent="0">
              <a:lnSpc>
                <a:spcPct val="170000"/>
              </a:lnSpc>
              <a:buNone/>
            </a:pPr>
            <a:endParaRPr lang="en-US" dirty="0"/>
          </a:p>
          <a:p>
            <a:endParaRPr lang="en-US" dirty="0"/>
          </a:p>
        </p:txBody>
      </p:sp>
    </p:spTree>
    <p:extLst>
      <p:ext uri="{BB962C8B-B14F-4D97-AF65-F5344CB8AC3E}">
        <p14:creationId xmlns:p14="http://schemas.microsoft.com/office/powerpoint/2010/main" val="3166658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880946"/>
          </a:xfrm>
        </p:spPr>
        <p:txBody>
          <a:bodyPr/>
          <a:lstStyle/>
          <a:p>
            <a:r>
              <a:rPr lang="en-US" dirty="0"/>
              <a:t>CONT…</a:t>
            </a:r>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1137424"/>
            <a:ext cx="9887685" cy="4773798"/>
          </a:xfrm>
        </p:spPr>
        <p:txBody>
          <a:bodyPr>
            <a:normAutofit/>
          </a:bodyPr>
          <a:lstStyle/>
          <a:p>
            <a:pPr>
              <a:lnSpc>
                <a:spcPct val="107000"/>
              </a:lnSpc>
              <a:spcAft>
                <a:spcPts val="800"/>
              </a:spcAft>
            </a:pPr>
            <a:r>
              <a:rPr lang="en-US" sz="2400" b="1" dirty="0">
                <a:effectLst/>
                <a:ea typeface="Calibri" panose="020F0502020204030204" pitchFamily="34" charset="0"/>
                <a:cs typeface="Arial" panose="020B0604020202020204" pitchFamily="34" charset="0"/>
              </a:rPr>
              <a:t>Selecting and adding the keyboard language</a:t>
            </a:r>
            <a:r>
              <a:rPr lang="en-US" sz="2400" dirty="0">
                <a:effectLst/>
                <a:ea typeface="Calibri" panose="020F0502020204030204" pitchFamily="34" charset="0"/>
                <a:cs typeface="Arial" panose="020B0604020202020204" pitchFamily="34" charset="0"/>
              </a:rPr>
              <a:t> </a:t>
            </a:r>
            <a:endParaRPr lang="en-MW" sz="2400" dirty="0">
              <a:effectLst/>
              <a:ea typeface="Calibri" panose="020F0502020204030204" pitchFamily="34" charset="0"/>
              <a:cs typeface="DokChampa" panose="020B0604020202020204" pitchFamily="34" charset="-34"/>
            </a:endParaRPr>
          </a:p>
          <a:p>
            <a:pPr lvl="1">
              <a:lnSpc>
                <a:spcPct val="107000"/>
              </a:lnSpc>
              <a:spcAft>
                <a:spcPts val="800"/>
              </a:spcAft>
            </a:pPr>
            <a:r>
              <a:rPr lang="en-US" sz="2400" dirty="0">
                <a:ea typeface="Calibri" panose="020F0502020204030204" pitchFamily="34" charset="0"/>
                <a:cs typeface="Arial" panose="020B0604020202020204" pitchFamily="34" charset="0"/>
              </a:rPr>
              <a:t>Click the </a:t>
            </a:r>
            <a:r>
              <a:rPr lang="en-US" sz="2400" dirty="0">
                <a:effectLst/>
                <a:ea typeface="Calibri" panose="020F0502020204030204" pitchFamily="34" charset="0"/>
                <a:cs typeface="Arial" panose="020B0604020202020204" pitchFamily="34" charset="0"/>
              </a:rPr>
              <a:t>Windows start menu, settings then click on “Time and Language”, followed by a click on “Language” in the left sidebar.</a:t>
            </a:r>
          </a:p>
          <a:p>
            <a:pPr lvl="1">
              <a:lnSpc>
                <a:spcPct val="107000"/>
              </a:lnSpc>
              <a:spcAft>
                <a:spcPts val="800"/>
              </a:spcAft>
            </a:pPr>
            <a:r>
              <a:rPr lang="en-US" sz="2400" dirty="0">
                <a:ea typeface="Calibri" panose="020F0502020204030204" pitchFamily="34" charset="0"/>
                <a:cs typeface="Arial" panose="020B0604020202020204" pitchFamily="34" charset="0"/>
              </a:rPr>
              <a:t>Under “Languages” click “Add a language”.</a:t>
            </a:r>
            <a:r>
              <a:rPr lang="en-US" sz="2400" dirty="0">
                <a:effectLst/>
                <a:ea typeface="Calibri" panose="020F0502020204030204" pitchFamily="34" charset="0"/>
                <a:cs typeface="Arial" panose="020B0604020202020204" pitchFamily="34" charset="0"/>
              </a:rPr>
              <a:t> </a:t>
            </a:r>
          </a:p>
          <a:p>
            <a:pPr marL="457200" lvl="1" indent="0">
              <a:buNone/>
            </a:pPr>
            <a:endParaRPr lang="en-US" dirty="0"/>
          </a:p>
          <a:p>
            <a:endParaRPr lang="en-US" dirty="0"/>
          </a:p>
        </p:txBody>
      </p:sp>
    </p:spTree>
    <p:extLst>
      <p:ext uri="{BB962C8B-B14F-4D97-AF65-F5344CB8AC3E}">
        <p14:creationId xmlns:p14="http://schemas.microsoft.com/office/powerpoint/2010/main" val="21018355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156117"/>
            <a:ext cx="9887685" cy="579863"/>
          </a:xfrm>
        </p:spPr>
        <p:txBody>
          <a:bodyPr>
            <a:normAutofit fontScale="90000"/>
          </a:bodyPr>
          <a:lstStyle/>
          <a:p>
            <a:r>
              <a:rPr lang="en-US" dirty="0"/>
              <a:t>PROGRAM MANAGEMENT </a:t>
            </a: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449659" y="735980"/>
            <a:ext cx="10326029" cy="5553308"/>
          </a:xfrm>
        </p:spPr>
        <p:txBody>
          <a:bodyPr>
            <a:normAutofit fontScale="25000" lnSpcReduction="20000"/>
          </a:bodyPr>
          <a:lstStyle/>
          <a:p>
            <a:pPr marL="0" indent="0">
              <a:lnSpc>
                <a:spcPct val="107000"/>
              </a:lnSpc>
              <a:spcAft>
                <a:spcPts val="800"/>
              </a:spcAft>
              <a:buNone/>
            </a:pPr>
            <a:r>
              <a:rPr lang="en-US" sz="8000" b="1" dirty="0">
                <a:effectLst/>
                <a:ea typeface="Calibri" panose="020F0502020204030204" pitchFamily="34" charset="0"/>
                <a:cs typeface="Arial" panose="020B0604020202020204" pitchFamily="34" charset="0"/>
              </a:rPr>
              <a:t>Installing new programs</a:t>
            </a:r>
            <a:r>
              <a:rPr lang="en-US" sz="8000" dirty="0">
                <a:effectLst/>
                <a:ea typeface="Calibri" panose="020F0502020204030204" pitchFamily="34" charset="0"/>
                <a:cs typeface="Arial" panose="020B0604020202020204" pitchFamily="34" charset="0"/>
              </a:rPr>
              <a:t>: </a:t>
            </a:r>
            <a:endParaRPr lang="en-MW" sz="8000" dirty="0">
              <a:effectLst/>
              <a:ea typeface="Calibri" panose="020F0502020204030204" pitchFamily="34" charset="0"/>
              <a:cs typeface="DokChampa" panose="020B0604020202020204" pitchFamily="34" charset="-34"/>
            </a:endParaRPr>
          </a:p>
          <a:p>
            <a:pPr lvl="1" indent="-342900">
              <a:lnSpc>
                <a:spcPct val="107000"/>
              </a:lnSpc>
              <a:buFont typeface="Symbol" panose="05050102010706020507" pitchFamily="18" charset="2"/>
              <a:buChar char=""/>
            </a:pPr>
            <a:r>
              <a:rPr lang="en-US" sz="8000" dirty="0">
                <a:effectLst/>
                <a:ea typeface="Calibri" panose="020F0502020204030204" pitchFamily="34" charset="0"/>
                <a:cs typeface="Arial" panose="020B0604020202020204" pitchFamily="34" charset="0"/>
              </a:rPr>
              <a:t>From CD, DVD, USB flash drive, Internet, Network </a:t>
            </a:r>
            <a:endParaRPr lang="en-MW" sz="8000" dirty="0">
              <a:effectLst/>
              <a:ea typeface="Calibri" panose="020F0502020204030204" pitchFamily="34" charset="0"/>
              <a:cs typeface="DokChampa" panose="020B0604020202020204" pitchFamily="34" charset="-34"/>
            </a:endParaRPr>
          </a:p>
          <a:p>
            <a:pPr lvl="1" indent="-342900">
              <a:lnSpc>
                <a:spcPct val="107000"/>
              </a:lnSpc>
              <a:buFont typeface="Symbol" panose="05050102010706020507" pitchFamily="18" charset="2"/>
              <a:buChar char=""/>
            </a:pPr>
            <a:r>
              <a:rPr lang="en-US" sz="8000" dirty="0">
                <a:effectLst/>
                <a:ea typeface="Calibri" panose="020F0502020204030204" pitchFamily="34" charset="0"/>
                <a:cs typeface="Arial" panose="020B0604020202020204" pitchFamily="34" charset="0"/>
              </a:rPr>
              <a:t>When installing from a USB flash drive, CD or a DVD, in most cases a dialog box will automatically open up from which the Run AutoRun.exe option can be selected to start the Setup Wizard. </a:t>
            </a:r>
            <a:endParaRPr lang="en-MW" sz="8000" dirty="0">
              <a:effectLst/>
              <a:ea typeface="Calibri" panose="020F0502020204030204" pitchFamily="34" charset="0"/>
              <a:cs typeface="DokChampa" panose="020B0604020202020204" pitchFamily="34" charset="-34"/>
            </a:endParaRPr>
          </a:p>
          <a:p>
            <a:pPr lvl="1" indent="-342900">
              <a:lnSpc>
                <a:spcPct val="107000"/>
              </a:lnSpc>
              <a:buFont typeface="Symbol" panose="05050102010706020507" pitchFamily="18" charset="2"/>
              <a:buChar char=""/>
            </a:pPr>
            <a:r>
              <a:rPr lang="en-US" sz="8000" dirty="0">
                <a:effectLst/>
                <a:ea typeface="Calibri" panose="020F0502020204030204" pitchFamily="34" charset="0"/>
                <a:cs typeface="Arial" panose="020B0604020202020204" pitchFamily="34" charset="0"/>
              </a:rPr>
              <a:t>If the installation of the program does not start automatically, you can start the installation manually by double-clicking on the file typically called Setup.exe or Install.exe. </a:t>
            </a:r>
            <a:endParaRPr lang="en-MW" sz="8000" dirty="0">
              <a:effectLst/>
              <a:ea typeface="Calibri" panose="020F0502020204030204" pitchFamily="34" charset="0"/>
              <a:cs typeface="DokChampa" panose="020B0604020202020204" pitchFamily="34" charset="-34"/>
            </a:endParaRPr>
          </a:p>
          <a:p>
            <a:pPr lvl="1" indent="-342900">
              <a:lnSpc>
                <a:spcPct val="107000"/>
              </a:lnSpc>
              <a:spcAft>
                <a:spcPts val="800"/>
              </a:spcAft>
              <a:buFont typeface="Symbol" panose="05050102010706020507" pitchFamily="18" charset="2"/>
              <a:buChar char=""/>
            </a:pPr>
            <a:r>
              <a:rPr lang="en-US" sz="8000" dirty="0">
                <a:effectLst/>
                <a:ea typeface="Calibri" panose="020F0502020204030204" pitchFamily="34" charset="0"/>
                <a:cs typeface="Arial" panose="020B0604020202020204" pitchFamily="34" charset="0"/>
              </a:rPr>
              <a:t>After the Wizard installation has started, follow instructions and go to next steps by pressing the Next, Yes, and other such buttons. You will usually have to accept license terms, choose a location where the program will be installed, possibly choose components of the program you want to install etc. At the end press the Finish or Close button. </a:t>
            </a:r>
            <a:endParaRPr lang="en-MW" sz="8000" dirty="0">
              <a:effectLst/>
              <a:ea typeface="Calibri" panose="020F0502020204030204" pitchFamily="34" charset="0"/>
              <a:cs typeface="DokChampa" panose="020B0604020202020204" pitchFamily="34" charset="-34"/>
            </a:endParaRPr>
          </a:p>
          <a:p>
            <a:pPr marL="0" indent="0">
              <a:lnSpc>
                <a:spcPct val="107000"/>
              </a:lnSpc>
              <a:spcAft>
                <a:spcPts val="800"/>
              </a:spcAft>
              <a:buNone/>
            </a:pPr>
            <a:r>
              <a:rPr lang="en-US" sz="8000" b="1" dirty="0">
                <a:effectLst/>
                <a:ea typeface="Calibri" panose="020F0502020204030204" pitchFamily="34" charset="0"/>
                <a:cs typeface="Arial" panose="020B0604020202020204" pitchFamily="34" charset="0"/>
              </a:rPr>
              <a:t>Uninstalling the programs</a:t>
            </a:r>
            <a:r>
              <a:rPr lang="en-US" sz="8000" dirty="0">
                <a:effectLst/>
                <a:ea typeface="Calibri" panose="020F0502020204030204" pitchFamily="34" charset="0"/>
                <a:cs typeface="Arial" panose="020B0604020202020204" pitchFamily="34" charset="0"/>
              </a:rPr>
              <a:t> </a:t>
            </a:r>
            <a:endParaRPr lang="en-MW" sz="8000" dirty="0">
              <a:effectLst/>
              <a:ea typeface="Calibri" panose="020F0502020204030204" pitchFamily="34" charset="0"/>
              <a:cs typeface="DokChampa" panose="020B0604020202020204" pitchFamily="34" charset="-34"/>
            </a:endParaRPr>
          </a:p>
          <a:p>
            <a:pPr lvl="1">
              <a:lnSpc>
                <a:spcPct val="107000"/>
              </a:lnSpc>
              <a:spcAft>
                <a:spcPts val="800"/>
              </a:spcAft>
            </a:pPr>
            <a:r>
              <a:rPr lang="en-US" sz="8000" dirty="0">
                <a:effectLst/>
                <a:ea typeface="Calibri" panose="020F0502020204030204" pitchFamily="34" charset="0"/>
                <a:cs typeface="Arial" panose="020B0604020202020204" pitchFamily="34" charset="0"/>
              </a:rPr>
              <a:t>In the Control Panel, click on the Programs or Uninstall a program, </a:t>
            </a:r>
            <a:r>
              <a:rPr lang="en-US" sz="8000">
                <a:effectLst/>
                <a:ea typeface="Calibri" panose="020F0502020204030204" pitchFamily="34" charset="0"/>
                <a:cs typeface="Arial" panose="020B0604020202020204" pitchFamily="34" charset="0"/>
              </a:rPr>
              <a:t>then </a:t>
            </a:r>
            <a:r>
              <a:rPr lang="en-US" sz="8000">
                <a:ea typeface="Calibri" panose="020F0502020204030204" pitchFamily="34" charset="0"/>
                <a:cs typeface="Arial" panose="020B0604020202020204" pitchFamily="34" charset="0"/>
              </a:rPr>
              <a:t>select</a:t>
            </a:r>
            <a:r>
              <a:rPr lang="en-US" sz="8000">
                <a:effectLst/>
                <a:ea typeface="Calibri" panose="020F0502020204030204" pitchFamily="34" charset="0"/>
                <a:cs typeface="Arial" panose="020B0604020202020204" pitchFamily="34" charset="0"/>
              </a:rPr>
              <a:t> </a:t>
            </a:r>
            <a:r>
              <a:rPr lang="en-US" sz="8000" dirty="0">
                <a:effectLst/>
                <a:ea typeface="Calibri" panose="020F0502020204030204" pitchFamily="34" charset="0"/>
                <a:cs typeface="Arial" panose="020B0604020202020204" pitchFamily="34" charset="0"/>
              </a:rPr>
              <a:t>the software you want to uninstall by right clicking it and click the Uninstall option.</a:t>
            </a:r>
            <a:endParaRPr lang="en-MW" sz="8000" dirty="0">
              <a:effectLst/>
              <a:ea typeface="Calibri" panose="020F0502020204030204" pitchFamily="34" charset="0"/>
              <a:cs typeface="DokChampa" panose="020B0604020202020204" pitchFamily="34" charset="-34"/>
            </a:endParaRPr>
          </a:p>
          <a:p>
            <a:pPr marL="0" indent="0">
              <a:lnSpc>
                <a:spcPct val="107000"/>
              </a:lnSpc>
              <a:spcAft>
                <a:spcPts val="800"/>
              </a:spcAft>
              <a:buNone/>
            </a:pPr>
            <a:r>
              <a:rPr lang="en-US" sz="1600" dirty="0">
                <a:effectLst/>
                <a:latin typeface="Palatino Linotype" panose="02040502050505030304" pitchFamily="18" charset="0"/>
                <a:ea typeface="Calibri" panose="020F0502020204030204" pitchFamily="34" charset="0"/>
                <a:cs typeface="Arial" panose="020B0604020202020204" pitchFamily="34" charset="0"/>
              </a:rPr>
              <a:t> </a:t>
            </a:r>
            <a:endParaRPr lang="en-MW" sz="1400" dirty="0">
              <a:effectLst/>
              <a:latin typeface="Calibri" panose="020F0502020204030204" pitchFamily="34" charset="0"/>
              <a:ea typeface="Calibri" panose="020F0502020204030204" pitchFamily="34" charset="0"/>
              <a:cs typeface="DokChampa" panose="020B0604020202020204" pitchFamily="34" charset="-34"/>
            </a:endParaRPr>
          </a:p>
          <a:p>
            <a:pPr marL="457200" lvl="1" indent="0">
              <a:buNone/>
            </a:pPr>
            <a:endParaRPr lang="en-US" dirty="0"/>
          </a:p>
          <a:p>
            <a:endParaRPr lang="en-US" dirty="0"/>
          </a:p>
        </p:txBody>
      </p:sp>
    </p:spTree>
    <p:extLst>
      <p:ext uri="{BB962C8B-B14F-4D97-AF65-F5344CB8AC3E}">
        <p14:creationId xmlns:p14="http://schemas.microsoft.com/office/powerpoint/2010/main" val="4415084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724829"/>
          </a:xfrm>
        </p:spPr>
        <p:txBody>
          <a:bodyPr>
            <a:normAutofit fontScale="90000"/>
          </a:bodyPr>
          <a:lstStyle/>
          <a:p>
            <a:r>
              <a:rPr lang="en-US" dirty="0"/>
              <a:t>ICONS </a:t>
            </a: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981307"/>
            <a:ext cx="9887685" cy="5140713"/>
          </a:xfrm>
        </p:spPr>
        <p:txBody>
          <a:bodyPr>
            <a:normAutofit fontScale="92500" lnSpcReduction="20000"/>
          </a:bodyPr>
          <a:lstStyle/>
          <a:p>
            <a:pPr>
              <a:lnSpc>
                <a:spcPct val="107000"/>
              </a:lnSpc>
              <a:spcAft>
                <a:spcPts val="800"/>
              </a:spcAft>
            </a:pPr>
            <a:r>
              <a:rPr lang="en-US" sz="2400" dirty="0">
                <a:effectLst/>
                <a:ea typeface="Calibri" panose="020F0502020204030204" pitchFamily="34" charset="0"/>
                <a:cs typeface="Arial" panose="020B0604020202020204" pitchFamily="34" charset="0"/>
              </a:rPr>
              <a:t>Icons are small pictures (pictograms) on a computer screen and they all represent programs, folders, files and shortcuts (applications and tools) available </a:t>
            </a:r>
            <a:r>
              <a:rPr lang="en-US" sz="2400" dirty="0">
                <a:ea typeface="Calibri" panose="020F0502020204030204" pitchFamily="34" charset="0"/>
                <a:cs typeface="Arial" panose="020B0604020202020204" pitchFamily="34" charset="0"/>
              </a:rPr>
              <a:t>on your computer</a:t>
            </a:r>
            <a:r>
              <a:rPr lang="en-US" sz="2400" dirty="0">
                <a:effectLst/>
                <a:ea typeface="Calibri" panose="020F0502020204030204" pitchFamily="34" charset="0"/>
                <a:cs typeface="Arial" panose="020B0604020202020204" pitchFamily="34" charset="0"/>
              </a:rPr>
              <a:t>. </a:t>
            </a:r>
            <a:endParaRPr lang="en-MW" sz="2400" dirty="0">
              <a:effectLst/>
              <a:ea typeface="Calibri" panose="020F0502020204030204" pitchFamily="34" charset="0"/>
              <a:cs typeface="DokChampa" panose="020B0604020202020204" pitchFamily="34" charset="-34"/>
            </a:endParaRPr>
          </a:p>
          <a:p>
            <a:pPr lvl="1" indent="-342900">
              <a:lnSpc>
                <a:spcPct val="107000"/>
              </a:lnSpc>
              <a:buFont typeface="Symbol" panose="05050102010706020507" pitchFamily="18" charset="2"/>
              <a:buChar char=""/>
            </a:pPr>
            <a:r>
              <a:rPr lang="en-US" sz="2400" dirty="0">
                <a:effectLst/>
                <a:ea typeface="Calibri" panose="020F0502020204030204" pitchFamily="34" charset="0"/>
                <a:cs typeface="Arial" panose="020B0604020202020204" pitchFamily="34" charset="0"/>
              </a:rPr>
              <a:t>Clicking on an icon will select it – there is a color change.</a:t>
            </a:r>
          </a:p>
          <a:p>
            <a:pPr lvl="1" indent="-342900">
              <a:lnSpc>
                <a:spcPct val="107000"/>
              </a:lnSpc>
              <a:buFont typeface="Symbol" panose="05050102010706020507" pitchFamily="18" charset="2"/>
              <a:buChar char=""/>
            </a:pPr>
            <a:r>
              <a:rPr lang="en-US" sz="2400" dirty="0">
                <a:effectLst/>
                <a:ea typeface="Calibri" panose="020F0502020204030204" pitchFamily="34" charset="0"/>
                <a:cs typeface="Arial" panose="020B0604020202020204" pitchFamily="34" charset="0"/>
              </a:rPr>
              <a:t>Clicking away from the icon will deselect it – what happens to the color?</a:t>
            </a:r>
          </a:p>
          <a:p>
            <a:pPr lvl="1" indent="-342900">
              <a:lnSpc>
                <a:spcPct val="107000"/>
              </a:lnSpc>
              <a:buFont typeface="Symbol" panose="05050102010706020507" pitchFamily="18" charset="2"/>
              <a:buChar char=""/>
            </a:pPr>
            <a:r>
              <a:rPr lang="en-US" sz="2400" dirty="0">
                <a:effectLst/>
                <a:ea typeface="Calibri" panose="020F0502020204030204" pitchFamily="34" charset="0"/>
                <a:cs typeface="Arial" panose="020B0604020202020204" pitchFamily="34" charset="0"/>
              </a:rPr>
              <a:t>A double-click on a program icon will open and start the appropriate program. </a:t>
            </a:r>
            <a:endParaRPr lang="en-MW" sz="2400" dirty="0">
              <a:effectLst/>
              <a:ea typeface="Calibri" panose="020F0502020204030204" pitchFamily="34" charset="0"/>
              <a:cs typeface="DokChampa" panose="020B0604020202020204" pitchFamily="34" charset="-34"/>
            </a:endParaRPr>
          </a:p>
          <a:p>
            <a:pPr lvl="1" indent="-342900">
              <a:lnSpc>
                <a:spcPct val="107000"/>
              </a:lnSpc>
              <a:buFont typeface="Symbol" panose="05050102010706020507" pitchFamily="18" charset="2"/>
              <a:buChar char=""/>
            </a:pPr>
            <a:r>
              <a:rPr lang="en-US" sz="2400" dirty="0">
                <a:effectLst/>
                <a:ea typeface="Calibri" panose="020F0502020204030204" pitchFamily="34" charset="0"/>
                <a:cs typeface="Arial" panose="020B0604020202020204" pitchFamily="34" charset="0"/>
              </a:rPr>
              <a:t>A double-click on the folder icon will open a window that shows files and folders contained in that folder. </a:t>
            </a:r>
            <a:endParaRPr lang="en-MW" sz="2400" dirty="0">
              <a:effectLst/>
              <a:ea typeface="Calibri" panose="020F0502020204030204" pitchFamily="34" charset="0"/>
              <a:cs typeface="DokChampa" panose="020B0604020202020204" pitchFamily="34" charset="-34"/>
            </a:endParaRPr>
          </a:p>
          <a:p>
            <a:pPr lvl="1" indent="-342900">
              <a:lnSpc>
                <a:spcPct val="107000"/>
              </a:lnSpc>
              <a:spcAft>
                <a:spcPts val="800"/>
              </a:spcAft>
              <a:buFont typeface="Symbol" panose="05050102010706020507" pitchFamily="18" charset="2"/>
              <a:buChar char=""/>
            </a:pPr>
            <a:r>
              <a:rPr lang="en-US" sz="2400" dirty="0">
                <a:effectLst/>
                <a:ea typeface="Calibri" panose="020F0502020204030204" pitchFamily="34" charset="0"/>
                <a:cs typeface="Arial" panose="020B0604020202020204" pitchFamily="34" charset="0"/>
              </a:rPr>
              <a:t>A double-click on the file icon will start the appropriate program and open that file in the appropriate program. </a:t>
            </a:r>
            <a:endParaRPr lang="en-MW" sz="2400" dirty="0">
              <a:effectLst/>
              <a:ea typeface="Calibri" panose="020F0502020204030204" pitchFamily="34" charset="0"/>
              <a:cs typeface="DokChampa" panose="020B0604020202020204" pitchFamily="34" charset="-34"/>
            </a:endParaRPr>
          </a:p>
          <a:p>
            <a:pPr marL="0" indent="0">
              <a:lnSpc>
                <a:spcPct val="107000"/>
              </a:lnSpc>
              <a:spcAft>
                <a:spcPts val="800"/>
              </a:spcAft>
              <a:buNone/>
            </a:pPr>
            <a:r>
              <a:rPr lang="en-US" sz="2000" dirty="0">
                <a:effectLst/>
                <a:latin typeface="Palatino Linotype" panose="02040502050505030304" pitchFamily="18" charset="0"/>
                <a:ea typeface="Calibri" panose="020F0502020204030204" pitchFamily="34" charset="0"/>
                <a:cs typeface="Arial" panose="020B0604020202020204" pitchFamily="34" charset="0"/>
              </a:rPr>
              <a:t> </a:t>
            </a:r>
            <a:endParaRPr lang="en-MW" sz="2000" dirty="0">
              <a:effectLst/>
              <a:latin typeface="Calibri" panose="020F0502020204030204" pitchFamily="34" charset="0"/>
              <a:ea typeface="Calibri" panose="020F0502020204030204" pitchFamily="34" charset="0"/>
              <a:cs typeface="DokChampa" panose="020B0604020202020204" pitchFamily="34" charset="-34"/>
            </a:endParaRPr>
          </a:p>
          <a:p>
            <a:pPr marL="457200" lvl="1" indent="0">
              <a:buNone/>
            </a:pPr>
            <a:endParaRPr lang="en-US" dirty="0"/>
          </a:p>
          <a:p>
            <a:endParaRPr lang="en-US" dirty="0"/>
          </a:p>
        </p:txBody>
      </p:sp>
    </p:spTree>
    <p:extLst>
      <p:ext uri="{BB962C8B-B14F-4D97-AF65-F5344CB8AC3E}">
        <p14:creationId xmlns:p14="http://schemas.microsoft.com/office/powerpoint/2010/main" val="2929972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880946"/>
          </a:xfrm>
        </p:spPr>
        <p:txBody>
          <a:bodyPr>
            <a:normAutofit fontScale="90000"/>
          </a:bodyPr>
          <a:lstStyle/>
          <a:p>
            <a:r>
              <a:rPr lang="en-US" dirty="0"/>
              <a:t>CONT… </a:t>
            </a: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1137424"/>
            <a:ext cx="9887685" cy="4773798"/>
          </a:xfrm>
        </p:spPr>
        <p:txBody>
          <a:bodyPr>
            <a:normAutofit/>
          </a:bodyPr>
          <a:lstStyle/>
          <a:p>
            <a:pPr marL="0" indent="0">
              <a:lnSpc>
                <a:spcPct val="107000"/>
              </a:lnSpc>
              <a:spcAft>
                <a:spcPts val="800"/>
              </a:spcAft>
              <a:buNone/>
            </a:pPr>
            <a:r>
              <a:rPr lang="en-US" sz="1600" dirty="0">
                <a:effectLst/>
                <a:latin typeface="Palatino Linotype" panose="02040502050505030304" pitchFamily="18" charset="0"/>
                <a:ea typeface="Calibri" panose="020F0502020204030204" pitchFamily="34" charset="0"/>
                <a:cs typeface="Arial" panose="020B0604020202020204" pitchFamily="34" charset="0"/>
              </a:rPr>
              <a:t> </a:t>
            </a:r>
            <a:r>
              <a:rPr lang="en-US" sz="1800" b="1" dirty="0">
                <a:effectLst/>
                <a:latin typeface="Palatino Linotype" panose="02040502050505030304" pitchFamily="18" charset="0"/>
                <a:ea typeface="Calibri" panose="020F0502020204030204" pitchFamily="34" charset="0"/>
                <a:cs typeface="Arial" panose="020B0604020202020204" pitchFamily="34" charset="0"/>
              </a:rPr>
              <a:t>ICON EXAMPLES</a:t>
            </a:r>
            <a:endParaRPr lang="en-MW" sz="1400" dirty="0">
              <a:effectLst/>
              <a:latin typeface="Calibri" panose="020F0502020204030204" pitchFamily="34" charset="0"/>
              <a:ea typeface="Calibri" panose="020F0502020204030204" pitchFamily="34" charset="0"/>
              <a:cs typeface="DokChampa" panose="020B0604020202020204" pitchFamily="34" charset="-34"/>
            </a:endParaRPr>
          </a:p>
          <a:p>
            <a:pPr marL="457200" lvl="1" indent="0">
              <a:buNone/>
            </a:pPr>
            <a:endParaRPr lang="en-US" dirty="0"/>
          </a:p>
          <a:p>
            <a:endParaRPr lang="en-US" dirty="0"/>
          </a:p>
        </p:txBody>
      </p:sp>
      <p:pic>
        <p:nvPicPr>
          <p:cNvPr id="4" name="Picture 3">
            <a:extLst>
              <a:ext uri="{FF2B5EF4-FFF2-40B4-BE49-F238E27FC236}">
                <a16:creationId xmlns:a16="http://schemas.microsoft.com/office/drawing/2014/main" id="{79C1FEBF-ABC5-4073-9F7A-C0E4A3025F41}"/>
              </a:ext>
            </a:extLst>
          </p:cNvPr>
          <p:cNvPicPr>
            <a:picLocks noChangeAspect="1"/>
          </p:cNvPicPr>
          <p:nvPr/>
        </p:nvPicPr>
        <p:blipFill>
          <a:blip r:embed="rId2"/>
          <a:stretch>
            <a:fillRect/>
          </a:stretch>
        </p:blipFill>
        <p:spPr>
          <a:xfrm>
            <a:off x="3891776" y="1137424"/>
            <a:ext cx="4204009" cy="4706520"/>
          </a:xfrm>
          <a:prstGeom prst="rect">
            <a:avLst/>
          </a:prstGeom>
        </p:spPr>
      </p:pic>
    </p:spTree>
    <p:extLst>
      <p:ext uri="{BB962C8B-B14F-4D97-AF65-F5344CB8AC3E}">
        <p14:creationId xmlns:p14="http://schemas.microsoft.com/office/powerpoint/2010/main" val="1811385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724829"/>
          </a:xfrm>
        </p:spPr>
        <p:txBody>
          <a:bodyPr>
            <a:normAutofit fontScale="90000"/>
          </a:bodyPr>
          <a:lstStyle/>
          <a:p>
            <a:r>
              <a:rPr lang="en-US" dirty="0"/>
              <a:t>CONT… </a:t>
            </a: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981307"/>
            <a:ext cx="9887685" cy="5140713"/>
          </a:xfrm>
        </p:spPr>
        <p:txBody>
          <a:bodyPr>
            <a:normAutofit/>
          </a:bodyPr>
          <a:lstStyle/>
          <a:p>
            <a:pPr lvl="1" indent="-342900">
              <a:lnSpc>
                <a:spcPct val="107000"/>
              </a:lnSpc>
              <a:buFont typeface="Symbol" panose="05050102010706020507" pitchFamily="18" charset="2"/>
              <a:buChar char=""/>
            </a:pPr>
            <a:r>
              <a:rPr lang="en-US" sz="2400" dirty="0">
                <a:effectLst/>
                <a:ea typeface="Calibri" panose="020F0502020204030204" pitchFamily="34" charset="0"/>
                <a:cs typeface="Arial" panose="020B0604020202020204" pitchFamily="34" charset="0"/>
              </a:rPr>
              <a:t>Right clicking on an icon will give you a menu of options to choose from.</a:t>
            </a:r>
          </a:p>
          <a:p>
            <a:pPr lvl="1" indent="-342900">
              <a:lnSpc>
                <a:spcPct val="107000"/>
              </a:lnSpc>
              <a:buFont typeface="Symbol" panose="05050102010706020507" pitchFamily="18" charset="2"/>
              <a:buChar char=""/>
            </a:pPr>
            <a:r>
              <a:rPr lang="en-US" sz="2400" dirty="0">
                <a:effectLst/>
                <a:ea typeface="Calibri" panose="020F0502020204030204" pitchFamily="34" charset="0"/>
                <a:cs typeface="Arial" panose="020B0604020202020204" pitchFamily="34" charset="0"/>
              </a:rPr>
              <a:t>Left clicking on an option from the menu will select that option, and start the appropriate task e.g. deleting a folder.</a:t>
            </a:r>
          </a:p>
          <a:p>
            <a:pPr marL="0" indent="0">
              <a:lnSpc>
                <a:spcPct val="107000"/>
              </a:lnSpc>
              <a:spcAft>
                <a:spcPts val="800"/>
              </a:spcAft>
              <a:buNone/>
            </a:pPr>
            <a:r>
              <a:rPr lang="en-US" sz="2000" dirty="0">
                <a:effectLst/>
                <a:latin typeface="Palatino Linotype" panose="02040502050505030304" pitchFamily="18" charset="0"/>
                <a:ea typeface="Calibri" panose="020F0502020204030204" pitchFamily="34" charset="0"/>
                <a:cs typeface="Arial" panose="020B0604020202020204" pitchFamily="34" charset="0"/>
              </a:rPr>
              <a:t> </a:t>
            </a:r>
            <a:endParaRPr lang="en-MW" sz="2000" dirty="0">
              <a:effectLst/>
              <a:latin typeface="Calibri" panose="020F0502020204030204" pitchFamily="34" charset="0"/>
              <a:ea typeface="Calibri" panose="020F0502020204030204" pitchFamily="34" charset="0"/>
              <a:cs typeface="DokChampa" panose="020B0604020202020204" pitchFamily="34" charset="-34"/>
            </a:endParaRPr>
          </a:p>
          <a:p>
            <a:pPr marL="457200" lvl="1" indent="0">
              <a:buNone/>
            </a:pPr>
            <a:endParaRPr lang="en-US" dirty="0"/>
          </a:p>
          <a:p>
            <a:pPr marL="0" indent="0">
              <a:buNone/>
            </a:pPr>
            <a:endParaRPr lang="en-US" dirty="0"/>
          </a:p>
        </p:txBody>
      </p:sp>
      <p:pic>
        <p:nvPicPr>
          <p:cNvPr id="7" name="Picture 6">
            <a:extLst>
              <a:ext uri="{FF2B5EF4-FFF2-40B4-BE49-F238E27FC236}">
                <a16:creationId xmlns:a16="http://schemas.microsoft.com/office/drawing/2014/main" id="{6028D150-25BB-4F6D-91C6-F64056F57292}"/>
              </a:ext>
            </a:extLst>
          </p:cNvPr>
          <p:cNvPicPr>
            <a:picLocks noChangeAspect="1"/>
          </p:cNvPicPr>
          <p:nvPr/>
        </p:nvPicPr>
        <p:blipFill>
          <a:blip r:embed="rId2"/>
          <a:stretch>
            <a:fillRect/>
          </a:stretch>
        </p:blipFill>
        <p:spPr>
          <a:xfrm>
            <a:off x="5118410" y="2665140"/>
            <a:ext cx="2252546" cy="3456880"/>
          </a:xfrm>
          <a:prstGeom prst="rect">
            <a:avLst/>
          </a:prstGeom>
        </p:spPr>
      </p:pic>
    </p:spTree>
    <p:extLst>
      <p:ext uri="{BB962C8B-B14F-4D97-AF65-F5344CB8AC3E}">
        <p14:creationId xmlns:p14="http://schemas.microsoft.com/office/powerpoint/2010/main" val="13023546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122663"/>
            <a:ext cx="9887685" cy="825191"/>
          </a:xfrm>
        </p:spPr>
        <p:txBody>
          <a:bodyPr>
            <a:normAutofit fontScale="90000"/>
          </a:bodyPr>
          <a:lstStyle/>
          <a:p>
            <a:r>
              <a:rPr lang="en-US" dirty="0"/>
              <a:t>CONT… </a:t>
            </a: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947854"/>
            <a:ext cx="9887685" cy="5430643"/>
          </a:xfrm>
        </p:spPr>
        <p:txBody>
          <a:bodyPr>
            <a:normAutofit/>
          </a:bodyPr>
          <a:lstStyle/>
          <a:p>
            <a:pPr marL="0" indent="0">
              <a:lnSpc>
                <a:spcPct val="107000"/>
              </a:lnSpc>
              <a:spcAft>
                <a:spcPts val="800"/>
              </a:spcAft>
              <a:buNone/>
            </a:pPr>
            <a:r>
              <a:rPr lang="en-US" sz="2000" dirty="0">
                <a:effectLst/>
                <a:ea typeface="Calibri" panose="020F0502020204030204" pitchFamily="34" charset="0"/>
                <a:cs typeface="Arial" panose="020B0604020202020204" pitchFamily="34" charset="0"/>
              </a:rPr>
              <a:t> </a:t>
            </a:r>
            <a:r>
              <a:rPr lang="en-US" sz="2000" b="1" dirty="0">
                <a:effectLst/>
                <a:ea typeface="Calibri" panose="020F0502020204030204" pitchFamily="34" charset="0"/>
                <a:cs typeface="Arial" panose="020B0604020202020204" pitchFamily="34" charset="0"/>
              </a:rPr>
              <a:t>Selecting and </a:t>
            </a:r>
            <a:r>
              <a:rPr lang="en-US" sz="2000" b="1" dirty="0">
                <a:ea typeface="Calibri" panose="020F0502020204030204" pitchFamily="34" charset="0"/>
                <a:cs typeface="Arial" panose="020B0604020202020204" pitchFamily="34" charset="0"/>
              </a:rPr>
              <a:t>M</a:t>
            </a:r>
            <a:r>
              <a:rPr lang="en-US" sz="2000" b="1" dirty="0">
                <a:effectLst/>
                <a:ea typeface="Calibri" panose="020F0502020204030204" pitchFamily="34" charset="0"/>
                <a:cs typeface="Arial" panose="020B0604020202020204" pitchFamily="34" charset="0"/>
              </a:rPr>
              <a:t>oving (one or more) Desktop </a:t>
            </a:r>
            <a:r>
              <a:rPr lang="en-US" sz="2000" b="1" dirty="0">
                <a:ea typeface="Calibri" panose="020F0502020204030204" pitchFamily="34" charset="0"/>
                <a:cs typeface="Arial" panose="020B0604020202020204" pitchFamily="34" charset="0"/>
              </a:rPr>
              <a:t>I</a:t>
            </a:r>
            <a:r>
              <a:rPr lang="en-US" sz="2000" b="1" dirty="0">
                <a:effectLst/>
                <a:ea typeface="Calibri" panose="020F0502020204030204" pitchFamily="34" charset="0"/>
                <a:cs typeface="Arial" panose="020B0604020202020204" pitchFamily="34" charset="0"/>
              </a:rPr>
              <a:t>cons. </a:t>
            </a:r>
            <a:endParaRPr lang="en-MW" sz="2000" dirty="0">
              <a:effectLst/>
              <a:ea typeface="Calibri" panose="020F0502020204030204" pitchFamily="34" charset="0"/>
              <a:cs typeface="DokChampa" panose="020B0604020202020204" pitchFamily="34" charset="-34"/>
            </a:endParaRPr>
          </a:p>
          <a:p>
            <a:pPr>
              <a:lnSpc>
                <a:spcPct val="107000"/>
              </a:lnSpc>
              <a:spcAft>
                <a:spcPts val="800"/>
              </a:spcAft>
            </a:pPr>
            <a:r>
              <a:rPr lang="en-US" sz="2000" dirty="0">
                <a:effectLst/>
                <a:ea typeface="Calibri" panose="020F0502020204030204" pitchFamily="34" charset="0"/>
                <a:cs typeface="Arial" panose="020B0604020202020204" pitchFamily="34" charset="0"/>
              </a:rPr>
              <a:t>Just as you rearrange your study table, you can also rearrange your computers desktop.</a:t>
            </a:r>
          </a:p>
          <a:p>
            <a:pPr>
              <a:lnSpc>
                <a:spcPct val="107000"/>
              </a:lnSpc>
              <a:spcAft>
                <a:spcPts val="800"/>
              </a:spcAft>
            </a:pPr>
            <a:r>
              <a:rPr lang="en-US" sz="2000" dirty="0">
                <a:effectLst/>
                <a:ea typeface="Calibri" panose="020F0502020204030204" pitchFamily="34" charset="0"/>
                <a:cs typeface="Arial" panose="020B0604020202020204" pitchFamily="34" charset="0"/>
              </a:rPr>
              <a:t>An icon can be selected by clicking on it. To move an icon, click on an icon with the left mouse button and drag it. To select multiple icons at once: </a:t>
            </a:r>
            <a:endParaRPr lang="en-MW" sz="2000" dirty="0">
              <a:effectLst/>
              <a:ea typeface="Calibri" panose="020F0502020204030204" pitchFamily="34" charset="0"/>
              <a:cs typeface="DokChampa" panose="020B0604020202020204" pitchFamily="34" charset="-34"/>
            </a:endParaRPr>
          </a:p>
          <a:p>
            <a:pPr lvl="1" indent="-342900">
              <a:lnSpc>
                <a:spcPct val="107000"/>
              </a:lnSpc>
              <a:buFont typeface="Symbol" panose="05050102010706020507" pitchFamily="18" charset="2"/>
              <a:buChar char=""/>
            </a:pPr>
            <a:r>
              <a:rPr lang="en-US" sz="2000" dirty="0">
                <a:effectLst/>
                <a:ea typeface="Calibri" panose="020F0502020204030204" pitchFamily="34" charset="0"/>
                <a:cs typeface="Arial" panose="020B0604020202020204" pitchFamily="34" charset="0"/>
              </a:rPr>
              <a:t>Single click the first icon you wish to select. Hold down the </a:t>
            </a:r>
            <a:r>
              <a:rPr lang="en-US" sz="2000" b="1" dirty="0">
                <a:effectLst/>
                <a:ea typeface="Calibri" panose="020F0502020204030204" pitchFamily="34" charset="0"/>
                <a:cs typeface="Arial" panose="020B0604020202020204" pitchFamily="34" charset="0"/>
              </a:rPr>
              <a:t>Ctrl</a:t>
            </a:r>
            <a:r>
              <a:rPr lang="en-US" sz="2000" dirty="0">
                <a:effectLst/>
                <a:ea typeface="Calibri" panose="020F0502020204030204" pitchFamily="34" charset="0"/>
                <a:cs typeface="Arial" panose="020B0604020202020204" pitchFamily="34" charset="0"/>
              </a:rPr>
              <a:t> key and using the mouse or trackpad click on all the other files or icons you wish to select one by one. </a:t>
            </a:r>
            <a:endParaRPr lang="en-MW" sz="2000" dirty="0">
              <a:effectLst/>
              <a:ea typeface="Calibri" panose="020F0502020204030204" pitchFamily="34" charset="0"/>
              <a:cs typeface="DokChampa" panose="020B0604020202020204" pitchFamily="34" charset="-34"/>
            </a:endParaRPr>
          </a:p>
          <a:p>
            <a:pPr lvl="1" indent="-342900">
              <a:lnSpc>
                <a:spcPct val="107000"/>
              </a:lnSpc>
              <a:buFont typeface="Symbol" panose="05050102010706020507" pitchFamily="18" charset="2"/>
              <a:buChar char=""/>
            </a:pPr>
            <a:r>
              <a:rPr lang="en-US" sz="2000" dirty="0">
                <a:effectLst/>
                <a:ea typeface="Calibri" panose="020F0502020204030204" pitchFamily="34" charset="0"/>
                <a:cs typeface="Arial" panose="020B0604020202020204" pitchFamily="34" charset="0"/>
              </a:rPr>
              <a:t>Select an icon, press and hold down the Shift key, press the last icon in a row and release the Shift key (selecting consecutive icons), or </a:t>
            </a:r>
            <a:endParaRPr lang="en-MW" sz="2000" dirty="0">
              <a:effectLst/>
              <a:ea typeface="Calibri" panose="020F0502020204030204" pitchFamily="34" charset="0"/>
              <a:cs typeface="DokChampa" panose="020B0604020202020204" pitchFamily="34" charset="-34"/>
            </a:endParaRPr>
          </a:p>
          <a:p>
            <a:pPr lvl="1" indent="-342900">
              <a:lnSpc>
                <a:spcPct val="107000"/>
              </a:lnSpc>
              <a:spcAft>
                <a:spcPts val="800"/>
              </a:spcAft>
              <a:buFont typeface="Symbol" panose="05050102010706020507" pitchFamily="18" charset="2"/>
              <a:buChar char=""/>
            </a:pPr>
            <a:r>
              <a:rPr lang="en-US" sz="2000" dirty="0">
                <a:effectLst/>
                <a:ea typeface="Calibri" panose="020F0502020204030204" pitchFamily="34" charset="0"/>
                <a:cs typeface="Arial" panose="020B0604020202020204" pitchFamily="34" charset="0"/>
              </a:rPr>
              <a:t>Press and hold down the Ctrl + alt keys and select the non-consecutive icons using the left mouse button.</a:t>
            </a:r>
            <a:endParaRPr lang="en-MW" sz="2000" dirty="0">
              <a:effectLst/>
              <a:ea typeface="Calibri" panose="020F0502020204030204" pitchFamily="34" charset="0"/>
              <a:cs typeface="DokChampa" panose="020B0604020202020204" pitchFamily="34" charset="-34"/>
            </a:endParaRPr>
          </a:p>
          <a:p>
            <a:pPr marL="0" indent="0">
              <a:lnSpc>
                <a:spcPct val="107000"/>
              </a:lnSpc>
              <a:spcAft>
                <a:spcPts val="800"/>
              </a:spcAft>
              <a:buNone/>
            </a:pPr>
            <a:endParaRPr lang="en-MW" sz="1400" dirty="0">
              <a:effectLst/>
              <a:latin typeface="Calibri" panose="020F0502020204030204" pitchFamily="34" charset="0"/>
              <a:ea typeface="Calibri" panose="020F0502020204030204" pitchFamily="34" charset="0"/>
              <a:cs typeface="DokChampa" panose="020B0604020202020204" pitchFamily="34" charset="-34"/>
            </a:endParaRPr>
          </a:p>
          <a:p>
            <a:pPr marL="457200" lvl="1" indent="0">
              <a:buNone/>
            </a:pPr>
            <a:endParaRPr lang="en-US" dirty="0"/>
          </a:p>
          <a:p>
            <a:endParaRPr lang="en-US" dirty="0"/>
          </a:p>
        </p:txBody>
      </p:sp>
    </p:spTree>
    <p:extLst>
      <p:ext uri="{BB962C8B-B14F-4D97-AF65-F5344CB8AC3E}">
        <p14:creationId xmlns:p14="http://schemas.microsoft.com/office/powerpoint/2010/main" val="32199668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122663"/>
            <a:ext cx="9887685" cy="591015"/>
          </a:xfrm>
        </p:spPr>
        <p:txBody>
          <a:bodyPr>
            <a:normAutofit fontScale="90000"/>
          </a:bodyPr>
          <a:lstStyle/>
          <a:p>
            <a:r>
              <a:rPr lang="en-US" dirty="0"/>
              <a:t>CONT… </a:t>
            </a: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713678"/>
            <a:ext cx="9887685" cy="5664819"/>
          </a:xfrm>
        </p:spPr>
        <p:txBody>
          <a:bodyPr>
            <a:normAutofit/>
          </a:bodyPr>
          <a:lstStyle/>
          <a:p>
            <a:pPr>
              <a:lnSpc>
                <a:spcPct val="107000"/>
              </a:lnSpc>
              <a:spcAft>
                <a:spcPts val="800"/>
              </a:spcAft>
            </a:pPr>
            <a:r>
              <a:rPr lang="en-US" sz="2400" dirty="0">
                <a:effectLst/>
                <a:ea typeface="Calibri" panose="020F0502020204030204" pitchFamily="34" charset="0"/>
                <a:cs typeface="Arial" panose="020B0604020202020204" pitchFamily="34" charset="0"/>
              </a:rPr>
              <a:t>Icons are moved via the </a:t>
            </a:r>
            <a:r>
              <a:rPr lang="en-US" sz="2400" b="1" dirty="0">
                <a:effectLst/>
                <a:ea typeface="Calibri" panose="020F0502020204030204" pitchFamily="34" charset="0"/>
                <a:cs typeface="Arial" panose="020B0604020202020204" pitchFamily="34" charset="0"/>
              </a:rPr>
              <a:t>drag-and-drop method </a:t>
            </a:r>
            <a:r>
              <a:rPr lang="en-US" sz="2400" dirty="0">
                <a:effectLst/>
                <a:ea typeface="Calibri" panose="020F0502020204030204" pitchFamily="34" charset="0"/>
                <a:cs typeface="Arial" panose="020B0604020202020204" pitchFamily="34" charset="0"/>
              </a:rPr>
              <a:t>– press and hold down the left mouse button over the icon, drag the mouse (with the icon) to a new location, and release the mouse button (which places the icon in the new location).</a:t>
            </a:r>
          </a:p>
          <a:p>
            <a:pPr marL="0" indent="0">
              <a:lnSpc>
                <a:spcPct val="107000"/>
              </a:lnSpc>
              <a:spcAft>
                <a:spcPts val="800"/>
              </a:spcAft>
              <a:buNone/>
            </a:pPr>
            <a:r>
              <a:rPr lang="en-US" sz="2400" b="1" dirty="0">
                <a:ea typeface="Calibri" panose="020F0502020204030204" pitchFamily="34" charset="0"/>
                <a:cs typeface="Arial" panose="020B0604020202020204" pitchFamily="34" charset="0"/>
              </a:rPr>
              <a:t>Arranging Icons</a:t>
            </a:r>
            <a:endParaRPr lang="en-US" sz="2400" b="1" dirty="0">
              <a:effectLst/>
              <a:ea typeface="Calibri" panose="020F0502020204030204" pitchFamily="34" charset="0"/>
              <a:cs typeface="Arial" panose="020B0604020202020204" pitchFamily="34" charset="0"/>
            </a:endParaRPr>
          </a:p>
          <a:p>
            <a:pPr>
              <a:lnSpc>
                <a:spcPct val="107000"/>
              </a:lnSpc>
              <a:spcAft>
                <a:spcPts val="800"/>
              </a:spcAft>
            </a:pPr>
            <a:r>
              <a:rPr lang="en-US" sz="2400" dirty="0">
                <a:effectLst/>
                <a:ea typeface="Calibri" panose="020F0502020204030204" pitchFamily="34" charset="0"/>
                <a:cs typeface="Arial" panose="020B0604020202020204" pitchFamily="34" charset="0"/>
              </a:rPr>
              <a:t>Windows 10 and other older versions of Windows can tidy up </a:t>
            </a:r>
            <a:r>
              <a:rPr lang="en-US" sz="2400" dirty="0">
                <a:ea typeface="Calibri" panose="020F0502020204030204" pitchFamily="34" charset="0"/>
                <a:cs typeface="Arial" panose="020B0604020202020204" pitchFamily="34" charset="0"/>
              </a:rPr>
              <a:t>your desktop by automatically arranging the icons. This can be done by:</a:t>
            </a:r>
          </a:p>
          <a:p>
            <a:pPr lvl="1">
              <a:lnSpc>
                <a:spcPct val="107000"/>
              </a:lnSpc>
              <a:spcAft>
                <a:spcPts val="800"/>
              </a:spcAft>
            </a:pPr>
            <a:r>
              <a:rPr lang="en-US" sz="2400" dirty="0">
                <a:effectLst/>
                <a:ea typeface="Calibri" panose="020F0502020204030204" pitchFamily="34" charset="0"/>
                <a:cs typeface="Arial" panose="020B0604020202020204" pitchFamily="34" charset="0"/>
              </a:rPr>
              <a:t>Right clicking anywhere over </a:t>
            </a:r>
            <a:r>
              <a:rPr lang="en-US" sz="2400" dirty="0">
                <a:ea typeface="Calibri" panose="020F0502020204030204" pitchFamily="34" charset="0"/>
                <a:cs typeface="Arial" panose="020B0604020202020204" pitchFamily="34" charset="0"/>
              </a:rPr>
              <a:t>your</a:t>
            </a:r>
            <a:r>
              <a:rPr lang="en-US" sz="2400" dirty="0">
                <a:effectLst/>
                <a:ea typeface="Calibri" panose="020F0502020204030204" pitchFamily="34" charset="0"/>
                <a:cs typeface="Arial" panose="020B0604020202020204" pitchFamily="34" charset="0"/>
              </a:rPr>
              <a:t> desktop then click on “view”, this brings different options about icons including auto arranging of icons.</a:t>
            </a:r>
            <a:endParaRPr lang="en-MW" sz="2400" dirty="0">
              <a:effectLst/>
              <a:ea typeface="Calibri" panose="020F0502020204030204" pitchFamily="34" charset="0"/>
              <a:cs typeface="DokChampa" panose="020B0604020202020204" pitchFamily="34" charset="-34"/>
            </a:endParaRPr>
          </a:p>
          <a:p>
            <a:pPr marL="0" indent="0">
              <a:lnSpc>
                <a:spcPct val="107000"/>
              </a:lnSpc>
              <a:spcAft>
                <a:spcPts val="800"/>
              </a:spcAft>
              <a:buNone/>
            </a:pPr>
            <a:endParaRPr lang="en-MW" sz="1400" dirty="0">
              <a:effectLst/>
              <a:latin typeface="Calibri" panose="020F0502020204030204" pitchFamily="34" charset="0"/>
              <a:ea typeface="Calibri" panose="020F0502020204030204" pitchFamily="34" charset="0"/>
              <a:cs typeface="DokChampa" panose="020B0604020202020204" pitchFamily="34" charset="-34"/>
            </a:endParaRPr>
          </a:p>
          <a:p>
            <a:pPr marL="457200" lvl="1" indent="0">
              <a:buNone/>
            </a:pPr>
            <a:endParaRPr lang="en-US" dirty="0"/>
          </a:p>
          <a:p>
            <a:endParaRPr lang="en-US" dirty="0"/>
          </a:p>
        </p:txBody>
      </p:sp>
    </p:spTree>
    <p:extLst>
      <p:ext uri="{BB962C8B-B14F-4D97-AF65-F5344CB8AC3E}">
        <p14:creationId xmlns:p14="http://schemas.microsoft.com/office/powerpoint/2010/main" val="2886184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579863"/>
          </a:xfrm>
        </p:spPr>
        <p:txBody>
          <a:bodyPr>
            <a:normAutofit fontScale="90000"/>
          </a:bodyPr>
          <a:lstStyle/>
          <a:p>
            <a:r>
              <a:rPr lang="en-US" dirty="0"/>
              <a:t>CONT… </a:t>
            </a: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36341"/>
            <a:ext cx="9887685" cy="5508703"/>
          </a:xfrm>
        </p:spPr>
        <p:txBody>
          <a:bodyPr>
            <a:normAutofit fontScale="92500" lnSpcReduction="10000"/>
          </a:bodyPr>
          <a:lstStyle/>
          <a:p>
            <a:pPr marL="0" indent="0">
              <a:lnSpc>
                <a:spcPct val="107000"/>
              </a:lnSpc>
              <a:spcAft>
                <a:spcPts val="800"/>
              </a:spcAft>
              <a:buNone/>
            </a:pPr>
            <a:r>
              <a:rPr lang="en-US" sz="2600" b="1" dirty="0">
                <a:effectLst/>
                <a:ea typeface="Calibri" panose="020F0502020204030204" pitchFamily="34" charset="0"/>
                <a:cs typeface="Arial" panose="020B0604020202020204" pitchFamily="34" charset="0"/>
              </a:rPr>
              <a:t>Desktop Shortcuts</a:t>
            </a:r>
            <a:r>
              <a:rPr lang="en-US" sz="2600" dirty="0">
                <a:effectLst/>
                <a:ea typeface="Calibri" panose="020F0502020204030204" pitchFamily="34" charset="0"/>
                <a:cs typeface="Arial" panose="020B0604020202020204" pitchFamily="34" charset="0"/>
              </a:rPr>
              <a:t> </a:t>
            </a:r>
          </a:p>
          <a:p>
            <a:pPr>
              <a:lnSpc>
                <a:spcPct val="107000"/>
              </a:lnSpc>
              <a:spcAft>
                <a:spcPts val="800"/>
              </a:spcAft>
            </a:pPr>
            <a:r>
              <a:rPr lang="en-US" sz="2600" dirty="0">
                <a:effectLst/>
                <a:ea typeface="Calibri" panose="020F0502020204030204" pitchFamily="34" charset="0"/>
                <a:cs typeface="Arial" panose="020B0604020202020204" pitchFamily="34" charset="0"/>
              </a:rPr>
              <a:t>Shortcuts are files that point to other programs, program files or folders found somewhere on the computer. </a:t>
            </a:r>
          </a:p>
          <a:p>
            <a:pPr>
              <a:lnSpc>
                <a:spcPct val="107000"/>
              </a:lnSpc>
              <a:spcAft>
                <a:spcPts val="800"/>
              </a:spcAft>
            </a:pPr>
            <a:r>
              <a:rPr lang="en-US" sz="2600" dirty="0">
                <a:ea typeface="Calibri" panose="020F0502020204030204" pitchFamily="34" charset="0"/>
                <a:cs typeface="Arial" panose="020B0604020202020204" pitchFamily="34" charset="0"/>
              </a:rPr>
              <a:t>They are links to folders, programs, or document not the actual thing.</a:t>
            </a:r>
          </a:p>
          <a:p>
            <a:pPr>
              <a:lnSpc>
                <a:spcPct val="107000"/>
              </a:lnSpc>
              <a:spcAft>
                <a:spcPts val="800"/>
              </a:spcAft>
            </a:pPr>
            <a:r>
              <a:rPr lang="en-US" sz="2600" dirty="0">
                <a:effectLst/>
                <a:ea typeface="Calibri" panose="020F0502020204030204" pitchFamily="34" charset="0"/>
                <a:cs typeface="Arial" panose="020B0604020202020204" pitchFamily="34" charset="0"/>
              </a:rPr>
              <a:t>You can create shortcuts that allow you to open programs, folders, or documents that you use frequently. You can put a shortcut on your desktop.</a:t>
            </a:r>
          </a:p>
          <a:p>
            <a:pPr>
              <a:lnSpc>
                <a:spcPct val="107000"/>
              </a:lnSpc>
              <a:spcAft>
                <a:spcPts val="800"/>
              </a:spcAft>
            </a:pPr>
            <a:r>
              <a:rPr lang="en-US" sz="2600" dirty="0">
                <a:effectLst/>
                <a:ea typeface="Calibri" panose="020F0502020204030204" pitchFamily="34" charset="0"/>
                <a:cs typeface="DokChampa" panose="020B0604020202020204" pitchFamily="34" charset="-34"/>
              </a:rPr>
              <a:t>Shortcuts always have a little curly arrow on the bottom left corner of the icon.</a:t>
            </a:r>
          </a:p>
          <a:p>
            <a:pPr marL="0" indent="0">
              <a:lnSpc>
                <a:spcPct val="107000"/>
              </a:lnSpc>
              <a:spcAft>
                <a:spcPts val="800"/>
              </a:spcAft>
              <a:buNone/>
            </a:pPr>
            <a:r>
              <a:rPr lang="en-US" sz="2900" dirty="0">
                <a:effectLst/>
                <a:latin typeface="Palatino Linotype" panose="02040502050505030304" pitchFamily="18" charset="0"/>
                <a:ea typeface="Calibri" panose="020F0502020204030204" pitchFamily="34" charset="0"/>
                <a:cs typeface="Arial" panose="020B0604020202020204" pitchFamily="34" charset="0"/>
              </a:rPr>
              <a:t> </a:t>
            </a:r>
            <a:endParaRPr lang="en-MW" sz="2900" dirty="0">
              <a:effectLst/>
              <a:latin typeface="Calibri" panose="020F0502020204030204" pitchFamily="34" charset="0"/>
              <a:ea typeface="Calibri" panose="020F0502020204030204" pitchFamily="34" charset="0"/>
              <a:cs typeface="DokChampa" panose="020B0604020202020204" pitchFamily="34" charset="-34"/>
            </a:endParaRPr>
          </a:p>
          <a:p>
            <a:pPr marL="457200" lvl="1" indent="0">
              <a:buNone/>
            </a:pPr>
            <a:endParaRPr lang="en-US" sz="2900" dirty="0"/>
          </a:p>
          <a:p>
            <a:endParaRPr lang="en-US" dirty="0"/>
          </a:p>
        </p:txBody>
      </p:sp>
    </p:spTree>
    <p:extLst>
      <p:ext uri="{BB962C8B-B14F-4D97-AF65-F5344CB8AC3E}">
        <p14:creationId xmlns:p14="http://schemas.microsoft.com/office/powerpoint/2010/main" val="40590124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579863"/>
          </a:xfrm>
        </p:spPr>
        <p:txBody>
          <a:bodyPr>
            <a:normAutofit fontScale="90000"/>
          </a:bodyPr>
          <a:lstStyle/>
          <a:p>
            <a:r>
              <a:rPr lang="en-US" dirty="0"/>
              <a:t>CONT… </a:t>
            </a: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36341"/>
            <a:ext cx="9887685" cy="5508703"/>
          </a:xfrm>
        </p:spPr>
        <p:txBody>
          <a:bodyPr>
            <a:normAutofit fontScale="25000" lnSpcReduction="20000"/>
          </a:bodyPr>
          <a:lstStyle/>
          <a:p>
            <a:pPr lvl="1" indent="-342900">
              <a:lnSpc>
                <a:spcPct val="107000"/>
              </a:lnSpc>
              <a:spcAft>
                <a:spcPts val="800"/>
              </a:spcAft>
              <a:buFont typeface="Symbol" panose="05050102010706020507" pitchFamily="18" charset="2"/>
              <a:buChar char=""/>
            </a:pPr>
            <a:r>
              <a:rPr lang="en-US" sz="8000" dirty="0">
                <a:effectLst/>
                <a:ea typeface="Calibri" panose="020F0502020204030204" pitchFamily="34" charset="0"/>
                <a:cs typeface="Arial" panose="020B0604020202020204" pitchFamily="34" charset="0"/>
              </a:rPr>
              <a:t>A double-click on the shortcut icon will start either the appropriate program, or the appropriate file and corresponding program, or appropriate folder.</a:t>
            </a:r>
          </a:p>
          <a:p>
            <a:pPr marL="0" indent="0">
              <a:lnSpc>
                <a:spcPct val="107000"/>
              </a:lnSpc>
              <a:spcAft>
                <a:spcPts val="800"/>
              </a:spcAft>
              <a:buNone/>
            </a:pPr>
            <a:r>
              <a:rPr lang="en-US" sz="8000" b="1" dirty="0">
                <a:effectLst/>
                <a:ea typeface="Calibri" panose="020F0502020204030204" pitchFamily="34" charset="0"/>
                <a:cs typeface="Arial" panose="020B0604020202020204" pitchFamily="34" charset="0"/>
              </a:rPr>
              <a:t>Creating a shortcut on the Desktop</a:t>
            </a:r>
          </a:p>
          <a:p>
            <a:pPr lvl="1">
              <a:lnSpc>
                <a:spcPct val="107000"/>
              </a:lnSpc>
              <a:spcAft>
                <a:spcPts val="800"/>
              </a:spcAft>
              <a:buFont typeface="Arial" panose="020B0604020202020204" pitchFamily="34" charset="0"/>
              <a:buChar char="•"/>
            </a:pPr>
            <a:r>
              <a:rPr lang="en-US" sz="8000" dirty="0">
                <a:ea typeface="Calibri" panose="020F0502020204030204" pitchFamily="34" charset="0"/>
                <a:cs typeface="Arial" panose="020B0604020202020204" pitchFamily="34" charset="0"/>
              </a:rPr>
              <a:t>Find the icon for the program, folder or document you want to create a shortcut for.</a:t>
            </a:r>
          </a:p>
          <a:p>
            <a:pPr lvl="1">
              <a:lnSpc>
                <a:spcPct val="107000"/>
              </a:lnSpc>
              <a:spcAft>
                <a:spcPts val="800"/>
              </a:spcAft>
              <a:buFont typeface="Arial" panose="020B0604020202020204" pitchFamily="34" charset="0"/>
              <a:buChar char="•"/>
            </a:pPr>
            <a:r>
              <a:rPr lang="en-US" sz="8000" dirty="0">
                <a:effectLst/>
                <a:ea typeface="Calibri" panose="020F0502020204030204" pitchFamily="34" charset="0"/>
                <a:cs typeface="Arial" panose="020B0604020202020204" pitchFamily="34" charset="0"/>
              </a:rPr>
              <a:t>Restore or resize the “This PC” window if your icon is coming from there, so that you can see the desktop as well.</a:t>
            </a:r>
          </a:p>
          <a:p>
            <a:pPr lvl="1">
              <a:lnSpc>
                <a:spcPct val="107000"/>
              </a:lnSpc>
              <a:spcAft>
                <a:spcPts val="800"/>
              </a:spcAft>
              <a:buFont typeface="Arial" panose="020B0604020202020204" pitchFamily="34" charset="0"/>
              <a:buChar char="•"/>
            </a:pPr>
            <a:r>
              <a:rPr lang="en-US" sz="8000" dirty="0">
                <a:effectLst/>
                <a:ea typeface="Calibri" panose="020F0502020204030204" pitchFamily="34" charset="0"/>
                <a:cs typeface="Arial" panose="020B0604020202020204" pitchFamily="34" charset="0"/>
              </a:rPr>
              <a:t>Click and drag the icon into the desktop then release the mouse a shortcut will be created on the desktop. </a:t>
            </a:r>
            <a:r>
              <a:rPr lang="en-US" sz="8000" b="1" dirty="0">
                <a:effectLst/>
                <a:ea typeface="Calibri" panose="020F0502020204030204" pitchFamily="34" charset="0"/>
                <a:cs typeface="Arial" panose="020B0604020202020204" pitchFamily="34" charset="0"/>
              </a:rPr>
              <a:t>OR</a:t>
            </a:r>
            <a:r>
              <a:rPr lang="en-US" sz="8000" dirty="0">
                <a:effectLst/>
                <a:ea typeface="Calibri" panose="020F0502020204030204" pitchFamily="34" charset="0"/>
                <a:cs typeface="Arial" panose="020B0604020202020204" pitchFamily="34" charset="0"/>
              </a:rPr>
              <a:t> </a:t>
            </a:r>
          </a:p>
          <a:p>
            <a:pPr lvl="1">
              <a:lnSpc>
                <a:spcPct val="107000"/>
              </a:lnSpc>
              <a:spcAft>
                <a:spcPts val="800"/>
              </a:spcAft>
              <a:buFont typeface="Arial" panose="020B0604020202020204" pitchFamily="34" charset="0"/>
              <a:buChar char="•"/>
            </a:pPr>
            <a:r>
              <a:rPr lang="en-US" sz="8000" dirty="0">
                <a:effectLst/>
                <a:ea typeface="Calibri" panose="020F0502020204030204" pitchFamily="34" charset="0"/>
                <a:cs typeface="Arial" panose="020B0604020202020204" pitchFamily="34" charset="0"/>
              </a:rPr>
              <a:t>Right click and drag the icon you wish to create a shortcut to into the desktop, a menu will appear. Click on “Create shortcuts here”. </a:t>
            </a:r>
            <a:r>
              <a:rPr lang="en-US" sz="8000" b="1" dirty="0">
                <a:effectLst/>
                <a:ea typeface="Calibri" panose="020F0502020204030204" pitchFamily="34" charset="0"/>
                <a:cs typeface="Arial" panose="020B0604020202020204" pitchFamily="34" charset="0"/>
              </a:rPr>
              <a:t>OR</a:t>
            </a:r>
          </a:p>
          <a:p>
            <a:pPr lvl="1">
              <a:lnSpc>
                <a:spcPct val="107000"/>
              </a:lnSpc>
              <a:spcAft>
                <a:spcPts val="800"/>
              </a:spcAft>
              <a:buFont typeface="Arial" panose="020B0604020202020204" pitchFamily="34" charset="0"/>
              <a:buChar char="•"/>
            </a:pPr>
            <a:r>
              <a:rPr lang="en-US" sz="8000" dirty="0">
                <a:ea typeface="Calibri" panose="020F0502020204030204" pitchFamily="34" charset="0"/>
                <a:cs typeface="Arial" panose="020B0604020202020204" pitchFamily="34" charset="0"/>
              </a:rPr>
              <a:t>Right click on the item you wish to create a shortcut to, a menu will pop up. Click “Send To” then select “Desktop (create shortcut)” from the menu options.</a:t>
            </a:r>
            <a:endParaRPr lang="en-US" sz="8000" dirty="0">
              <a:effectLst/>
              <a:ea typeface="Calibri" panose="020F0502020204030204" pitchFamily="34" charset="0"/>
              <a:cs typeface="Arial" panose="020B0604020202020204" pitchFamily="34" charset="0"/>
            </a:endParaRPr>
          </a:p>
          <a:p>
            <a:pPr lvl="1">
              <a:lnSpc>
                <a:spcPct val="107000"/>
              </a:lnSpc>
              <a:spcAft>
                <a:spcPts val="800"/>
              </a:spcAft>
              <a:buFont typeface="Arial" panose="020B0604020202020204" pitchFamily="34" charset="0"/>
              <a:buChar char="•"/>
            </a:pPr>
            <a:endParaRPr lang="en-US" sz="2700" dirty="0">
              <a:effectLst/>
              <a:ea typeface="Calibri" panose="020F0502020204030204" pitchFamily="34" charset="0"/>
              <a:cs typeface="Arial" panose="020B0604020202020204" pitchFamily="34" charset="0"/>
            </a:endParaRPr>
          </a:p>
          <a:p>
            <a:pPr marL="0" indent="0">
              <a:lnSpc>
                <a:spcPct val="107000"/>
              </a:lnSpc>
              <a:spcAft>
                <a:spcPts val="800"/>
              </a:spcAft>
              <a:buNone/>
            </a:pPr>
            <a:r>
              <a:rPr lang="en-US" sz="2900" dirty="0">
                <a:ea typeface="Calibri" panose="020F0502020204030204" pitchFamily="34" charset="0"/>
                <a:cs typeface="Arial" panose="020B0604020202020204" pitchFamily="34" charset="0"/>
              </a:rPr>
              <a:t> </a:t>
            </a:r>
            <a:endParaRPr lang="en-US" dirty="0"/>
          </a:p>
        </p:txBody>
      </p:sp>
    </p:spTree>
    <p:extLst>
      <p:ext uri="{BB962C8B-B14F-4D97-AF65-F5344CB8AC3E}">
        <p14:creationId xmlns:p14="http://schemas.microsoft.com/office/powerpoint/2010/main" val="32249610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579863"/>
          </a:xfrm>
        </p:spPr>
        <p:txBody>
          <a:bodyPr>
            <a:normAutofit fontScale="90000"/>
          </a:bodyPr>
          <a:lstStyle/>
          <a:p>
            <a:r>
              <a:rPr lang="en-US" dirty="0"/>
              <a:t> </a:t>
            </a: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36341"/>
            <a:ext cx="9887685" cy="5508703"/>
          </a:xfrm>
        </p:spPr>
        <p:txBody>
          <a:bodyPr>
            <a:normAutofit fontScale="40000" lnSpcReduction="20000"/>
          </a:bodyPr>
          <a:lstStyle/>
          <a:p>
            <a:pPr marL="0" indent="0">
              <a:lnSpc>
                <a:spcPct val="170000"/>
              </a:lnSpc>
              <a:spcAft>
                <a:spcPts val="800"/>
              </a:spcAft>
              <a:buNone/>
            </a:pPr>
            <a:r>
              <a:rPr lang="en-US" sz="5100" b="1" dirty="0">
                <a:ea typeface="Calibri" panose="020F0502020204030204" pitchFamily="34" charset="0"/>
                <a:cs typeface="Arial" panose="020B0604020202020204" pitchFamily="34" charset="0"/>
              </a:rPr>
              <a:t>Renaming Shortcuts: </a:t>
            </a:r>
            <a:r>
              <a:rPr lang="en-US" sz="5100" dirty="0">
                <a:ea typeface="Calibri" panose="020F0502020204030204" pitchFamily="34" charset="0"/>
                <a:cs typeface="Arial" panose="020B0604020202020204" pitchFamily="34" charset="0"/>
              </a:rPr>
              <a:t>Because a shortcut just points to a document, folder or program (it is not the actual thing), it can be renamed without renaming the file. It can be renamed to anything you like. To rename the shortcut:</a:t>
            </a:r>
          </a:p>
          <a:p>
            <a:pPr lvl="1">
              <a:lnSpc>
                <a:spcPct val="107000"/>
              </a:lnSpc>
              <a:spcAft>
                <a:spcPts val="800"/>
              </a:spcAft>
              <a:buFont typeface="Arial" panose="020B0604020202020204" pitchFamily="34" charset="0"/>
              <a:buChar char="•"/>
            </a:pPr>
            <a:r>
              <a:rPr lang="en-US" sz="5100" dirty="0">
                <a:ea typeface="Calibri" panose="020F0502020204030204" pitchFamily="34" charset="0"/>
                <a:cs typeface="Arial" panose="020B0604020202020204" pitchFamily="34" charset="0"/>
              </a:rPr>
              <a:t>Position your mouse over the shortcut you wish to rename.</a:t>
            </a:r>
          </a:p>
          <a:p>
            <a:pPr lvl="1">
              <a:lnSpc>
                <a:spcPct val="107000"/>
              </a:lnSpc>
              <a:spcAft>
                <a:spcPts val="800"/>
              </a:spcAft>
              <a:buFont typeface="Arial" panose="020B0604020202020204" pitchFamily="34" charset="0"/>
              <a:buChar char="•"/>
            </a:pPr>
            <a:r>
              <a:rPr lang="en-US" sz="5100" dirty="0">
                <a:ea typeface="Calibri" panose="020F0502020204030204" pitchFamily="34" charset="0"/>
                <a:cs typeface="Arial" panose="020B0604020202020204" pitchFamily="34" charset="0"/>
              </a:rPr>
              <a:t>Right click on the shortcut. A menu will appear.</a:t>
            </a:r>
          </a:p>
          <a:p>
            <a:pPr lvl="1">
              <a:lnSpc>
                <a:spcPct val="107000"/>
              </a:lnSpc>
              <a:spcAft>
                <a:spcPts val="800"/>
              </a:spcAft>
              <a:buFont typeface="Arial" panose="020B0604020202020204" pitchFamily="34" charset="0"/>
              <a:buChar char="•"/>
            </a:pPr>
            <a:r>
              <a:rPr lang="en-US" sz="5100" dirty="0">
                <a:ea typeface="Calibri" panose="020F0502020204030204" pitchFamily="34" charset="0"/>
                <a:cs typeface="Arial" panose="020B0604020202020204" pitchFamily="34" charset="0"/>
              </a:rPr>
              <a:t>Click “Rename”. The name of the shortcut is highlighted.</a:t>
            </a:r>
          </a:p>
          <a:p>
            <a:pPr marL="457200" lvl="1" indent="0">
              <a:lnSpc>
                <a:spcPct val="107000"/>
              </a:lnSpc>
              <a:spcAft>
                <a:spcPts val="800"/>
              </a:spcAft>
              <a:buNone/>
            </a:pPr>
            <a:endParaRPr lang="en-US" sz="5100" dirty="0">
              <a:ea typeface="Calibri" panose="020F0502020204030204" pitchFamily="34" charset="0"/>
              <a:cs typeface="Arial" panose="020B0604020202020204" pitchFamily="34" charset="0"/>
            </a:endParaRPr>
          </a:p>
          <a:p>
            <a:pPr marL="457200" lvl="1" indent="0">
              <a:lnSpc>
                <a:spcPct val="107000"/>
              </a:lnSpc>
              <a:spcAft>
                <a:spcPts val="800"/>
              </a:spcAft>
              <a:buNone/>
            </a:pPr>
            <a:endParaRPr lang="en-US" sz="5100" dirty="0">
              <a:ea typeface="Calibri" panose="020F0502020204030204" pitchFamily="34" charset="0"/>
              <a:cs typeface="Arial" panose="020B0604020202020204" pitchFamily="34" charset="0"/>
            </a:endParaRPr>
          </a:p>
          <a:p>
            <a:pPr lvl="1">
              <a:lnSpc>
                <a:spcPct val="107000"/>
              </a:lnSpc>
              <a:spcAft>
                <a:spcPts val="800"/>
              </a:spcAft>
              <a:buFont typeface="Arial" panose="020B0604020202020204" pitchFamily="34" charset="0"/>
              <a:buChar char="•"/>
            </a:pPr>
            <a:r>
              <a:rPr lang="en-US" sz="5100" dirty="0">
                <a:ea typeface="Calibri" panose="020F0502020204030204" pitchFamily="34" charset="0"/>
                <a:cs typeface="Arial" panose="020B0604020202020204" pitchFamily="34" charset="0"/>
              </a:rPr>
              <a:t>Type the new name for the shortcut.</a:t>
            </a:r>
          </a:p>
          <a:p>
            <a:pPr lvl="1">
              <a:lnSpc>
                <a:spcPct val="107000"/>
              </a:lnSpc>
              <a:spcAft>
                <a:spcPts val="800"/>
              </a:spcAft>
              <a:buFont typeface="Arial" panose="020B0604020202020204" pitchFamily="34" charset="0"/>
              <a:buChar char="•"/>
            </a:pPr>
            <a:r>
              <a:rPr lang="en-US" sz="5100" dirty="0">
                <a:ea typeface="Calibri" panose="020F0502020204030204" pitchFamily="34" charset="0"/>
                <a:cs typeface="Arial" panose="020B0604020202020204" pitchFamily="34" charset="0"/>
              </a:rPr>
              <a:t>Click away from the shortcut.</a:t>
            </a:r>
          </a:p>
          <a:p>
            <a:pPr marL="0" indent="0">
              <a:lnSpc>
                <a:spcPct val="107000"/>
              </a:lnSpc>
              <a:spcAft>
                <a:spcPts val="800"/>
              </a:spcAft>
              <a:buNone/>
            </a:pPr>
            <a:r>
              <a:rPr lang="en-US" sz="2900" dirty="0">
                <a:effectLst/>
                <a:ea typeface="Calibri" panose="020F0502020204030204" pitchFamily="34" charset="0"/>
                <a:cs typeface="Arial" panose="020B0604020202020204" pitchFamily="34" charset="0"/>
              </a:rPr>
              <a:t> </a:t>
            </a:r>
            <a:endParaRPr lang="en-US" sz="2900" dirty="0"/>
          </a:p>
          <a:p>
            <a:endParaRPr lang="en-US" dirty="0"/>
          </a:p>
        </p:txBody>
      </p:sp>
      <p:pic>
        <p:nvPicPr>
          <p:cNvPr id="7" name="Picture 6">
            <a:extLst>
              <a:ext uri="{FF2B5EF4-FFF2-40B4-BE49-F238E27FC236}">
                <a16:creationId xmlns:a16="http://schemas.microsoft.com/office/drawing/2014/main" id="{890F99EC-E68B-4181-833F-8EE20783A089}"/>
              </a:ext>
            </a:extLst>
          </p:cNvPr>
          <p:cNvPicPr>
            <a:picLocks noChangeAspect="1"/>
          </p:cNvPicPr>
          <p:nvPr/>
        </p:nvPicPr>
        <p:blipFill>
          <a:blip r:embed="rId2"/>
          <a:stretch>
            <a:fillRect/>
          </a:stretch>
        </p:blipFill>
        <p:spPr>
          <a:xfrm>
            <a:off x="4066944" y="3852746"/>
            <a:ext cx="1181100" cy="1000125"/>
          </a:xfrm>
          <a:prstGeom prst="rect">
            <a:avLst/>
          </a:prstGeom>
        </p:spPr>
      </p:pic>
    </p:spTree>
    <p:extLst>
      <p:ext uri="{BB962C8B-B14F-4D97-AF65-F5344CB8AC3E}">
        <p14:creationId xmlns:p14="http://schemas.microsoft.com/office/powerpoint/2010/main" val="16679699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579863"/>
          </a:xfrm>
        </p:spPr>
        <p:txBody>
          <a:bodyPr>
            <a:normAutofit fontScale="90000"/>
          </a:bodyPr>
          <a:lstStyle/>
          <a:p>
            <a:r>
              <a:rPr lang="en-US" dirty="0"/>
              <a:t> </a:t>
            </a: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36341"/>
            <a:ext cx="9887685" cy="5508703"/>
          </a:xfrm>
        </p:spPr>
        <p:txBody>
          <a:bodyPr>
            <a:normAutofit/>
          </a:bodyPr>
          <a:lstStyle/>
          <a:p>
            <a:pPr marL="0" indent="0">
              <a:lnSpc>
                <a:spcPct val="160000"/>
              </a:lnSpc>
              <a:spcAft>
                <a:spcPts val="800"/>
              </a:spcAft>
              <a:buNone/>
            </a:pPr>
            <a:r>
              <a:rPr lang="en-US" sz="2400" b="1" dirty="0">
                <a:effectLst/>
                <a:ea typeface="Calibri" panose="020F0502020204030204" pitchFamily="34" charset="0"/>
                <a:cs typeface="Arial" panose="020B0604020202020204" pitchFamily="34" charset="0"/>
              </a:rPr>
              <a:t>Deleting Shortcuts: </a:t>
            </a:r>
            <a:r>
              <a:rPr lang="en-US" sz="2400" dirty="0">
                <a:effectLst/>
                <a:ea typeface="Calibri" panose="020F0502020204030204" pitchFamily="34" charset="0"/>
                <a:cs typeface="Arial" panose="020B0604020202020204" pitchFamily="34" charset="0"/>
              </a:rPr>
              <a:t>You might want to remove shortcuts that you no longer want. </a:t>
            </a:r>
            <a:r>
              <a:rPr lang="en-US" sz="2400" dirty="0"/>
              <a:t>If you delete a shortcut it does not delete the original object (the item to which the shortcut is pointing). To delete a shortcut:</a:t>
            </a:r>
            <a:endParaRPr lang="en-US" sz="2400" dirty="0">
              <a:effectLst/>
              <a:ea typeface="Calibri" panose="020F0502020204030204" pitchFamily="34" charset="0"/>
              <a:cs typeface="Arial" panose="020B0604020202020204" pitchFamily="34" charset="0"/>
            </a:endParaRPr>
          </a:p>
          <a:p>
            <a:pPr lvl="1">
              <a:lnSpc>
                <a:spcPct val="107000"/>
              </a:lnSpc>
              <a:spcAft>
                <a:spcPts val="800"/>
              </a:spcAft>
              <a:buFont typeface="Arial" panose="020B0604020202020204" pitchFamily="34" charset="0"/>
              <a:buChar char="•"/>
            </a:pPr>
            <a:r>
              <a:rPr lang="en-US" sz="2400" dirty="0"/>
              <a:t>Right click on the shortcut.</a:t>
            </a:r>
          </a:p>
          <a:p>
            <a:pPr lvl="1">
              <a:lnSpc>
                <a:spcPct val="107000"/>
              </a:lnSpc>
              <a:spcAft>
                <a:spcPts val="800"/>
              </a:spcAft>
              <a:buFont typeface="Arial" panose="020B0604020202020204" pitchFamily="34" charset="0"/>
              <a:buChar char="•"/>
            </a:pPr>
            <a:r>
              <a:rPr lang="en-US" sz="2400" dirty="0"/>
              <a:t>From the pop up menu click “Delete”. The shortcut will be deleted.</a:t>
            </a:r>
          </a:p>
          <a:p>
            <a:pPr lvl="1">
              <a:lnSpc>
                <a:spcPct val="107000"/>
              </a:lnSpc>
              <a:spcAft>
                <a:spcPts val="800"/>
              </a:spcAft>
              <a:buFont typeface="Arial" panose="020B0604020202020204" pitchFamily="34" charset="0"/>
              <a:buChar char="•"/>
            </a:pPr>
            <a:r>
              <a:rPr lang="en-US" sz="2400" dirty="0"/>
              <a:t>If a menu appears for you to confirm your action, click “Yes” to confirm it.</a:t>
            </a:r>
          </a:p>
          <a:p>
            <a:pPr marL="457200" lvl="1" indent="0">
              <a:lnSpc>
                <a:spcPct val="107000"/>
              </a:lnSpc>
              <a:spcAft>
                <a:spcPts val="800"/>
              </a:spcAft>
              <a:buNone/>
            </a:pPr>
            <a:endParaRPr lang="en-US" sz="2900" dirty="0"/>
          </a:p>
          <a:p>
            <a:endParaRPr lang="en-US" dirty="0"/>
          </a:p>
        </p:txBody>
      </p:sp>
    </p:spTree>
    <p:extLst>
      <p:ext uri="{BB962C8B-B14F-4D97-AF65-F5344CB8AC3E}">
        <p14:creationId xmlns:p14="http://schemas.microsoft.com/office/powerpoint/2010/main" val="8673606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690300"/>
          </a:xfrm>
        </p:spPr>
        <p:txBody>
          <a:bodyPr>
            <a:normAutofit fontScale="90000"/>
          </a:bodyPr>
          <a:lstStyle/>
          <a:p>
            <a:r>
              <a:rPr lang="en-US" dirty="0"/>
              <a:t>BASIC ACTIONS WITH WINDOWS </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946777"/>
            <a:ext cx="9887685" cy="5264452"/>
          </a:xfrm>
        </p:spPr>
        <p:txBody>
          <a:bodyPr>
            <a:normAutofit lnSpcReduction="10000"/>
          </a:bodyPr>
          <a:lstStyle/>
          <a:p>
            <a:pPr>
              <a:lnSpc>
                <a:spcPct val="107000"/>
              </a:lnSpc>
              <a:spcAft>
                <a:spcPts val="800"/>
              </a:spcAft>
            </a:pPr>
            <a:r>
              <a:rPr lang="en-US" sz="2000" dirty="0">
                <a:ea typeface="Calibri" panose="020F0502020204030204" pitchFamily="34" charset="0"/>
                <a:cs typeface="Arial" panose="020B0604020202020204" pitchFamily="34" charset="0"/>
              </a:rPr>
              <a:t>Every task you perform on your computer will open in a box called a </a:t>
            </a:r>
            <a:r>
              <a:rPr lang="en-US" sz="2000" b="1" dirty="0">
                <a:ea typeface="Calibri" panose="020F0502020204030204" pitchFamily="34" charset="0"/>
                <a:cs typeface="Arial" panose="020B0604020202020204" pitchFamily="34" charset="0"/>
              </a:rPr>
              <a:t>Window</a:t>
            </a:r>
            <a:r>
              <a:rPr lang="en-US" sz="2000" dirty="0">
                <a:ea typeface="Calibri" panose="020F0502020204030204" pitchFamily="34" charset="0"/>
                <a:cs typeface="Arial" panose="020B0604020202020204" pitchFamily="34" charset="0"/>
              </a:rPr>
              <a:t>. For example when you open word, a window appears on the screen containing the software. You then work inside the window.</a:t>
            </a:r>
          </a:p>
          <a:p>
            <a:pPr>
              <a:lnSpc>
                <a:spcPct val="107000"/>
              </a:lnSpc>
              <a:spcAft>
                <a:spcPts val="800"/>
              </a:spcAft>
            </a:pPr>
            <a:r>
              <a:rPr lang="en-US" sz="2000" dirty="0">
                <a:effectLst/>
                <a:ea typeface="Calibri" panose="020F0502020204030204" pitchFamily="34" charset="0"/>
                <a:cs typeface="Arial" panose="020B0604020202020204" pitchFamily="34" charset="0"/>
              </a:rPr>
              <a:t>You can have several windows opened at the same time, but only one will be active: </a:t>
            </a:r>
            <a:endParaRPr lang="en-MW" sz="2000" dirty="0">
              <a:effectLst/>
              <a:ea typeface="Calibri" panose="020F0502020204030204" pitchFamily="34" charset="0"/>
              <a:cs typeface="DokChampa" panose="020B0604020202020204" pitchFamily="34" charset="-34"/>
            </a:endParaRPr>
          </a:p>
          <a:p>
            <a:pPr lvl="1" indent="-342900">
              <a:lnSpc>
                <a:spcPct val="107000"/>
              </a:lnSpc>
              <a:buFont typeface="Symbol" panose="05050102010706020507" pitchFamily="18" charset="2"/>
              <a:buChar char=""/>
            </a:pPr>
            <a:r>
              <a:rPr lang="en-US" sz="2000" dirty="0">
                <a:effectLst/>
                <a:ea typeface="Calibri" panose="020F0502020204030204" pitchFamily="34" charset="0"/>
                <a:cs typeface="Arial" panose="020B0604020202020204" pitchFamily="34" charset="0"/>
              </a:rPr>
              <a:t>The active window has a highlighted border and the inactive window is grayed out </a:t>
            </a:r>
            <a:endParaRPr lang="en-MW" sz="2000" dirty="0">
              <a:effectLst/>
              <a:ea typeface="Calibri" panose="020F0502020204030204" pitchFamily="34" charset="0"/>
              <a:cs typeface="DokChampa" panose="020B0604020202020204" pitchFamily="34" charset="-34"/>
            </a:endParaRPr>
          </a:p>
          <a:p>
            <a:pPr lvl="1" indent="-342900">
              <a:lnSpc>
                <a:spcPct val="107000"/>
              </a:lnSpc>
              <a:buFont typeface="Symbol" panose="05050102010706020507" pitchFamily="18" charset="2"/>
              <a:buChar char=""/>
            </a:pPr>
            <a:r>
              <a:rPr lang="en-US" sz="2000" dirty="0">
                <a:effectLst/>
                <a:ea typeface="Calibri" panose="020F0502020204030204" pitchFamily="34" charset="0"/>
                <a:cs typeface="Arial" panose="020B0604020202020204" pitchFamily="34" charset="0"/>
              </a:rPr>
              <a:t>The opened window becomes active if you click on it, or </a:t>
            </a:r>
            <a:endParaRPr lang="en-MW" sz="2000" dirty="0">
              <a:effectLst/>
              <a:ea typeface="Calibri" panose="020F0502020204030204" pitchFamily="34" charset="0"/>
              <a:cs typeface="DokChampa" panose="020B0604020202020204" pitchFamily="34" charset="-34"/>
            </a:endParaRPr>
          </a:p>
          <a:p>
            <a:pPr lvl="1" indent="-342900">
              <a:lnSpc>
                <a:spcPct val="107000"/>
              </a:lnSpc>
              <a:spcAft>
                <a:spcPts val="800"/>
              </a:spcAft>
              <a:buFont typeface="Symbol" panose="05050102010706020507" pitchFamily="18" charset="2"/>
              <a:buChar char=""/>
            </a:pPr>
            <a:r>
              <a:rPr lang="en-US" sz="2000" dirty="0">
                <a:effectLst/>
                <a:ea typeface="Calibri" panose="020F0502020204030204" pitchFamily="34" charset="0"/>
                <a:cs typeface="Arial" panose="020B0604020202020204" pitchFamily="34" charset="0"/>
              </a:rPr>
              <a:t>The opened window becomes active if you click on its section. On the taskbar We can move windows using the drag-and-drop method: </a:t>
            </a:r>
          </a:p>
          <a:p>
            <a:pPr lvl="2" indent="-342900">
              <a:lnSpc>
                <a:spcPct val="107000"/>
              </a:lnSpc>
              <a:spcAft>
                <a:spcPts val="800"/>
              </a:spcAft>
              <a:buFont typeface="Symbol" panose="05050102010706020507" pitchFamily="18" charset="2"/>
              <a:buChar char=""/>
            </a:pPr>
            <a:r>
              <a:rPr lang="en-US" sz="2000" dirty="0">
                <a:ea typeface="Calibri" panose="020F0502020204030204" pitchFamily="34" charset="0"/>
                <a:cs typeface="Arial" panose="020B0604020202020204" pitchFamily="34" charset="0"/>
              </a:rPr>
              <a:t>P</a:t>
            </a:r>
            <a:r>
              <a:rPr lang="en-US" sz="2000" dirty="0">
                <a:effectLst/>
                <a:ea typeface="Calibri" panose="020F0502020204030204" pitchFamily="34" charset="0"/>
                <a:cs typeface="Arial" panose="020B0604020202020204" pitchFamily="34" charset="0"/>
              </a:rPr>
              <a:t>ress and hold down the left mouse button on the taskbar or title bar, drag the window to where you want to move it and release the mouse button. </a:t>
            </a:r>
            <a:endParaRPr lang="en-MW" sz="2000" dirty="0">
              <a:effectLst/>
              <a:ea typeface="Calibri" panose="020F0502020204030204" pitchFamily="34" charset="0"/>
              <a:cs typeface="DokChampa" panose="020B0604020202020204" pitchFamily="34" charset="-34"/>
            </a:endParaRPr>
          </a:p>
          <a:p>
            <a:pPr marL="0" indent="0">
              <a:lnSpc>
                <a:spcPct val="107000"/>
              </a:lnSpc>
              <a:spcAft>
                <a:spcPts val="800"/>
              </a:spcAft>
              <a:buNone/>
            </a:pPr>
            <a:endParaRPr lang="en-MW" sz="1400" dirty="0">
              <a:effectLst/>
              <a:latin typeface="Calibri" panose="020F0502020204030204" pitchFamily="34" charset="0"/>
              <a:ea typeface="Calibri" panose="020F0502020204030204" pitchFamily="34" charset="0"/>
              <a:cs typeface="DokChampa" panose="020B0604020202020204" pitchFamily="34" charset="-34"/>
            </a:endParaRPr>
          </a:p>
          <a:p>
            <a:pPr marL="457200" lvl="1" indent="0">
              <a:buNone/>
            </a:pPr>
            <a:endParaRPr lang="en-US" dirty="0"/>
          </a:p>
          <a:p>
            <a:endParaRPr lang="en-US" dirty="0"/>
          </a:p>
        </p:txBody>
      </p:sp>
    </p:spTree>
    <p:extLst>
      <p:ext uri="{BB962C8B-B14F-4D97-AF65-F5344CB8AC3E}">
        <p14:creationId xmlns:p14="http://schemas.microsoft.com/office/powerpoint/2010/main" val="38293888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690300"/>
          </a:xfrm>
        </p:spPr>
        <p:txBody>
          <a:bodyPr>
            <a:normAutofit fontScale="90000"/>
          </a:bodyPr>
          <a:lstStyle/>
          <a:p>
            <a:r>
              <a:rPr lang="en-US" dirty="0"/>
              <a:t>CONT… </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946777"/>
            <a:ext cx="9887685" cy="5264452"/>
          </a:xfrm>
        </p:spPr>
        <p:txBody>
          <a:bodyPr>
            <a:normAutofit/>
          </a:bodyPr>
          <a:lstStyle/>
          <a:p>
            <a:pPr>
              <a:lnSpc>
                <a:spcPct val="107000"/>
              </a:lnSpc>
              <a:spcAft>
                <a:spcPts val="800"/>
              </a:spcAft>
            </a:pPr>
            <a:r>
              <a:rPr lang="en-US" sz="2000" dirty="0">
                <a:effectLst/>
                <a:ea typeface="Calibri" panose="020F0502020204030204" pitchFamily="34" charset="0"/>
                <a:cs typeface="Arial" panose="020B0604020202020204" pitchFamily="34" charset="0"/>
              </a:rPr>
              <a:t>Recognizing different elements of a window: </a:t>
            </a:r>
            <a:r>
              <a:rPr lang="en-US" sz="2000" b="1" dirty="0">
                <a:effectLst/>
                <a:ea typeface="Calibri" panose="020F0502020204030204" pitchFamily="34" charset="0"/>
                <a:cs typeface="Arial" panose="020B0604020202020204" pitchFamily="34" charset="0"/>
              </a:rPr>
              <a:t>title bar, menu bar, toolbars, status bar, scroll bar.</a:t>
            </a:r>
            <a:endParaRPr lang="en-MW" sz="2000" dirty="0">
              <a:effectLst/>
              <a:ea typeface="Calibri" panose="020F0502020204030204" pitchFamily="34" charset="0"/>
              <a:cs typeface="DokChampa" panose="020B0604020202020204" pitchFamily="34" charset="-34"/>
            </a:endParaRPr>
          </a:p>
          <a:p>
            <a:pPr marL="0" indent="0">
              <a:lnSpc>
                <a:spcPct val="107000"/>
              </a:lnSpc>
              <a:spcAft>
                <a:spcPts val="800"/>
              </a:spcAft>
              <a:buNone/>
            </a:pPr>
            <a:endParaRPr lang="en-MW" sz="1400" dirty="0">
              <a:effectLst/>
              <a:latin typeface="Calibri" panose="020F0502020204030204" pitchFamily="34" charset="0"/>
              <a:ea typeface="Calibri" panose="020F0502020204030204" pitchFamily="34" charset="0"/>
              <a:cs typeface="DokChampa" panose="020B0604020202020204" pitchFamily="34" charset="-34"/>
            </a:endParaRPr>
          </a:p>
          <a:p>
            <a:pPr marL="457200" lvl="1" indent="0">
              <a:buNone/>
            </a:pPr>
            <a:endParaRPr lang="en-US" dirty="0"/>
          </a:p>
          <a:p>
            <a:endParaRPr lang="en-US" dirty="0"/>
          </a:p>
        </p:txBody>
      </p:sp>
      <p:pic>
        <p:nvPicPr>
          <p:cNvPr id="4" name="Picture 3">
            <a:extLst>
              <a:ext uri="{FF2B5EF4-FFF2-40B4-BE49-F238E27FC236}">
                <a16:creationId xmlns:a16="http://schemas.microsoft.com/office/drawing/2014/main" id="{70FAB49E-7DB4-49A2-A68D-FA97F06D2FC3}"/>
              </a:ext>
            </a:extLst>
          </p:cNvPr>
          <p:cNvPicPr>
            <a:picLocks noChangeAspect="1"/>
          </p:cNvPicPr>
          <p:nvPr/>
        </p:nvPicPr>
        <p:blipFill>
          <a:blip r:embed="rId2"/>
          <a:stretch>
            <a:fillRect/>
          </a:stretch>
        </p:blipFill>
        <p:spPr>
          <a:xfrm>
            <a:off x="3123942" y="2099957"/>
            <a:ext cx="5944115" cy="2658086"/>
          </a:xfrm>
          <a:prstGeom prst="rect">
            <a:avLst/>
          </a:prstGeom>
        </p:spPr>
      </p:pic>
    </p:spTree>
    <p:extLst>
      <p:ext uri="{BB962C8B-B14F-4D97-AF65-F5344CB8AC3E}">
        <p14:creationId xmlns:p14="http://schemas.microsoft.com/office/powerpoint/2010/main" val="27494607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690300"/>
          </a:xfrm>
        </p:spPr>
        <p:txBody>
          <a:bodyPr>
            <a:normAutofit fontScale="90000"/>
          </a:bodyPr>
          <a:lstStyle/>
          <a:p>
            <a:r>
              <a:rPr lang="en-US" dirty="0"/>
              <a:t>CONT… </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946777"/>
            <a:ext cx="9887685" cy="5264452"/>
          </a:xfrm>
        </p:spPr>
        <p:txBody>
          <a:bodyPr>
            <a:normAutofit/>
          </a:bodyPr>
          <a:lstStyle/>
          <a:p>
            <a:pPr>
              <a:lnSpc>
                <a:spcPct val="107000"/>
              </a:lnSpc>
              <a:spcAft>
                <a:spcPts val="800"/>
              </a:spcAft>
            </a:pPr>
            <a:r>
              <a:rPr lang="en-US" sz="2000" b="1" dirty="0">
                <a:effectLst/>
                <a:ea typeface="Calibri" panose="020F0502020204030204" pitchFamily="34" charset="0"/>
                <a:cs typeface="DokChampa" panose="020B0604020202020204" pitchFamily="34" charset="-34"/>
              </a:rPr>
              <a:t>Title bar</a:t>
            </a:r>
            <a:r>
              <a:rPr lang="en-US" sz="2000" dirty="0">
                <a:effectLst/>
                <a:ea typeface="Calibri" panose="020F0502020204030204" pitchFamily="34" charset="0"/>
                <a:cs typeface="DokChampa" panose="020B0604020202020204" pitchFamily="34" charset="-34"/>
              </a:rPr>
              <a:t>: Shows the name of your document and the application you are working in.</a:t>
            </a:r>
          </a:p>
          <a:p>
            <a:pPr>
              <a:lnSpc>
                <a:spcPct val="107000"/>
              </a:lnSpc>
              <a:spcAft>
                <a:spcPts val="800"/>
              </a:spcAft>
            </a:pPr>
            <a:r>
              <a:rPr lang="en-US" sz="2000" b="1" dirty="0">
                <a:effectLst/>
                <a:ea typeface="Calibri" panose="020F0502020204030204" pitchFamily="34" charset="0"/>
                <a:cs typeface="DokChampa" panose="020B0604020202020204" pitchFamily="34" charset="-34"/>
              </a:rPr>
              <a:t>Menu Bar</a:t>
            </a:r>
            <a:r>
              <a:rPr lang="en-US" sz="2000" dirty="0">
                <a:effectLst/>
                <a:ea typeface="Calibri" panose="020F0502020204030204" pitchFamily="34" charset="0"/>
                <a:cs typeface="DokChampa" panose="020B0604020202020204" pitchFamily="34" charset="-34"/>
              </a:rPr>
              <a:t>: Provides a list of menus, each offering options for modifying your document.</a:t>
            </a:r>
          </a:p>
          <a:p>
            <a:pPr>
              <a:lnSpc>
                <a:spcPct val="107000"/>
              </a:lnSpc>
              <a:spcAft>
                <a:spcPts val="800"/>
              </a:spcAft>
            </a:pPr>
            <a:r>
              <a:rPr lang="en-US" sz="2000" b="1" dirty="0">
                <a:effectLst/>
                <a:ea typeface="Calibri" panose="020F0502020204030204" pitchFamily="34" charset="0"/>
                <a:cs typeface="DokChampa" panose="020B0604020202020204" pitchFamily="34" charset="-34"/>
              </a:rPr>
              <a:t>Toolbar</a:t>
            </a:r>
            <a:r>
              <a:rPr lang="en-US" sz="2000" dirty="0">
                <a:effectLst/>
                <a:ea typeface="Calibri" panose="020F0502020204030204" pitchFamily="34" charset="0"/>
                <a:cs typeface="DokChampa" panose="020B0604020202020204" pitchFamily="34" charset="-34"/>
              </a:rPr>
              <a:t>: Displays buttons which provide shortcuts for doing tasks within the application.</a:t>
            </a:r>
          </a:p>
          <a:p>
            <a:pPr>
              <a:lnSpc>
                <a:spcPct val="107000"/>
              </a:lnSpc>
              <a:spcAft>
                <a:spcPts val="800"/>
              </a:spcAft>
            </a:pPr>
            <a:r>
              <a:rPr lang="en-US" sz="2000" b="1" dirty="0">
                <a:effectLst/>
                <a:ea typeface="Calibri" panose="020F0502020204030204" pitchFamily="34" charset="0"/>
                <a:cs typeface="DokChampa" panose="020B0604020202020204" pitchFamily="34" charset="-34"/>
              </a:rPr>
              <a:t>Status Bar</a:t>
            </a:r>
            <a:r>
              <a:rPr lang="en-US" sz="2000" dirty="0">
                <a:effectLst/>
                <a:ea typeface="Calibri" panose="020F0502020204030204" pitchFamily="34" charset="0"/>
                <a:cs typeface="DokChampa" panose="020B0604020202020204" pitchFamily="34" charset="-34"/>
              </a:rPr>
              <a:t>: Displays where you are in your document (</a:t>
            </a:r>
            <a:r>
              <a:rPr lang="en-US" sz="2000" dirty="0" err="1">
                <a:effectLst/>
                <a:ea typeface="Calibri" panose="020F0502020204030204" pitchFamily="34" charset="0"/>
                <a:cs typeface="DokChampa" panose="020B0604020202020204" pitchFamily="34" charset="-34"/>
              </a:rPr>
              <a:t>eg</a:t>
            </a:r>
            <a:r>
              <a:rPr lang="en-US" sz="2000" dirty="0">
                <a:effectLst/>
                <a:ea typeface="Calibri" panose="020F0502020204030204" pitchFamily="34" charset="0"/>
                <a:cs typeface="DokChampa" panose="020B0604020202020204" pitchFamily="34" charset="-34"/>
              </a:rPr>
              <a:t>, page number, line number you are editing, language you are using).</a:t>
            </a:r>
          </a:p>
          <a:p>
            <a:pPr>
              <a:lnSpc>
                <a:spcPct val="107000"/>
              </a:lnSpc>
              <a:spcAft>
                <a:spcPts val="800"/>
              </a:spcAft>
            </a:pPr>
            <a:r>
              <a:rPr lang="en-US" sz="2000" b="1" dirty="0">
                <a:effectLst/>
                <a:ea typeface="Calibri" panose="020F0502020204030204" pitchFamily="34" charset="0"/>
                <a:cs typeface="DokChampa" panose="020B0604020202020204" pitchFamily="34" charset="-34"/>
              </a:rPr>
              <a:t>Scroll Bars:</a:t>
            </a:r>
            <a:r>
              <a:rPr lang="en-US" sz="2000" dirty="0">
                <a:effectLst/>
                <a:ea typeface="Calibri" panose="020F0502020204030204" pitchFamily="34" charset="0"/>
                <a:cs typeface="DokChampa" panose="020B0604020202020204" pitchFamily="34" charset="-34"/>
              </a:rPr>
              <a:t> Allow you to move up and down and along your document.</a:t>
            </a:r>
          </a:p>
          <a:p>
            <a:pPr marL="457200" lvl="1" indent="0">
              <a:buNone/>
            </a:pPr>
            <a:endParaRPr lang="en-US" dirty="0"/>
          </a:p>
          <a:p>
            <a:endParaRPr lang="en-US" dirty="0"/>
          </a:p>
        </p:txBody>
      </p:sp>
    </p:spTree>
    <p:extLst>
      <p:ext uri="{BB962C8B-B14F-4D97-AF65-F5344CB8AC3E}">
        <p14:creationId xmlns:p14="http://schemas.microsoft.com/office/powerpoint/2010/main" val="41362855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690300"/>
          </a:xfrm>
        </p:spPr>
        <p:txBody>
          <a:bodyPr>
            <a:normAutofit fontScale="90000"/>
          </a:bodyPr>
          <a:lstStyle/>
          <a:p>
            <a:r>
              <a:rPr lang="en-US" dirty="0"/>
              <a:t>CONT… </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946777"/>
            <a:ext cx="9887685" cy="5264452"/>
          </a:xfrm>
        </p:spPr>
        <p:txBody>
          <a:bodyPr>
            <a:normAutofit/>
          </a:bodyPr>
          <a:lstStyle/>
          <a:p>
            <a:r>
              <a:rPr lang="en-US" sz="2400" b="1" dirty="0"/>
              <a:t>Title bar buttons </a:t>
            </a:r>
            <a:r>
              <a:rPr lang="en-US" sz="2400" dirty="0"/>
              <a:t>for manipulating the window are located on the upper right corner of the window’s title bar. </a:t>
            </a:r>
          </a:p>
          <a:p>
            <a:pPr lvl="1"/>
            <a:r>
              <a:rPr lang="en-US" sz="2400" dirty="0"/>
              <a:t>The Minimize button       – minimizes the window to the taskbar (makes it temporarily disappear).</a:t>
            </a:r>
          </a:p>
          <a:p>
            <a:pPr lvl="1"/>
            <a:r>
              <a:rPr lang="en-US" sz="2400" dirty="0"/>
              <a:t>The Restore Down button      - restores the window to the size before maximization </a:t>
            </a:r>
          </a:p>
          <a:p>
            <a:pPr lvl="1"/>
            <a:r>
              <a:rPr lang="en-US" sz="2400" dirty="0"/>
              <a:t>The Maximize button       - spreads the window over the entire desktop  </a:t>
            </a:r>
          </a:p>
          <a:p>
            <a:pPr lvl="1"/>
            <a:r>
              <a:rPr lang="en-US" sz="2400" dirty="0"/>
              <a:t>The Close button      - closes the window</a:t>
            </a:r>
          </a:p>
          <a:p>
            <a:endParaRPr lang="en-US" dirty="0"/>
          </a:p>
        </p:txBody>
      </p:sp>
      <p:pic>
        <p:nvPicPr>
          <p:cNvPr id="4" name="Picture 3">
            <a:extLst>
              <a:ext uri="{FF2B5EF4-FFF2-40B4-BE49-F238E27FC236}">
                <a16:creationId xmlns:a16="http://schemas.microsoft.com/office/drawing/2014/main" id="{FF3CAA46-C69C-4691-B697-1F93F3FDBD65}"/>
              </a:ext>
            </a:extLst>
          </p:cNvPr>
          <p:cNvPicPr>
            <a:picLocks noChangeAspect="1"/>
          </p:cNvPicPr>
          <p:nvPr/>
        </p:nvPicPr>
        <p:blipFill>
          <a:blip r:embed="rId2"/>
          <a:stretch>
            <a:fillRect/>
          </a:stretch>
        </p:blipFill>
        <p:spPr>
          <a:xfrm>
            <a:off x="5504302" y="1859983"/>
            <a:ext cx="298730" cy="231668"/>
          </a:xfrm>
          <a:prstGeom prst="rect">
            <a:avLst/>
          </a:prstGeom>
        </p:spPr>
      </p:pic>
      <p:pic>
        <p:nvPicPr>
          <p:cNvPr id="5" name="Picture 4">
            <a:extLst>
              <a:ext uri="{FF2B5EF4-FFF2-40B4-BE49-F238E27FC236}">
                <a16:creationId xmlns:a16="http://schemas.microsoft.com/office/drawing/2014/main" id="{3CCA895C-C68B-4D61-96CE-E09153E9318A}"/>
              </a:ext>
            </a:extLst>
          </p:cNvPr>
          <p:cNvPicPr>
            <a:picLocks noChangeAspect="1"/>
          </p:cNvPicPr>
          <p:nvPr/>
        </p:nvPicPr>
        <p:blipFill>
          <a:blip r:embed="rId3"/>
          <a:stretch>
            <a:fillRect/>
          </a:stretch>
        </p:blipFill>
        <p:spPr>
          <a:xfrm>
            <a:off x="6314155" y="2848904"/>
            <a:ext cx="243861" cy="201185"/>
          </a:xfrm>
          <a:prstGeom prst="rect">
            <a:avLst/>
          </a:prstGeom>
        </p:spPr>
      </p:pic>
      <p:pic>
        <p:nvPicPr>
          <p:cNvPr id="6" name="Picture 5">
            <a:extLst>
              <a:ext uri="{FF2B5EF4-FFF2-40B4-BE49-F238E27FC236}">
                <a16:creationId xmlns:a16="http://schemas.microsoft.com/office/drawing/2014/main" id="{E5495DA3-BC0D-456B-A686-D241B3CAAA9F}"/>
              </a:ext>
            </a:extLst>
          </p:cNvPr>
          <p:cNvPicPr>
            <a:picLocks noChangeAspect="1"/>
          </p:cNvPicPr>
          <p:nvPr/>
        </p:nvPicPr>
        <p:blipFill>
          <a:blip r:embed="rId4"/>
          <a:stretch>
            <a:fillRect/>
          </a:stretch>
        </p:blipFill>
        <p:spPr>
          <a:xfrm>
            <a:off x="5665860" y="3708104"/>
            <a:ext cx="274344" cy="213378"/>
          </a:xfrm>
          <a:prstGeom prst="rect">
            <a:avLst/>
          </a:prstGeom>
        </p:spPr>
      </p:pic>
      <p:pic>
        <p:nvPicPr>
          <p:cNvPr id="7" name="Picture 6">
            <a:extLst>
              <a:ext uri="{FF2B5EF4-FFF2-40B4-BE49-F238E27FC236}">
                <a16:creationId xmlns:a16="http://schemas.microsoft.com/office/drawing/2014/main" id="{75E77ECB-445C-4FA6-932B-760DB87041E0}"/>
              </a:ext>
            </a:extLst>
          </p:cNvPr>
          <p:cNvPicPr>
            <a:picLocks noChangeAspect="1"/>
          </p:cNvPicPr>
          <p:nvPr/>
        </p:nvPicPr>
        <p:blipFill>
          <a:blip r:embed="rId5"/>
          <a:stretch>
            <a:fillRect/>
          </a:stretch>
        </p:blipFill>
        <p:spPr>
          <a:xfrm>
            <a:off x="5082203" y="4530707"/>
            <a:ext cx="286537" cy="231668"/>
          </a:xfrm>
          <a:prstGeom prst="rect">
            <a:avLst/>
          </a:prstGeom>
        </p:spPr>
      </p:pic>
    </p:spTree>
    <p:extLst>
      <p:ext uri="{BB962C8B-B14F-4D97-AF65-F5344CB8AC3E}">
        <p14:creationId xmlns:p14="http://schemas.microsoft.com/office/powerpoint/2010/main" val="17667626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690300"/>
          </a:xfrm>
        </p:spPr>
        <p:txBody>
          <a:bodyPr>
            <a:normAutofit fontScale="90000"/>
          </a:bodyPr>
          <a:lstStyle/>
          <a:p>
            <a:r>
              <a:rPr lang="en-US" dirty="0"/>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946777"/>
            <a:ext cx="9887685" cy="5264452"/>
          </a:xfrm>
        </p:spPr>
        <p:txBody>
          <a:bodyPr>
            <a:normAutofit/>
          </a:bodyPr>
          <a:lstStyle/>
          <a:p>
            <a:r>
              <a:rPr lang="en-US" sz="2000" b="1" dirty="0"/>
              <a:t>Switching between Windows</a:t>
            </a:r>
          </a:p>
          <a:p>
            <a:pPr lvl="1"/>
            <a:r>
              <a:rPr lang="en-US" sz="2000" dirty="0"/>
              <a:t>Click the window you require on the taskbar, then the window will appear on the screen.</a:t>
            </a:r>
          </a:p>
          <a:p>
            <a:pPr marL="457200" lvl="1" indent="0">
              <a:buNone/>
            </a:pPr>
            <a:endParaRPr lang="en-US" sz="2000" dirty="0"/>
          </a:p>
          <a:p>
            <a:pPr marL="457200" lvl="1" indent="0">
              <a:buNone/>
            </a:pPr>
            <a:endParaRPr lang="en-US" sz="2000" dirty="0"/>
          </a:p>
          <a:p>
            <a:r>
              <a:rPr lang="en-US" sz="2000" b="1" dirty="0"/>
              <a:t>Resizing Windows</a:t>
            </a:r>
          </a:p>
          <a:p>
            <a:pPr lvl="1"/>
            <a:r>
              <a:rPr lang="en-US" sz="2000" dirty="0"/>
              <a:t>Ensure the window is restored – if the window is maximized or minimized you can’t resize the Window.</a:t>
            </a:r>
          </a:p>
          <a:p>
            <a:pPr lvl="1"/>
            <a:r>
              <a:rPr lang="en-US" sz="2000" dirty="0"/>
              <a:t>Position the mouse cursor at the edge of the Window – mouse cursor changes.</a:t>
            </a:r>
          </a:p>
          <a:p>
            <a:pPr lvl="1"/>
            <a:r>
              <a:rPr lang="en-US" sz="2000" dirty="0"/>
              <a:t>Click and drag</a:t>
            </a:r>
          </a:p>
          <a:p>
            <a:endParaRPr lang="en-US" dirty="0"/>
          </a:p>
        </p:txBody>
      </p:sp>
      <p:pic>
        <p:nvPicPr>
          <p:cNvPr id="15" name="Picture 14">
            <a:extLst>
              <a:ext uri="{FF2B5EF4-FFF2-40B4-BE49-F238E27FC236}">
                <a16:creationId xmlns:a16="http://schemas.microsoft.com/office/drawing/2014/main" id="{F1EE84C8-CD82-4B23-B4C1-56FC29856B8A}"/>
              </a:ext>
            </a:extLst>
          </p:cNvPr>
          <p:cNvPicPr>
            <a:picLocks noChangeAspect="1"/>
          </p:cNvPicPr>
          <p:nvPr/>
        </p:nvPicPr>
        <p:blipFill>
          <a:blip r:embed="rId2"/>
          <a:stretch>
            <a:fillRect/>
          </a:stretch>
        </p:blipFill>
        <p:spPr>
          <a:xfrm>
            <a:off x="1736663" y="2208239"/>
            <a:ext cx="9439275" cy="371475"/>
          </a:xfrm>
          <a:prstGeom prst="rect">
            <a:avLst/>
          </a:prstGeom>
        </p:spPr>
      </p:pic>
    </p:spTree>
    <p:extLst>
      <p:ext uri="{BB962C8B-B14F-4D97-AF65-F5344CB8AC3E}">
        <p14:creationId xmlns:p14="http://schemas.microsoft.com/office/powerpoint/2010/main" val="17063278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690300"/>
          </a:xfrm>
        </p:spPr>
        <p:txBody>
          <a:bodyPr>
            <a:normAutofit fontScale="90000"/>
          </a:bodyPr>
          <a:lstStyle/>
          <a:p>
            <a:r>
              <a:rPr lang="en-US" dirty="0"/>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946777"/>
            <a:ext cx="9887685" cy="5264452"/>
          </a:xfrm>
        </p:spPr>
        <p:txBody>
          <a:bodyPr>
            <a:normAutofit/>
          </a:bodyPr>
          <a:lstStyle/>
          <a:p>
            <a:r>
              <a:rPr lang="en-US" sz="2400" b="1" dirty="0"/>
              <a:t>Moving Windows</a:t>
            </a:r>
          </a:p>
          <a:p>
            <a:pPr lvl="1"/>
            <a:r>
              <a:rPr lang="en-US" sz="2400" dirty="0"/>
              <a:t>Position the mouse cursor on the Title bar – mouse cursor changes.</a:t>
            </a:r>
          </a:p>
          <a:p>
            <a:pPr lvl="1"/>
            <a:r>
              <a:rPr lang="en-US" sz="2400" dirty="0"/>
              <a:t>Click and drag to move the Window to a new position.</a:t>
            </a:r>
          </a:p>
          <a:p>
            <a:pPr marL="457200" lvl="1" indent="0">
              <a:buNone/>
            </a:pPr>
            <a:endParaRPr lang="en-US" sz="2000" dirty="0"/>
          </a:p>
          <a:p>
            <a:pPr marL="457200" lvl="1" indent="0">
              <a:buNone/>
            </a:pPr>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23801829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616927" y="256478"/>
            <a:ext cx="9887685" cy="690300"/>
          </a:xfrm>
        </p:spPr>
        <p:txBody>
          <a:bodyPr>
            <a:normAutofit fontScale="90000"/>
          </a:bodyPr>
          <a:lstStyle/>
          <a:p>
            <a:r>
              <a:rPr lang="en-US" dirty="0"/>
              <a:t>DIALOGUE BOX</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a:bodyPr>
          <a:lstStyle/>
          <a:p>
            <a:r>
              <a:rPr lang="en-US" sz="2400" dirty="0"/>
              <a:t>A dialog box is a specific type of window that offers choices related to a certain task. E.g. confirming an action by clicking the OK button, or cancel it by clicking the Cancel button. Unlike regular windows, their size is fixed.</a:t>
            </a:r>
          </a:p>
          <a:p>
            <a:pPr marL="457200" lvl="1" indent="0">
              <a:buNone/>
            </a:pPr>
            <a:endParaRPr lang="en-US" sz="2000" dirty="0"/>
          </a:p>
          <a:p>
            <a:pPr marL="457200" lvl="1" indent="0">
              <a:buNone/>
            </a:pPr>
            <a:endParaRPr lang="en-US" sz="2000" dirty="0"/>
          </a:p>
          <a:p>
            <a:endParaRPr lang="en-US" sz="2000" dirty="0"/>
          </a:p>
          <a:p>
            <a:pPr marL="0" indent="0">
              <a:buNone/>
            </a:pPr>
            <a:endParaRPr lang="en-US" dirty="0"/>
          </a:p>
        </p:txBody>
      </p:sp>
      <p:pic>
        <p:nvPicPr>
          <p:cNvPr id="7" name="Picture 6">
            <a:extLst>
              <a:ext uri="{FF2B5EF4-FFF2-40B4-BE49-F238E27FC236}">
                <a16:creationId xmlns:a16="http://schemas.microsoft.com/office/drawing/2014/main" id="{B426F3DC-68F2-428A-AD27-5C888A3058AD}"/>
              </a:ext>
            </a:extLst>
          </p:cNvPr>
          <p:cNvPicPr>
            <a:picLocks noChangeAspect="1"/>
          </p:cNvPicPr>
          <p:nvPr/>
        </p:nvPicPr>
        <p:blipFill>
          <a:blip r:embed="rId2"/>
          <a:stretch>
            <a:fillRect/>
          </a:stretch>
        </p:blipFill>
        <p:spPr>
          <a:xfrm>
            <a:off x="4626090" y="2308301"/>
            <a:ext cx="3425090" cy="3902927"/>
          </a:xfrm>
          <a:prstGeom prst="rect">
            <a:avLst/>
          </a:prstGeom>
        </p:spPr>
      </p:pic>
    </p:spTree>
    <p:extLst>
      <p:ext uri="{BB962C8B-B14F-4D97-AF65-F5344CB8AC3E}">
        <p14:creationId xmlns:p14="http://schemas.microsoft.com/office/powerpoint/2010/main" val="2542922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lang="en-US" dirty="0"/>
              <a:t>WORKING WITH FILES AND FOLDERS BASIC CONCEPTS </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fontScale="92500" lnSpcReduction="10000"/>
          </a:bodyPr>
          <a:lstStyle/>
          <a:p>
            <a:pPr>
              <a:lnSpc>
                <a:spcPct val="120000"/>
              </a:lnSpc>
            </a:pPr>
            <a:r>
              <a:rPr lang="en-US" sz="2400" dirty="0"/>
              <a:t>A folder is the common storage unit in a computer, and all programs and data are “written” into a file and “read” from a file. </a:t>
            </a:r>
          </a:p>
          <a:p>
            <a:pPr lvl="1" indent="-342900">
              <a:lnSpc>
                <a:spcPct val="120000"/>
              </a:lnSpc>
              <a:buClr>
                <a:srgbClr val="A53010"/>
              </a:buClr>
              <a:defRPr/>
            </a:pPr>
            <a:r>
              <a:rPr lang="en-US" sz="2400" dirty="0">
                <a:solidFill>
                  <a:prstClr val="black">
                    <a:lumMod val="75000"/>
                    <a:lumOff val="25000"/>
                  </a:prstClr>
                </a:solidFill>
                <a:latin typeface="Century Gothic" panose="020B0502020202020204"/>
              </a:rPr>
              <a:t>It</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is a set of digital data. </a:t>
            </a:r>
          </a:p>
          <a:p>
            <a:pPr>
              <a:lnSpc>
                <a:spcPct val="120000"/>
              </a:lnSpc>
            </a:pPr>
            <a:r>
              <a:rPr lang="en-US" sz="2400" dirty="0"/>
              <a:t>A folder provides a method for organizing files. It holds one or more files, and a folder can be empty until it is filled.</a:t>
            </a:r>
          </a:p>
          <a:p>
            <a:pPr lvl="1">
              <a:lnSpc>
                <a:spcPct val="120000"/>
              </a:lnSpc>
            </a:pPr>
            <a:r>
              <a:rPr lang="en-US" sz="2400" dirty="0"/>
              <a:t>It can also contain other folders, and there can be many levels of folders within folders known as </a:t>
            </a:r>
            <a:r>
              <a:rPr lang="en-US" sz="2400" b="1" dirty="0"/>
              <a:t>Subfolders</a:t>
            </a:r>
            <a:r>
              <a:rPr lang="en-US" sz="2400" dirty="0"/>
              <a:t>.</a:t>
            </a:r>
          </a:p>
          <a:p>
            <a:pPr lvl="1">
              <a:lnSpc>
                <a:spcPct val="120000"/>
              </a:lnSpc>
            </a:pPr>
            <a:r>
              <a:rPr lang="en-US" sz="2400" dirty="0"/>
              <a:t>Also known as </a:t>
            </a:r>
            <a:r>
              <a:rPr lang="en-US" sz="2400" b="1" dirty="0"/>
              <a:t>Directory, </a:t>
            </a:r>
            <a:r>
              <a:rPr lang="en-US" sz="2400" dirty="0"/>
              <a:t>and created on the hard drive (HD) or solid state drive (SSD) when the operating system and applications are installed.</a:t>
            </a:r>
          </a:p>
          <a:p>
            <a:pPr lvl="1">
              <a:lnSpc>
                <a:spcPct val="120000"/>
              </a:lnSpc>
            </a:pPr>
            <a:r>
              <a:rPr lang="en-US" sz="2400" dirty="0"/>
              <a:t>Example of a special kind of folder that displays its contents across the screen is the computers desktop</a:t>
            </a:r>
          </a:p>
          <a:p>
            <a:pPr marL="0" indent="0">
              <a:buNone/>
            </a:pPr>
            <a:endParaRPr lang="en-US" sz="2000" dirty="0"/>
          </a:p>
          <a:p>
            <a:pPr marL="457200" lvl="1" indent="0">
              <a:buNone/>
            </a:pPr>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30168359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lang="en-US" dirty="0"/>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lnSpcReduction="10000"/>
          </a:bodyPr>
          <a:lstStyle/>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file is defined by a name and an a file format/an extension.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file format is the way in which information is stored in a file so that a program can open and save the file.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When you save a document, each application will add a different three letter extension to the name of your document, so that you can tell at-a-glance in which application you have been working on that file.</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extension indicates the file type (text, multimedia etc.) and tells the computer which application is appropriate for that file type.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lang="en-US" sz="2000" dirty="0">
                <a:solidFill>
                  <a:prstClr val="black">
                    <a:lumMod val="75000"/>
                    <a:lumOff val="25000"/>
                  </a:prstClr>
                </a:solidFill>
                <a:latin typeface="Century Gothic" panose="020B0502020202020204"/>
              </a:rPr>
              <a:t>It is important that upon saving your document, you ensure that it will have the correct file ending, or it will not save properly. E.g. you will be unable to open a word document if you have saved it with a “.ppt” ending.</a:t>
            </a:r>
            <a:endPar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L="0" marR="0" lvl="0" indent="0" algn="l" defTabSz="457200" rtl="0" eaLnBrk="1" fontAlgn="auto" latinLnBrk="0" hangingPunct="1">
              <a:lnSpc>
                <a:spcPct val="150000"/>
              </a:lnSpc>
              <a:spcBef>
                <a:spcPts val="1000"/>
              </a:spcBef>
              <a:spcAft>
                <a:spcPts val="0"/>
              </a:spcAft>
              <a:buClr>
                <a:srgbClr val="A53010"/>
              </a:buClr>
              <a:buSzTx/>
              <a:buNone/>
              <a:tabLst/>
              <a:defRPr/>
            </a:pPr>
            <a:endPar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L="0" indent="0">
              <a:buNone/>
            </a:pPr>
            <a:endParaRPr lang="en-US" sz="2000" dirty="0"/>
          </a:p>
          <a:p>
            <a:pPr marL="457200" lvl="1" indent="0">
              <a:buNone/>
            </a:pPr>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4978401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26024"/>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File extensions of some frequently used files are: </a:t>
            </a:r>
          </a:p>
          <a:p>
            <a:pPr marL="0" indent="0">
              <a:buNone/>
            </a:pPr>
            <a:endParaRPr lang="en-US" sz="2000" dirty="0"/>
          </a:p>
          <a:p>
            <a:pPr marL="457200" lvl="1" indent="0">
              <a:buNone/>
            </a:pPr>
            <a:endParaRPr lang="en-US" sz="2000" dirty="0"/>
          </a:p>
          <a:p>
            <a:endParaRPr lang="en-US" sz="2000" dirty="0"/>
          </a:p>
          <a:p>
            <a:pPr marL="0" indent="0">
              <a:buNone/>
            </a:pPr>
            <a:endParaRPr lang="en-US" dirty="0"/>
          </a:p>
        </p:txBody>
      </p:sp>
      <p:sp>
        <p:nvSpPr>
          <p:cNvPr id="5" name="Rectangle 4">
            <a:extLst>
              <a:ext uri="{FF2B5EF4-FFF2-40B4-BE49-F238E27FC236}">
                <a16:creationId xmlns:a16="http://schemas.microsoft.com/office/drawing/2014/main" id="{A307AB03-731F-4104-961E-C27526389358}"/>
              </a:ext>
            </a:extLst>
          </p:cNvPr>
          <p:cNvSpPr/>
          <p:nvPr/>
        </p:nvSpPr>
        <p:spPr>
          <a:xfrm>
            <a:off x="1189735" y="1304693"/>
            <a:ext cx="5411786" cy="4906536"/>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marL="742950" marR="0" lvl="1" indent="-285750" algn="l" defTabSz="457200" rtl="0" eaLnBrk="1" fontAlgn="auto" latinLnBrk="0" hangingPunct="1">
              <a:lnSpc>
                <a:spcPct val="150000"/>
              </a:lnSpc>
              <a:spcBef>
                <a:spcPts val="1000"/>
              </a:spcBef>
              <a:spcAft>
                <a:spcPts val="0"/>
              </a:spcAft>
              <a:buClr>
                <a:srgbClr val="A53010"/>
              </a:buClr>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L="742950" marR="0" lvl="1" indent="-285750" algn="l" defTabSz="457200" rtl="0" eaLnBrk="1" fontAlgn="auto" latinLnBrk="0" hangingPunct="1">
              <a:lnSpc>
                <a:spcPct val="150000"/>
              </a:lnSpc>
              <a:spcBef>
                <a:spcPts val="1000"/>
              </a:spcBef>
              <a:spcAft>
                <a:spcPts val="0"/>
              </a:spcAft>
              <a:buClr>
                <a:srgbClr val="A53010"/>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.exe – executable files </a:t>
            </a:r>
          </a:p>
          <a:p>
            <a:pPr marL="742950" marR="0" lvl="1" indent="-285750" algn="l" defTabSz="457200" rtl="0" eaLnBrk="1" fontAlgn="auto" latinLnBrk="0" hangingPunct="1">
              <a:lnSpc>
                <a:spcPct val="150000"/>
              </a:lnSpc>
              <a:spcBef>
                <a:spcPts val="1000"/>
              </a:spcBef>
              <a:spcAft>
                <a:spcPts val="0"/>
              </a:spcAft>
              <a:buClr>
                <a:srgbClr val="A53010"/>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.sys, .</a:t>
            </a:r>
            <a:r>
              <a:rPr kumimoji="0" lang="en-US" sz="20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dll</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 system files  </a:t>
            </a:r>
          </a:p>
          <a:p>
            <a:pPr marL="742950" marR="0" lvl="1" indent="-285750" algn="l" defTabSz="457200" rtl="0" eaLnBrk="1" fontAlgn="auto" latinLnBrk="0" hangingPunct="1">
              <a:lnSpc>
                <a:spcPct val="150000"/>
              </a:lnSpc>
              <a:spcBef>
                <a:spcPts val="1000"/>
              </a:spcBef>
              <a:spcAft>
                <a:spcPts val="0"/>
              </a:spcAft>
              <a:buClr>
                <a:srgbClr val="A53010"/>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r>
              <a:rPr kumimoji="0" lang="en-US" sz="20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tmp</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.temp – temporary files </a:t>
            </a:r>
          </a:p>
          <a:p>
            <a:pPr marL="742950" marR="0" lvl="1" indent="-285750" algn="l" defTabSz="457200" rtl="0" eaLnBrk="1" fontAlgn="auto" latinLnBrk="0" hangingPunct="1">
              <a:lnSpc>
                <a:spcPct val="150000"/>
              </a:lnSpc>
              <a:spcBef>
                <a:spcPts val="1000"/>
              </a:spcBef>
              <a:spcAft>
                <a:spcPts val="0"/>
              </a:spcAft>
              <a:buClr>
                <a:srgbClr val="A53010"/>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r>
              <a:rPr kumimoji="0" lang="en-US" sz="20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rar</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.zip, .7z – compressed files </a:t>
            </a:r>
          </a:p>
          <a:p>
            <a:pPr marL="742950" marR="0" lvl="1" indent="-285750" algn="l" defTabSz="457200" rtl="0" eaLnBrk="1" fontAlgn="auto" latinLnBrk="0" hangingPunct="1">
              <a:lnSpc>
                <a:spcPct val="150000"/>
              </a:lnSpc>
              <a:spcBef>
                <a:spcPts val="1000"/>
              </a:spcBef>
              <a:spcAft>
                <a:spcPts val="0"/>
              </a:spcAft>
              <a:buClr>
                <a:srgbClr val="A53010"/>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.jpg, .jpeg, .gif, .</a:t>
            </a:r>
            <a:r>
              <a:rPr kumimoji="0" lang="en-US" sz="20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png</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image files </a:t>
            </a:r>
          </a:p>
          <a:p>
            <a:pPr marL="742950" marR="0" lvl="1" indent="-285750" algn="l" defTabSz="457200" rtl="0" eaLnBrk="1" fontAlgn="auto" latinLnBrk="0" hangingPunct="1">
              <a:lnSpc>
                <a:spcPct val="150000"/>
              </a:lnSpc>
              <a:spcBef>
                <a:spcPts val="1000"/>
              </a:spcBef>
              <a:spcAft>
                <a:spcPts val="0"/>
              </a:spcAft>
              <a:buClr>
                <a:srgbClr val="A53010"/>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.mp3, .wav, .</a:t>
            </a:r>
            <a:r>
              <a:rPr kumimoji="0" lang="en-US" sz="20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wma</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audio files </a:t>
            </a:r>
          </a:p>
          <a:p>
            <a:pPr marL="742950" marR="0" lvl="1" indent="-285750" algn="l" defTabSz="457200" rtl="0" eaLnBrk="1" fontAlgn="auto" latinLnBrk="0" hangingPunct="1">
              <a:lnSpc>
                <a:spcPct val="150000"/>
              </a:lnSpc>
              <a:spcBef>
                <a:spcPts val="1000"/>
              </a:spcBef>
              <a:spcAft>
                <a:spcPts val="0"/>
              </a:spcAft>
              <a:buClr>
                <a:srgbClr val="A53010"/>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r>
              <a:rPr kumimoji="0" lang="en-US" sz="20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avi</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0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wmv</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.mpg, .mp4 – multimedia files</a:t>
            </a:r>
          </a:p>
          <a:p>
            <a:pPr marL="742950" marR="0" lvl="1" indent="-285750" algn="l" defTabSz="457200" rtl="0" eaLnBrk="1" fontAlgn="auto" latinLnBrk="0" hangingPunct="1">
              <a:lnSpc>
                <a:spcPct val="100000"/>
              </a:lnSpc>
              <a:spcBef>
                <a:spcPts val="1000"/>
              </a:spcBef>
              <a:spcAft>
                <a:spcPts val="0"/>
              </a:spcAft>
              <a:buClr>
                <a:srgbClr val="A53010"/>
              </a:buClr>
              <a:buSzTx/>
              <a:buFont typeface="Arial" panose="020B0604020202020204" pitchFamily="34" charset="0"/>
              <a:buChar char="•"/>
              <a:tabLst/>
              <a:defRPr/>
            </a:pPr>
            <a:endParaRPr lang="en-US" sz="2000" dirty="0">
              <a:solidFill>
                <a:prstClr val="black">
                  <a:lumMod val="75000"/>
                  <a:lumOff val="25000"/>
                </a:prstClr>
              </a:solidFill>
              <a:latin typeface="Century Gothic" panose="020B0502020202020204"/>
            </a:endParaRPr>
          </a:p>
          <a:p>
            <a:pPr marR="0" lvl="1" algn="l" defTabSz="457200" rtl="0" eaLnBrk="1" fontAlgn="auto" latinLnBrk="0" hangingPunct="1">
              <a:lnSpc>
                <a:spcPct val="100000"/>
              </a:lnSpc>
              <a:spcBef>
                <a:spcPts val="1000"/>
              </a:spcBef>
              <a:spcAft>
                <a:spcPts val="0"/>
              </a:spcAft>
              <a:buClr>
                <a:srgbClr val="A53010"/>
              </a:buClr>
              <a:buSzTx/>
              <a:tabLst/>
              <a:defRPr/>
            </a:pPr>
            <a:endPar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R="0" lvl="1" algn="l" defTabSz="457200" rtl="0" eaLnBrk="1" fontAlgn="auto" latinLnBrk="0" hangingPunct="1">
              <a:lnSpc>
                <a:spcPct val="100000"/>
              </a:lnSpc>
              <a:spcBef>
                <a:spcPts val="1000"/>
              </a:spcBef>
              <a:spcAft>
                <a:spcPts val="0"/>
              </a:spcAft>
              <a:buClr>
                <a:srgbClr val="A53010"/>
              </a:buClr>
              <a:buSzTx/>
              <a:tabLst/>
              <a:defRPr/>
            </a:pPr>
            <a:endParaRPr lang="en-MW" sz="2000" dirty="0">
              <a:solidFill>
                <a:srgbClr val="C00000"/>
              </a:solidFill>
            </a:endParaRPr>
          </a:p>
        </p:txBody>
      </p:sp>
      <p:sp>
        <p:nvSpPr>
          <p:cNvPr id="6" name="Rectangle 5">
            <a:extLst>
              <a:ext uri="{FF2B5EF4-FFF2-40B4-BE49-F238E27FC236}">
                <a16:creationId xmlns:a16="http://schemas.microsoft.com/office/drawing/2014/main" id="{CBA24C9D-D789-41A7-AD6C-7E80BDFF00AB}"/>
              </a:ext>
            </a:extLst>
          </p:cNvPr>
          <p:cNvSpPr/>
          <p:nvPr/>
        </p:nvSpPr>
        <p:spPr>
          <a:xfrm>
            <a:off x="6601522" y="1304692"/>
            <a:ext cx="5330282" cy="4906536"/>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marL="742950" marR="0" lvl="1" indent="-285750" algn="l" defTabSz="457200" rtl="0" eaLnBrk="1" fontAlgn="auto" latinLnBrk="0" hangingPunct="1">
              <a:lnSpc>
                <a:spcPct val="150000"/>
              </a:lnSpc>
              <a:spcBef>
                <a:spcPts val="1000"/>
              </a:spcBef>
              <a:spcAft>
                <a:spcPts val="0"/>
              </a:spcAft>
              <a:buClr>
                <a:srgbClr val="A53010"/>
              </a:buClr>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L="742950" marR="0" lvl="1" indent="-285750" algn="l" defTabSz="457200" rtl="0" eaLnBrk="1" fontAlgn="auto" latinLnBrk="0" hangingPunct="1">
              <a:lnSpc>
                <a:spcPct val="150000"/>
              </a:lnSpc>
              <a:spcBef>
                <a:spcPts val="1000"/>
              </a:spcBef>
              <a:spcAft>
                <a:spcPts val="0"/>
              </a:spcAft>
              <a:buClr>
                <a:srgbClr val="A53010"/>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.txt, .</a:t>
            </a:r>
            <a:r>
              <a:rPr kumimoji="0" lang="en-US" sz="20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odt</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.doc, .docx – text files </a:t>
            </a:r>
          </a:p>
          <a:p>
            <a:pPr marL="742950" marR="0" lvl="1" indent="-285750" algn="l" defTabSz="457200" rtl="0" eaLnBrk="1" fontAlgn="auto" latinLnBrk="0" hangingPunct="1">
              <a:lnSpc>
                <a:spcPct val="150000"/>
              </a:lnSpc>
              <a:spcBef>
                <a:spcPts val="1000"/>
              </a:spcBef>
              <a:spcAft>
                <a:spcPts val="0"/>
              </a:spcAft>
              <a:buClr>
                <a:srgbClr val="A53010"/>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r>
              <a:rPr kumimoji="0" lang="en-US" sz="20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ods</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0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xls</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.xlsx – spreadsheet files </a:t>
            </a:r>
          </a:p>
          <a:p>
            <a:pPr marL="742950" marR="0" lvl="1" indent="-285750" algn="l" defTabSz="457200" rtl="0" eaLnBrk="1" fontAlgn="auto" latinLnBrk="0" hangingPunct="1">
              <a:lnSpc>
                <a:spcPct val="150000"/>
              </a:lnSpc>
              <a:spcBef>
                <a:spcPts val="1000"/>
              </a:spcBef>
              <a:spcAft>
                <a:spcPts val="0"/>
              </a:spcAft>
              <a:buClr>
                <a:srgbClr val="A53010"/>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r>
              <a:rPr kumimoji="0" lang="en-US" sz="20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odp</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.ppt, .pptx – presentation files </a:t>
            </a:r>
          </a:p>
          <a:p>
            <a:pPr marL="742950" marR="0" lvl="1" indent="-285750" algn="l" defTabSz="457200" rtl="0" eaLnBrk="1" fontAlgn="auto" latinLnBrk="0" hangingPunct="1">
              <a:lnSpc>
                <a:spcPct val="150000"/>
              </a:lnSpc>
              <a:spcBef>
                <a:spcPts val="1000"/>
              </a:spcBef>
              <a:spcAft>
                <a:spcPts val="0"/>
              </a:spcAft>
              <a:buClr>
                <a:srgbClr val="A53010"/>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r>
              <a:rPr kumimoji="0" lang="en-US" sz="20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dbf</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0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mdb</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0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accdb</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 database files </a:t>
            </a:r>
          </a:p>
          <a:p>
            <a:pPr marL="742950" marR="0" lvl="1" indent="-285750" algn="l" defTabSz="457200" rtl="0" eaLnBrk="1" fontAlgn="auto" latinLnBrk="0" hangingPunct="1">
              <a:lnSpc>
                <a:spcPct val="150000"/>
              </a:lnSpc>
              <a:spcBef>
                <a:spcPts val="1000"/>
              </a:spcBef>
              <a:spcAft>
                <a:spcPts val="0"/>
              </a:spcAft>
              <a:buClr>
                <a:srgbClr val="A53010"/>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.pdf – (Portable Document Format) </a:t>
            </a:r>
          </a:p>
          <a:p>
            <a:pPr marL="742950" marR="0" lvl="1" indent="-285750" algn="l" defTabSz="457200" rtl="0" eaLnBrk="1" fontAlgn="auto" latinLnBrk="0" hangingPunct="1">
              <a:lnSpc>
                <a:spcPct val="150000"/>
              </a:lnSpc>
              <a:spcBef>
                <a:spcPts val="1000"/>
              </a:spcBef>
              <a:spcAft>
                <a:spcPts val="0"/>
              </a:spcAft>
              <a:buClr>
                <a:srgbClr val="A53010"/>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.htm, .html, .asp, .</a:t>
            </a:r>
            <a:r>
              <a:rPr kumimoji="0" lang="en-US" sz="20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aspx</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.php – web pages</a:t>
            </a:r>
          </a:p>
          <a:p>
            <a:pPr marL="742950" marR="0" lvl="1" indent="-285750" algn="l" defTabSz="457200" rtl="0" eaLnBrk="1" fontAlgn="auto" latinLnBrk="0" hangingPunct="1">
              <a:lnSpc>
                <a:spcPct val="100000"/>
              </a:lnSpc>
              <a:spcBef>
                <a:spcPts val="1000"/>
              </a:spcBef>
              <a:spcAft>
                <a:spcPts val="0"/>
              </a:spcAft>
              <a:buClr>
                <a:srgbClr val="A53010"/>
              </a:buClr>
              <a:buSzTx/>
              <a:buFont typeface="Arial" panose="020B0604020202020204" pitchFamily="34" charset="0"/>
              <a:buChar char="•"/>
              <a:tabLst/>
              <a:defRPr/>
            </a:pPr>
            <a:endParaRPr lang="en-US" sz="2000" dirty="0">
              <a:solidFill>
                <a:prstClr val="black">
                  <a:lumMod val="75000"/>
                  <a:lumOff val="25000"/>
                </a:prstClr>
              </a:solidFill>
              <a:latin typeface="Century Gothic" panose="020B0502020202020204"/>
            </a:endParaRPr>
          </a:p>
          <a:p>
            <a:pPr marR="0" lvl="1" algn="l" defTabSz="457200" rtl="0" eaLnBrk="1" fontAlgn="auto" latinLnBrk="0" hangingPunct="1">
              <a:lnSpc>
                <a:spcPct val="100000"/>
              </a:lnSpc>
              <a:spcBef>
                <a:spcPts val="1000"/>
              </a:spcBef>
              <a:spcAft>
                <a:spcPts val="0"/>
              </a:spcAft>
              <a:buClr>
                <a:srgbClr val="A53010"/>
              </a:buClr>
              <a:buSzTx/>
              <a:tabLst/>
              <a:defRPr/>
            </a:pPr>
            <a:endPar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R="0" lvl="1" algn="l" defTabSz="457200" rtl="0" eaLnBrk="1" fontAlgn="auto" latinLnBrk="0" hangingPunct="1">
              <a:lnSpc>
                <a:spcPct val="100000"/>
              </a:lnSpc>
              <a:spcBef>
                <a:spcPts val="1000"/>
              </a:spcBef>
              <a:spcAft>
                <a:spcPts val="0"/>
              </a:spcAft>
              <a:buClr>
                <a:srgbClr val="A53010"/>
              </a:buClr>
              <a:buSzTx/>
              <a:tabLst/>
              <a:defRPr/>
            </a:pPr>
            <a:endPar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L="742950" marR="0" lvl="1" indent="-285750" algn="l" defTabSz="457200" rtl="0" eaLnBrk="1" fontAlgn="auto" latinLnBrk="0" hangingPunct="1">
              <a:lnSpc>
                <a:spcPct val="100000"/>
              </a:lnSpc>
              <a:spcBef>
                <a:spcPts val="1000"/>
              </a:spcBef>
              <a:spcAft>
                <a:spcPts val="0"/>
              </a:spcAft>
              <a:buClr>
                <a:srgbClr val="A53010"/>
              </a:buClr>
              <a:buSzTx/>
              <a:buFont typeface="Arial" panose="020B0604020202020204" pitchFamily="34" charset="0"/>
              <a:buChar char="•"/>
              <a:tabLst/>
              <a:defRPr/>
            </a:pPr>
            <a:endParaRPr kumimoji="0" lang="en-US" sz="17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0853226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a:bodyPr>
          <a:lstStyle/>
          <a:p>
            <a:pPr>
              <a:lnSpc>
                <a:spcPct val="120000"/>
              </a:lnSpc>
            </a:pPr>
            <a:r>
              <a:rPr lang="en-US" sz="2400" dirty="0"/>
              <a:t>Each file has a name, an icon (assigned by the operating system) and an extension. </a:t>
            </a:r>
          </a:p>
          <a:p>
            <a:pPr>
              <a:lnSpc>
                <a:spcPct val="120000"/>
              </a:lnSpc>
            </a:pPr>
            <a:r>
              <a:rPr lang="en-US" sz="2400" dirty="0"/>
              <a:t>Files are placed/stored within folders (for easier reference). </a:t>
            </a:r>
          </a:p>
          <a:p>
            <a:pPr>
              <a:lnSpc>
                <a:spcPct val="120000"/>
              </a:lnSpc>
            </a:pPr>
            <a:r>
              <a:rPr lang="en-US" sz="2400" dirty="0"/>
              <a:t>To browse computers for files and folders we use </a:t>
            </a:r>
            <a:r>
              <a:rPr lang="en-US" sz="2400" b="1" dirty="0"/>
              <a:t>Windows Explorer/File Explorer</a:t>
            </a:r>
            <a:r>
              <a:rPr lang="en-US" sz="2400" dirty="0"/>
              <a:t>. </a:t>
            </a:r>
          </a:p>
          <a:p>
            <a:pPr lvl="1">
              <a:lnSpc>
                <a:spcPct val="120000"/>
              </a:lnSpc>
            </a:pPr>
            <a:r>
              <a:rPr lang="en-US" sz="2400" dirty="0"/>
              <a:t>It displays a hierarchical view of folders and files. </a:t>
            </a:r>
          </a:p>
          <a:p>
            <a:pPr marL="0" indent="0">
              <a:buNone/>
            </a:pPr>
            <a:endParaRPr lang="en-US" sz="2000" dirty="0"/>
          </a:p>
          <a:p>
            <a:pPr marL="457200" lvl="1" indent="0">
              <a:buNone/>
            </a:pPr>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31255127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1084521"/>
            <a:ext cx="9887685" cy="5126708"/>
          </a:xfrm>
        </p:spPr>
        <p:txBody>
          <a:bodyPr>
            <a:normAutofit/>
          </a:bodyPr>
          <a:lstStyle/>
          <a:p>
            <a:pPr marL="0" indent="0">
              <a:buNone/>
            </a:pPr>
            <a:r>
              <a:rPr lang="en-US" sz="2000" b="1" dirty="0"/>
              <a:t>Searching for a File or Folder</a:t>
            </a:r>
          </a:p>
          <a:p>
            <a:r>
              <a:rPr lang="en-US" sz="2000" dirty="0"/>
              <a:t>If you are unsure of the location of a file or folder, you can use the </a:t>
            </a:r>
            <a:r>
              <a:rPr lang="en-US" sz="2000" b="1" dirty="0"/>
              <a:t>Search Box</a:t>
            </a:r>
            <a:r>
              <a:rPr lang="en-US" sz="2000" dirty="0"/>
              <a:t> facility to find it:</a:t>
            </a:r>
          </a:p>
          <a:p>
            <a:pPr lvl="1"/>
            <a:r>
              <a:rPr lang="en-US" sz="2000" dirty="0"/>
              <a:t>By typing in the name or by typing in a key word that the file/folder contains. </a:t>
            </a:r>
          </a:p>
          <a:p>
            <a:pPr marL="0" indent="0">
              <a:buNone/>
            </a:pPr>
            <a:endParaRPr lang="en-US" sz="2000" dirty="0"/>
          </a:p>
          <a:p>
            <a:pPr marL="0" indent="0">
              <a:buNone/>
            </a:pPr>
            <a:endParaRPr lang="en-US" dirty="0"/>
          </a:p>
        </p:txBody>
      </p:sp>
    </p:spTree>
    <p:extLst>
      <p:ext uri="{BB962C8B-B14F-4D97-AF65-F5344CB8AC3E}">
        <p14:creationId xmlns:p14="http://schemas.microsoft.com/office/powerpoint/2010/main" val="41277653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a:bodyPr>
          <a:lstStyle/>
          <a:p>
            <a:pPr marL="0" indent="0">
              <a:buNone/>
            </a:pPr>
            <a:r>
              <a:rPr lang="en-US" sz="2000" b="1" dirty="0"/>
              <a:t>Introduction to Windows/File Explorer</a:t>
            </a:r>
          </a:p>
          <a:p>
            <a:r>
              <a:rPr lang="en-US" sz="2000" dirty="0"/>
              <a:t>Through Windows/File Explorer you can access all the files and folders stored on your computer and organize them by:</a:t>
            </a:r>
          </a:p>
          <a:p>
            <a:pPr lvl="1"/>
            <a:r>
              <a:rPr lang="en-US" sz="2000" dirty="0"/>
              <a:t>Copying</a:t>
            </a:r>
          </a:p>
          <a:p>
            <a:pPr lvl="1"/>
            <a:r>
              <a:rPr lang="en-US" sz="2000" dirty="0"/>
              <a:t>Moving</a:t>
            </a:r>
          </a:p>
          <a:p>
            <a:pPr lvl="1"/>
            <a:r>
              <a:rPr lang="en-US" sz="2000" dirty="0"/>
              <a:t>Deleting</a:t>
            </a:r>
          </a:p>
          <a:p>
            <a:r>
              <a:rPr lang="en-US" sz="2000" dirty="0"/>
              <a:t>To access Windows/File Explorer, double click on either the “My Computer/This PC” or “Windows/File Explorer”      icon on the Taskbar. If not on pinned on the Taskbar:</a:t>
            </a:r>
          </a:p>
          <a:p>
            <a:pPr lvl="1"/>
            <a:r>
              <a:rPr lang="en-US" sz="2000" dirty="0"/>
              <a:t>Click on the start menu, click on all apps, the scroll to Windows System.</a:t>
            </a:r>
          </a:p>
          <a:p>
            <a:pPr lvl="1"/>
            <a:r>
              <a:rPr lang="en-US" sz="2000" dirty="0"/>
              <a:t>Click on Windows System and then scroll to File Explorer.</a:t>
            </a:r>
          </a:p>
          <a:p>
            <a:pPr lvl="2"/>
            <a:r>
              <a:rPr lang="en-US" sz="2000" dirty="0"/>
              <a:t>Right clicking on File Explorer will bring the option for more choices. If you scroll to more, you should see the option to pin to Taskbar.</a:t>
            </a:r>
          </a:p>
          <a:p>
            <a:pPr marL="0" indent="0">
              <a:buNone/>
            </a:pPr>
            <a:endParaRPr lang="en-US" dirty="0"/>
          </a:p>
        </p:txBody>
      </p:sp>
      <p:pic>
        <p:nvPicPr>
          <p:cNvPr id="4" name="Picture 3">
            <a:extLst>
              <a:ext uri="{FF2B5EF4-FFF2-40B4-BE49-F238E27FC236}">
                <a16:creationId xmlns:a16="http://schemas.microsoft.com/office/drawing/2014/main" id="{A46B41F7-839C-414F-A2A1-AB8D9111051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713709" y="3685903"/>
            <a:ext cx="266065" cy="244475"/>
          </a:xfrm>
          <a:prstGeom prst="rect">
            <a:avLst/>
          </a:prstGeom>
          <a:noFill/>
          <a:ln>
            <a:noFill/>
          </a:ln>
        </p:spPr>
      </p:pic>
    </p:spTree>
    <p:extLst>
      <p:ext uri="{BB962C8B-B14F-4D97-AF65-F5344CB8AC3E}">
        <p14:creationId xmlns:p14="http://schemas.microsoft.com/office/powerpoint/2010/main" val="33775346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1127051"/>
            <a:ext cx="9887685" cy="5084178"/>
          </a:xfrm>
        </p:spPr>
        <p:txBody>
          <a:bodyPr>
            <a:normAutofit/>
          </a:bodyPr>
          <a:lstStyle/>
          <a:p>
            <a:r>
              <a:rPr lang="en-US" sz="2400" dirty="0"/>
              <a:t>In Windows 10 it can also be opened by:</a:t>
            </a:r>
          </a:p>
          <a:p>
            <a:pPr lvl="1"/>
            <a:r>
              <a:rPr lang="en-US" sz="2400" dirty="0"/>
              <a:t>Right clicking the  Start       button and then click on the File Explorer option. </a:t>
            </a:r>
            <a:r>
              <a:rPr lang="en-US" sz="2400" b="1" dirty="0"/>
              <a:t>OR</a:t>
            </a:r>
          </a:p>
          <a:p>
            <a:pPr lvl="1"/>
            <a:r>
              <a:rPr lang="en-US" sz="2400" dirty="0"/>
              <a:t>Press the </a:t>
            </a:r>
            <a:r>
              <a:rPr lang="en-US" sz="2400" b="1" dirty="0"/>
              <a:t>Windows logo key      </a:t>
            </a:r>
            <a:r>
              <a:rPr lang="en-US" sz="2400" dirty="0"/>
              <a:t>+ E on the keyboard. </a:t>
            </a:r>
            <a:r>
              <a:rPr lang="en-US" sz="2400" b="1" dirty="0"/>
              <a:t>OR</a:t>
            </a:r>
          </a:p>
          <a:p>
            <a:pPr marL="457200" lvl="1" indent="0">
              <a:buNone/>
            </a:pPr>
            <a:endParaRPr lang="en-US" dirty="0"/>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0C7F4BA2-CE61-4F3D-BB02-D1C1C9615B9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57887" y="1480673"/>
            <a:ext cx="276225" cy="233680"/>
          </a:xfrm>
          <a:prstGeom prst="rect">
            <a:avLst/>
          </a:prstGeom>
          <a:noFill/>
          <a:ln>
            <a:noFill/>
          </a:ln>
        </p:spPr>
      </p:pic>
      <p:pic>
        <p:nvPicPr>
          <p:cNvPr id="5" name="Picture 4">
            <a:extLst>
              <a:ext uri="{FF2B5EF4-FFF2-40B4-BE49-F238E27FC236}">
                <a16:creationId xmlns:a16="http://schemas.microsoft.com/office/drawing/2014/main" id="{3183B61B-F0EA-4964-A119-78FFCE1C0C0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34976" y="2248249"/>
            <a:ext cx="276225" cy="233680"/>
          </a:xfrm>
          <a:prstGeom prst="rect">
            <a:avLst/>
          </a:prstGeom>
          <a:noFill/>
          <a:ln>
            <a:noFill/>
          </a:ln>
        </p:spPr>
      </p:pic>
    </p:spTree>
    <p:extLst>
      <p:ext uri="{BB962C8B-B14F-4D97-AF65-F5344CB8AC3E}">
        <p14:creationId xmlns:p14="http://schemas.microsoft.com/office/powerpoint/2010/main" val="37999618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lnSpcReduction="10000"/>
          </a:bodyPr>
          <a:lstStyle/>
          <a:p>
            <a:pPr marL="0" indent="0">
              <a:buNone/>
            </a:pPr>
            <a:r>
              <a:rPr lang="en-US" sz="2000" b="1" dirty="0"/>
              <a:t>Navigating File Explorer</a:t>
            </a:r>
          </a:p>
          <a:p>
            <a:r>
              <a:rPr lang="en-US" sz="2400" dirty="0"/>
              <a:t>File Explorer can be navigated using the </a:t>
            </a:r>
            <a:r>
              <a:rPr lang="en-US" sz="2400" b="1" dirty="0"/>
              <a:t>Standard Toolbar.</a:t>
            </a:r>
          </a:p>
          <a:p>
            <a:endParaRPr lang="en-US" sz="2400" dirty="0"/>
          </a:p>
          <a:p>
            <a:endParaRPr lang="en-US" sz="2400" dirty="0"/>
          </a:p>
          <a:p>
            <a:endParaRPr lang="en-US" sz="2400" dirty="0"/>
          </a:p>
          <a:p>
            <a:pPr marL="0" indent="0">
              <a:buNone/>
            </a:pPr>
            <a:endParaRPr lang="en-US" sz="2400" dirty="0"/>
          </a:p>
          <a:p>
            <a:r>
              <a:rPr lang="en-US" sz="2400" dirty="0"/>
              <a:t>To go back to the last screen you were working in, click the back arrow “</a:t>
            </a:r>
            <a:r>
              <a:rPr lang="en-US" sz="2400" b="1" dirty="0">
                <a:sym typeface="Wingdings" panose="05000000000000000000" pitchFamily="2" charset="2"/>
              </a:rPr>
              <a:t></a:t>
            </a:r>
            <a:r>
              <a:rPr lang="en-US" sz="2400" dirty="0">
                <a:sym typeface="Wingdings" panose="05000000000000000000" pitchFamily="2" charset="2"/>
              </a:rPr>
              <a:t>”</a:t>
            </a:r>
          </a:p>
          <a:p>
            <a:r>
              <a:rPr lang="en-US" sz="2400" dirty="0">
                <a:sym typeface="Wingdings" panose="05000000000000000000" pitchFamily="2" charset="2"/>
              </a:rPr>
              <a:t>To see the drives and folders above the one you are currently looking at, click the upward arrow “   ”.</a:t>
            </a:r>
          </a:p>
          <a:p>
            <a:r>
              <a:rPr lang="en-US" sz="2400" dirty="0">
                <a:sym typeface="Wingdings" panose="05000000000000000000" pitchFamily="2" charset="2"/>
              </a:rPr>
              <a:t>To search for a document type the document name in the “Search Box”.</a:t>
            </a:r>
          </a:p>
          <a:p>
            <a:pPr marL="0" indent="0">
              <a:buNone/>
            </a:pPr>
            <a:endParaRPr lang="en-US" sz="2400" dirty="0">
              <a:sym typeface="Wingdings" panose="05000000000000000000" pitchFamily="2" charset="2"/>
            </a:endParaRPr>
          </a:p>
          <a:p>
            <a:endParaRPr lang="en-US" sz="2000" dirty="0"/>
          </a:p>
          <a:p>
            <a:pPr marL="0" indent="0">
              <a:buNone/>
            </a:pPr>
            <a:endParaRPr lang="en-US" sz="2000" dirty="0"/>
          </a:p>
          <a:p>
            <a:pPr marL="0" indent="0">
              <a:buNone/>
            </a:pPr>
            <a:endParaRPr lang="en-US" dirty="0"/>
          </a:p>
        </p:txBody>
      </p:sp>
      <p:pic>
        <p:nvPicPr>
          <p:cNvPr id="9" name="Picture 8">
            <a:extLst>
              <a:ext uri="{FF2B5EF4-FFF2-40B4-BE49-F238E27FC236}">
                <a16:creationId xmlns:a16="http://schemas.microsoft.com/office/drawing/2014/main" id="{93D1730B-214C-46FF-ACE6-8681132507E7}"/>
              </a:ext>
            </a:extLst>
          </p:cNvPr>
          <p:cNvPicPr>
            <a:picLocks noChangeAspect="1"/>
          </p:cNvPicPr>
          <p:nvPr/>
        </p:nvPicPr>
        <p:blipFill>
          <a:blip r:embed="rId2"/>
          <a:stretch>
            <a:fillRect/>
          </a:stretch>
        </p:blipFill>
        <p:spPr>
          <a:xfrm>
            <a:off x="2453269" y="1685925"/>
            <a:ext cx="6705600" cy="1743075"/>
          </a:xfrm>
          <a:prstGeom prst="rect">
            <a:avLst/>
          </a:prstGeom>
        </p:spPr>
      </p:pic>
      <p:pic>
        <p:nvPicPr>
          <p:cNvPr id="11" name="Picture 10">
            <a:extLst>
              <a:ext uri="{FF2B5EF4-FFF2-40B4-BE49-F238E27FC236}">
                <a16:creationId xmlns:a16="http://schemas.microsoft.com/office/drawing/2014/main" id="{1DE36D62-9CDF-473D-9937-C3B6BA452735}"/>
              </a:ext>
            </a:extLst>
          </p:cNvPr>
          <p:cNvPicPr>
            <a:picLocks noChangeAspect="1"/>
          </p:cNvPicPr>
          <p:nvPr/>
        </p:nvPicPr>
        <p:blipFill>
          <a:blip r:embed="rId3"/>
          <a:stretch>
            <a:fillRect/>
          </a:stretch>
        </p:blipFill>
        <p:spPr>
          <a:xfrm>
            <a:off x="5081586" y="4198377"/>
            <a:ext cx="200025" cy="219075"/>
          </a:xfrm>
          <a:prstGeom prst="rect">
            <a:avLst/>
          </a:prstGeom>
        </p:spPr>
      </p:pic>
      <p:cxnSp>
        <p:nvCxnSpPr>
          <p:cNvPr id="13" name="Straight Arrow Connector 12">
            <a:extLst>
              <a:ext uri="{FF2B5EF4-FFF2-40B4-BE49-F238E27FC236}">
                <a16:creationId xmlns:a16="http://schemas.microsoft.com/office/drawing/2014/main" id="{9417CED3-E246-4A99-9A37-512309AD8CB4}"/>
              </a:ext>
            </a:extLst>
          </p:cNvPr>
          <p:cNvCxnSpPr>
            <a:cxnSpLocks/>
          </p:cNvCxnSpPr>
          <p:nvPr/>
        </p:nvCxnSpPr>
        <p:spPr>
          <a:xfrm flipH="1">
            <a:off x="8062332" y="2877015"/>
            <a:ext cx="1499974" cy="4348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BFE14A19-52C7-4584-9BFB-8D90AFC61F4A}"/>
              </a:ext>
            </a:extLst>
          </p:cNvPr>
          <p:cNvSpPr/>
          <p:nvPr/>
        </p:nvSpPr>
        <p:spPr>
          <a:xfrm>
            <a:off x="9580031" y="2679944"/>
            <a:ext cx="1789635" cy="444435"/>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FF0000"/>
                </a:solidFill>
              </a:rPr>
              <a:t>Search Box</a:t>
            </a:r>
            <a:endParaRPr lang="en-MW" dirty="0">
              <a:solidFill>
                <a:srgbClr val="FF0000"/>
              </a:solidFill>
            </a:endParaRPr>
          </a:p>
        </p:txBody>
      </p:sp>
      <p:cxnSp>
        <p:nvCxnSpPr>
          <p:cNvPr id="18" name="Straight Arrow Connector 17">
            <a:extLst>
              <a:ext uri="{FF2B5EF4-FFF2-40B4-BE49-F238E27FC236}">
                <a16:creationId xmlns:a16="http://schemas.microsoft.com/office/drawing/2014/main" id="{8727B413-A905-4F9B-9AF8-641C87091027}"/>
              </a:ext>
            </a:extLst>
          </p:cNvPr>
          <p:cNvCxnSpPr>
            <a:cxnSpLocks/>
          </p:cNvCxnSpPr>
          <p:nvPr/>
        </p:nvCxnSpPr>
        <p:spPr>
          <a:xfrm flipH="1">
            <a:off x="3379682" y="1940312"/>
            <a:ext cx="2028659" cy="13045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2DA9572-824A-45DB-B363-E53E63A4DE8E}"/>
              </a:ext>
            </a:extLst>
          </p:cNvPr>
          <p:cNvCxnSpPr>
            <a:cxnSpLocks/>
          </p:cNvCxnSpPr>
          <p:nvPr/>
        </p:nvCxnSpPr>
        <p:spPr>
          <a:xfrm>
            <a:off x="1627082" y="2557462"/>
            <a:ext cx="1002612" cy="689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82C439C-F932-4861-9357-C2B11C9A2E20}"/>
              </a:ext>
            </a:extLst>
          </p:cNvPr>
          <p:cNvSpPr/>
          <p:nvPr/>
        </p:nvSpPr>
        <p:spPr>
          <a:xfrm>
            <a:off x="663634" y="2035337"/>
            <a:ext cx="1789635" cy="51574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FF0000"/>
                </a:solidFill>
              </a:rPr>
              <a:t>Backward arrow</a:t>
            </a:r>
            <a:endParaRPr lang="en-MW" dirty="0">
              <a:solidFill>
                <a:srgbClr val="FF0000"/>
              </a:solidFill>
            </a:endParaRPr>
          </a:p>
        </p:txBody>
      </p:sp>
      <p:sp>
        <p:nvSpPr>
          <p:cNvPr id="24" name="Rectangle 23">
            <a:extLst>
              <a:ext uri="{FF2B5EF4-FFF2-40B4-BE49-F238E27FC236}">
                <a16:creationId xmlns:a16="http://schemas.microsoft.com/office/drawing/2014/main" id="{F6DADC95-AA2C-4C50-BE86-8ED09310940B}"/>
              </a:ext>
            </a:extLst>
          </p:cNvPr>
          <p:cNvSpPr/>
          <p:nvPr/>
        </p:nvSpPr>
        <p:spPr>
          <a:xfrm>
            <a:off x="5408341" y="1590902"/>
            <a:ext cx="1789635" cy="444435"/>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FF0000"/>
                </a:solidFill>
              </a:rPr>
              <a:t>Upward arrow</a:t>
            </a:r>
            <a:endParaRPr lang="en-MW" dirty="0">
              <a:solidFill>
                <a:srgbClr val="FF0000"/>
              </a:solidFill>
            </a:endParaRPr>
          </a:p>
        </p:txBody>
      </p:sp>
    </p:spTree>
    <p:extLst>
      <p:ext uri="{BB962C8B-B14F-4D97-AF65-F5344CB8AC3E}">
        <p14:creationId xmlns:p14="http://schemas.microsoft.com/office/powerpoint/2010/main" val="1922725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fontScale="70000" lnSpcReduction="20000"/>
          </a:bodyPr>
          <a:lstStyle/>
          <a:p>
            <a:pPr marL="0" indent="0">
              <a:lnSpc>
                <a:spcPct val="120000"/>
              </a:lnSpc>
              <a:buNone/>
            </a:pPr>
            <a:r>
              <a:rPr lang="en-US" sz="2400" b="1" dirty="0"/>
              <a:t>Organizing Files and Folders</a:t>
            </a:r>
          </a:p>
          <a:p>
            <a:pPr>
              <a:lnSpc>
                <a:spcPct val="120000"/>
              </a:lnSpc>
            </a:pPr>
            <a:r>
              <a:rPr lang="en-US" sz="2400" dirty="0"/>
              <a:t>All files and folders on your PC are stored on disks, which are in located on drives. </a:t>
            </a:r>
          </a:p>
          <a:p>
            <a:pPr>
              <a:lnSpc>
                <a:spcPct val="120000"/>
              </a:lnSpc>
            </a:pPr>
            <a:r>
              <a:rPr lang="en-US" sz="2400" dirty="0"/>
              <a:t>Drives are named with letters of the alphabet. </a:t>
            </a:r>
          </a:p>
          <a:p>
            <a:pPr>
              <a:lnSpc>
                <a:spcPct val="120000"/>
              </a:lnSpc>
            </a:pPr>
            <a:r>
              <a:rPr lang="en-US" sz="2400" dirty="0"/>
              <a:t>Each device has an icon, name and letter in the parentheses (A, B, C, D, E,...). There can be one or more Hard Disk Drives on the computer, or there can be one HDD divided into partitions.</a:t>
            </a:r>
          </a:p>
          <a:p>
            <a:pPr>
              <a:lnSpc>
                <a:spcPct val="120000"/>
              </a:lnSpc>
            </a:pPr>
            <a:r>
              <a:rPr lang="en-US" sz="2400" dirty="0"/>
              <a:t>Devices used by the operating system for data storage are marked with capital letters (e.g. Floppy (A:) ; Local Disk(C:); Removable Disk(E:) etc.) and are available in My Computer/This PC.</a:t>
            </a:r>
          </a:p>
          <a:p>
            <a:pPr marL="342900" marR="0" lvl="0" indent="-342900" algn="l" defTabSz="457200" rtl="0" eaLnBrk="1" fontAlgn="auto" latinLnBrk="0" hangingPunct="1">
              <a:lnSpc>
                <a:spcPct val="12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Examples of common uses for drives are:</a:t>
            </a:r>
          </a:p>
          <a:p>
            <a:pPr marL="742950" marR="0" lvl="1" indent="-285750" algn="l" defTabSz="457200" rtl="0" eaLnBrk="1" fontAlgn="auto" latinLnBrk="0" hangingPunct="1">
              <a:lnSpc>
                <a:spcPct val="12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A Drive: Floppy Disks</a:t>
            </a:r>
          </a:p>
          <a:p>
            <a:pPr marL="742950" marR="0" lvl="1" indent="-285750" algn="l" defTabSz="457200" rtl="0" eaLnBrk="1" fontAlgn="auto" latinLnBrk="0" hangingPunct="1">
              <a:lnSpc>
                <a:spcPct val="12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C Drive: Local Hard Drive/Disk</a:t>
            </a:r>
          </a:p>
          <a:p>
            <a:pPr marL="742950" marR="0" lvl="1" indent="-285750" algn="l" defTabSz="457200" rtl="0" eaLnBrk="1" fontAlgn="auto" latinLnBrk="0" hangingPunct="1">
              <a:lnSpc>
                <a:spcPct val="12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D Drive: CD ROMs</a:t>
            </a:r>
          </a:p>
          <a:p>
            <a:pPr marL="742950" marR="0" lvl="1" indent="-285750" algn="l" defTabSz="457200" rtl="0" eaLnBrk="1" fontAlgn="auto" latinLnBrk="0" hangingPunct="1">
              <a:lnSpc>
                <a:spcPct val="12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E Drive: Removable Disk</a:t>
            </a:r>
          </a:p>
          <a:p>
            <a:pPr marL="742950" marR="0" lvl="1" indent="-285750" algn="l" defTabSz="457200" rtl="0" eaLnBrk="1" fontAlgn="auto" latinLnBrk="0" hangingPunct="1">
              <a:lnSpc>
                <a:spcPct val="12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F Drive: USB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704412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fontScale="85000" lnSpcReduction="20000"/>
          </a:bodyPr>
          <a:lstStyle/>
          <a:p>
            <a:pPr marL="0" indent="0">
              <a:lnSpc>
                <a:spcPct val="120000"/>
              </a:lnSpc>
              <a:buNone/>
            </a:pPr>
            <a:r>
              <a:rPr lang="en-US" sz="2400" b="1" dirty="0"/>
              <a:t>Why is it necessary to make additional copies of important files on removable storage devices? </a:t>
            </a:r>
          </a:p>
          <a:p>
            <a:pPr>
              <a:lnSpc>
                <a:spcPct val="120000"/>
              </a:lnSpc>
            </a:pPr>
            <a:r>
              <a:rPr lang="en-US" sz="2400" dirty="0"/>
              <a:t>It is recommended to create back-up copies of important files in case the original files become inaccessible, either due to drive failure, accidental deletion or other reasons.</a:t>
            </a:r>
          </a:p>
          <a:p>
            <a:pPr>
              <a:lnSpc>
                <a:spcPct val="120000"/>
              </a:lnSpc>
            </a:pPr>
            <a:r>
              <a:rPr lang="en-US" sz="2400" dirty="0"/>
              <a:t>If you have a backup, you can restore original files. Backup is done mainly on removable storage devices. </a:t>
            </a:r>
          </a:p>
          <a:p>
            <a:pPr marL="0" indent="0">
              <a:lnSpc>
                <a:spcPct val="120000"/>
              </a:lnSpc>
              <a:buNone/>
            </a:pPr>
            <a:r>
              <a:rPr lang="en-US" sz="2400" b="1" dirty="0"/>
              <a:t>The advantages of storing data on network devices </a:t>
            </a:r>
          </a:p>
          <a:p>
            <a:pPr>
              <a:lnSpc>
                <a:spcPct val="120000"/>
              </a:lnSpc>
            </a:pPr>
            <a:r>
              <a:rPr lang="en-US" sz="2400" dirty="0"/>
              <a:t>If the computer is connected to a network, you can access shared data (shared with other users on the network). </a:t>
            </a:r>
          </a:p>
          <a:p>
            <a:pPr>
              <a:lnSpc>
                <a:spcPct val="120000"/>
              </a:lnSpc>
            </a:pPr>
            <a:r>
              <a:rPr lang="en-US" sz="2400" dirty="0"/>
              <a:t>To access network disks, open the Network Places folder usually found on the desktop or within the Start menu. (File Explorer, Click Network from the left pane, here you can see shared computers, printers and other resources on the network.)</a:t>
            </a:r>
          </a:p>
          <a:p>
            <a:pPr marL="0" indent="0">
              <a:lnSpc>
                <a:spcPct val="120000"/>
              </a:lnSpc>
              <a:buNone/>
            </a:pPr>
            <a:endParaRPr lang="en-US" dirty="0"/>
          </a:p>
          <a:p>
            <a:pPr marL="0" indent="0">
              <a:buNone/>
            </a:pPr>
            <a:endParaRPr lang="en-US" dirty="0"/>
          </a:p>
        </p:txBody>
      </p:sp>
    </p:spTree>
    <p:extLst>
      <p:ext uri="{BB962C8B-B14F-4D97-AF65-F5344CB8AC3E}">
        <p14:creationId xmlns:p14="http://schemas.microsoft.com/office/powerpoint/2010/main" val="7296618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10575073" cy="5408341"/>
          </a:xfrm>
        </p:spPr>
        <p:txBody>
          <a:bodyPr>
            <a:normAutofit/>
          </a:bodyPr>
          <a:lstStyle/>
          <a:p>
            <a:r>
              <a:rPr lang="en-US" sz="2000" dirty="0"/>
              <a:t>To navigate your way round Windows/File Explorer, click on the drive you want. This will enable you to see the contents of the drive on the right hand section of the window. </a:t>
            </a:r>
          </a:p>
          <a:p>
            <a:r>
              <a:rPr lang="en-US" sz="2000" dirty="0"/>
              <a:t>Within each drive is a structure </a:t>
            </a:r>
          </a:p>
          <a:p>
            <a:pPr marL="0" indent="0">
              <a:buNone/>
            </a:pPr>
            <a:r>
              <a:rPr lang="en-US" sz="2000" dirty="0"/>
              <a:t>     of folders. Each folder contains </a:t>
            </a:r>
          </a:p>
          <a:p>
            <a:pPr marL="0" indent="0">
              <a:buNone/>
            </a:pPr>
            <a:r>
              <a:rPr lang="en-US" sz="2000" dirty="0"/>
              <a:t>     files, and some folders also contain </a:t>
            </a:r>
          </a:p>
          <a:p>
            <a:pPr marL="0" indent="0">
              <a:buNone/>
            </a:pPr>
            <a:r>
              <a:rPr lang="en-US" sz="2000" dirty="0"/>
              <a:t>     sub-folders, which in turn may </a:t>
            </a:r>
          </a:p>
          <a:p>
            <a:pPr marL="0" indent="0">
              <a:buNone/>
            </a:pPr>
            <a:r>
              <a:rPr lang="en-US" sz="2000" dirty="0"/>
              <a:t>     contain further files and sub-folders. </a:t>
            </a:r>
          </a:p>
          <a:p>
            <a:r>
              <a:rPr lang="en-US" sz="2000" dirty="0"/>
              <a:t>By clicking on a folder, the </a:t>
            </a:r>
          </a:p>
          <a:p>
            <a:pPr marL="0" indent="0">
              <a:buNone/>
            </a:pPr>
            <a:r>
              <a:rPr lang="en-US" sz="2000" dirty="0"/>
              <a:t>     documents and sub-folders </a:t>
            </a:r>
          </a:p>
          <a:p>
            <a:pPr marL="0" indent="0">
              <a:buNone/>
            </a:pPr>
            <a:r>
              <a:rPr lang="en-US" sz="2000" dirty="0"/>
              <a:t>     contained in each drive or folder </a:t>
            </a:r>
          </a:p>
          <a:p>
            <a:pPr marL="0" indent="0">
              <a:buNone/>
            </a:pPr>
            <a:r>
              <a:rPr lang="en-US" sz="2000" dirty="0"/>
              <a:t>     will appear on the right hand section of the window.</a:t>
            </a:r>
          </a:p>
          <a:p>
            <a:pPr marL="0" indent="0">
              <a:buNone/>
            </a:pPr>
            <a:endParaRPr lang="en-US" sz="2000" dirty="0"/>
          </a:p>
          <a:p>
            <a:pPr marL="0" indent="0">
              <a:buNone/>
            </a:pPr>
            <a:endParaRPr lang="en-US" dirty="0"/>
          </a:p>
        </p:txBody>
      </p:sp>
      <p:pic>
        <p:nvPicPr>
          <p:cNvPr id="4" name="Picture 3">
            <a:extLst>
              <a:ext uri="{FF2B5EF4-FFF2-40B4-BE49-F238E27FC236}">
                <a16:creationId xmlns:a16="http://schemas.microsoft.com/office/drawing/2014/main" id="{FE027A55-BC0C-4892-A8F8-3AC5BC1D9735}"/>
              </a:ext>
            </a:extLst>
          </p:cNvPr>
          <p:cNvPicPr>
            <a:picLocks noChangeAspect="1"/>
          </p:cNvPicPr>
          <p:nvPr/>
        </p:nvPicPr>
        <p:blipFill>
          <a:blip r:embed="rId2"/>
          <a:stretch>
            <a:fillRect/>
          </a:stretch>
        </p:blipFill>
        <p:spPr>
          <a:xfrm>
            <a:off x="6419114" y="1575226"/>
            <a:ext cx="5772886" cy="3810814"/>
          </a:xfrm>
          <a:prstGeom prst="rect">
            <a:avLst/>
          </a:prstGeom>
        </p:spPr>
      </p:pic>
    </p:spTree>
    <p:extLst>
      <p:ext uri="{BB962C8B-B14F-4D97-AF65-F5344CB8AC3E}">
        <p14:creationId xmlns:p14="http://schemas.microsoft.com/office/powerpoint/2010/main" val="2808263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lnSpcReduction="10000"/>
          </a:bodyPr>
          <a:lstStyle/>
          <a:p>
            <a:pPr marL="0" marR="0" indent="0" algn="just">
              <a:buNone/>
            </a:pPr>
            <a:r>
              <a:rPr lang="en-US" sz="2000" b="1" u="none" strike="noStrike" baseline="0" dirty="0"/>
              <a:t>Viewing Files and Folders in Windows Explorer/ File Explorer </a:t>
            </a:r>
          </a:p>
          <a:p>
            <a:pPr marR="0" algn="just"/>
            <a:r>
              <a:rPr lang="en-US" sz="2000" b="0" i="0" u="none" strike="noStrike" baseline="0" dirty="0"/>
              <a:t>There are three common ways to view files and folders in Windows/File Explorer: </a:t>
            </a:r>
          </a:p>
          <a:p>
            <a:pPr lvl="1" algn="just"/>
            <a:r>
              <a:rPr lang="en-US" sz="1800" b="0" i="0" u="none" strike="noStrike" baseline="0" dirty="0"/>
              <a:t>As icons  </a:t>
            </a:r>
            <a:endParaRPr lang="en-US" sz="1800" dirty="0"/>
          </a:p>
          <a:p>
            <a:pPr lvl="1" algn="just"/>
            <a:r>
              <a:rPr lang="en-US" sz="2000" b="0" i="0" u="none" strike="noStrike" baseline="0" dirty="0"/>
              <a:t>In a list </a:t>
            </a:r>
          </a:p>
          <a:p>
            <a:pPr lvl="1" algn="just"/>
            <a:r>
              <a:rPr lang="en-US" sz="2000" b="0" i="0" u="none" strike="noStrike" baseline="0" dirty="0"/>
              <a:t>In a list with their properties displayed (</a:t>
            </a:r>
            <a:r>
              <a:rPr lang="en-US" sz="2000" b="0" i="0" u="none" strike="noStrike" baseline="0" dirty="0" err="1"/>
              <a:t>eg</a:t>
            </a:r>
            <a:r>
              <a:rPr lang="en-US" sz="2000" b="0" i="0" u="none" strike="noStrike" baseline="0" dirty="0"/>
              <a:t> author, date created) </a:t>
            </a:r>
          </a:p>
          <a:p>
            <a:pPr marR="0" algn="just"/>
            <a:r>
              <a:rPr lang="en-US" sz="2000" b="0" i="0" u="none" strike="noStrike" baseline="0" dirty="0"/>
              <a:t>To change this, go to the “</a:t>
            </a:r>
            <a:r>
              <a:rPr lang="en-US" sz="2000" b="1" i="0" u="none" strike="noStrike" baseline="0" dirty="0"/>
              <a:t>View</a:t>
            </a:r>
            <a:r>
              <a:rPr lang="en-US" sz="2000" b="0" i="0" u="none" strike="noStrike" baseline="0" dirty="0"/>
              <a:t>” button on the Standard Toolbar, and select the appropriate view from the “</a:t>
            </a:r>
            <a:r>
              <a:rPr lang="en-US" sz="2000" b="1" i="0" u="none" strike="noStrike" baseline="0" dirty="0"/>
              <a:t>Layout</a:t>
            </a:r>
            <a:r>
              <a:rPr lang="en-US" sz="2000" b="0" i="0" u="none" strike="noStrike" baseline="0" dirty="0"/>
              <a:t>” group. </a:t>
            </a:r>
          </a:p>
          <a:p>
            <a:pPr marR="0" algn="just"/>
            <a:r>
              <a:rPr lang="en-US" sz="2000" b="0" i="0" u="none" strike="noStrike" baseline="0" dirty="0"/>
              <a:t>If you have the files and folders displayed as a detailed list, there are several different ways you can organize this list: </a:t>
            </a:r>
          </a:p>
          <a:p>
            <a:pPr lvl="1" algn="just"/>
            <a:r>
              <a:rPr lang="en-US" sz="1800" b="0" i="0" u="none" strike="noStrike" baseline="0" dirty="0"/>
              <a:t>By Name </a:t>
            </a:r>
          </a:p>
          <a:p>
            <a:pPr lvl="1" algn="just"/>
            <a:r>
              <a:rPr lang="en-US" sz="1800" b="0" i="0" u="none" strike="noStrike" baseline="0" dirty="0"/>
              <a:t>By Size </a:t>
            </a:r>
          </a:p>
          <a:p>
            <a:pPr lvl="1" algn="just"/>
            <a:r>
              <a:rPr lang="en-US" sz="1800" b="0" i="0" u="none" strike="noStrike" baseline="0" dirty="0"/>
              <a:t>By Type </a:t>
            </a:r>
          </a:p>
          <a:p>
            <a:pPr lvl="1" algn="just"/>
            <a:r>
              <a:rPr lang="en-US" sz="1800" b="0" i="0" u="none" strike="noStrike" baseline="0" dirty="0"/>
              <a:t>By Date modified, etc. </a:t>
            </a:r>
          </a:p>
          <a:p>
            <a:endParaRPr lang="en-MW" sz="2000" b="0" i="0" u="none" strike="noStrike" baseline="0" dirty="0"/>
          </a:p>
          <a:p>
            <a:endParaRPr lang="en-US" sz="2000" dirty="0"/>
          </a:p>
          <a:p>
            <a:pPr marL="457200" lvl="1" indent="0">
              <a:buNone/>
            </a:pPr>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19579073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1212112"/>
            <a:ext cx="9887685" cy="4999117"/>
          </a:xfrm>
        </p:spPr>
        <p:txBody>
          <a:bodyPr>
            <a:normAutofit/>
          </a:bodyPr>
          <a:lstStyle/>
          <a:p>
            <a:pPr algn="just"/>
            <a:r>
              <a:rPr lang="en-US" sz="2000" b="0" i="0" u="none" strike="noStrike" baseline="0" dirty="0"/>
              <a:t>To organize files and folders by any of these methods, click on the “</a:t>
            </a:r>
            <a:r>
              <a:rPr lang="en-US" sz="2000" b="1" i="0" u="none" strike="noStrike" baseline="0" dirty="0"/>
              <a:t>view</a:t>
            </a:r>
            <a:r>
              <a:rPr lang="en-US" sz="2000" b="0" i="0" u="none" strike="noStrike" baseline="0" dirty="0"/>
              <a:t>” button then “</a:t>
            </a:r>
            <a:r>
              <a:rPr lang="en-US" sz="2000" b="1" i="0" u="none" strike="noStrike" baseline="0" dirty="0"/>
              <a:t>Sort by</a:t>
            </a:r>
            <a:r>
              <a:rPr lang="en-US" sz="2000" b="0" i="0" u="none" strike="noStrike" baseline="0" dirty="0"/>
              <a:t>” in the “</a:t>
            </a:r>
            <a:r>
              <a:rPr lang="en-US" sz="2000" b="1" dirty="0"/>
              <a:t>C</a:t>
            </a:r>
            <a:r>
              <a:rPr lang="en-US" sz="2000" b="1" i="0" u="none" strike="noStrike" baseline="0" dirty="0"/>
              <a:t>urrent view</a:t>
            </a:r>
            <a:r>
              <a:rPr lang="en-US" sz="2000" b="0" i="0" u="none" strike="noStrike" baseline="0" dirty="0"/>
              <a:t>” group. </a:t>
            </a:r>
          </a:p>
          <a:p>
            <a:pPr marR="0" algn="just"/>
            <a:r>
              <a:rPr lang="en-US" sz="2000" b="0" i="0" u="none" strike="noStrike" baseline="0" dirty="0"/>
              <a:t>In our example below, the “</a:t>
            </a:r>
            <a:r>
              <a:rPr lang="en-US" sz="2000" b="1" i="0" u="none" strike="noStrike" baseline="0" dirty="0"/>
              <a:t>Name</a:t>
            </a:r>
            <a:r>
              <a:rPr lang="en-US" sz="2000" b="0" i="0" u="none" strike="noStrike" baseline="0" dirty="0"/>
              <a:t>” option has been selected, and files and folders are displayed by their Name, in alphabetical order (Ascending): </a:t>
            </a:r>
          </a:p>
          <a:p>
            <a:pPr lvl="1" algn="just"/>
            <a:r>
              <a:rPr lang="en-US" sz="1800" b="0" i="0" u="none" strike="noStrike" baseline="0" dirty="0"/>
              <a:t>Folders </a:t>
            </a:r>
            <a:endParaRPr lang="en-US" sz="2000" b="0" i="0" u="none" strike="noStrike" baseline="0" dirty="0"/>
          </a:p>
          <a:p>
            <a:pPr lvl="1" algn="just"/>
            <a:r>
              <a:rPr lang="en-US" sz="1800" b="0" i="0" u="none" strike="noStrike" baseline="0" dirty="0"/>
              <a:t>PDF documents</a:t>
            </a:r>
          </a:p>
          <a:p>
            <a:pPr lvl="1" algn="just"/>
            <a:r>
              <a:rPr lang="en-US" sz="1800" dirty="0"/>
              <a:t>Dropbox file</a:t>
            </a:r>
            <a:endParaRPr lang="en-US" sz="1800" b="0" i="0" u="none" strike="noStrike" baseline="0" dirty="0"/>
          </a:p>
          <a:p>
            <a:pPr lvl="1" algn="just"/>
            <a:r>
              <a:rPr lang="en-US" sz="1800" b="0" i="0" u="none" strike="noStrike" baseline="0" dirty="0"/>
              <a:t>PowerPoint documents </a:t>
            </a:r>
          </a:p>
          <a:p>
            <a:pPr lvl="1" algn="just"/>
            <a:r>
              <a:rPr lang="en-US" sz="1800" b="0" i="0" u="none" strike="noStrike" baseline="0" dirty="0"/>
              <a:t>Word documents </a:t>
            </a:r>
          </a:p>
          <a:p>
            <a:endParaRPr lang="en-US" sz="2000" dirty="0"/>
          </a:p>
          <a:p>
            <a:pPr marL="457200" lvl="1" indent="0">
              <a:buNone/>
            </a:pPr>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3364063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a:bodyPr>
          <a:lstStyle/>
          <a:p>
            <a:endParaRPr lang="en-US" sz="2000" dirty="0"/>
          </a:p>
          <a:p>
            <a:pPr marL="457200" lvl="1" indent="0">
              <a:buNone/>
            </a:pPr>
            <a:endParaRPr lang="en-US" sz="2000" dirty="0"/>
          </a:p>
          <a:p>
            <a:endParaRPr lang="en-US" sz="2000" dirty="0"/>
          </a:p>
          <a:p>
            <a:pPr marL="0" indent="0">
              <a:buNone/>
            </a:pPr>
            <a:endParaRPr lang="en-US" dirty="0"/>
          </a:p>
        </p:txBody>
      </p:sp>
      <p:pic>
        <p:nvPicPr>
          <p:cNvPr id="5" name="Picture 4">
            <a:extLst>
              <a:ext uri="{FF2B5EF4-FFF2-40B4-BE49-F238E27FC236}">
                <a16:creationId xmlns:a16="http://schemas.microsoft.com/office/drawing/2014/main" id="{888115C9-06F8-4D80-B593-D7AE04286DD2}"/>
              </a:ext>
            </a:extLst>
          </p:cNvPr>
          <p:cNvPicPr>
            <a:picLocks noChangeAspect="1"/>
          </p:cNvPicPr>
          <p:nvPr/>
        </p:nvPicPr>
        <p:blipFill>
          <a:blip r:embed="rId2"/>
          <a:stretch>
            <a:fillRect/>
          </a:stretch>
        </p:blipFill>
        <p:spPr>
          <a:xfrm>
            <a:off x="1706137" y="1057943"/>
            <a:ext cx="9798476" cy="4898230"/>
          </a:xfrm>
          <a:prstGeom prst="rect">
            <a:avLst/>
          </a:prstGeom>
        </p:spPr>
      </p:pic>
    </p:spTree>
    <p:extLst>
      <p:ext uri="{BB962C8B-B14F-4D97-AF65-F5344CB8AC3E}">
        <p14:creationId xmlns:p14="http://schemas.microsoft.com/office/powerpoint/2010/main" val="354060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fontScale="92500" lnSpcReduction="10000"/>
          </a:bodyPr>
          <a:lstStyle/>
          <a:p>
            <a:pPr marL="0" indent="0">
              <a:buNone/>
            </a:pPr>
            <a:r>
              <a:rPr lang="en-US" sz="2200" b="1" dirty="0"/>
              <a:t>Libraries</a:t>
            </a:r>
          </a:p>
          <a:p>
            <a:r>
              <a:rPr lang="en-US" sz="2200" dirty="0"/>
              <a:t>Libraries help users organize their files and folders efficiently, together in one place regardless of where they are stored.</a:t>
            </a:r>
          </a:p>
          <a:p>
            <a:r>
              <a:rPr lang="en-US" sz="2200" dirty="0"/>
              <a:t>In Windows 10 there are six default libraries:</a:t>
            </a:r>
          </a:p>
          <a:p>
            <a:pPr lvl="1"/>
            <a:r>
              <a:rPr lang="en-US" sz="2200" dirty="0"/>
              <a:t>Camera Roll - </a:t>
            </a:r>
            <a:r>
              <a:rPr kumimoji="0" lang="en-US" sz="2200" b="0" i="0" u="none" strike="noStrike" kern="1200" cap="none" spc="0" normalizeH="0" baseline="0" noProof="0" dirty="0">
                <a:ln>
                  <a:noFill/>
                </a:ln>
                <a:solidFill>
                  <a:prstClr val="black">
                    <a:lumMod val="75000"/>
                    <a:lumOff val="25000"/>
                  </a:prstClr>
                </a:solidFill>
                <a:effectLst/>
                <a:uLnTx/>
                <a:uFillTx/>
                <a:ea typeface="+mn-ea"/>
                <a:cs typeface="+mn-cs"/>
              </a:rPr>
              <a:t>it is used for organizing and saving pictures. </a:t>
            </a:r>
          </a:p>
          <a:p>
            <a:pPr lvl="1"/>
            <a:r>
              <a:rPr lang="en-US" sz="2200" dirty="0"/>
              <a:t>Documents - </a:t>
            </a:r>
            <a:r>
              <a:rPr kumimoji="0" lang="en-US" sz="2200" b="0" i="0" u="none" strike="noStrike" kern="1200" cap="none" spc="0" normalizeH="0" baseline="0" noProof="0" dirty="0">
                <a:ln>
                  <a:noFill/>
                </a:ln>
                <a:solidFill>
                  <a:prstClr val="black">
                    <a:lumMod val="75000"/>
                    <a:lumOff val="25000"/>
                  </a:prstClr>
                </a:solidFill>
                <a:effectLst/>
                <a:uLnTx/>
                <a:uFillTx/>
                <a:ea typeface="+mn-ea"/>
                <a:cs typeface="+mn-cs"/>
              </a:rPr>
              <a:t>this library is used for organizing and saving documents (text files, workbooks, presentations etc.) </a:t>
            </a:r>
          </a:p>
          <a:p>
            <a:pPr lvl="1"/>
            <a:r>
              <a:rPr lang="en-US" sz="2200" dirty="0"/>
              <a:t>Music - </a:t>
            </a:r>
            <a:r>
              <a:rPr kumimoji="0" lang="en-US" sz="2200" b="0" i="0" u="none" strike="noStrike" kern="1200" cap="none" spc="0" normalizeH="0" baseline="0" noProof="0" dirty="0">
                <a:ln>
                  <a:noFill/>
                </a:ln>
                <a:solidFill>
                  <a:prstClr val="black">
                    <a:lumMod val="75000"/>
                    <a:lumOff val="25000"/>
                  </a:prstClr>
                </a:solidFill>
                <a:effectLst/>
                <a:uLnTx/>
                <a:uFillTx/>
                <a:ea typeface="+mn-ea"/>
                <a:cs typeface="+mn-cs"/>
              </a:rPr>
              <a:t>it is used for organizing and saving music </a:t>
            </a:r>
            <a:endParaRPr lang="en-US" sz="2200" dirty="0"/>
          </a:p>
          <a:p>
            <a:pPr lvl="1"/>
            <a:r>
              <a:rPr lang="en-US" sz="2200" dirty="0"/>
              <a:t>Pictures - </a:t>
            </a:r>
            <a:r>
              <a:rPr kumimoji="0" lang="en-US" sz="2200" b="0" i="0" u="none" strike="noStrike" kern="1200" cap="none" spc="0" normalizeH="0" baseline="0" noProof="0" dirty="0">
                <a:ln>
                  <a:noFill/>
                </a:ln>
                <a:solidFill>
                  <a:prstClr val="black">
                    <a:lumMod val="75000"/>
                    <a:lumOff val="25000"/>
                  </a:prstClr>
                </a:solidFill>
                <a:effectLst/>
                <a:uLnTx/>
                <a:uFillTx/>
                <a:ea typeface="+mn-ea"/>
                <a:cs typeface="+mn-cs"/>
              </a:rPr>
              <a:t>it is used for organizing and saving pictures </a:t>
            </a:r>
            <a:endParaRPr lang="en-US" sz="2200" dirty="0"/>
          </a:p>
          <a:p>
            <a:pPr lvl="1"/>
            <a:r>
              <a:rPr lang="en-US" sz="2200" dirty="0"/>
              <a:t>Saved Pictures - </a:t>
            </a:r>
            <a:r>
              <a:rPr kumimoji="0" lang="en-US" sz="2200" b="0" i="0" u="none" strike="noStrike" kern="1200" cap="none" spc="0" normalizeH="0" baseline="0" noProof="0" dirty="0">
                <a:ln>
                  <a:noFill/>
                </a:ln>
                <a:solidFill>
                  <a:prstClr val="black">
                    <a:lumMod val="75000"/>
                    <a:lumOff val="25000"/>
                  </a:prstClr>
                </a:solidFill>
                <a:effectLst/>
                <a:uLnTx/>
                <a:uFillTx/>
                <a:ea typeface="+mn-ea"/>
                <a:cs typeface="+mn-cs"/>
              </a:rPr>
              <a:t>it is used for organizing and saving pictures </a:t>
            </a:r>
          </a:p>
          <a:p>
            <a:pPr lvl="1"/>
            <a:r>
              <a:rPr lang="en-US" sz="2200" dirty="0"/>
              <a:t>Videos - </a:t>
            </a:r>
            <a:r>
              <a:rPr kumimoji="0" lang="en-US" sz="2200" b="0" i="0" u="none" strike="noStrike" kern="1200" cap="none" spc="0" normalizeH="0" baseline="0" noProof="0" dirty="0">
                <a:ln>
                  <a:noFill/>
                </a:ln>
                <a:solidFill>
                  <a:prstClr val="black">
                    <a:lumMod val="75000"/>
                    <a:lumOff val="25000"/>
                  </a:prstClr>
                </a:solidFill>
                <a:effectLst/>
                <a:uLnTx/>
                <a:uFillTx/>
                <a:ea typeface="+mn-ea"/>
                <a:cs typeface="+mn-cs"/>
              </a:rPr>
              <a:t>it is used for organizing and saving video materials </a:t>
            </a:r>
            <a:endParaRPr lang="en-US" sz="2000" dirty="0"/>
          </a:p>
          <a:p>
            <a:r>
              <a:rPr lang="en-US" sz="2000" dirty="0"/>
              <a:t>Each file and folder have its path – an address of its location.</a:t>
            </a:r>
          </a:p>
          <a:p>
            <a:endParaRPr lang="en-US" sz="2000" dirty="0"/>
          </a:p>
          <a:p>
            <a:r>
              <a:rPr lang="en-US" sz="2000" dirty="0"/>
              <a:t>Above figure shows an Address Bar – Path to the Sample Music folder</a:t>
            </a:r>
          </a:p>
          <a:p>
            <a:endParaRPr lang="en-US" sz="2000" dirty="0"/>
          </a:p>
          <a:p>
            <a:pPr marL="457200" lvl="1" indent="0">
              <a:buNone/>
            </a:pPr>
            <a:endParaRPr lang="en-US" sz="2000" dirty="0"/>
          </a:p>
          <a:p>
            <a:endParaRPr lang="en-US" sz="2000" dirty="0"/>
          </a:p>
          <a:p>
            <a:pPr marL="0" indent="0">
              <a:buNone/>
            </a:pPr>
            <a:endParaRPr lang="en-US" dirty="0"/>
          </a:p>
        </p:txBody>
      </p:sp>
      <p:pic>
        <p:nvPicPr>
          <p:cNvPr id="4" name="Picture 3">
            <a:extLst>
              <a:ext uri="{FF2B5EF4-FFF2-40B4-BE49-F238E27FC236}">
                <a16:creationId xmlns:a16="http://schemas.microsoft.com/office/drawing/2014/main" id="{0B59F102-8B12-4147-BC20-B6A4BE3588D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30250" y="5380888"/>
            <a:ext cx="3881120" cy="244475"/>
          </a:xfrm>
          <a:prstGeom prst="rect">
            <a:avLst/>
          </a:prstGeom>
          <a:noFill/>
          <a:ln>
            <a:noFill/>
          </a:ln>
        </p:spPr>
      </p:pic>
    </p:spTree>
    <p:extLst>
      <p:ext uri="{BB962C8B-B14F-4D97-AF65-F5344CB8AC3E}">
        <p14:creationId xmlns:p14="http://schemas.microsoft.com/office/powerpoint/2010/main" val="12402220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fontScale="92500" lnSpcReduction="20000"/>
          </a:bodyPr>
          <a:lstStyle/>
          <a:p>
            <a:pPr marL="0" indent="0">
              <a:buNone/>
            </a:pPr>
            <a:r>
              <a:rPr lang="en-US" sz="2400" b="1" dirty="0"/>
              <a:t>Creating Folders</a:t>
            </a:r>
          </a:p>
          <a:p>
            <a:r>
              <a:rPr lang="en-US" sz="2400" dirty="0"/>
              <a:t>Folders can be created directly into a drive, such as the C (Local disk) Drive, or within a folder which already exists.</a:t>
            </a:r>
          </a:p>
          <a:p>
            <a:r>
              <a:rPr lang="en-US" sz="2400" dirty="0"/>
              <a:t>To create a folder:</a:t>
            </a:r>
          </a:p>
          <a:p>
            <a:pPr lvl="1"/>
            <a:r>
              <a:rPr lang="en-US" sz="2400" dirty="0"/>
              <a:t>Locate the appropriate drive and/or folder you wish to save in to</a:t>
            </a:r>
          </a:p>
          <a:p>
            <a:pPr lvl="1"/>
            <a:r>
              <a:rPr lang="en-US" sz="2400" dirty="0"/>
              <a:t>Go to “</a:t>
            </a:r>
            <a:r>
              <a:rPr lang="en-US" sz="2400" b="1" dirty="0"/>
              <a:t>Home</a:t>
            </a:r>
            <a:r>
              <a:rPr lang="en-US" sz="2400" dirty="0"/>
              <a:t>” tab</a:t>
            </a:r>
          </a:p>
          <a:p>
            <a:pPr lvl="1"/>
            <a:r>
              <a:rPr lang="en-US" sz="2400" dirty="0"/>
              <a:t>In the “</a:t>
            </a:r>
            <a:r>
              <a:rPr lang="en-US" sz="2400" b="1" dirty="0"/>
              <a:t>New</a:t>
            </a:r>
            <a:r>
              <a:rPr lang="en-US" sz="2400" dirty="0"/>
              <a:t>” group</a:t>
            </a:r>
          </a:p>
          <a:p>
            <a:pPr lvl="1"/>
            <a:r>
              <a:rPr lang="en-US" sz="2400" dirty="0"/>
              <a:t>Click the  “</a:t>
            </a:r>
            <a:r>
              <a:rPr lang="en-US" sz="2400" b="1" dirty="0"/>
              <a:t>New Folder</a:t>
            </a:r>
            <a:r>
              <a:rPr lang="en-US" sz="2400" dirty="0"/>
              <a:t>” option</a:t>
            </a:r>
          </a:p>
          <a:p>
            <a:pPr lvl="1"/>
            <a:r>
              <a:rPr lang="en-US" sz="2400" dirty="0"/>
              <a:t>The new folder will come with a default name of “</a:t>
            </a:r>
            <a:r>
              <a:rPr lang="en-US" sz="2400" b="1" dirty="0"/>
              <a:t>New Folder</a:t>
            </a:r>
            <a:r>
              <a:rPr lang="en-US" sz="2400" dirty="0"/>
              <a:t>”. You will need to rename it to the name of your choice.</a:t>
            </a:r>
          </a:p>
          <a:p>
            <a:pPr lvl="1"/>
            <a:r>
              <a:rPr lang="en-US" sz="2400" dirty="0"/>
              <a:t>Type the name of your choice and press enter or click away from the folder.</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lang="en-US" sz="2400" dirty="0">
                <a:solidFill>
                  <a:prstClr val="black">
                    <a:lumMod val="75000"/>
                    <a:lumOff val="25000"/>
                  </a:prstClr>
                </a:solidFill>
                <a:latin typeface="Century Gothic" panose="020B0502020202020204"/>
              </a:rPr>
              <a:t>You can also</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create a folder by:</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Pressing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Ctrl + Shift + N” </a:t>
            </a:r>
            <a:r>
              <a:rPr kumimoji="0" lang="en-US" sz="24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the same time while in the location where you want to create the new folder.</a:t>
            </a:r>
            <a:endParaRPr lang="en-US" sz="2400" b="1" dirty="0"/>
          </a:p>
          <a:p>
            <a:endParaRPr lang="en-US" sz="2000" b="1" dirty="0"/>
          </a:p>
          <a:p>
            <a:pPr marL="0" indent="0">
              <a:buNone/>
            </a:pPr>
            <a:endParaRPr lang="en-US" dirty="0"/>
          </a:p>
        </p:txBody>
      </p:sp>
    </p:spTree>
    <p:extLst>
      <p:ext uri="{BB962C8B-B14F-4D97-AF65-F5344CB8AC3E}">
        <p14:creationId xmlns:p14="http://schemas.microsoft.com/office/powerpoint/2010/main" val="42595945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1084521"/>
            <a:ext cx="9887685" cy="5126708"/>
          </a:xfrm>
        </p:spPr>
        <p:txBody>
          <a:bodyPr>
            <a:normAutofit/>
          </a:bodyPr>
          <a:lstStyle/>
          <a:p>
            <a:pPr marL="0" indent="0">
              <a:buNone/>
            </a:pPr>
            <a:r>
              <a:rPr lang="en-US" sz="2400" b="1" dirty="0"/>
              <a:t>Selecting Multiple Files or Folders</a:t>
            </a:r>
          </a:p>
          <a:p>
            <a:r>
              <a:rPr lang="en-US" sz="2400" dirty="0"/>
              <a:t>To select a single file, simply left-click on it once.</a:t>
            </a:r>
          </a:p>
          <a:p>
            <a:r>
              <a:rPr lang="en-US" sz="2400" dirty="0"/>
              <a:t>To select a group of adjacent files or folders:</a:t>
            </a:r>
          </a:p>
          <a:p>
            <a:pPr lvl="1"/>
            <a:r>
              <a:rPr lang="en-US" sz="2400" dirty="0"/>
              <a:t>Select the first file/folder</a:t>
            </a:r>
          </a:p>
          <a:p>
            <a:pPr lvl="1"/>
            <a:r>
              <a:rPr lang="en-US" sz="2400" dirty="0"/>
              <a:t>Hold down the [Shift] key</a:t>
            </a:r>
          </a:p>
          <a:p>
            <a:pPr lvl="1"/>
            <a:r>
              <a:rPr lang="en-US" sz="2400" dirty="0"/>
              <a:t>Select the last file/folder</a:t>
            </a:r>
          </a:p>
          <a:p>
            <a:r>
              <a:rPr lang="en-US" sz="2400" dirty="0"/>
              <a:t>To select a group of random files:</a:t>
            </a:r>
          </a:p>
          <a:p>
            <a:pPr lvl="1"/>
            <a:r>
              <a:rPr lang="en-US" sz="2400" dirty="0"/>
              <a:t>Select the first file/folder</a:t>
            </a:r>
          </a:p>
          <a:p>
            <a:pPr lvl="1"/>
            <a:r>
              <a:rPr lang="en-US" sz="2400" dirty="0"/>
              <a:t>Hold down the [Ctrl] key</a:t>
            </a:r>
          </a:p>
          <a:p>
            <a:pPr lvl="1"/>
            <a:r>
              <a:rPr lang="en-US" sz="2400" dirty="0"/>
              <a:t>Select each of the other files/folders individually</a:t>
            </a:r>
          </a:p>
          <a:p>
            <a:pPr marL="457200" lvl="1" indent="0">
              <a:buNone/>
            </a:pPr>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29009368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fontScale="92500" lnSpcReduction="20000"/>
          </a:bodyPr>
          <a:lstStyle/>
          <a:p>
            <a:pPr marL="0" indent="0">
              <a:buNone/>
            </a:pPr>
            <a:r>
              <a:rPr lang="en-US" sz="2000" b="1" dirty="0"/>
              <a:t>Copying Files or Folders</a:t>
            </a:r>
          </a:p>
          <a:p>
            <a:pPr marL="0" indent="0">
              <a:buNone/>
            </a:pPr>
            <a:r>
              <a:rPr lang="en-US" sz="2000" b="1" dirty="0"/>
              <a:t>Copying and Pasting</a:t>
            </a:r>
          </a:p>
          <a:p>
            <a:r>
              <a:rPr lang="en-US" sz="2000" dirty="0"/>
              <a:t>Files and folders are copied and pasted when you wish to keep the file/folder in the same place, but also have another copy elsewhere.</a:t>
            </a:r>
          </a:p>
          <a:p>
            <a:r>
              <a:rPr lang="en-US" sz="2000" dirty="0"/>
              <a:t>To copy and paste a file/folder:</a:t>
            </a:r>
          </a:p>
          <a:p>
            <a:pPr lvl="1"/>
            <a:r>
              <a:rPr lang="en-US" sz="2000" dirty="0"/>
              <a:t>Right click on the appropriate file/folder </a:t>
            </a:r>
          </a:p>
          <a:p>
            <a:pPr lvl="1"/>
            <a:r>
              <a:rPr lang="en-US" sz="2000" dirty="0"/>
              <a:t>From the pop up menu click “</a:t>
            </a:r>
            <a:r>
              <a:rPr lang="en-US" sz="2000" b="1" dirty="0"/>
              <a:t>Copy</a:t>
            </a:r>
            <a:r>
              <a:rPr lang="en-US" sz="2000" dirty="0"/>
              <a:t>”</a:t>
            </a:r>
          </a:p>
          <a:p>
            <a:pPr lvl="1"/>
            <a:r>
              <a:rPr lang="en-US" sz="2000" dirty="0"/>
              <a:t>Find the new folder you wish to add the file/folder to</a:t>
            </a:r>
          </a:p>
          <a:p>
            <a:pPr lvl="1"/>
            <a:r>
              <a:rPr lang="en-US" sz="2000" dirty="0"/>
              <a:t>Right click on the folder you wish to add the file/folder to</a:t>
            </a:r>
          </a:p>
          <a:p>
            <a:pPr lvl="1"/>
            <a:r>
              <a:rPr lang="en-US" sz="2000" dirty="0"/>
              <a:t>From the pop up menu click “</a:t>
            </a:r>
            <a:r>
              <a:rPr lang="en-US" sz="2000" b="1" dirty="0"/>
              <a:t>Paste</a:t>
            </a:r>
            <a:r>
              <a:rPr lang="en-US" sz="2000" dirty="0"/>
              <a:t>”</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 copy and paste a file/folder using shortcut keys:</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lang="en-US" sz="2000" dirty="0">
                <a:solidFill>
                  <a:prstClr val="black">
                    <a:lumMod val="75000"/>
                    <a:lumOff val="25000"/>
                  </a:prstClr>
                </a:solidFill>
                <a:latin typeface="Century Gothic" panose="020B0502020202020204"/>
              </a:rPr>
              <a:t>Select the file or folder you wish to copy from its location.</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lang="en-US" sz="2000" dirty="0">
                <a:solidFill>
                  <a:prstClr val="black">
                    <a:lumMod val="75000"/>
                    <a:lumOff val="25000"/>
                  </a:prstClr>
                </a:solidFill>
                <a:latin typeface="Century Gothic" panose="020B0502020202020204"/>
              </a:rPr>
              <a:t>Press “</a:t>
            </a:r>
            <a:r>
              <a:rPr lang="en-US" sz="2000" b="1" dirty="0">
                <a:solidFill>
                  <a:prstClr val="black">
                    <a:lumMod val="75000"/>
                    <a:lumOff val="25000"/>
                  </a:prstClr>
                </a:solidFill>
                <a:latin typeface="Century Gothic" panose="020B0502020202020204"/>
              </a:rPr>
              <a:t>Ctrl + C</a:t>
            </a:r>
            <a:r>
              <a:rPr lang="en-US" sz="2000" dirty="0">
                <a:solidFill>
                  <a:prstClr val="black">
                    <a:lumMod val="75000"/>
                    <a:lumOff val="25000"/>
                  </a:prstClr>
                </a:solidFill>
                <a:latin typeface="Century Gothic" panose="020B0502020202020204"/>
              </a:rPr>
              <a:t>” on the keyboard at the same time.</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lang="en-US" sz="2000" dirty="0">
                <a:solidFill>
                  <a:prstClr val="black">
                    <a:lumMod val="75000"/>
                    <a:lumOff val="25000"/>
                  </a:prstClr>
                </a:solidFill>
                <a:latin typeface="Century Gothic" panose="020B0502020202020204"/>
              </a:rPr>
              <a:t>Then while in the new location you want to place your file or folder press “</a:t>
            </a:r>
            <a:r>
              <a:rPr lang="en-US" sz="2000" b="1" dirty="0">
                <a:solidFill>
                  <a:prstClr val="black">
                    <a:lumMod val="75000"/>
                    <a:lumOff val="25000"/>
                  </a:prstClr>
                </a:solidFill>
                <a:latin typeface="Century Gothic" panose="020B0502020202020204"/>
              </a:rPr>
              <a:t>Ctrl + V</a:t>
            </a:r>
            <a:r>
              <a:rPr lang="en-US" sz="2000" dirty="0">
                <a:solidFill>
                  <a:prstClr val="black">
                    <a:lumMod val="75000"/>
                    <a:lumOff val="25000"/>
                  </a:prstClr>
                </a:solidFill>
                <a:latin typeface="Century Gothic" panose="020B0502020202020204"/>
              </a:rPr>
              <a:t>” on your keyboard.</a:t>
            </a:r>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36240794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a:bodyPr>
          <a:lstStyle/>
          <a:p>
            <a:pPr marL="0" indent="0">
              <a:buNone/>
            </a:pPr>
            <a:r>
              <a:rPr lang="en-US" sz="2400" b="1" dirty="0"/>
              <a:t>Copying using the drag-and-drop method:</a:t>
            </a:r>
          </a:p>
          <a:p>
            <a:pPr lvl="1"/>
            <a:r>
              <a:rPr lang="en-US" sz="2400" dirty="0"/>
              <a:t>Select the file/folder you want to copy </a:t>
            </a:r>
          </a:p>
          <a:p>
            <a:pPr lvl="1"/>
            <a:r>
              <a:rPr lang="en-US" sz="2400" dirty="0"/>
              <a:t>Over the selected file/folder, press and hold down the left mouse button, and then drag the mouse pointer (with file or folder) to a new location.</a:t>
            </a:r>
          </a:p>
          <a:p>
            <a:pPr lvl="1"/>
            <a:r>
              <a:rPr lang="en-US" sz="2400" dirty="0"/>
              <a:t>Release the mouse button. The file or folder will be pasted to the new location. </a:t>
            </a:r>
            <a:r>
              <a:rPr lang="en-US" sz="2400" b="1" dirty="0"/>
              <a:t>OR</a:t>
            </a:r>
          </a:p>
          <a:p>
            <a:pPr lvl="1"/>
            <a:r>
              <a:rPr lang="en-US" sz="2400" dirty="0"/>
              <a:t>If copying in the same location e.g. on the desktop using the drag and drop method.</a:t>
            </a:r>
          </a:p>
          <a:p>
            <a:pPr lvl="2"/>
            <a:r>
              <a:rPr lang="en-US" sz="2400" dirty="0"/>
              <a:t>As you holding the left mouse button also press the “</a:t>
            </a:r>
            <a:r>
              <a:rPr lang="en-US" sz="2400" b="1" dirty="0"/>
              <a:t>Ctrl</a:t>
            </a:r>
            <a:r>
              <a:rPr lang="en-US" sz="2400" dirty="0"/>
              <a:t>” key on the keyboard and release it as you are releasing the mouse button at the desired location.</a:t>
            </a:r>
          </a:p>
          <a:p>
            <a:pPr marL="0" indent="0">
              <a:buNone/>
            </a:pPr>
            <a:endParaRPr lang="en-US" dirty="0"/>
          </a:p>
        </p:txBody>
      </p:sp>
    </p:spTree>
    <p:extLst>
      <p:ext uri="{BB962C8B-B14F-4D97-AF65-F5344CB8AC3E}">
        <p14:creationId xmlns:p14="http://schemas.microsoft.com/office/powerpoint/2010/main" val="22023584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620214"/>
          </a:xfrm>
        </p:spPr>
        <p:txBody>
          <a:bodyPr>
            <a:noAutofit/>
          </a:bodyPr>
          <a:lstStyle/>
          <a:p>
            <a:pPr marL="0" indent="0">
              <a:buNone/>
            </a:pPr>
            <a:r>
              <a:rPr lang="en-US" sz="2000" b="1" dirty="0"/>
              <a:t>Moving a file or folder</a:t>
            </a:r>
          </a:p>
          <a:p>
            <a:r>
              <a:rPr lang="en-US" sz="2000" dirty="0"/>
              <a:t>Files and folders are moved when you wish to permanently change the place where they are stored. To move a file/folder:</a:t>
            </a:r>
          </a:p>
          <a:p>
            <a:pPr lvl="1"/>
            <a:r>
              <a:rPr lang="en-US" sz="2000" dirty="0"/>
              <a:t>Right click on the appropriate file/folder </a:t>
            </a:r>
          </a:p>
          <a:p>
            <a:pPr lvl="1"/>
            <a:r>
              <a:rPr lang="en-US" sz="2000" dirty="0"/>
              <a:t>Select “</a:t>
            </a:r>
            <a:r>
              <a:rPr lang="en-US" sz="2000" b="1" dirty="0"/>
              <a:t>Cut</a:t>
            </a:r>
            <a:r>
              <a:rPr lang="en-US" sz="2000" dirty="0"/>
              <a:t>” from the pop up menu options.</a:t>
            </a:r>
          </a:p>
          <a:p>
            <a:pPr lvl="1"/>
            <a:r>
              <a:rPr lang="en-US" sz="2000" dirty="0"/>
              <a:t>Find the folder you wish to move the file/folder to</a:t>
            </a:r>
          </a:p>
          <a:p>
            <a:pPr lvl="1"/>
            <a:r>
              <a:rPr lang="en-US" sz="2000" dirty="0"/>
              <a:t>Right click on the folder you wish to move the file/folder to</a:t>
            </a:r>
          </a:p>
          <a:p>
            <a:pPr lvl="1"/>
            <a:r>
              <a:rPr lang="en-US" sz="2000" dirty="0"/>
              <a:t>Select “</a:t>
            </a:r>
            <a:r>
              <a:rPr lang="en-US" sz="2000" b="1" dirty="0"/>
              <a:t>Paste</a:t>
            </a:r>
            <a:r>
              <a:rPr lang="en-US" sz="2000" dirty="0"/>
              <a:t>” from the pop up menu options.</a:t>
            </a:r>
          </a:p>
          <a:p>
            <a:pPr marL="0" indent="0">
              <a:buNone/>
            </a:pPr>
            <a:r>
              <a:rPr lang="en-US" sz="2000" b="1" dirty="0"/>
              <a:t>Moving file using shortcut keys:</a:t>
            </a:r>
          </a:p>
          <a:p>
            <a:pPr lvl="1"/>
            <a:r>
              <a:rPr lang="en-US" sz="2000" dirty="0"/>
              <a:t>Press the “</a:t>
            </a:r>
            <a:r>
              <a:rPr lang="en-US" sz="2000" b="1" dirty="0"/>
              <a:t>Ctrl + X</a:t>
            </a:r>
            <a:r>
              <a:rPr lang="en-US" sz="2000" dirty="0"/>
              <a:t>” keys on the keyboard then “</a:t>
            </a:r>
            <a:r>
              <a:rPr lang="en-US" sz="2000" b="1" dirty="0"/>
              <a:t>Ctrl + V</a:t>
            </a:r>
            <a:r>
              <a:rPr lang="en-US" sz="2000" dirty="0"/>
              <a:t>” keys in the desired location where you want to move your file or folder to.</a:t>
            </a:r>
          </a:p>
          <a:p>
            <a:pPr marL="0" indent="0">
              <a:buNone/>
            </a:pPr>
            <a:r>
              <a:rPr lang="en-US" sz="2000" b="1" dirty="0"/>
              <a:t>Moving file using drag and drop method</a:t>
            </a:r>
          </a:p>
          <a:p>
            <a:pPr lvl="1"/>
            <a:r>
              <a:rPr lang="en-US" sz="2000" dirty="0"/>
              <a:t>use the same steps as for copying, except without using the Ctrl key if moving in the same location. </a:t>
            </a:r>
          </a:p>
        </p:txBody>
      </p:sp>
    </p:spTree>
    <p:extLst>
      <p:ext uri="{BB962C8B-B14F-4D97-AF65-F5344CB8AC3E}">
        <p14:creationId xmlns:p14="http://schemas.microsoft.com/office/powerpoint/2010/main" val="30261298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a:bodyPr>
          <a:lstStyle/>
          <a:p>
            <a:pPr marL="0" marR="0" lvl="0" indent="0" algn="l" defTabSz="457200" rtl="0" eaLnBrk="1" fontAlgn="auto" latinLnBrk="0" hangingPunct="1">
              <a:lnSpc>
                <a:spcPct val="100000"/>
              </a:lnSpc>
              <a:spcBef>
                <a:spcPts val="1000"/>
              </a:spcBef>
              <a:spcAft>
                <a:spcPts val="0"/>
              </a:spcAft>
              <a:buClr>
                <a:srgbClr val="A53010"/>
              </a:buClr>
              <a:buSzTx/>
              <a:buNone/>
              <a:tabLst/>
              <a:defRPr/>
            </a:pP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Renaming a file/folder: </a:t>
            </a:r>
            <a:endParaRPr lang="en-US" sz="2000" dirty="0"/>
          </a:p>
          <a:p>
            <a:r>
              <a:rPr lang="en-US" sz="2000" dirty="0"/>
              <a:t>To rename a file or folder</a:t>
            </a:r>
          </a:p>
          <a:p>
            <a:pPr lvl="1"/>
            <a:r>
              <a:rPr lang="en-US" sz="1800" dirty="0"/>
              <a:t>Right-click on the file/folder and from the pop-up menu, select the Rename command. Type in the new name and press the left mouse button next to the icon or just press Enter. </a:t>
            </a:r>
          </a:p>
          <a:p>
            <a:pPr lvl="1"/>
            <a:r>
              <a:rPr lang="en-US" sz="1800" dirty="0"/>
              <a:t>Select the file/folder and after a few moments press the left mouse button then type in the new name and </a:t>
            </a:r>
            <a:r>
              <a:rPr kumimoji="0" lang="en-US"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press the left mouse button next to the icon or just press Enter. </a:t>
            </a:r>
            <a:endParaRPr lang="en-US" sz="2000" dirty="0"/>
          </a:p>
          <a:p>
            <a:pPr marL="0" indent="0">
              <a:buNone/>
            </a:pPr>
            <a:r>
              <a:rPr lang="en-US" sz="2000" b="1" dirty="0"/>
              <a:t>Deleting a file or folder:</a:t>
            </a:r>
          </a:p>
          <a:p>
            <a:r>
              <a:rPr lang="en-US" sz="2000" dirty="0"/>
              <a:t>Once you have finished with a folder or file, you can delete it:</a:t>
            </a:r>
          </a:p>
          <a:p>
            <a:pPr lvl="1"/>
            <a:r>
              <a:rPr lang="en-US" sz="1800" dirty="0"/>
              <a:t>Right click on the appropriate file/folder</a:t>
            </a:r>
          </a:p>
          <a:p>
            <a:pPr lvl="1"/>
            <a:r>
              <a:rPr lang="en-US" sz="1800" dirty="0"/>
              <a:t>Select “Delete”</a:t>
            </a:r>
          </a:p>
          <a:p>
            <a:pPr marL="457200" lvl="1" indent="0">
              <a:buNone/>
            </a:pPr>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41282725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pPr marL="0" marR="0" lvl="0" indent="0" algn="l" defTabSz="457200" rtl="0" eaLnBrk="1" fontAlgn="auto" latinLnBrk="0" hangingPunct="1">
              <a:lnSpc>
                <a:spcPct val="150000"/>
              </a:lnSpc>
              <a:spcBef>
                <a:spcPts val="1000"/>
              </a:spcBef>
              <a:spcAft>
                <a:spcPts val="0"/>
              </a:spcAft>
              <a:buClr>
                <a:srgbClr val="A53010"/>
              </a:buClr>
              <a:buSzTx/>
              <a:buFont typeface="Wingdings 3" charset="2"/>
              <a:buNone/>
              <a:tabLst/>
              <a:defRPr/>
            </a:pPr>
            <a:r>
              <a:rPr kumimoji="0" lang="en-US"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RECYCLE BIN</a:t>
            </a:r>
            <a:br>
              <a:rPr kumimoji="0" lang="en-US" sz="2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b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946778"/>
            <a:ext cx="9887685" cy="5264451"/>
          </a:xfrm>
        </p:spPr>
        <p:txBody>
          <a:bodyPr>
            <a:normAutofit fontScale="92500" lnSpcReduction="20000"/>
          </a:bodyPr>
          <a:lstStyle/>
          <a:p>
            <a:pPr>
              <a:lnSpc>
                <a:spcPct val="120000"/>
              </a:lnSpc>
            </a:pPr>
            <a:r>
              <a:rPr lang="en-US" sz="2400" dirty="0"/>
              <a:t>The Recycle Bin is where any folders or files that you decide to delete go. They stay there until you choose to “empty” the Recycle Bin. This means that if you accidentally delete a file or folder, you should be able to retrieve it, and send it back to the place it was originally located. </a:t>
            </a:r>
          </a:p>
          <a:p>
            <a:pPr marL="0" marR="0" lvl="0" indent="0" algn="l" defTabSz="457200" rtl="0" eaLnBrk="1" fontAlgn="auto" latinLnBrk="0" hangingPunct="1">
              <a:lnSpc>
                <a:spcPct val="100000"/>
              </a:lnSpc>
              <a:spcBef>
                <a:spcPts val="1000"/>
              </a:spcBef>
              <a:spcAft>
                <a:spcPts val="0"/>
              </a:spcAft>
              <a:buClr>
                <a:srgbClr val="A53010"/>
              </a:buClr>
              <a:buSzTx/>
              <a:buFont typeface="Wingdings 3" charset="2"/>
              <a:buNone/>
              <a:tabLst/>
              <a:defRPr/>
            </a:pP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Delete files and folders by moving them into the Recycle Bin: via File Explorer: </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In the navigation pane select the location the files/folders you want to delete are in, then in the right window select the files/folders you want to delete and click the “</a:t>
            </a: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Home</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 tab and from the “</a:t>
            </a: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Organize</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 group on the toolbar, choose “</a:t>
            </a: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Delete</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 or </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Press the right mouse button over the file/folder and from the pop-up menu, choose Delete </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Select the file/folder you want to delete and press the Delete key on the keyboard. </a:t>
            </a:r>
          </a:p>
          <a:p>
            <a:pPr marL="0" indent="0">
              <a:buNone/>
            </a:pPr>
            <a:endParaRPr lang="en-US" dirty="0"/>
          </a:p>
        </p:txBody>
      </p:sp>
    </p:spTree>
    <p:extLst>
      <p:ext uri="{BB962C8B-B14F-4D97-AF65-F5344CB8AC3E}">
        <p14:creationId xmlns:p14="http://schemas.microsoft.com/office/powerpoint/2010/main" val="38917516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lang="en-US" dirty="0"/>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a:bodyPr>
          <a:lstStyle/>
          <a:p>
            <a:pPr marL="0" marR="0" lvl="0" indent="0" algn="l" defTabSz="457200" rtl="0" eaLnBrk="1" fontAlgn="auto" latinLnBrk="0" hangingPunct="1">
              <a:lnSpc>
                <a:spcPct val="100000"/>
              </a:lnSpc>
              <a:spcBef>
                <a:spcPts val="1000"/>
              </a:spcBef>
              <a:spcAft>
                <a:spcPts val="0"/>
              </a:spcAft>
              <a:buClr>
                <a:srgbClr val="A53010"/>
              </a:buClr>
              <a:buSzTx/>
              <a:buFont typeface="Wingdings 3" charset="2"/>
              <a:buNone/>
              <a:tabLst/>
              <a:defRPr/>
            </a:pP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Delete files and folders by moving them into the Recycle Bin: </a:t>
            </a:r>
            <a:r>
              <a:rPr lang="en-US" sz="2400" b="1" dirty="0">
                <a:solidFill>
                  <a:prstClr val="black">
                    <a:lumMod val="75000"/>
                    <a:lumOff val="25000"/>
                  </a:prstClr>
                </a:solidFill>
              </a:rPr>
              <a:t>v</a:t>
            </a:r>
            <a:r>
              <a:rPr kumimoji="0" lang="en-US" sz="2400" b="1" i="0" u="none" strike="noStrike" kern="1200" cap="none" spc="0" normalizeH="0" baseline="0" noProof="0" dirty="0" err="1">
                <a:ln>
                  <a:noFill/>
                </a:ln>
                <a:solidFill>
                  <a:prstClr val="black">
                    <a:lumMod val="75000"/>
                    <a:lumOff val="25000"/>
                  </a:prstClr>
                </a:solidFill>
                <a:effectLst/>
                <a:uLnTx/>
                <a:uFillTx/>
                <a:ea typeface="+mn-ea"/>
                <a:cs typeface="+mn-cs"/>
              </a:rPr>
              <a:t>ia</a:t>
            </a: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 the drag-and-drop method (on the Desktop):</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 </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Press and hold down the left mouse button over the file/folder/shortcut you want to delete, then drag the mouse cursor to the Recycle Bin and release the mouse button</a:t>
            </a:r>
          </a:p>
          <a:p>
            <a:pPr marL="0" marR="0" lvl="0" indent="0" algn="l" defTabSz="457200" rtl="0" eaLnBrk="1" fontAlgn="auto" latinLnBrk="0" hangingPunct="1">
              <a:lnSpc>
                <a:spcPct val="100000"/>
              </a:lnSpc>
              <a:spcBef>
                <a:spcPts val="1000"/>
              </a:spcBef>
              <a:spcAft>
                <a:spcPts val="0"/>
              </a:spcAft>
              <a:buClr>
                <a:srgbClr val="A53010"/>
              </a:buClr>
              <a:buSzTx/>
              <a:buFont typeface="Wingdings 3" charset="2"/>
              <a:buNone/>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 Restore deleted items from the Recycle Bin: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Deleted items (files/folders/shortcuts) can be restored from the Recycle Bin to their original location on the computer prior to deletion.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There is also an option to restore everything in the Recycle Bin at once.</a:t>
            </a:r>
          </a:p>
          <a:p>
            <a:pPr marL="457200" lvl="1" indent="0">
              <a:buNone/>
            </a:pPr>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11951222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lang="en-US" dirty="0"/>
              <a:t>CONT… </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fontScale="92500"/>
          </a:bodyPr>
          <a:lstStyle/>
          <a:p>
            <a:r>
              <a:rPr lang="en-US" sz="2400" dirty="0"/>
              <a:t>After opening the Recycle Bin (by double-clicking on the Recycle Bin icon) use the following commands on the toolbar: </a:t>
            </a:r>
          </a:p>
          <a:p>
            <a:pPr lvl="1"/>
            <a:r>
              <a:rPr lang="en-US" sz="2400" dirty="0"/>
              <a:t>Restore all items – restores all items from the Recycle Bin to their original location on the computer</a:t>
            </a:r>
          </a:p>
          <a:p>
            <a:pPr lvl="1"/>
            <a:r>
              <a:rPr lang="en-US" sz="2400" dirty="0"/>
              <a:t>Restore this item – to make this command available, first select the file/folder you want to restore</a:t>
            </a:r>
          </a:p>
          <a:p>
            <a:pPr marL="0" indent="0">
              <a:buNone/>
            </a:pPr>
            <a:r>
              <a:rPr lang="en-US" sz="2400" b="1" dirty="0"/>
              <a:t>Empty the Recycle Bin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You may wish to completely empty the Recycle Bin, if you are sure that you will not need to use its contents again. </a:t>
            </a:r>
            <a:endParaRPr lang="en-US" sz="2400" b="1" dirty="0"/>
          </a:p>
          <a:p>
            <a:pPr lvl="1"/>
            <a:r>
              <a:rPr lang="en-US" sz="2400" dirty="0"/>
              <a:t>Via Recycle Bin window toolbar – the Empty the Recycle Bin command permanently deletes files/folders from the computer, or </a:t>
            </a:r>
          </a:p>
          <a:p>
            <a:pPr lvl="1"/>
            <a:r>
              <a:rPr lang="en-US" sz="2400" dirty="0"/>
              <a:t>Right-click on the Recycle Bin icon found on the desktop and from the pop-up menu, choose the Empty Recycle Bin command</a:t>
            </a:r>
          </a:p>
          <a:p>
            <a:endParaRPr lang="en-US" sz="2000" dirty="0"/>
          </a:p>
          <a:p>
            <a:pPr marL="457200" lvl="1" indent="0">
              <a:buNone/>
            </a:pPr>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11091344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lang="en-US" dirty="0"/>
              <a:t>WORKING WITH FILES AND FOLDERS BASIC CONCEPTS </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fontScale="92500" lnSpcReduction="20000"/>
          </a:bodyPr>
          <a:lstStyle/>
          <a:p>
            <a:pPr marL="0" indent="0">
              <a:buNone/>
            </a:pPr>
            <a:r>
              <a:rPr lang="en-US" sz="2400" b="1" dirty="0"/>
              <a:t>Common Keyboard Shortcuts</a:t>
            </a:r>
          </a:p>
          <a:p>
            <a:r>
              <a:rPr lang="en-US" sz="2400" dirty="0"/>
              <a:t>There are also ways to perform some operations, using the keyboard by pressing a combination of keys:</a:t>
            </a:r>
          </a:p>
          <a:p>
            <a:pPr lvl="1"/>
            <a:r>
              <a:rPr lang="en-US" sz="2400" dirty="0"/>
              <a:t>Open: Ctrl + O</a:t>
            </a:r>
          </a:p>
          <a:p>
            <a:pPr lvl="1"/>
            <a:r>
              <a:rPr lang="en-US" sz="2400" dirty="0"/>
              <a:t>Select all: Ctrl + A</a:t>
            </a:r>
          </a:p>
          <a:p>
            <a:pPr lvl="1"/>
            <a:r>
              <a:rPr lang="en-US" sz="2400" dirty="0"/>
              <a:t>Save: Ctrl + S</a:t>
            </a:r>
          </a:p>
          <a:p>
            <a:pPr lvl="1"/>
            <a:r>
              <a:rPr lang="en-US" sz="2400" dirty="0"/>
              <a:t>Copy: Ctrl + C</a:t>
            </a:r>
          </a:p>
          <a:p>
            <a:pPr lvl="1"/>
            <a:r>
              <a:rPr lang="en-US" sz="2400" dirty="0"/>
              <a:t>Print: Ctrl + P</a:t>
            </a:r>
          </a:p>
          <a:p>
            <a:pPr lvl="1"/>
            <a:r>
              <a:rPr lang="en-US" sz="2400" dirty="0"/>
              <a:t>Cut: Ctrl + X</a:t>
            </a:r>
          </a:p>
          <a:p>
            <a:pPr lvl="1"/>
            <a:r>
              <a:rPr lang="en-US" sz="2400" dirty="0"/>
              <a:t>Find: Ctrl + F</a:t>
            </a:r>
          </a:p>
          <a:p>
            <a:pPr lvl="1"/>
            <a:r>
              <a:rPr lang="en-US" sz="2400" dirty="0"/>
              <a:t>Paste: Ctrl + V</a:t>
            </a:r>
          </a:p>
          <a:p>
            <a:pPr lvl="1"/>
            <a:r>
              <a:rPr lang="en-US" sz="2400" dirty="0"/>
              <a:t>Launch help: F1</a:t>
            </a:r>
          </a:p>
          <a:p>
            <a:pPr lvl="1"/>
            <a:r>
              <a:rPr lang="en-US" sz="2400" dirty="0"/>
              <a:t>Undo: Ctrl + Z</a:t>
            </a:r>
          </a:p>
          <a:p>
            <a:pPr marL="457200" lvl="1" indent="0">
              <a:buNone/>
            </a:pPr>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16138023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lang="en-US" dirty="0"/>
              <a:t>TEXT EDITING APPLICATIONS</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946778"/>
            <a:ext cx="9887685" cy="5264451"/>
          </a:xfrm>
        </p:spPr>
        <p:txBody>
          <a:bodyPr>
            <a:normAutofit fontScale="77500" lnSpcReduction="20000"/>
          </a:bodyPr>
          <a:lstStyle/>
          <a:p>
            <a:r>
              <a:rPr lang="en-US" sz="2800" dirty="0"/>
              <a:t>There are 3 different text editing applications supplied with Windows:</a:t>
            </a:r>
          </a:p>
          <a:p>
            <a:r>
              <a:rPr lang="en-US" sz="2800" b="1" dirty="0"/>
              <a:t>Notepad: </a:t>
            </a:r>
            <a:r>
              <a:rPr lang="en-US" sz="2800" dirty="0"/>
              <a:t>Very basic text editing application which only allows you to choose different fonts to type in.</a:t>
            </a:r>
          </a:p>
          <a:p>
            <a:r>
              <a:rPr lang="en-US" sz="2800" b="1" dirty="0"/>
              <a:t>WordPad: </a:t>
            </a:r>
            <a:r>
              <a:rPr lang="en-US" sz="2800" dirty="0"/>
              <a:t>Allows you to choose different fonts and colors and to align text left, right or center and insert bullets.</a:t>
            </a:r>
          </a:p>
          <a:p>
            <a:r>
              <a:rPr lang="en-US" sz="2800" b="1" dirty="0"/>
              <a:t>Word: </a:t>
            </a:r>
            <a:r>
              <a:rPr lang="en-US" sz="2800" dirty="0"/>
              <a:t>The most advanced of the three. Allows you to modify most aspects of your document, including text alignment, font color, pictures, tables, tabs, bulleted lists and margins.</a:t>
            </a:r>
          </a:p>
          <a:p>
            <a:pPr marL="0" indent="0">
              <a:buNone/>
            </a:pPr>
            <a:r>
              <a:rPr lang="en-US" sz="2800" b="1" dirty="0"/>
              <a:t>Opening WordPad or Notepad:</a:t>
            </a:r>
          </a:p>
          <a:p>
            <a:pPr lvl="1"/>
            <a:r>
              <a:rPr lang="en-US" sz="2800" dirty="0"/>
              <a:t>Right click the “Start menu” </a:t>
            </a:r>
          </a:p>
          <a:p>
            <a:pPr lvl="1"/>
            <a:r>
              <a:rPr lang="en-US" sz="2800" dirty="0"/>
              <a:t>Select “Apps and Features”</a:t>
            </a:r>
          </a:p>
          <a:p>
            <a:pPr lvl="1"/>
            <a:r>
              <a:rPr lang="en-US" sz="2800" dirty="0"/>
              <a:t>Then select “Optional Features”</a:t>
            </a:r>
          </a:p>
          <a:p>
            <a:pPr lvl="1"/>
            <a:r>
              <a:rPr lang="en-US" sz="2800" dirty="0"/>
              <a:t>Select the appropriate application whether WordPad or Notepad</a:t>
            </a:r>
          </a:p>
          <a:p>
            <a:pPr marL="457200" lvl="1" indent="0">
              <a:buNone/>
            </a:pPr>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20475079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lang="en-US" dirty="0"/>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946778"/>
            <a:ext cx="9887685" cy="5264451"/>
          </a:xfrm>
        </p:spPr>
        <p:txBody>
          <a:bodyPr>
            <a:normAutofit/>
          </a:bodyPr>
          <a:lstStyle/>
          <a:p>
            <a:pPr marL="0" indent="0">
              <a:buNone/>
            </a:pPr>
            <a:r>
              <a:rPr lang="en-US" sz="2400" b="1" dirty="0"/>
              <a:t>Opening Word:</a:t>
            </a:r>
          </a:p>
          <a:p>
            <a:pPr lvl="1"/>
            <a:r>
              <a:rPr lang="en-US" sz="2400" dirty="0"/>
              <a:t>Click the “Start menu”</a:t>
            </a:r>
          </a:p>
          <a:p>
            <a:pPr lvl="1"/>
            <a:r>
              <a:rPr lang="en-US" sz="2400" dirty="0"/>
              <a:t>Scroll down through the applications and select “Word”</a:t>
            </a:r>
          </a:p>
          <a:p>
            <a:pPr lvl="1"/>
            <a:r>
              <a:rPr lang="en-US" sz="2400" dirty="0"/>
              <a:t>If pinned on Taskbar, click the word icon on the Taskbar.</a:t>
            </a:r>
          </a:p>
          <a:p>
            <a:pPr marL="0" marR="0" lvl="0" indent="0" algn="l" defTabSz="457200" rtl="0" eaLnBrk="1" fontAlgn="auto" latinLnBrk="0" hangingPunct="1">
              <a:lnSpc>
                <a:spcPct val="100000"/>
              </a:lnSpc>
              <a:spcBef>
                <a:spcPts val="1000"/>
              </a:spcBef>
              <a:spcAft>
                <a:spcPts val="0"/>
              </a:spcAft>
              <a:buClr>
                <a:srgbClr val="A53010"/>
              </a:buClr>
              <a:buSzTx/>
              <a:buFont typeface="Wingdings 3" charset="2"/>
              <a:buNone/>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Printing a text document from a word processing software:</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Go to “File” tab.</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Select “Print” option.</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This will bring up a new window, where you can enter details of how many copies, and which printer you wish to use.</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Once you have entered these details, click “Print”.</a:t>
            </a:r>
          </a:p>
          <a:p>
            <a:pPr marL="457200" lvl="1" indent="0">
              <a:buNone/>
            </a:pPr>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35841669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lang="en-US" dirty="0"/>
              <a:t>CONT… </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802888"/>
            <a:ext cx="9887685" cy="5408341"/>
          </a:xfrm>
        </p:spPr>
        <p:txBody>
          <a:bodyPr>
            <a:normAutofit fontScale="77500" lnSpcReduction="20000"/>
          </a:bodyPr>
          <a:lstStyle/>
          <a:p>
            <a:pPr marL="0" indent="0">
              <a:buNone/>
            </a:pPr>
            <a:r>
              <a:rPr lang="en-US" sz="2900" b="1" dirty="0"/>
              <a:t>Saving your document:</a:t>
            </a:r>
          </a:p>
          <a:p>
            <a:pPr lvl="1"/>
            <a:r>
              <a:rPr lang="en-US" sz="2900" dirty="0"/>
              <a:t>Go to “File” tab</a:t>
            </a:r>
          </a:p>
          <a:p>
            <a:pPr lvl="1"/>
            <a:r>
              <a:rPr lang="en-US" sz="2900" dirty="0"/>
              <a:t>Select “Save As”</a:t>
            </a:r>
          </a:p>
          <a:p>
            <a:pPr lvl="1"/>
            <a:r>
              <a:rPr lang="en-US" sz="2900" dirty="0"/>
              <a:t>A new window will open.</a:t>
            </a:r>
          </a:p>
          <a:p>
            <a:pPr lvl="1"/>
            <a:r>
              <a:rPr lang="en-US" sz="2900" dirty="0"/>
              <a:t>Give your document a name</a:t>
            </a:r>
          </a:p>
          <a:p>
            <a:pPr marL="400050"/>
            <a:r>
              <a:rPr lang="en-US" sz="2900" dirty="0"/>
              <a:t>The application you are working in will automatically pick a file format for you. However, you can choose to over-ride this by clicking on the dropdown arrow in the “</a:t>
            </a:r>
            <a:r>
              <a:rPr lang="en-US" sz="2900" b="1" dirty="0"/>
              <a:t>Save as Type</a:t>
            </a:r>
            <a:r>
              <a:rPr lang="en-US" sz="2900" dirty="0"/>
              <a:t>” box.</a:t>
            </a:r>
          </a:p>
          <a:p>
            <a:pPr marL="400050"/>
            <a:r>
              <a:rPr lang="en-US" sz="2900" dirty="0"/>
              <a:t>Within Notepad, you can save your document only as “</a:t>
            </a:r>
            <a:r>
              <a:rPr lang="en-US" sz="2900" b="1" dirty="0"/>
              <a:t>Text only</a:t>
            </a:r>
            <a:r>
              <a:rPr lang="en-US" sz="2900" dirty="0"/>
              <a:t>”.</a:t>
            </a:r>
          </a:p>
          <a:p>
            <a:pPr marL="400050"/>
            <a:r>
              <a:rPr lang="en-US" sz="2900" dirty="0"/>
              <a:t>WordPad will automatically select “</a:t>
            </a:r>
            <a:r>
              <a:rPr lang="en-US" sz="2900" b="1" dirty="0"/>
              <a:t>Rich Text Format</a:t>
            </a:r>
            <a:r>
              <a:rPr lang="en-US" sz="2900" dirty="0"/>
              <a:t>” for your document, however you can also save your document as “</a:t>
            </a:r>
            <a:r>
              <a:rPr lang="en-US" sz="2900" b="1" dirty="0"/>
              <a:t>Text only</a:t>
            </a:r>
            <a:r>
              <a:rPr lang="en-US" sz="2900" dirty="0"/>
              <a:t>” or a “</a:t>
            </a:r>
            <a:r>
              <a:rPr lang="en-US" sz="2900" b="1" dirty="0"/>
              <a:t>Word document</a:t>
            </a:r>
            <a:r>
              <a:rPr lang="en-US" sz="2900" dirty="0"/>
              <a:t>”.</a:t>
            </a:r>
          </a:p>
          <a:p>
            <a:pPr marL="400050"/>
            <a:r>
              <a:rPr lang="en-US" sz="2900" dirty="0"/>
              <a:t>Word will automatically select “</a:t>
            </a:r>
            <a:r>
              <a:rPr lang="en-US" sz="2900" b="1" dirty="0"/>
              <a:t>Word document</a:t>
            </a:r>
            <a:r>
              <a:rPr lang="en-US" sz="2900" dirty="0"/>
              <a:t>”, for your document, however, you can also save it in all of the above formats, as well as several others, such as a </a:t>
            </a:r>
            <a:r>
              <a:rPr lang="en-US" sz="2900" b="1" dirty="0"/>
              <a:t>Web page (.html</a:t>
            </a:r>
            <a:r>
              <a:rPr lang="en-US" sz="2900" dirty="0"/>
              <a:t>).</a:t>
            </a:r>
          </a:p>
          <a:p>
            <a:pPr marL="457200" lvl="1" indent="0">
              <a:buNone/>
            </a:pPr>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34603071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lang="en-US" dirty="0"/>
              <a:t>CONT…</a:t>
            </a: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1041991"/>
            <a:ext cx="9887685" cy="5169238"/>
          </a:xfrm>
        </p:spPr>
        <p:txBody>
          <a:bodyPr>
            <a:normAutofit/>
          </a:bodyPr>
          <a:lstStyle/>
          <a:p>
            <a:pPr marL="57150" indent="0">
              <a:buNone/>
            </a:pPr>
            <a:r>
              <a:rPr lang="en-US" sz="2000" b="1" dirty="0"/>
              <a:t>What do they all mean?</a:t>
            </a:r>
          </a:p>
          <a:p>
            <a:pPr marL="400050"/>
            <a:r>
              <a:rPr lang="en-US" sz="2000" b="1" dirty="0"/>
              <a:t>Text only (.txt): </a:t>
            </a:r>
            <a:r>
              <a:rPr lang="en-US" sz="2000" dirty="0"/>
              <a:t>This signifies that the document contains only text, no formatting. Select this format only if the destination program cannot read any of the other available file formats.</a:t>
            </a:r>
          </a:p>
          <a:p>
            <a:pPr marL="400050"/>
            <a:r>
              <a:rPr lang="en-US" sz="2000" b="1" dirty="0"/>
              <a:t>Rich Text Format (.rtf): </a:t>
            </a:r>
            <a:r>
              <a:rPr lang="en-US" sz="2000" dirty="0"/>
              <a:t>Saves all formatting. Converts formatting to instructions that other programs, including compatible Microsoft programs, can read and interpret.</a:t>
            </a:r>
          </a:p>
          <a:p>
            <a:pPr marL="400050"/>
            <a:r>
              <a:rPr lang="en-US" sz="2000" b="1" dirty="0"/>
              <a:t>Word Document (.doc): </a:t>
            </a:r>
            <a:r>
              <a:rPr lang="en-US" sz="2000" dirty="0"/>
              <a:t>Saves all formatting, but the document can only be opened up in Word.</a:t>
            </a:r>
          </a:p>
          <a:p>
            <a:pPr marL="457200" lvl="1" indent="0">
              <a:buNone/>
            </a:pPr>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6412518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lang="en-US" dirty="0"/>
              <a:t>PRINT MANAGEMENT </a:t>
            </a: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946778"/>
            <a:ext cx="9887685" cy="5390227"/>
          </a:xfrm>
        </p:spPr>
        <p:txBody>
          <a:bodyPr>
            <a:normAutofit fontScale="25000" lnSpcReduction="20000"/>
          </a:bodyPr>
          <a:lstStyle/>
          <a:p>
            <a:pPr marL="0" marR="0" lvl="0" indent="0" algn="l" defTabSz="457200" rtl="0" eaLnBrk="1" fontAlgn="auto" latinLnBrk="0" hangingPunct="1">
              <a:lnSpc>
                <a:spcPct val="100000"/>
              </a:lnSpc>
              <a:spcBef>
                <a:spcPts val="1000"/>
              </a:spcBef>
              <a:spcAft>
                <a:spcPts val="0"/>
              </a:spcAft>
              <a:buClr>
                <a:srgbClr val="A53010"/>
              </a:buClr>
              <a:buSzTx/>
              <a:buFont typeface="Wingdings 3" charset="2"/>
              <a:buNone/>
              <a:tabLst/>
              <a:defRPr/>
            </a:pPr>
            <a:r>
              <a:rPr kumimoji="0" lang="en-US" sz="7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PRINTING AND PRINT MANAGEMENT</a:t>
            </a:r>
          </a:p>
          <a:p>
            <a:pPr lvl="1" indent="-342900">
              <a:buClr>
                <a:srgbClr val="A53010"/>
              </a:buClr>
              <a:defRPr/>
            </a:pPr>
            <a:r>
              <a:rPr kumimoji="0" lang="en-US" sz="7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Select a printer from the list of installed printers found in the Control Panel --&gt; Hardware and Sound </a:t>
            </a:r>
            <a:r>
              <a:rPr kumimoji="0" lang="en-US" sz="7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sym typeface="Wingdings" panose="05000000000000000000" pitchFamily="2" charset="2"/>
              </a:rPr>
              <a:t> </a:t>
            </a:r>
            <a:r>
              <a:rPr kumimoji="0" lang="en-US" sz="7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Devices and Printers. If there are multiple printers, only one is set to default which is automatically used for printing unless specified otherwise.  </a:t>
            </a:r>
          </a:p>
          <a:p>
            <a:pPr lvl="1" indent="-342900">
              <a:buClr>
                <a:srgbClr val="A53010"/>
              </a:buClr>
              <a:defRPr/>
            </a:pPr>
            <a:r>
              <a:rPr kumimoji="0" lang="en-US" sz="7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 view or modify any of your printer settings, install a new printer, pause, delete or restart print jobs, you go to Control Panel --&gt; Hardware and Sound </a:t>
            </a:r>
            <a:r>
              <a:rPr kumimoji="0" lang="en-US" sz="7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sym typeface="Wingdings" panose="05000000000000000000" pitchFamily="2" charset="2"/>
              </a:rPr>
              <a:t> </a:t>
            </a:r>
            <a:r>
              <a:rPr kumimoji="0" lang="en-US" sz="7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Devices and Printers.</a:t>
            </a:r>
          </a:p>
          <a:p>
            <a:pPr lvl="1" indent="-342900">
              <a:buClr>
                <a:srgbClr val="A53010"/>
              </a:buClr>
              <a:defRPr/>
            </a:pPr>
            <a:r>
              <a:rPr kumimoji="0" lang="en-US" sz="7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This will open up a print management window, which has a list of all the printers you can currently access.</a:t>
            </a:r>
            <a:endParaRPr lang="en-US" sz="7400" dirty="0">
              <a:solidFill>
                <a:prstClr val="black">
                  <a:lumMod val="75000"/>
                  <a:lumOff val="25000"/>
                </a:prstClr>
              </a:solidFill>
              <a:latin typeface="Century Gothic" panose="020B0502020202020204"/>
            </a:endParaRPr>
          </a:p>
          <a:p>
            <a:pPr lvl="1" indent="-342900">
              <a:buClr>
                <a:srgbClr val="A53010"/>
              </a:buClr>
              <a:defRPr/>
            </a:pPr>
            <a:r>
              <a:rPr kumimoji="0" lang="en-US" sz="7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Here you can change the default printer. Select the printer you want to set as default printer and right-click on it, and from the pop-up menu, select the Set as default printer command. </a:t>
            </a:r>
          </a:p>
          <a:p>
            <a:pPr marL="0" marR="0" lvl="0" indent="0" algn="l" defTabSz="457200" rtl="0" eaLnBrk="1" fontAlgn="auto" latinLnBrk="0" hangingPunct="1">
              <a:lnSpc>
                <a:spcPct val="100000"/>
              </a:lnSpc>
              <a:spcBef>
                <a:spcPts val="1000"/>
              </a:spcBef>
              <a:spcAft>
                <a:spcPts val="0"/>
              </a:spcAft>
              <a:buClr>
                <a:srgbClr val="A53010"/>
              </a:buClr>
              <a:buSzTx/>
              <a:buFont typeface="Wingdings 3" charset="2"/>
              <a:buNone/>
              <a:tabLst/>
              <a:defRPr/>
            </a:pPr>
            <a:r>
              <a:rPr lang="en-US" sz="7400" b="1" dirty="0"/>
              <a:t>Installing </a:t>
            </a:r>
            <a:r>
              <a:rPr kumimoji="0" lang="en-US" sz="7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/add a new printer to the computer: </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lang="en-US" sz="7400" dirty="0">
                <a:solidFill>
                  <a:prstClr val="black">
                    <a:lumMod val="75000"/>
                    <a:lumOff val="25000"/>
                  </a:prstClr>
                </a:solidFill>
                <a:latin typeface="Century Gothic" panose="020B0502020202020204"/>
              </a:rPr>
              <a:t>In the </a:t>
            </a:r>
            <a:r>
              <a:rPr kumimoji="0" lang="en-US" sz="7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Devices and Printers window - on the command bar, choose Add a printer </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7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Use the installation CD provided with the printer when it was purchased.</a:t>
            </a:r>
          </a:p>
          <a:p>
            <a:pPr lvl="1" indent="-342900">
              <a:buClr>
                <a:srgbClr val="A53010"/>
              </a:buClr>
              <a:defRPr/>
            </a:pPr>
            <a:r>
              <a:rPr lang="en-US" sz="7400" dirty="0">
                <a:solidFill>
                  <a:prstClr val="black">
                    <a:lumMod val="75000"/>
                    <a:lumOff val="25000"/>
                  </a:prstClr>
                </a:solidFill>
                <a:latin typeface="Century Gothic" panose="020B0502020202020204"/>
              </a:rPr>
              <a:t>You will be taken through </a:t>
            </a:r>
            <a:r>
              <a:rPr kumimoji="0" lang="en-US" sz="7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step-by-step instructions for how to install a printer.</a:t>
            </a:r>
            <a:endParaRPr lang="en-US" sz="7400" b="1" dirty="0"/>
          </a:p>
          <a:p>
            <a:pPr marL="0" indent="0">
              <a:buNone/>
            </a:pPr>
            <a:endParaRPr lang="en-US" dirty="0"/>
          </a:p>
        </p:txBody>
      </p:sp>
    </p:spTree>
    <p:extLst>
      <p:ext uri="{BB962C8B-B14F-4D97-AF65-F5344CB8AC3E}">
        <p14:creationId xmlns:p14="http://schemas.microsoft.com/office/powerpoint/2010/main" val="23102957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lang="en-US" dirty="0"/>
              <a:t>CONT…</a:t>
            </a: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946778"/>
            <a:ext cx="9887685" cy="5264451"/>
          </a:xfrm>
        </p:spPr>
        <p:txBody>
          <a:bodyPr>
            <a:normAutofit fontScale="62500" lnSpcReduction="20000"/>
          </a:bodyPr>
          <a:lstStyle/>
          <a:p>
            <a:pPr marL="0" indent="0">
              <a:buNone/>
            </a:pPr>
            <a:r>
              <a:rPr lang="en-US" sz="3200" b="1" dirty="0"/>
              <a:t>Changing the Default Printer</a:t>
            </a:r>
          </a:p>
          <a:p>
            <a:r>
              <a:rPr lang="en-US" sz="3200" dirty="0"/>
              <a:t>Within the print management window, one of the printers displayed will have a small tick as part of the icon. This means that this printer is the default printer – the printer that Windows will automatically print to unless told otherwise. To change this:</a:t>
            </a:r>
          </a:p>
          <a:p>
            <a:pPr lvl="1"/>
            <a:r>
              <a:rPr lang="en-US" sz="3200" dirty="0"/>
              <a:t>Right click on the printer you wish to select as default printer</a:t>
            </a:r>
          </a:p>
          <a:p>
            <a:pPr lvl="1"/>
            <a:r>
              <a:rPr lang="en-US" sz="3200" dirty="0"/>
              <a:t>Select “Set as Default Printer”</a:t>
            </a:r>
          </a:p>
          <a:p>
            <a:r>
              <a:rPr lang="en-US" sz="3200" dirty="0"/>
              <a:t>You will see that the tick has transferred to the printer you have selected.</a:t>
            </a:r>
          </a:p>
          <a:p>
            <a:pPr marL="0" indent="0">
              <a:buNone/>
            </a:pPr>
            <a:r>
              <a:rPr lang="en-US" sz="3200" b="1" dirty="0"/>
              <a:t>Viewing, Pausing, Restarting and Deleting Jobs</a:t>
            </a:r>
          </a:p>
          <a:p>
            <a:r>
              <a:rPr lang="en-US" sz="3200" dirty="0"/>
              <a:t>Within the print management window, click on the printer you wish to access. On the command bar chose the preferred option which will bring up a new window , which will list all the print jobs which are currently queued for that printer, and what their status is, i.e. are they currently printing or paused.</a:t>
            </a:r>
          </a:p>
          <a:p>
            <a:r>
              <a:rPr lang="en-US" sz="3200" dirty="0"/>
              <a:t>To see what’s printing you can also right click the printer and from the pop up menu options choose the preferred option.</a:t>
            </a:r>
          </a:p>
          <a:p>
            <a:pPr marL="0" indent="0">
              <a:buNone/>
            </a:pPr>
            <a:endParaRPr lang="en-US" dirty="0"/>
          </a:p>
        </p:txBody>
      </p:sp>
    </p:spTree>
    <p:extLst>
      <p:ext uri="{BB962C8B-B14F-4D97-AF65-F5344CB8AC3E}">
        <p14:creationId xmlns:p14="http://schemas.microsoft.com/office/powerpoint/2010/main" val="12529529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F314-CC3F-4A93-AF5A-8D7BB2B26071}"/>
              </a:ext>
            </a:extLst>
          </p:cNvPr>
          <p:cNvSpPr>
            <a:spLocks noGrp="1"/>
          </p:cNvSpPr>
          <p:nvPr>
            <p:ph type="title"/>
          </p:nvPr>
        </p:nvSpPr>
        <p:spPr>
          <a:xfrm>
            <a:off x="1338147" y="256478"/>
            <a:ext cx="10593658" cy="690300"/>
          </a:xfrm>
        </p:spPr>
        <p:txBody>
          <a:bodyPr>
            <a:normAutofit fontScale="90000"/>
          </a:bodyPr>
          <a:lstStyle/>
          <a:p>
            <a:r>
              <a:rPr lang="en-US"/>
              <a:t>CONT…</a:t>
            </a: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1D3E4A41-6E81-4EB1-A26D-4827A4012941}"/>
              </a:ext>
            </a:extLst>
          </p:cNvPr>
          <p:cNvSpPr>
            <a:spLocks noGrp="1"/>
          </p:cNvSpPr>
          <p:nvPr>
            <p:ph idx="1"/>
          </p:nvPr>
        </p:nvSpPr>
        <p:spPr>
          <a:xfrm>
            <a:off x="1616927" y="1105786"/>
            <a:ext cx="9887685" cy="5105443"/>
          </a:xfrm>
        </p:spPr>
        <p:txBody>
          <a:bodyPr>
            <a:normAutofit/>
          </a:bodyPr>
          <a:lstStyle/>
          <a:p>
            <a:r>
              <a:rPr lang="en-US" sz="2400" dirty="0"/>
              <a:t>To modify a job, right click on it. This will bring up a menu which will allow you to pause, restart and cancel a job. Simply select the option you require and Windows will carry out the action.</a:t>
            </a:r>
          </a:p>
          <a:p>
            <a:pPr lvl="1" indent="-342900">
              <a:buClr>
                <a:srgbClr val="A53010"/>
              </a:buClr>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 pause/stop the current document from printing, right-click over the document name in queue, and from the pop-up menu, select the Pause command. </a:t>
            </a:r>
          </a:p>
          <a:p>
            <a:pPr lvl="1" indent="-342900">
              <a:buClr>
                <a:srgbClr val="A53010"/>
              </a:buClr>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 continue printing the document, choose the Resume command.</a:t>
            </a:r>
          </a:p>
          <a:p>
            <a:pPr lvl="1" indent="-342900">
              <a:buClr>
                <a:srgbClr val="A53010"/>
              </a:buClr>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If you want to stop printing the document – in the pop-up menu, click on the Cancel command and confirm the action by clicking the Yes button.</a:t>
            </a:r>
          </a:p>
          <a:p>
            <a:endParaRPr lang="en-US" sz="2400" dirty="0"/>
          </a:p>
          <a:p>
            <a:pPr marL="457200" lvl="1" indent="0">
              <a:buNone/>
            </a:pPr>
            <a:endParaRPr lang="en-US" sz="2400" dirty="0"/>
          </a:p>
          <a:p>
            <a:endParaRPr lang="en-US" sz="2400" dirty="0"/>
          </a:p>
          <a:p>
            <a:pPr marL="0" indent="0">
              <a:buNone/>
            </a:pPr>
            <a:endParaRPr lang="en-US" dirty="0"/>
          </a:p>
        </p:txBody>
      </p:sp>
    </p:spTree>
    <p:extLst>
      <p:ext uri="{BB962C8B-B14F-4D97-AF65-F5344CB8AC3E}">
        <p14:creationId xmlns:p14="http://schemas.microsoft.com/office/powerpoint/2010/main" val="176190386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29039</TotalTime>
  <Words>7348</Words>
  <Application>Microsoft Office PowerPoint</Application>
  <PresentationFormat>Widescreen</PresentationFormat>
  <Paragraphs>606</Paragraphs>
  <Slides>73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73</vt:i4>
      </vt:variant>
    </vt:vector>
  </HeadingPairs>
  <TitlesOfParts>
    <vt:vector size="84" baseType="lpstr">
      <vt:lpstr>Arial</vt:lpstr>
      <vt:lpstr>Calibri</vt:lpstr>
      <vt:lpstr>Calibri Light</vt:lpstr>
      <vt:lpstr>Century Gothic</vt:lpstr>
      <vt:lpstr>DokChampa</vt:lpstr>
      <vt:lpstr>Palatino Linotype</vt:lpstr>
      <vt:lpstr>Symbol</vt:lpstr>
      <vt:lpstr>Times New Roman</vt:lpstr>
      <vt:lpstr>Wingdings</vt:lpstr>
      <vt:lpstr>Wingdings 3</vt:lpstr>
      <vt:lpstr>Wisp</vt:lpstr>
      <vt:lpstr>End User Computing    BICT 1101 </vt:lpstr>
      <vt:lpstr>Topics</vt:lpstr>
      <vt:lpstr>INTRODUCTION</vt:lpstr>
      <vt:lpstr>CONT…</vt:lpstr>
      <vt:lpstr>CONT…</vt:lpstr>
      <vt:lpstr>CONT…</vt:lpstr>
      <vt:lpstr>CONT…</vt:lpstr>
      <vt:lpstr>CONT…</vt:lpstr>
      <vt:lpstr>GETTING STARTED WITH WINDOWS AND LINUX</vt:lpstr>
      <vt:lpstr>CONT…</vt:lpstr>
      <vt:lpstr>CONT…</vt:lpstr>
      <vt:lpstr>USING THE MOUSE</vt:lpstr>
      <vt:lpstr>THE DESKTOP</vt:lpstr>
      <vt:lpstr>CONT…</vt:lpstr>
      <vt:lpstr>CONT…</vt:lpstr>
      <vt:lpstr>CONT…</vt:lpstr>
      <vt:lpstr>CONT…</vt:lpstr>
      <vt:lpstr>CUSTOMIZING THE DESKTOP</vt:lpstr>
      <vt:lpstr>CONT…</vt:lpstr>
      <vt:lpstr>CONT…</vt:lpstr>
      <vt:lpstr>CONT…</vt:lpstr>
      <vt:lpstr>CONT…</vt:lpstr>
      <vt:lpstr>CONT…</vt:lpstr>
      <vt:lpstr>CONT…</vt:lpstr>
      <vt:lpstr>PROGRAM MANAGEMENT  </vt:lpstr>
      <vt:lpstr>ICONS  </vt:lpstr>
      <vt:lpstr>CONT…  </vt:lpstr>
      <vt:lpstr>CONT…  </vt:lpstr>
      <vt:lpstr>CONT…  </vt:lpstr>
      <vt:lpstr>CONT…  </vt:lpstr>
      <vt:lpstr>CONT…  </vt:lpstr>
      <vt:lpstr>CONT…  </vt:lpstr>
      <vt:lpstr> CONT… </vt:lpstr>
      <vt:lpstr> CONT… </vt:lpstr>
      <vt:lpstr>BASIC ACTIONS WITH WINDOWS   </vt:lpstr>
      <vt:lpstr>CONT…   </vt:lpstr>
      <vt:lpstr>CONT…   </vt:lpstr>
      <vt:lpstr>CONT…   </vt:lpstr>
      <vt:lpstr>CONT…  </vt:lpstr>
      <vt:lpstr>CONT…  </vt:lpstr>
      <vt:lpstr>DIALOGUE BOX  </vt:lpstr>
      <vt:lpstr>WORKING WITH FILES AND FOLDERS BASIC CONCEPTS   </vt:lpstr>
      <vt:lpstr>CONT…  </vt:lpstr>
      <vt:lpstr>CONT…  </vt:lpstr>
      <vt:lpstr>CONT…  </vt:lpstr>
      <vt:lpstr>CONT…  </vt:lpstr>
      <vt:lpstr>CONT…  </vt:lpstr>
      <vt:lpstr>CONT…  </vt:lpstr>
      <vt:lpstr>CONT…  </vt:lpstr>
      <vt:lpstr>CONT…  </vt:lpstr>
      <vt:lpstr>CONT…  </vt:lpstr>
      <vt:lpstr>CONT…  </vt:lpstr>
      <vt:lpstr>CONT…  </vt:lpstr>
      <vt:lpstr>CONT…  </vt:lpstr>
      <vt:lpstr>CONT…  </vt:lpstr>
      <vt:lpstr>CONT…  </vt:lpstr>
      <vt:lpstr>CONT…  </vt:lpstr>
      <vt:lpstr>CONT…  </vt:lpstr>
      <vt:lpstr>CONT…  </vt:lpstr>
      <vt:lpstr>CONT…  </vt:lpstr>
      <vt:lpstr>CONT…  </vt:lpstr>
      <vt:lpstr>CONT…  </vt:lpstr>
      <vt:lpstr>THE RECYCLE BIN   </vt:lpstr>
      <vt:lpstr>CONT…  </vt:lpstr>
      <vt:lpstr>CONT…   </vt:lpstr>
      <vt:lpstr>WORKING WITH FILES AND FOLDERS BASIC CONCEPTS   </vt:lpstr>
      <vt:lpstr>TEXT EDITING APPLICATIONS  </vt:lpstr>
      <vt:lpstr>CONT…  </vt:lpstr>
      <vt:lpstr>CONT…   </vt:lpstr>
      <vt:lpstr>CONT…  </vt:lpstr>
      <vt:lpstr>PRINT MANAGEMENT    </vt:lpstr>
      <vt:lpstr>CONT…   </vt:lpstr>
      <vt:lpstr>CONT…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Patricia Khonje</dc:creator>
  <cp:lastModifiedBy>Farook Kalumbi</cp:lastModifiedBy>
  <cp:revision>47</cp:revision>
  <dcterms:created xsi:type="dcterms:W3CDTF">2021-03-30T10:52:13Z</dcterms:created>
  <dcterms:modified xsi:type="dcterms:W3CDTF">2024-03-25T07:47:00Z</dcterms:modified>
</cp:coreProperties>
</file>