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427" r:id="rId3"/>
    <p:sldId id="428" r:id="rId4"/>
    <p:sldId id="522" r:id="rId5"/>
    <p:sldId id="429" r:id="rId6"/>
    <p:sldId id="340" r:id="rId7"/>
    <p:sldId id="430" r:id="rId8"/>
    <p:sldId id="523" r:id="rId9"/>
    <p:sldId id="431" r:id="rId10"/>
    <p:sldId id="432" r:id="rId11"/>
    <p:sldId id="43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90" d="100"/>
          <a:sy n="90" d="100"/>
        </p:scale>
        <p:origin x="57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27D0524-A34C-4900-845A-4E9C83E337B2}" type="datetimeFigureOut">
              <a:rPr lang="en-US" smtClean="0"/>
              <a:t>7/2/2022</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458836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7D0524-A34C-4900-845A-4E9C83E337B2}" type="datetimeFigureOut">
              <a:rPr lang="en-US" smtClean="0"/>
              <a:t>7/2/2022</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1272792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7D0524-A34C-4900-845A-4E9C83E337B2}" type="datetimeFigureOut">
              <a:rPr lang="en-US" smtClean="0"/>
              <a:t>7/2/2022</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1811224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27D0524-A34C-4900-845A-4E9C83E337B2}" type="datetimeFigureOut">
              <a:rPr lang="en-US" smtClean="0"/>
              <a:t>7/2/2022</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651636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27D0524-A34C-4900-845A-4E9C83E337B2}" type="datetimeFigureOut">
              <a:rPr lang="en-US" smtClean="0"/>
              <a:t>7/2/2022</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5392113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27D0524-A34C-4900-845A-4E9C83E337B2}" type="datetimeFigureOut">
              <a:rPr lang="en-US" smtClean="0"/>
              <a:t>7/2/2022</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3164641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7D0524-A34C-4900-845A-4E9C83E337B2}" type="datetimeFigureOut">
              <a:rPr lang="en-US" smtClean="0"/>
              <a:t>7/2/2022</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174207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7D0524-A34C-4900-845A-4E9C83E337B2}" type="datetimeFigureOut">
              <a:rPr lang="en-US" smtClean="0"/>
              <a:t>7/2/2022</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3819208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7D0524-A34C-4900-845A-4E9C83E337B2}" type="datetimeFigureOut">
              <a:rPr lang="en-US" smtClean="0"/>
              <a:t>7/2/2022</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221010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7D0524-A34C-4900-845A-4E9C83E337B2}" type="datetimeFigureOut">
              <a:rPr lang="en-US" smtClean="0"/>
              <a:t>7/2/2022</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3359810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7D0524-A34C-4900-845A-4E9C83E337B2}" type="datetimeFigureOut">
              <a:rPr lang="en-US" smtClean="0"/>
              <a:t>7/2/2022</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D60242A-277F-4FDB-BCE8-613D7EDF74E6}"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044396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27D0524-A34C-4900-845A-4E9C83E337B2}" type="datetimeFigureOut">
              <a:rPr lang="en-US" smtClean="0"/>
              <a:t>7/2/2022</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0145661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27D0524-A34C-4900-845A-4E9C83E337B2}" type="datetimeFigureOut">
              <a:rPr lang="en-US" smtClean="0"/>
              <a:t>7/2/2022</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D60242A-277F-4FDB-BCE8-613D7EDF74E6}"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708079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27D0524-A34C-4900-845A-4E9C83E337B2}" type="datetimeFigureOut">
              <a:rPr lang="en-US" smtClean="0"/>
              <a:t>7/2/2022</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5432738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7D0524-A34C-4900-845A-4E9C83E337B2}" type="datetimeFigureOut">
              <a:rPr lang="en-US" smtClean="0"/>
              <a:t>7/2/2022</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4981855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7D0524-A34C-4900-845A-4E9C83E337B2}" type="datetimeFigureOut">
              <a:rPr lang="en-US" smtClean="0"/>
              <a:t>7/2/2022</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3144802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27D0524-A34C-4900-845A-4E9C83E337B2}" type="datetimeFigureOut">
              <a:rPr lang="en-US" smtClean="0"/>
              <a:t>7/2/2022</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2D60242A-277F-4FDB-BCE8-613D7EDF74E6}" type="slidenum">
              <a:rPr lang="en-US" smtClean="0"/>
              <a:t>‹#›</a:t>
            </a:fld>
            <a:endParaRPr lang="en-US"/>
          </a:p>
        </p:txBody>
      </p:sp>
    </p:spTree>
    <p:extLst>
      <p:ext uri="{BB962C8B-B14F-4D97-AF65-F5344CB8AC3E}">
        <p14:creationId xmlns:p14="http://schemas.microsoft.com/office/powerpoint/2010/main" val="9697607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5616A-176D-41C7-8FC0-815DC3364E50}"/>
              </a:ext>
            </a:extLst>
          </p:cNvPr>
          <p:cNvSpPr>
            <a:spLocks noGrp="1"/>
          </p:cNvSpPr>
          <p:nvPr>
            <p:ph type="ctrTitle"/>
          </p:nvPr>
        </p:nvSpPr>
        <p:spPr/>
        <p:txBody>
          <a:bodyPr>
            <a:noAutofit/>
          </a:bodyPr>
          <a:lstStyle/>
          <a:p>
            <a:r>
              <a:rPr kumimoji="0" lang="en-GB" sz="4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END USER COMPUTING.</a:t>
            </a:r>
            <a:br>
              <a:rPr kumimoji="0" lang="en-US" sz="4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r>
              <a:rPr kumimoji="0" lang="en-US" sz="4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br>
              <a:rPr kumimoji="0" lang="en-US" sz="4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r>
              <a:rPr kumimoji="0" lang="en-GB" sz="4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BICT 1101</a:t>
            </a:r>
            <a:endParaRPr lang="en-US" sz="48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594158F-1A6E-4430-854C-952EAA8BC32C}"/>
              </a:ext>
            </a:extLst>
          </p:cNvPr>
          <p:cNvSpPr>
            <a:spLocks noGrp="1"/>
          </p:cNvSpPr>
          <p:nvPr>
            <p:ph type="subTitle" idx="1"/>
          </p:nvPr>
        </p:nvSpPr>
        <p:spPr/>
        <p:txBody>
          <a:bodyPr>
            <a:normAutofit fontScale="92500" lnSpcReduction="200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0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Lecture 3: Spreadsheets </a:t>
            </a:r>
            <a:r>
              <a:rPr kumimoji="0" lang="en-US" sz="2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(Working with Multiple Worksheets)</a:t>
            </a:r>
            <a:endParaRPr lang="en-US" sz="2600" dirty="0"/>
          </a:p>
        </p:txBody>
      </p:sp>
    </p:spTree>
    <p:extLst>
      <p:ext uri="{BB962C8B-B14F-4D97-AF65-F5344CB8AC3E}">
        <p14:creationId xmlns:p14="http://schemas.microsoft.com/office/powerpoint/2010/main" val="1653974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CA853-A070-43FF-A05E-3AD0C8956AE7}"/>
              </a:ext>
            </a:extLst>
          </p:cNvPr>
          <p:cNvSpPr>
            <a:spLocks noGrp="1"/>
          </p:cNvSpPr>
          <p:nvPr>
            <p:ph type="title"/>
          </p:nvPr>
        </p:nvSpPr>
        <p:spPr>
          <a:xfrm>
            <a:off x="1648047" y="230705"/>
            <a:ext cx="9856565" cy="811286"/>
          </a:xfrm>
        </p:spPr>
        <p:txBody>
          <a:bodyPr/>
          <a:lstStyle/>
          <a:p>
            <a:r>
              <a:rPr lang="en-US" dirty="0"/>
              <a:t>WORKING WITH MULTIPLE WORKSHEETS</a:t>
            </a:r>
          </a:p>
        </p:txBody>
      </p:sp>
      <p:sp>
        <p:nvSpPr>
          <p:cNvPr id="3" name="Content Placeholder 2">
            <a:extLst>
              <a:ext uri="{FF2B5EF4-FFF2-40B4-BE49-F238E27FC236}">
                <a16:creationId xmlns:a16="http://schemas.microsoft.com/office/drawing/2014/main" id="{B4CD8971-C81A-4FD2-B12B-28BB49C341F5}"/>
              </a:ext>
            </a:extLst>
          </p:cNvPr>
          <p:cNvSpPr>
            <a:spLocks noGrp="1"/>
          </p:cNvSpPr>
          <p:nvPr>
            <p:ph idx="1"/>
          </p:nvPr>
        </p:nvSpPr>
        <p:spPr>
          <a:xfrm>
            <a:off x="1648047" y="1041991"/>
            <a:ext cx="9856565" cy="5316279"/>
          </a:xfrm>
        </p:spPr>
        <p:txBody>
          <a:bodyPr>
            <a:noAutofit/>
          </a:bodyPr>
          <a:lstStyle/>
          <a:p>
            <a:pPr>
              <a:lnSpc>
                <a:spcPct val="150000"/>
              </a:lnSpc>
            </a:pPr>
            <a:r>
              <a:rPr lang="en-US" sz="2000" dirty="0"/>
              <a:t>Having </a:t>
            </a:r>
            <a:r>
              <a:rPr lang="en-US" sz="2000" b="1" dirty="0"/>
              <a:t>Multiple worksheets </a:t>
            </a:r>
            <a:r>
              <a:rPr lang="en-US" sz="2000" dirty="0"/>
              <a:t>in a workbook that are </a:t>
            </a:r>
            <a:r>
              <a:rPr lang="en-US" sz="2000" b="1" dirty="0"/>
              <a:t>based</a:t>
            </a:r>
            <a:r>
              <a:rPr lang="en-US" sz="2000" dirty="0"/>
              <a:t> on the </a:t>
            </a:r>
            <a:r>
              <a:rPr lang="en-US" sz="2000" b="1" dirty="0"/>
              <a:t>same form </a:t>
            </a:r>
            <a:r>
              <a:rPr lang="en-US" sz="2000" dirty="0"/>
              <a:t>offers a </a:t>
            </a:r>
            <a:r>
              <a:rPr lang="en-US" sz="2000" b="1" dirty="0"/>
              <a:t>benefit</a:t>
            </a:r>
            <a:r>
              <a:rPr lang="en-US" sz="2000" dirty="0"/>
              <a:t>:</a:t>
            </a:r>
          </a:p>
          <a:p>
            <a:pPr lvl="1">
              <a:lnSpc>
                <a:spcPct val="150000"/>
              </a:lnSpc>
            </a:pPr>
            <a:r>
              <a:rPr lang="en-US" sz="2000" dirty="0"/>
              <a:t>Whenever data appears in the same cell or cells in each one, you can select them all, make changes to that data once, and have it reflected on all the sheets simultaneously. </a:t>
            </a:r>
          </a:p>
          <a:p>
            <a:pPr>
              <a:lnSpc>
                <a:spcPct val="150000"/>
              </a:lnSpc>
            </a:pPr>
            <a:r>
              <a:rPr lang="en-US" sz="2000" dirty="0"/>
              <a:t>Excel </a:t>
            </a:r>
            <a:r>
              <a:rPr lang="en-US" sz="2000" b="1" dirty="0"/>
              <a:t>doesn’t know </a:t>
            </a:r>
            <a:r>
              <a:rPr lang="en-US" sz="2000" dirty="0"/>
              <a:t>in </a:t>
            </a:r>
            <a:r>
              <a:rPr lang="en-US" sz="2000" b="1" dirty="0"/>
              <a:t>advance</a:t>
            </a:r>
            <a:r>
              <a:rPr lang="en-US" sz="2000" dirty="0"/>
              <a:t> which </a:t>
            </a:r>
            <a:r>
              <a:rPr lang="en-US" sz="2000" b="1" dirty="0"/>
              <a:t>worksheets</a:t>
            </a:r>
            <a:r>
              <a:rPr lang="en-US" sz="2000" dirty="0"/>
              <a:t> </a:t>
            </a:r>
            <a:r>
              <a:rPr lang="en-US" sz="2000" b="1" dirty="0"/>
              <a:t>look alike</a:t>
            </a:r>
            <a:r>
              <a:rPr lang="en-US" sz="2000" dirty="0"/>
              <a:t>, or </a:t>
            </a:r>
            <a:r>
              <a:rPr lang="en-US" sz="2000" b="1" dirty="0"/>
              <a:t>mostly alike</a:t>
            </a:r>
            <a:r>
              <a:rPr lang="en-US" sz="2000" dirty="0"/>
              <a:t>, so you have to </a:t>
            </a:r>
            <a:r>
              <a:rPr lang="en-US" sz="2000" b="1" dirty="0"/>
              <a:t>select</a:t>
            </a:r>
            <a:r>
              <a:rPr lang="en-US" sz="2000" dirty="0"/>
              <a:t> them </a:t>
            </a:r>
            <a:r>
              <a:rPr lang="en-US" sz="2000" b="1" dirty="0"/>
              <a:t>yourself</a:t>
            </a:r>
            <a:r>
              <a:rPr lang="en-US" sz="2000" dirty="0"/>
              <a:t> first in order to </a:t>
            </a:r>
            <a:r>
              <a:rPr lang="en-US" sz="2000" b="1" dirty="0"/>
              <a:t>group</a:t>
            </a:r>
            <a:r>
              <a:rPr lang="en-US" sz="2000" dirty="0"/>
              <a:t> them. </a:t>
            </a:r>
          </a:p>
          <a:p>
            <a:pPr>
              <a:lnSpc>
                <a:spcPct val="150000"/>
              </a:lnSpc>
            </a:pPr>
            <a:r>
              <a:rPr lang="en-US" sz="2000" dirty="0"/>
              <a:t>You know Excel has grouped sheets together when the word </a:t>
            </a:r>
            <a:r>
              <a:rPr lang="en-US" sz="2000" b="1" dirty="0"/>
              <a:t>[Group] </a:t>
            </a:r>
            <a:r>
              <a:rPr lang="en-US" sz="2000" dirty="0"/>
              <a:t>appears after the file name in the title bar. </a:t>
            </a:r>
          </a:p>
        </p:txBody>
      </p:sp>
    </p:spTree>
    <p:extLst>
      <p:ext uri="{BB962C8B-B14F-4D97-AF65-F5344CB8AC3E}">
        <p14:creationId xmlns:p14="http://schemas.microsoft.com/office/powerpoint/2010/main" val="3098087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D2C48-FF82-4870-8E40-6A8F2BEE21B9}"/>
              </a:ext>
            </a:extLst>
          </p:cNvPr>
          <p:cNvSpPr>
            <a:spLocks noGrp="1"/>
          </p:cNvSpPr>
          <p:nvPr>
            <p:ph type="title"/>
          </p:nvPr>
        </p:nvSpPr>
        <p:spPr>
          <a:xfrm>
            <a:off x="1658679" y="156277"/>
            <a:ext cx="9845933" cy="949509"/>
          </a:xfrm>
        </p:spPr>
        <p:txBody>
          <a:bodyPr/>
          <a:lstStyle/>
          <a:p>
            <a:r>
              <a:rPr lang="en-US" dirty="0"/>
              <a:t>CONTD…</a:t>
            </a:r>
          </a:p>
        </p:txBody>
      </p:sp>
      <p:sp>
        <p:nvSpPr>
          <p:cNvPr id="3" name="Content Placeholder 2">
            <a:extLst>
              <a:ext uri="{FF2B5EF4-FFF2-40B4-BE49-F238E27FC236}">
                <a16:creationId xmlns:a16="http://schemas.microsoft.com/office/drawing/2014/main" id="{2BD7113A-BE53-4ABC-82A2-27EA337783D5}"/>
              </a:ext>
            </a:extLst>
          </p:cNvPr>
          <p:cNvSpPr>
            <a:spLocks noGrp="1"/>
          </p:cNvSpPr>
          <p:nvPr>
            <p:ph idx="1"/>
          </p:nvPr>
        </p:nvSpPr>
        <p:spPr>
          <a:xfrm>
            <a:off x="1658679" y="1105786"/>
            <a:ext cx="9845933" cy="4805436"/>
          </a:xfrm>
        </p:spPr>
        <p:txBody>
          <a:bodyPr>
            <a:noAutofit/>
          </a:bodyPr>
          <a:lstStyle/>
          <a:p>
            <a:pPr>
              <a:lnSpc>
                <a:spcPct val="150000"/>
              </a:lnSpc>
            </a:pPr>
            <a:r>
              <a:rPr lang="en-US" sz="2400" dirty="0"/>
              <a:t>When you see </a:t>
            </a:r>
            <a:r>
              <a:rPr lang="en-US" sz="2400" b="1" dirty="0"/>
              <a:t>[Group], </a:t>
            </a:r>
            <a:r>
              <a:rPr lang="en-US" sz="2400" dirty="0"/>
              <a:t>everything you </a:t>
            </a:r>
            <a:r>
              <a:rPr lang="en-US" sz="2400" b="1" dirty="0"/>
              <a:t>type</a:t>
            </a:r>
            <a:r>
              <a:rPr lang="en-US" sz="2400" dirty="0"/>
              <a:t> into </a:t>
            </a:r>
            <a:r>
              <a:rPr lang="en-US" sz="2400" b="1" dirty="0"/>
              <a:t>one sheet</a:t>
            </a:r>
            <a:r>
              <a:rPr lang="en-US" sz="2400" dirty="0"/>
              <a:t> in the </a:t>
            </a:r>
            <a:r>
              <a:rPr lang="en-US" sz="2400" b="1" dirty="0"/>
              <a:t>group</a:t>
            </a:r>
            <a:r>
              <a:rPr lang="en-US" sz="2400" dirty="0"/>
              <a:t>, or certain </a:t>
            </a:r>
            <a:r>
              <a:rPr lang="en-US" sz="2400" b="1" dirty="0"/>
              <a:t>changes</a:t>
            </a:r>
            <a:r>
              <a:rPr lang="en-US" sz="2400" dirty="0"/>
              <a:t> you </a:t>
            </a:r>
            <a:r>
              <a:rPr lang="en-US" sz="2400" b="1" dirty="0"/>
              <a:t>make</a:t>
            </a:r>
            <a:r>
              <a:rPr lang="en-US" sz="2400" dirty="0"/>
              <a:t> to </a:t>
            </a:r>
            <a:r>
              <a:rPr lang="en-US" sz="2400" b="1" dirty="0"/>
              <a:t>one sheet </a:t>
            </a:r>
            <a:r>
              <a:rPr lang="en-US" sz="2400" dirty="0"/>
              <a:t>in the </a:t>
            </a:r>
            <a:r>
              <a:rPr lang="en-US" sz="2400" b="1" dirty="0"/>
              <a:t>group</a:t>
            </a:r>
            <a:r>
              <a:rPr lang="en-US" sz="2400" dirty="0"/>
              <a:t>, is </a:t>
            </a:r>
            <a:r>
              <a:rPr lang="en-US" sz="2400" b="1" dirty="0"/>
              <a:t>replicated</a:t>
            </a:r>
            <a:r>
              <a:rPr lang="en-US" sz="2400" dirty="0"/>
              <a:t> to </a:t>
            </a:r>
            <a:r>
              <a:rPr lang="en-US" sz="2400" b="1" dirty="0"/>
              <a:t>all</a:t>
            </a:r>
            <a:r>
              <a:rPr lang="en-US" sz="2400" dirty="0"/>
              <a:t> the </a:t>
            </a:r>
            <a:r>
              <a:rPr lang="en-US" sz="2400" b="1" dirty="0"/>
              <a:t>others</a:t>
            </a:r>
            <a:r>
              <a:rPr lang="en-US" sz="2400" dirty="0"/>
              <a:t>. </a:t>
            </a:r>
          </a:p>
          <a:p>
            <a:pPr>
              <a:lnSpc>
                <a:spcPct val="150000"/>
              </a:lnSpc>
            </a:pPr>
            <a:r>
              <a:rPr lang="en-US" sz="2400" dirty="0"/>
              <a:t>To </a:t>
            </a:r>
            <a:r>
              <a:rPr lang="en-US" sz="2400" b="1" dirty="0"/>
              <a:t>resume working </a:t>
            </a:r>
            <a:r>
              <a:rPr lang="en-US" sz="2400" dirty="0"/>
              <a:t>with </a:t>
            </a:r>
            <a:r>
              <a:rPr lang="en-US" sz="2400" b="1" dirty="0"/>
              <a:t>each worksheet </a:t>
            </a:r>
            <a:r>
              <a:rPr lang="en-US" sz="2400" dirty="0"/>
              <a:t>individually, you need to </a:t>
            </a:r>
            <a:r>
              <a:rPr lang="en-US" sz="2400" b="1" dirty="0"/>
              <a:t>ungroup</a:t>
            </a:r>
            <a:r>
              <a:rPr lang="en-US" sz="2400" dirty="0"/>
              <a:t> the </a:t>
            </a:r>
            <a:r>
              <a:rPr lang="en-US" sz="2400" b="1" dirty="0"/>
              <a:t>worksheets</a:t>
            </a:r>
            <a:r>
              <a:rPr lang="en-US" sz="2400" dirty="0"/>
              <a:t> first.</a:t>
            </a:r>
          </a:p>
          <a:p>
            <a:pPr>
              <a:lnSpc>
                <a:spcPct val="150000"/>
              </a:lnSpc>
            </a:pPr>
            <a:r>
              <a:rPr lang="en-US" sz="2400" dirty="0"/>
              <a:t>You can </a:t>
            </a:r>
            <a:r>
              <a:rPr lang="en-US" sz="2400" b="1" dirty="0"/>
              <a:t>view portions </a:t>
            </a:r>
            <a:r>
              <a:rPr lang="en-US" sz="2400" dirty="0"/>
              <a:t>of </a:t>
            </a:r>
            <a:r>
              <a:rPr lang="en-US" sz="2400" b="1" dirty="0"/>
              <a:t>several worksheets </a:t>
            </a:r>
            <a:r>
              <a:rPr lang="en-US" sz="2400" dirty="0"/>
              <a:t>in a </a:t>
            </a:r>
            <a:r>
              <a:rPr lang="en-US" sz="2400" b="1" dirty="0"/>
              <a:t>workbook</a:t>
            </a:r>
            <a:r>
              <a:rPr lang="en-US" sz="2400" dirty="0"/>
              <a:t> </a:t>
            </a:r>
            <a:r>
              <a:rPr lang="en-US" sz="2400" b="1" dirty="0"/>
              <a:t>simultaneously</a:t>
            </a:r>
            <a:r>
              <a:rPr lang="en-US" sz="2400" dirty="0"/>
              <a:t>. This is </a:t>
            </a:r>
            <a:r>
              <a:rPr lang="en-US" sz="2400" b="1" dirty="0"/>
              <a:t>handy</a:t>
            </a:r>
            <a:r>
              <a:rPr lang="en-US" sz="2400" dirty="0"/>
              <a:t> when you need to make </a:t>
            </a:r>
            <a:r>
              <a:rPr lang="en-US" sz="2400" b="1" dirty="0"/>
              <a:t>comparisons</a:t>
            </a:r>
            <a:r>
              <a:rPr lang="en-US" sz="2400" dirty="0"/>
              <a:t> between the data that appears on these sheets. </a:t>
            </a:r>
          </a:p>
        </p:txBody>
      </p:sp>
    </p:spTree>
    <p:extLst>
      <p:ext uri="{BB962C8B-B14F-4D97-AF65-F5344CB8AC3E}">
        <p14:creationId xmlns:p14="http://schemas.microsoft.com/office/powerpoint/2010/main" val="1662236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F0D7A-11E2-45DE-A46C-83D2BB2D8640}"/>
              </a:ext>
            </a:extLst>
          </p:cNvPr>
          <p:cNvSpPr>
            <a:spLocks noGrp="1"/>
          </p:cNvSpPr>
          <p:nvPr>
            <p:ph type="title"/>
          </p:nvPr>
        </p:nvSpPr>
        <p:spPr>
          <a:xfrm>
            <a:off x="1616149" y="188175"/>
            <a:ext cx="9888463" cy="864448"/>
          </a:xfrm>
        </p:spPr>
        <p:txBody>
          <a:bodyPr>
            <a:normAutofit/>
          </a:bodyPr>
          <a:lstStyle/>
          <a:p>
            <a:r>
              <a:rPr lang="en-US" dirty="0"/>
              <a:t>CONTD…</a:t>
            </a:r>
          </a:p>
        </p:txBody>
      </p:sp>
      <p:sp>
        <p:nvSpPr>
          <p:cNvPr id="3" name="Content Placeholder 2">
            <a:extLst>
              <a:ext uri="{FF2B5EF4-FFF2-40B4-BE49-F238E27FC236}">
                <a16:creationId xmlns:a16="http://schemas.microsoft.com/office/drawing/2014/main" id="{E7A6A546-5B7F-49FE-9184-B5524E10810B}"/>
              </a:ext>
            </a:extLst>
          </p:cNvPr>
          <p:cNvSpPr>
            <a:spLocks noGrp="1"/>
          </p:cNvSpPr>
          <p:nvPr>
            <p:ph idx="1"/>
          </p:nvPr>
        </p:nvSpPr>
        <p:spPr>
          <a:xfrm>
            <a:off x="1616149" y="1052623"/>
            <a:ext cx="9888463" cy="5411972"/>
          </a:xfrm>
        </p:spPr>
        <p:txBody>
          <a:bodyPr>
            <a:normAutofit fontScale="62500" lnSpcReduction="20000"/>
          </a:bodyPr>
          <a:lstStyle/>
          <a:p>
            <a:pPr>
              <a:lnSpc>
                <a:spcPct val="160000"/>
              </a:lnSpc>
            </a:pPr>
            <a:r>
              <a:rPr lang="en-US" sz="3200" dirty="0"/>
              <a:t>You don’t have to </a:t>
            </a:r>
            <a:r>
              <a:rPr lang="en-US" sz="3200" b="1" dirty="0"/>
              <a:t>close</a:t>
            </a:r>
            <a:r>
              <a:rPr lang="en-US" sz="3200" dirty="0"/>
              <a:t> one </a:t>
            </a:r>
            <a:r>
              <a:rPr lang="en-US" sz="3200" b="1" dirty="0"/>
              <a:t>window</a:t>
            </a:r>
            <a:r>
              <a:rPr lang="en-US" sz="3200" dirty="0"/>
              <a:t> and </a:t>
            </a:r>
            <a:r>
              <a:rPr lang="en-US" sz="3200" b="1" dirty="0"/>
              <a:t>open</a:t>
            </a:r>
            <a:r>
              <a:rPr lang="en-US" sz="3200" dirty="0"/>
              <a:t> the other, </a:t>
            </a:r>
            <a:r>
              <a:rPr lang="en-US" sz="3200" b="1" dirty="0"/>
              <a:t>go back </a:t>
            </a:r>
            <a:r>
              <a:rPr lang="en-US" sz="3200" dirty="0"/>
              <a:t>and </a:t>
            </a:r>
            <a:r>
              <a:rPr lang="en-US" sz="3200" b="1" dirty="0"/>
              <a:t>forth,</a:t>
            </a:r>
            <a:r>
              <a:rPr lang="en-US" sz="3200" dirty="0"/>
              <a:t> and </a:t>
            </a:r>
            <a:r>
              <a:rPr lang="en-US" sz="3200" b="1" dirty="0"/>
              <a:t>rely</a:t>
            </a:r>
            <a:r>
              <a:rPr lang="en-US" sz="3200" dirty="0"/>
              <a:t> on your </a:t>
            </a:r>
            <a:r>
              <a:rPr lang="en-US" sz="3200" b="1" dirty="0"/>
              <a:t>memory</a:t>
            </a:r>
            <a:r>
              <a:rPr lang="en-US" sz="3200" dirty="0"/>
              <a:t> to fill in the details of what you don’t see. </a:t>
            </a:r>
          </a:p>
          <a:p>
            <a:pPr marL="342900" marR="0" lvl="0" indent="-342900" algn="l" defTabSz="457200" rtl="0" eaLnBrk="1" fontAlgn="auto" latinLnBrk="0" hangingPunct="1">
              <a:lnSpc>
                <a:spcPct val="160000"/>
              </a:lnSpc>
              <a:spcBef>
                <a:spcPts val="1000"/>
              </a:spcBef>
              <a:spcAft>
                <a:spcPts val="0"/>
              </a:spcAft>
              <a:buClr>
                <a:srgbClr val="A53010"/>
              </a:buClr>
              <a:buSzTx/>
              <a:buFont typeface="Wingdings 3" charset="2"/>
              <a:buChar char=""/>
              <a:tabLst/>
              <a:defRPr/>
            </a:pPr>
            <a:r>
              <a:rPr lang="en-US" sz="3200" dirty="0">
                <a:solidFill>
                  <a:prstClr val="black">
                    <a:lumMod val="75000"/>
                    <a:lumOff val="25000"/>
                  </a:prstClr>
                </a:solidFill>
                <a:latin typeface="Century Gothic" panose="020B0502020202020204"/>
              </a:rPr>
              <a:t>We will look at </a:t>
            </a:r>
            <a:r>
              <a:rPr lang="en-US" sz="3200" b="1" dirty="0">
                <a:solidFill>
                  <a:prstClr val="black">
                    <a:lumMod val="75000"/>
                    <a:lumOff val="25000"/>
                  </a:prstClr>
                </a:solidFill>
                <a:latin typeface="Century Gothic" panose="020B0502020202020204"/>
              </a:rPr>
              <a:t>g</a:t>
            </a:r>
            <a:r>
              <a:rPr kumimoji="0" lang="en-US" sz="3200" b="1"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rouping</a:t>
            </a:r>
            <a:r>
              <a:rPr kumimoji="0" lang="en-US" sz="32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worksheets </a:t>
            </a:r>
            <a:r>
              <a:rPr kumimoji="0" lang="en-US" sz="3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together in </a:t>
            </a:r>
            <a:r>
              <a:rPr kumimoji="0" lang="en-US" sz="32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preparation</a:t>
            </a:r>
            <a:r>
              <a:rPr kumimoji="0" lang="en-US" sz="3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to </a:t>
            </a:r>
            <a:r>
              <a:rPr kumimoji="0" lang="en-US" sz="32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make changes </a:t>
            </a:r>
            <a:r>
              <a:rPr kumimoji="0" lang="en-US" sz="3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that </a:t>
            </a:r>
            <a:r>
              <a:rPr kumimoji="0" lang="en-US" sz="32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affect all </a:t>
            </a:r>
            <a:r>
              <a:rPr kumimoji="0" lang="en-US" sz="3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of them, and </a:t>
            </a:r>
            <a:r>
              <a:rPr kumimoji="0" lang="en-US" sz="32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arranging</a:t>
            </a:r>
            <a:r>
              <a:rPr kumimoji="0" lang="en-US" sz="3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them </a:t>
            </a:r>
            <a:r>
              <a:rPr kumimoji="0" lang="en-US" sz="32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onscreen</a:t>
            </a:r>
            <a:r>
              <a:rPr kumimoji="0" lang="en-US" sz="3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to </a:t>
            </a:r>
            <a:r>
              <a:rPr kumimoji="0" lang="en-US" sz="32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compare </a:t>
            </a:r>
            <a:r>
              <a:rPr kumimoji="0" lang="en-US" sz="3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contents.</a:t>
            </a:r>
          </a:p>
          <a:p>
            <a:pPr marL="0" marR="0" lvl="0" indent="0" algn="l" defTabSz="457200" rtl="0" eaLnBrk="1" fontAlgn="auto" latinLnBrk="0" hangingPunct="1">
              <a:lnSpc>
                <a:spcPct val="160000"/>
              </a:lnSpc>
              <a:spcBef>
                <a:spcPts val="1000"/>
              </a:spcBef>
              <a:spcAft>
                <a:spcPts val="0"/>
              </a:spcAft>
              <a:buClr>
                <a:srgbClr val="A53010"/>
              </a:buClr>
              <a:buSzTx/>
              <a:buNone/>
              <a:tabLst/>
              <a:defRPr/>
            </a:pPr>
            <a:r>
              <a:rPr kumimoji="0" lang="en-US" sz="32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STEP BY STEP Work with Multiple Worksheets in a Workbook</a:t>
            </a:r>
          </a:p>
          <a:p>
            <a:pPr marL="971550" marR="0" lvl="1" indent="-514350" algn="l" defTabSz="457200" rtl="0" eaLnBrk="1" fontAlgn="auto" latinLnBrk="0" hangingPunct="1">
              <a:lnSpc>
                <a:spcPct val="160000"/>
              </a:lnSpc>
              <a:spcBef>
                <a:spcPts val="1000"/>
              </a:spcBef>
              <a:spcAft>
                <a:spcPts val="0"/>
              </a:spcAft>
              <a:buClr>
                <a:srgbClr val="A53010"/>
              </a:buClr>
              <a:buSzTx/>
              <a:buFont typeface="+mj-lt"/>
              <a:buAutoNum type="arabicPeriod"/>
              <a:tabLst/>
              <a:defRPr/>
            </a:pPr>
            <a:r>
              <a:rPr kumimoji="0" lang="en-US" sz="3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Create and SAVE the </a:t>
            </a:r>
            <a:r>
              <a:rPr kumimoji="0" lang="en-US" sz="32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workbook</a:t>
            </a:r>
            <a:r>
              <a:rPr kumimoji="0" lang="en-US" sz="3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with </a:t>
            </a:r>
            <a:r>
              <a:rPr kumimoji="0" lang="en-US" sz="32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three worksheet’s tab</a:t>
            </a:r>
            <a:r>
              <a:rPr kumimoji="0" lang="en-US" sz="3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p>
          <a:p>
            <a:pPr marL="971550" marR="0" lvl="1" indent="-514350" algn="l" defTabSz="457200" rtl="0" eaLnBrk="1" fontAlgn="auto" latinLnBrk="0" hangingPunct="1">
              <a:lnSpc>
                <a:spcPct val="160000"/>
              </a:lnSpc>
              <a:spcBef>
                <a:spcPts val="1000"/>
              </a:spcBef>
              <a:spcAft>
                <a:spcPts val="0"/>
              </a:spcAft>
              <a:buClr>
                <a:srgbClr val="A53010"/>
              </a:buClr>
              <a:buSzTx/>
              <a:buFont typeface="+mj-lt"/>
              <a:buAutoNum type="arabicPeriod"/>
              <a:tabLst/>
              <a:defRPr/>
            </a:pPr>
            <a:r>
              <a:rPr kumimoji="0" lang="en-US" sz="3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Right-click any </a:t>
            </a:r>
            <a:r>
              <a:rPr kumimoji="0" lang="en-US" sz="32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worksheet’s tab </a:t>
            </a:r>
            <a:r>
              <a:rPr kumimoji="0" lang="en-US" sz="3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and click </a:t>
            </a:r>
            <a:r>
              <a:rPr kumimoji="0" lang="en-US" sz="32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Select All Sheets</a:t>
            </a:r>
            <a:r>
              <a:rPr kumimoji="0" lang="en-US" sz="3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The title bar will now read as  </a:t>
            </a:r>
            <a:r>
              <a:rPr kumimoji="0" lang="en-US" sz="3200" b="1" i="0" u="none" strike="noStrike" kern="1200" cap="none" spc="0" normalizeH="0" baseline="0" noProof="0" dirty="0">
                <a:ln>
                  <a:noFill/>
                </a:ln>
                <a:solidFill>
                  <a:srgbClr val="FF0000"/>
                </a:solidFill>
                <a:effectLst/>
                <a:uLnTx/>
                <a:uFillTx/>
                <a:latin typeface="Century Gothic" panose="020B0502020202020204"/>
                <a:ea typeface="+mn-ea"/>
                <a:cs typeface="+mn-cs"/>
              </a:rPr>
              <a:t>Spa Services Week of 2-20 Solution 2.xlsx </a:t>
            </a:r>
            <a:r>
              <a:rPr kumimoji="0" lang="en-US" sz="32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[Group]. </a:t>
            </a:r>
            <a:r>
              <a:rPr kumimoji="0" lang="en-US" sz="3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p>
          <a:p>
            <a:endParaRPr lang="en-US" dirty="0"/>
          </a:p>
        </p:txBody>
      </p:sp>
    </p:spTree>
    <p:extLst>
      <p:ext uri="{BB962C8B-B14F-4D97-AF65-F5344CB8AC3E}">
        <p14:creationId xmlns:p14="http://schemas.microsoft.com/office/powerpoint/2010/main" val="1849482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59891-45D0-4975-9C6E-C98561949406}"/>
              </a:ext>
            </a:extLst>
          </p:cNvPr>
          <p:cNvSpPr>
            <a:spLocks noGrp="1"/>
          </p:cNvSpPr>
          <p:nvPr>
            <p:ph type="title"/>
          </p:nvPr>
        </p:nvSpPr>
        <p:spPr>
          <a:xfrm>
            <a:off x="1637414" y="198807"/>
            <a:ext cx="9867198" cy="949509"/>
          </a:xfrm>
        </p:spPr>
        <p:txBody>
          <a:bodyPr/>
          <a:lstStyle/>
          <a:p>
            <a:r>
              <a:rPr lang="en-US" dirty="0"/>
              <a:t>CONTD…</a:t>
            </a:r>
          </a:p>
        </p:txBody>
      </p:sp>
      <p:sp>
        <p:nvSpPr>
          <p:cNvPr id="3" name="Content Placeholder 2">
            <a:extLst>
              <a:ext uri="{FF2B5EF4-FFF2-40B4-BE49-F238E27FC236}">
                <a16:creationId xmlns:a16="http://schemas.microsoft.com/office/drawing/2014/main" id="{3FB5048A-EA79-4575-B935-FE5817800FFF}"/>
              </a:ext>
            </a:extLst>
          </p:cNvPr>
          <p:cNvSpPr>
            <a:spLocks noGrp="1"/>
          </p:cNvSpPr>
          <p:nvPr>
            <p:ph idx="1"/>
          </p:nvPr>
        </p:nvSpPr>
        <p:spPr>
          <a:xfrm>
            <a:off x="1637415" y="1148316"/>
            <a:ext cx="9867198" cy="4762906"/>
          </a:xfrm>
        </p:spPr>
        <p:txBody>
          <a:bodyPr>
            <a:noAutofit/>
          </a:bodyPr>
          <a:lstStyle/>
          <a:p>
            <a:pPr marL="1143000" marR="0" lvl="2" indent="-2286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All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visible</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worksheets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are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included</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in this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group</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whereas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hidden worksheets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are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excluded</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endParaRPr lang="en-US" sz="2400" dirty="0"/>
          </a:p>
          <a:p>
            <a:pPr lvl="2">
              <a:lnSpc>
                <a:spcPct val="150000"/>
              </a:lnSpc>
            </a:pPr>
            <a:r>
              <a:rPr lang="en-US" sz="2400" dirty="0"/>
              <a:t>Although </a:t>
            </a:r>
            <a:r>
              <a:rPr lang="en-US" sz="2400" b="1" dirty="0"/>
              <a:t>all</a:t>
            </a:r>
            <a:r>
              <a:rPr lang="en-US" sz="2400" dirty="0"/>
              <a:t> the </a:t>
            </a:r>
            <a:r>
              <a:rPr lang="en-US" sz="2400" b="1" dirty="0"/>
              <a:t>worksheets’ tabs </a:t>
            </a:r>
            <a:r>
              <a:rPr lang="en-US" sz="2400" dirty="0"/>
              <a:t>are now </a:t>
            </a:r>
            <a:r>
              <a:rPr lang="en-US" sz="2400" b="1" dirty="0"/>
              <a:t>boldface</a:t>
            </a:r>
            <a:r>
              <a:rPr lang="en-US" sz="2400" dirty="0"/>
              <a:t>, the </a:t>
            </a:r>
            <a:r>
              <a:rPr lang="en-US" sz="2400" b="1" dirty="0"/>
              <a:t>active worksheet </a:t>
            </a:r>
            <a:r>
              <a:rPr lang="en-US" sz="2400" dirty="0"/>
              <a:t>name </a:t>
            </a:r>
            <a:r>
              <a:rPr lang="en-US" sz="2400" b="1" dirty="0"/>
              <a:t>remains highlighted </a:t>
            </a:r>
            <a:r>
              <a:rPr lang="en-US" sz="2400" dirty="0"/>
              <a:t>in </a:t>
            </a:r>
            <a:r>
              <a:rPr lang="en-US" sz="2400" b="1" dirty="0"/>
              <a:t>green</a:t>
            </a:r>
            <a:r>
              <a:rPr lang="en-US" sz="2400" dirty="0"/>
              <a:t>.</a:t>
            </a:r>
          </a:p>
          <a:p>
            <a:pPr marL="914400" lvl="1" indent="-457200">
              <a:lnSpc>
                <a:spcPct val="150000"/>
              </a:lnSpc>
              <a:buFont typeface="+mj-lt"/>
              <a:buAutoNum type="arabicPeriod" startAt="3"/>
            </a:pPr>
            <a:r>
              <a:rPr lang="en-US" sz="2400" dirty="0"/>
              <a:t>Select </a:t>
            </a:r>
            <a:r>
              <a:rPr lang="en-US" sz="2400" b="1" dirty="0"/>
              <a:t>some cells I8:M33.</a:t>
            </a:r>
          </a:p>
          <a:p>
            <a:pPr marL="914400" lvl="1" indent="-457200">
              <a:lnSpc>
                <a:spcPct val="150000"/>
              </a:lnSpc>
              <a:buFont typeface="+mj-lt"/>
              <a:buAutoNum type="arabicPeriod" startAt="3"/>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On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Home tab</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in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Number group</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click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(Accounting Number Format). </a:t>
            </a:r>
          </a:p>
          <a:p>
            <a:pPr marL="457200" lvl="1" indent="0">
              <a:buNone/>
            </a:pPr>
            <a:endParaRPr lang="en-US" sz="2400" b="1" dirty="0"/>
          </a:p>
        </p:txBody>
      </p:sp>
    </p:spTree>
    <p:extLst>
      <p:ext uri="{BB962C8B-B14F-4D97-AF65-F5344CB8AC3E}">
        <p14:creationId xmlns:p14="http://schemas.microsoft.com/office/powerpoint/2010/main" val="17165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63097-0727-4764-BCCE-DBC35C5D4F01}"/>
              </a:ext>
            </a:extLst>
          </p:cNvPr>
          <p:cNvSpPr>
            <a:spLocks noGrp="1"/>
          </p:cNvSpPr>
          <p:nvPr>
            <p:ph type="title"/>
          </p:nvPr>
        </p:nvSpPr>
        <p:spPr>
          <a:xfrm>
            <a:off x="1626781" y="209440"/>
            <a:ext cx="9877831" cy="875081"/>
          </a:xfrm>
        </p:spPr>
        <p:txBody>
          <a:bodyPr/>
          <a:lstStyle/>
          <a:p>
            <a:r>
              <a:rPr lang="en-US" dirty="0"/>
              <a:t>CONTD…</a:t>
            </a:r>
          </a:p>
        </p:txBody>
      </p:sp>
      <p:sp>
        <p:nvSpPr>
          <p:cNvPr id="3" name="Content Placeholder 2">
            <a:extLst>
              <a:ext uri="{FF2B5EF4-FFF2-40B4-BE49-F238E27FC236}">
                <a16:creationId xmlns:a16="http://schemas.microsoft.com/office/drawing/2014/main" id="{3F2727F8-82B4-4E9D-9EF3-2DE5DF6A533C}"/>
              </a:ext>
            </a:extLst>
          </p:cNvPr>
          <p:cNvSpPr>
            <a:spLocks noGrp="1"/>
          </p:cNvSpPr>
          <p:nvPr>
            <p:ph idx="1"/>
          </p:nvPr>
        </p:nvSpPr>
        <p:spPr>
          <a:xfrm>
            <a:off x="1626781" y="1084521"/>
            <a:ext cx="9877831" cy="4826701"/>
          </a:xfrm>
        </p:spPr>
        <p:txBody>
          <a:bodyPr>
            <a:noAutofit/>
          </a:bodyPr>
          <a:lstStyle/>
          <a:p>
            <a:pPr marL="1143000" marR="0" lvl="2" indent="-2286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cell formats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for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range</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switch</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to a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currency style</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where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dollar sign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is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aligned left</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and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value aligned right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with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two decimal places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endParaRPr lang="en-US" sz="2400" dirty="0"/>
          </a:p>
          <a:p>
            <a:pPr lvl="2">
              <a:lnSpc>
                <a:spcPct val="150000"/>
              </a:lnSpc>
            </a:pPr>
            <a:r>
              <a:rPr lang="en-US" sz="2400" b="1" dirty="0"/>
              <a:t>Column K (Facial) </a:t>
            </a:r>
            <a:r>
              <a:rPr lang="en-US" sz="2400" dirty="0"/>
              <a:t>is </a:t>
            </a:r>
            <a:r>
              <a:rPr lang="en-US" sz="2400" b="1" dirty="0"/>
              <a:t>too narrow </a:t>
            </a:r>
            <a:r>
              <a:rPr lang="en-US" sz="2400" dirty="0"/>
              <a:t>for its </a:t>
            </a:r>
            <a:r>
              <a:rPr lang="en-US" sz="2400" b="1" dirty="0"/>
              <a:t>contents</a:t>
            </a:r>
            <a:r>
              <a:rPr lang="en-US" sz="2400" dirty="0"/>
              <a:t>, so its </a:t>
            </a:r>
            <a:r>
              <a:rPr lang="en-US" sz="2400" b="1" dirty="0"/>
              <a:t>values currently </a:t>
            </a:r>
            <a:r>
              <a:rPr lang="en-US" sz="2400" dirty="0"/>
              <a:t>read </a:t>
            </a:r>
            <a:r>
              <a:rPr lang="en-US" sz="2400" b="1" dirty="0"/>
              <a:t>####</a:t>
            </a:r>
            <a:r>
              <a:rPr lang="en-US" sz="2400" dirty="0"/>
              <a:t>.</a:t>
            </a:r>
          </a:p>
          <a:p>
            <a:pPr marL="914400" lvl="1" indent="-457200">
              <a:lnSpc>
                <a:spcPct val="150000"/>
              </a:lnSpc>
              <a:buFont typeface="+mj-lt"/>
              <a:buAutoNum type="arabicPeriod" startAt="5"/>
            </a:pPr>
            <a:r>
              <a:rPr lang="en-US" sz="2400" b="1" dirty="0"/>
              <a:t>Adjust</a:t>
            </a:r>
            <a:r>
              <a:rPr lang="en-US" sz="2400" dirty="0"/>
              <a:t> the </a:t>
            </a:r>
            <a:r>
              <a:rPr lang="en-US" sz="2400" b="1" dirty="0"/>
              <a:t>width</a:t>
            </a:r>
            <a:r>
              <a:rPr lang="en-US" sz="2400" dirty="0"/>
              <a:t> of </a:t>
            </a:r>
            <a:r>
              <a:rPr lang="en-US" sz="2400" b="1" dirty="0"/>
              <a:t>column K</a:t>
            </a:r>
            <a:r>
              <a:rPr lang="en-US" sz="2400" dirty="0"/>
              <a:t> to fit its contents.</a:t>
            </a:r>
          </a:p>
          <a:p>
            <a:pPr marL="914400" lvl="1" indent="-457200">
              <a:lnSpc>
                <a:spcPct val="150000"/>
              </a:lnSpc>
              <a:buFont typeface="+mj-lt"/>
              <a:buAutoNum type="arabicPeriod" startAt="5"/>
            </a:pPr>
            <a:r>
              <a:rPr lang="en-US" sz="2400" dirty="0"/>
              <a:t>Select </a:t>
            </a:r>
            <a:r>
              <a:rPr lang="en-US" sz="2400" b="1" dirty="0"/>
              <a:t>column M</a:t>
            </a:r>
            <a:r>
              <a:rPr lang="en-US" sz="2400" dirty="0"/>
              <a:t>.</a:t>
            </a:r>
          </a:p>
        </p:txBody>
      </p:sp>
    </p:spTree>
    <p:extLst>
      <p:ext uri="{BB962C8B-B14F-4D97-AF65-F5344CB8AC3E}">
        <p14:creationId xmlns:p14="http://schemas.microsoft.com/office/powerpoint/2010/main" val="2721081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41ABF-6843-49F7-AF2F-68C7C0516D41}"/>
              </a:ext>
            </a:extLst>
          </p:cNvPr>
          <p:cNvSpPr>
            <a:spLocks noGrp="1"/>
          </p:cNvSpPr>
          <p:nvPr>
            <p:ph type="title"/>
          </p:nvPr>
        </p:nvSpPr>
        <p:spPr>
          <a:xfrm>
            <a:off x="1626781" y="124380"/>
            <a:ext cx="9877831" cy="906978"/>
          </a:xfrm>
        </p:spPr>
        <p:txBody>
          <a:bodyPr/>
          <a:lstStyle/>
          <a:p>
            <a:pPr>
              <a:lnSpc>
                <a:spcPct val="150000"/>
              </a:lnSpc>
            </a:pPr>
            <a:r>
              <a:rPr lang="en-US" dirty="0"/>
              <a:t>CONTD…</a:t>
            </a:r>
          </a:p>
        </p:txBody>
      </p:sp>
      <p:sp>
        <p:nvSpPr>
          <p:cNvPr id="3" name="Content Placeholder 2">
            <a:extLst>
              <a:ext uri="{FF2B5EF4-FFF2-40B4-BE49-F238E27FC236}">
                <a16:creationId xmlns:a16="http://schemas.microsoft.com/office/drawing/2014/main" id="{64FAB821-0A50-49BD-8AF6-1467318C446F}"/>
              </a:ext>
            </a:extLst>
          </p:cNvPr>
          <p:cNvSpPr>
            <a:spLocks noGrp="1"/>
          </p:cNvSpPr>
          <p:nvPr>
            <p:ph idx="1"/>
          </p:nvPr>
        </p:nvSpPr>
        <p:spPr>
          <a:xfrm>
            <a:off x="1626781" y="1031358"/>
            <a:ext cx="9877831" cy="4879864"/>
          </a:xfrm>
        </p:spPr>
        <p:txBody>
          <a:bodyPr>
            <a:normAutofit/>
          </a:bodyPr>
          <a:lstStyle/>
          <a:p>
            <a:pPr marL="971550" lvl="1" indent="-514350">
              <a:lnSpc>
                <a:spcPct val="150000"/>
              </a:lnSpc>
              <a:buFont typeface="+mj-lt"/>
              <a:buAutoNum type="arabicPeriod" startAt="7"/>
            </a:pPr>
            <a:r>
              <a:rPr lang="en-US" sz="2600" dirty="0"/>
              <a:t>In the </a:t>
            </a:r>
            <a:r>
              <a:rPr lang="en-US" sz="2600" b="1" dirty="0"/>
              <a:t>Font group</a:t>
            </a:r>
            <a:r>
              <a:rPr lang="en-US" sz="2600" dirty="0"/>
              <a:t>, click </a:t>
            </a:r>
            <a:r>
              <a:rPr lang="en-US" sz="2600" b="1" dirty="0"/>
              <a:t>B (Bold). </a:t>
            </a:r>
            <a:r>
              <a:rPr lang="en-US" sz="2600" dirty="0"/>
              <a:t>All cells in </a:t>
            </a:r>
            <a:r>
              <a:rPr lang="en-US" sz="2600" b="1" dirty="0"/>
              <a:t>column M</a:t>
            </a:r>
            <a:r>
              <a:rPr lang="en-US" sz="2600" dirty="0"/>
              <a:t> are now </a:t>
            </a:r>
            <a:r>
              <a:rPr lang="en-US" sz="2600" b="1" dirty="0"/>
              <a:t>boldfaced</a:t>
            </a:r>
            <a:r>
              <a:rPr lang="en-US" sz="2600" dirty="0"/>
              <a:t>. Press </a:t>
            </a:r>
            <a:r>
              <a:rPr lang="en-US" sz="2600" b="1" dirty="0" err="1"/>
              <a:t>Ctrl+Home</a:t>
            </a:r>
            <a:r>
              <a:rPr lang="en-US" sz="2600" dirty="0"/>
              <a:t>.</a:t>
            </a:r>
          </a:p>
          <a:p>
            <a:pPr marL="971550" lvl="1" indent="-514350">
              <a:lnSpc>
                <a:spcPct val="150000"/>
              </a:lnSpc>
              <a:buFont typeface="+mj-lt"/>
              <a:buAutoNum type="arabicPeriod" startAt="7"/>
            </a:pPr>
            <a:r>
              <a:rPr lang="en-US" sz="2600" dirty="0"/>
              <a:t>Click the </a:t>
            </a:r>
            <a:r>
              <a:rPr lang="en-US" sz="2600" b="1" dirty="0"/>
              <a:t>tab</a:t>
            </a:r>
            <a:r>
              <a:rPr lang="en-US" sz="2600" dirty="0"/>
              <a:t> for a </a:t>
            </a:r>
            <a:r>
              <a:rPr lang="en-US" sz="2600" b="1" dirty="0"/>
              <a:t>worksheet</a:t>
            </a:r>
            <a:r>
              <a:rPr lang="en-US" sz="2600" dirty="0"/>
              <a:t> </a:t>
            </a:r>
            <a:r>
              <a:rPr lang="en-US" sz="2600" b="1" dirty="0"/>
              <a:t>other than Wednesday</a:t>
            </a:r>
            <a:r>
              <a:rPr lang="en-US" sz="2600" dirty="0"/>
              <a:t>. </a:t>
            </a:r>
          </a:p>
          <a:p>
            <a:pPr lvl="2">
              <a:lnSpc>
                <a:spcPct val="150000"/>
              </a:lnSpc>
            </a:pPr>
            <a:r>
              <a:rPr lang="en-US" sz="2600" dirty="0"/>
              <a:t>The </a:t>
            </a:r>
            <a:r>
              <a:rPr lang="en-US" sz="2600" b="1" dirty="0"/>
              <a:t>worksheets</a:t>
            </a:r>
            <a:r>
              <a:rPr lang="en-US" sz="2600" dirty="0"/>
              <a:t> are now </a:t>
            </a:r>
            <a:r>
              <a:rPr lang="en-US" sz="2600" b="1" dirty="0"/>
              <a:t>ungrouped</a:t>
            </a:r>
            <a:r>
              <a:rPr lang="en-US" sz="2600" dirty="0"/>
              <a:t>, but the </a:t>
            </a:r>
            <a:r>
              <a:rPr lang="en-US" sz="2600" b="1" dirty="0"/>
              <a:t>changes</a:t>
            </a:r>
            <a:r>
              <a:rPr lang="en-US" sz="2600" dirty="0"/>
              <a:t> you </a:t>
            </a:r>
            <a:r>
              <a:rPr lang="en-US" sz="2600" b="1" dirty="0"/>
              <a:t>made</a:t>
            </a:r>
            <a:r>
              <a:rPr lang="en-US" sz="2600" dirty="0"/>
              <a:t> to the </a:t>
            </a:r>
            <a:r>
              <a:rPr lang="en-US" sz="2600" b="1" dirty="0"/>
              <a:t>previous sheet </a:t>
            </a:r>
            <a:r>
              <a:rPr lang="en-US" sz="2600" dirty="0"/>
              <a:t>are </a:t>
            </a:r>
            <a:r>
              <a:rPr lang="en-US" sz="2600" b="1" dirty="0"/>
              <a:t>reflected</a:t>
            </a:r>
            <a:r>
              <a:rPr lang="en-US" sz="2600" dirty="0"/>
              <a:t> in all </a:t>
            </a:r>
            <a:r>
              <a:rPr lang="en-US" sz="2600" b="1" dirty="0"/>
              <a:t>three worksheets</a:t>
            </a:r>
            <a:r>
              <a:rPr lang="en-US" sz="2600" dirty="0"/>
              <a:t>.</a:t>
            </a:r>
          </a:p>
          <a:p>
            <a:pPr lvl="2">
              <a:lnSpc>
                <a:spcPct val="150000"/>
              </a:lnSpc>
            </a:pPr>
            <a:r>
              <a:rPr lang="en-US" sz="2600" dirty="0"/>
              <a:t>Select the </a:t>
            </a:r>
            <a:r>
              <a:rPr lang="en-US" sz="2600" b="1" dirty="0"/>
              <a:t>Monday</a:t>
            </a:r>
            <a:r>
              <a:rPr lang="en-US" sz="2600" dirty="0"/>
              <a:t> worksheet.</a:t>
            </a:r>
          </a:p>
          <a:p>
            <a:endParaRPr lang="en-US" dirty="0"/>
          </a:p>
          <a:p>
            <a:endParaRPr lang="en-US" dirty="0"/>
          </a:p>
        </p:txBody>
      </p:sp>
    </p:spTree>
    <p:extLst>
      <p:ext uri="{BB962C8B-B14F-4D97-AF65-F5344CB8AC3E}">
        <p14:creationId xmlns:p14="http://schemas.microsoft.com/office/powerpoint/2010/main" val="3642096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9FFC2-4961-464E-B00B-A8209EF869A2}"/>
              </a:ext>
            </a:extLst>
          </p:cNvPr>
          <p:cNvSpPr>
            <a:spLocks noGrp="1"/>
          </p:cNvSpPr>
          <p:nvPr>
            <p:ph type="title"/>
          </p:nvPr>
        </p:nvSpPr>
        <p:spPr>
          <a:xfrm>
            <a:off x="1669312" y="198808"/>
            <a:ext cx="9835300" cy="906978"/>
          </a:xfrm>
        </p:spPr>
        <p:txBody>
          <a:bodyPr>
            <a:normAutofit/>
          </a:bodyPr>
          <a:lstStyle/>
          <a:p>
            <a:r>
              <a:rPr lang="en-US" dirty="0"/>
              <a:t>CONTD…</a:t>
            </a:r>
          </a:p>
        </p:txBody>
      </p:sp>
      <p:sp>
        <p:nvSpPr>
          <p:cNvPr id="3" name="Content Placeholder 2">
            <a:extLst>
              <a:ext uri="{FF2B5EF4-FFF2-40B4-BE49-F238E27FC236}">
                <a16:creationId xmlns:a16="http://schemas.microsoft.com/office/drawing/2014/main" id="{EFADE64F-B289-4A7B-B39F-440E80A42E3D}"/>
              </a:ext>
            </a:extLst>
          </p:cNvPr>
          <p:cNvSpPr>
            <a:spLocks noGrp="1"/>
          </p:cNvSpPr>
          <p:nvPr>
            <p:ph idx="1"/>
          </p:nvPr>
        </p:nvSpPr>
        <p:spPr>
          <a:xfrm>
            <a:off x="1669312" y="1105786"/>
            <a:ext cx="9835300" cy="4944140"/>
          </a:xfrm>
        </p:spPr>
        <p:txBody>
          <a:bodyPr>
            <a:normAutofit fontScale="92500" lnSpcReduction="20000"/>
          </a:bodyPr>
          <a:lstStyle/>
          <a:p>
            <a:pPr marL="914400" marR="0" lvl="1" indent="-457200" algn="l" defTabSz="457200" rtl="0" eaLnBrk="1" fontAlgn="auto" latinLnBrk="0" hangingPunct="1">
              <a:lnSpc>
                <a:spcPct val="150000"/>
              </a:lnSpc>
              <a:spcBef>
                <a:spcPts val="1000"/>
              </a:spcBef>
              <a:spcAft>
                <a:spcPts val="0"/>
              </a:spcAft>
              <a:buClr>
                <a:srgbClr val="A53010"/>
              </a:buClr>
              <a:buSzTx/>
              <a:buFont typeface="+mj-lt"/>
              <a:buAutoNum type="arabicPeriod" startAt="10"/>
              <a:tabLst/>
              <a:defRPr/>
            </a:pP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Click the </a:t>
            </a:r>
            <a:r>
              <a:rPr kumimoji="0" lang="en-US" sz="2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View tab</a:t>
            </a: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and then in the </a:t>
            </a:r>
            <a:r>
              <a:rPr kumimoji="0" lang="en-US" sz="2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Window group</a:t>
            </a: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click </a:t>
            </a:r>
            <a:r>
              <a:rPr kumimoji="0" lang="en-US" sz="2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New Window</a:t>
            </a: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 new Excel window appears, also containing the Monday worksheet.</a:t>
            </a:r>
          </a:p>
          <a:p>
            <a:pPr marL="914400" marR="0" lvl="1" indent="-457200" algn="l" defTabSz="457200" rtl="0" eaLnBrk="1" fontAlgn="auto" latinLnBrk="0" hangingPunct="1">
              <a:lnSpc>
                <a:spcPct val="150000"/>
              </a:lnSpc>
              <a:spcBef>
                <a:spcPts val="1000"/>
              </a:spcBef>
              <a:spcAft>
                <a:spcPts val="0"/>
              </a:spcAft>
              <a:buClr>
                <a:srgbClr val="A53010"/>
              </a:buClr>
              <a:buSzTx/>
              <a:buFont typeface="+mj-lt"/>
              <a:buAutoNum type="arabicPeriod" startAt="10"/>
              <a:tabLst/>
              <a:defRPr/>
            </a:pP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With the </a:t>
            </a:r>
            <a:r>
              <a:rPr kumimoji="0" lang="en-US" sz="2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new window active</a:t>
            </a: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select the </a:t>
            </a:r>
            <a:r>
              <a:rPr kumimoji="0" lang="en-US" sz="2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Tuesday worksheet</a:t>
            </a: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p>
          <a:p>
            <a:pPr marL="914400" marR="0" lvl="1" indent="-457200" algn="l" defTabSz="457200" rtl="0" eaLnBrk="1" fontAlgn="auto" latinLnBrk="0" hangingPunct="1">
              <a:lnSpc>
                <a:spcPct val="150000"/>
              </a:lnSpc>
              <a:spcBef>
                <a:spcPts val="1000"/>
              </a:spcBef>
              <a:spcAft>
                <a:spcPts val="0"/>
              </a:spcAft>
              <a:buClr>
                <a:srgbClr val="A53010"/>
              </a:buClr>
              <a:buSzTx/>
              <a:buFont typeface="+mj-lt"/>
              <a:buAutoNum type="arabicPeriod" startAt="10"/>
              <a:tabLst/>
              <a:defRPr/>
            </a:pP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Click the </a:t>
            </a:r>
            <a:r>
              <a:rPr kumimoji="0" lang="en-US" sz="2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View tab </a:t>
            </a: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and </a:t>
            </a:r>
            <a:r>
              <a:rPr kumimoji="0" lang="en-US" sz="2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click New Window </a:t>
            </a: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again. Another window appears.</a:t>
            </a:r>
          </a:p>
          <a:p>
            <a:pPr marL="914400" marR="0" lvl="1" indent="-457200" algn="l" defTabSz="457200" rtl="0" eaLnBrk="1" fontAlgn="auto" latinLnBrk="0" hangingPunct="1">
              <a:lnSpc>
                <a:spcPct val="150000"/>
              </a:lnSpc>
              <a:spcBef>
                <a:spcPts val="1000"/>
              </a:spcBef>
              <a:spcAft>
                <a:spcPts val="0"/>
              </a:spcAft>
              <a:buClr>
                <a:srgbClr val="A53010"/>
              </a:buClr>
              <a:buSzTx/>
              <a:buFont typeface="+mj-lt"/>
              <a:buAutoNum type="arabicPeriod" startAt="10"/>
              <a:tabLst/>
              <a:defRPr/>
            </a:pP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With this </a:t>
            </a:r>
            <a:r>
              <a:rPr kumimoji="0" lang="en-US" sz="2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new window active</a:t>
            </a: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select the </a:t>
            </a:r>
            <a:r>
              <a:rPr kumimoji="0" lang="en-US" sz="2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Wednesday worksheet</a:t>
            </a: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endParaRPr kumimoji="0" lang="en-US" sz="22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a:p>
            <a:endParaRPr lang="en-US" dirty="0"/>
          </a:p>
        </p:txBody>
      </p:sp>
    </p:spTree>
    <p:extLst>
      <p:ext uri="{BB962C8B-B14F-4D97-AF65-F5344CB8AC3E}">
        <p14:creationId xmlns:p14="http://schemas.microsoft.com/office/powerpoint/2010/main" val="1110332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A27A3-D1A5-474C-91D1-2E766E34D1B2}"/>
              </a:ext>
            </a:extLst>
          </p:cNvPr>
          <p:cNvSpPr>
            <a:spLocks noGrp="1"/>
          </p:cNvSpPr>
          <p:nvPr>
            <p:ph type="title"/>
          </p:nvPr>
        </p:nvSpPr>
        <p:spPr>
          <a:xfrm>
            <a:off x="1658679" y="209440"/>
            <a:ext cx="9845933" cy="885713"/>
          </a:xfrm>
        </p:spPr>
        <p:txBody>
          <a:bodyPr/>
          <a:lstStyle/>
          <a:p>
            <a:r>
              <a:rPr lang="en-US" dirty="0"/>
              <a:t>CONTD…</a:t>
            </a:r>
          </a:p>
        </p:txBody>
      </p:sp>
      <p:sp>
        <p:nvSpPr>
          <p:cNvPr id="3" name="Content Placeholder 2">
            <a:extLst>
              <a:ext uri="{FF2B5EF4-FFF2-40B4-BE49-F238E27FC236}">
                <a16:creationId xmlns:a16="http://schemas.microsoft.com/office/drawing/2014/main" id="{71703590-5CEF-429B-8AF4-44A71836E47C}"/>
              </a:ext>
            </a:extLst>
          </p:cNvPr>
          <p:cNvSpPr>
            <a:spLocks noGrp="1"/>
          </p:cNvSpPr>
          <p:nvPr>
            <p:ph idx="1"/>
          </p:nvPr>
        </p:nvSpPr>
        <p:spPr>
          <a:xfrm>
            <a:off x="1658679" y="1095153"/>
            <a:ext cx="9845933" cy="4816069"/>
          </a:xfrm>
        </p:spPr>
        <p:txBody>
          <a:bodyPr>
            <a:noAutofit/>
          </a:bodyPr>
          <a:lstStyle/>
          <a:p>
            <a:pPr marL="914400" lvl="1" indent="-457200">
              <a:lnSpc>
                <a:spcPct val="150000"/>
              </a:lnSpc>
              <a:buFont typeface="+mj-lt"/>
              <a:buAutoNum type="arabicPeriod" startAt="14"/>
            </a:pPr>
            <a:r>
              <a:rPr lang="en-US" sz="2400" b="1" dirty="0"/>
              <a:t>Click</a:t>
            </a:r>
            <a:r>
              <a:rPr lang="en-US" sz="2400" dirty="0"/>
              <a:t> the </a:t>
            </a:r>
            <a:r>
              <a:rPr lang="en-US" sz="2400" b="1" dirty="0"/>
              <a:t>View tab</a:t>
            </a:r>
            <a:r>
              <a:rPr lang="en-US" sz="2400" dirty="0"/>
              <a:t>, and then in the </a:t>
            </a:r>
            <a:r>
              <a:rPr lang="en-US" sz="2400" b="1" dirty="0"/>
              <a:t>Windows group</a:t>
            </a:r>
            <a:r>
              <a:rPr lang="en-US" sz="2400" dirty="0"/>
              <a:t>, click </a:t>
            </a:r>
            <a:r>
              <a:rPr lang="en-US" sz="2400" b="1" dirty="0"/>
              <a:t>Arrange All</a:t>
            </a:r>
            <a:r>
              <a:rPr lang="en-US" sz="2400" dirty="0"/>
              <a:t>. The </a:t>
            </a:r>
            <a:r>
              <a:rPr lang="en-US" sz="2400" b="1" dirty="0"/>
              <a:t>Arrange Windows dialog box </a:t>
            </a:r>
            <a:r>
              <a:rPr lang="en-US" sz="2400" dirty="0"/>
              <a:t>opens.</a:t>
            </a:r>
          </a:p>
          <a:p>
            <a:pPr marL="914400" lvl="1" indent="-457200">
              <a:lnSpc>
                <a:spcPct val="150000"/>
              </a:lnSpc>
              <a:buFont typeface="+mj-lt"/>
              <a:buAutoNum type="arabicPeriod" startAt="14"/>
            </a:pPr>
            <a:r>
              <a:rPr lang="en-US" sz="2400" dirty="0"/>
              <a:t>In the dialog box, </a:t>
            </a:r>
            <a:r>
              <a:rPr lang="en-US" sz="2400" b="1" dirty="0"/>
              <a:t>click</a:t>
            </a:r>
            <a:r>
              <a:rPr lang="en-US" sz="2400" dirty="0"/>
              <a:t> </a:t>
            </a:r>
            <a:r>
              <a:rPr lang="en-US" sz="2400" b="1" dirty="0"/>
              <a:t>Vertical</a:t>
            </a:r>
            <a:r>
              <a:rPr lang="en-US" sz="2400" dirty="0"/>
              <a:t> and then </a:t>
            </a:r>
            <a:r>
              <a:rPr lang="en-US" sz="2400" b="1" dirty="0"/>
              <a:t>click OK</a:t>
            </a:r>
            <a:r>
              <a:rPr lang="en-US" sz="2400" dirty="0"/>
              <a:t>. Excel rearranges your three windows.</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Suppose you grouped several worksheets together. When you try to copy or cut data from any one worksheet in a group, Excel assumes you’re trying to extract that data from the entire group. </a:t>
            </a:r>
          </a:p>
          <a:p>
            <a:pPr lvl="1"/>
            <a:endParaRPr lang="en-US" sz="2400" dirty="0"/>
          </a:p>
        </p:txBody>
      </p:sp>
    </p:spTree>
    <p:extLst>
      <p:ext uri="{BB962C8B-B14F-4D97-AF65-F5344CB8AC3E}">
        <p14:creationId xmlns:p14="http://schemas.microsoft.com/office/powerpoint/2010/main" val="2142338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A21E1-4386-4756-8730-3FE496563C27}"/>
              </a:ext>
            </a:extLst>
          </p:cNvPr>
          <p:cNvSpPr>
            <a:spLocks noGrp="1"/>
          </p:cNvSpPr>
          <p:nvPr>
            <p:ph type="title"/>
          </p:nvPr>
        </p:nvSpPr>
        <p:spPr>
          <a:xfrm>
            <a:off x="1637414" y="157477"/>
            <a:ext cx="9867198" cy="873881"/>
          </a:xfrm>
        </p:spPr>
        <p:txBody>
          <a:bodyPr>
            <a:normAutofit fontScale="90000"/>
          </a:bodyPr>
          <a:lstStyle/>
          <a:p>
            <a:r>
              <a:rPr lang="en-US" dirty="0"/>
              <a:t>CONTD…</a:t>
            </a:r>
            <a:br>
              <a:rPr lang="en-US" dirty="0"/>
            </a:br>
            <a:endParaRPr lang="en-US" dirty="0"/>
          </a:p>
        </p:txBody>
      </p:sp>
      <p:sp>
        <p:nvSpPr>
          <p:cNvPr id="3" name="Content Placeholder 2">
            <a:extLst>
              <a:ext uri="{FF2B5EF4-FFF2-40B4-BE49-F238E27FC236}">
                <a16:creationId xmlns:a16="http://schemas.microsoft.com/office/drawing/2014/main" id="{4661A48A-F52A-4A61-9016-156A7296D1EB}"/>
              </a:ext>
            </a:extLst>
          </p:cNvPr>
          <p:cNvSpPr>
            <a:spLocks noGrp="1"/>
          </p:cNvSpPr>
          <p:nvPr>
            <p:ph idx="1"/>
          </p:nvPr>
        </p:nvSpPr>
        <p:spPr>
          <a:xfrm>
            <a:off x="1637414" y="1031359"/>
            <a:ext cx="9867198" cy="4879864"/>
          </a:xfrm>
        </p:spPr>
        <p:txBody>
          <a:bodyPr>
            <a:normAutofit/>
          </a:bodyPr>
          <a:lstStyle/>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So when you try to paste that data into a single, ungrouped worksheet—perhaps in another workbook—you can’t. </a:t>
            </a:r>
          </a:p>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reason</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is because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Excel expects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area</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to which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you’re pasting data to be the same size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as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cut or copied data</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which in this case comes from multiple sheets. </a:t>
            </a:r>
          </a:p>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Now, if you try to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paste</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into a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group of worksheets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that’s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same number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as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cut or copied area comes from</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you can complete the operation.</a:t>
            </a:r>
          </a:p>
          <a:p>
            <a:endParaRPr lang="en-US" dirty="0"/>
          </a:p>
        </p:txBody>
      </p:sp>
    </p:spTree>
    <p:extLst>
      <p:ext uri="{BB962C8B-B14F-4D97-AF65-F5344CB8AC3E}">
        <p14:creationId xmlns:p14="http://schemas.microsoft.com/office/powerpoint/2010/main" val="1448508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978D7-35B5-49AD-91BB-53425F90738D}"/>
              </a:ext>
            </a:extLst>
          </p:cNvPr>
          <p:cNvSpPr>
            <a:spLocks noGrp="1"/>
          </p:cNvSpPr>
          <p:nvPr>
            <p:ph type="title"/>
          </p:nvPr>
        </p:nvSpPr>
        <p:spPr>
          <a:xfrm>
            <a:off x="1637414" y="166910"/>
            <a:ext cx="9867198" cy="864448"/>
          </a:xfrm>
        </p:spPr>
        <p:txBody>
          <a:bodyPr/>
          <a:lstStyle/>
          <a:p>
            <a:r>
              <a:rPr lang="en-US" dirty="0"/>
              <a:t>CONTD…</a:t>
            </a:r>
          </a:p>
        </p:txBody>
      </p:sp>
      <p:sp>
        <p:nvSpPr>
          <p:cNvPr id="3" name="Content Placeholder 2">
            <a:extLst>
              <a:ext uri="{FF2B5EF4-FFF2-40B4-BE49-F238E27FC236}">
                <a16:creationId xmlns:a16="http://schemas.microsoft.com/office/drawing/2014/main" id="{0E7A5855-4BF4-4808-966A-08C315CEF23B}"/>
              </a:ext>
            </a:extLst>
          </p:cNvPr>
          <p:cNvSpPr>
            <a:spLocks noGrp="1"/>
          </p:cNvSpPr>
          <p:nvPr>
            <p:ph idx="1"/>
          </p:nvPr>
        </p:nvSpPr>
        <p:spPr>
          <a:xfrm>
            <a:off x="1637414" y="1031358"/>
            <a:ext cx="9867198" cy="4879864"/>
          </a:xfrm>
        </p:spPr>
        <p:txBody>
          <a:bodyPr>
            <a:normAutofit/>
          </a:bodyPr>
          <a:lstStyle/>
          <a:p>
            <a:pPr>
              <a:lnSpc>
                <a:spcPct val="150000"/>
              </a:lnSpc>
            </a:pPr>
            <a:r>
              <a:rPr lang="en-US" sz="2400" dirty="0"/>
              <a:t>When there is too little space for all the visible worksheet tabs to appear in the tabs bar, left and right scroll arrows appear next to one another in the lower left corner of each window. </a:t>
            </a:r>
          </a:p>
          <a:p>
            <a:pPr>
              <a:lnSpc>
                <a:spcPct val="150000"/>
              </a:lnSpc>
            </a:pPr>
            <a:r>
              <a:rPr lang="en-US" sz="2400" dirty="0"/>
              <a:t>Use these arrows to slide the tabs area left and right until you find the tab you’re looking for.</a:t>
            </a:r>
          </a:p>
        </p:txBody>
      </p:sp>
    </p:spTree>
    <p:extLst>
      <p:ext uri="{BB962C8B-B14F-4D97-AF65-F5344CB8AC3E}">
        <p14:creationId xmlns:p14="http://schemas.microsoft.com/office/powerpoint/2010/main" val="152441084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otalTime>18346</TotalTime>
  <Words>804</Words>
  <Application>Microsoft Office PowerPoint</Application>
  <PresentationFormat>Widescreen</PresentationFormat>
  <Paragraphs>49</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Century Gothic</vt:lpstr>
      <vt:lpstr>Times New Roman</vt:lpstr>
      <vt:lpstr>Wingdings 3</vt:lpstr>
      <vt:lpstr>Wisp</vt:lpstr>
      <vt:lpstr>END USER COMPUTING.   BICT 1101</vt:lpstr>
      <vt:lpstr>WORKING WITH MULTIPLE WORKSHEETS</vt:lpstr>
      <vt:lpstr>CONTD…</vt:lpstr>
      <vt:lpstr>CONTD…</vt:lpstr>
      <vt:lpstr>CONTD…</vt:lpstr>
      <vt:lpstr>CONTD…</vt:lpstr>
      <vt:lpstr>CONTD…</vt:lpstr>
      <vt:lpstr>CONTD…</vt:lpstr>
      <vt:lpstr>CONTD…</vt:lpstr>
      <vt:lpstr>CONTD… </vt:lpstr>
      <vt:lpstr>CONTD…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END USER COMPUTING.   BICT 1101</dc:title>
  <dc:creator>Patricia Khonje</dc:creator>
  <cp:lastModifiedBy>Patricia Khonje</cp:lastModifiedBy>
  <cp:revision>114</cp:revision>
  <dcterms:created xsi:type="dcterms:W3CDTF">2021-05-20T15:38:43Z</dcterms:created>
  <dcterms:modified xsi:type="dcterms:W3CDTF">2022-07-09T17:12:36Z</dcterms:modified>
</cp:coreProperties>
</file>