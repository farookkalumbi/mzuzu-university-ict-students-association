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36"/>
  </p:notesMasterIdLst>
  <p:sldIdLst>
    <p:sldId id="256" r:id="rId2"/>
    <p:sldId id="707" r:id="rId3"/>
    <p:sldId id="771" r:id="rId4"/>
    <p:sldId id="743" r:id="rId5"/>
    <p:sldId id="708" r:id="rId6"/>
    <p:sldId id="772" r:id="rId7"/>
    <p:sldId id="709" r:id="rId8"/>
    <p:sldId id="746" r:id="rId9"/>
    <p:sldId id="745" r:id="rId10"/>
    <p:sldId id="744" r:id="rId11"/>
    <p:sldId id="777" r:id="rId12"/>
    <p:sldId id="747" r:id="rId13"/>
    <p:sldId id="748" r:id="rId14"/>
    <p:sldId id="778" r:id="rId15"/>
    <p:sldId id="749" r:id="rId16"/>
    <p:sldId id="750" r:id="rId17"/>
    <p:sldId id="752" r:id="rId18"/>
    <p:sldId id="753" r:id="rId19"/>
    <p:sldId id="770" r:id="rId20"/>
    <p:sldId id="754" r:id="rId21"/>
    <p:sldId id="755" r:id="rId22"/>
    <p:sldId id="756" r:id="rId23"/>
    <p:sldId id="757" r:id="rId24"/>
    <p:sldId id="780" r:id="rId25"/>
    <p:sldId id="758" r:id="rId26"/>
    <p:sldId id="781" r:id="rId27"/>
    <p:sldId id="759" r:id="rId28"/>
    <p:sldId id="760" r:id="rId29"/>
    <p:sldId id="761" r:id="rId30"/>
    <p:sldId id="782" r:id="rId31"/>
    <p:sldId id="762" r:id="rId32"/>
    <p:sldId id="763" r:id="rId33"/>
    <p:sldId id="783" r:id="rId34"/>
    <p:sldId id="765"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24" autoAdjust="0"/>
    <p:restoredTop sz="94291" autoAdjust="0"/>
  </p:normalViewPr>
  <p:slideViewPr>
    <p:cSldViewPr snapToGrid="0">
      <p:cViewPr varScale="1">
        <p:scale>
          <a:sx n="85" d="100"/>
          <a:sy n="85" d="100"/>
        </p:scale>
        <p:origin x="99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FFD2DD-5C64-4290-9D32-0C2CF4814B40}" type="datetimeFigureOut">
              <a:rPr lang="en-MW" smtClean="0"/>
              <a:t>09/07/2022</a:t>
            </a:fld>
            <a:endParaRPr lang="en-MW"/>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AECFD2-225B-4A98-899C-68617157C796}" type="slidenum">
              <a:rPr lang="en-MW" smtClean="0"/>
              <a:t>‹#›</a:t>
            </a:fld>
            <a:endParaRPr lang="en-MW"/>
          </a:p>
        </p:txBody>
      </p:sp>
    </p:spTree>
    <p:extLst>
      <p:ext uri="{BB962C8B-B14F-4D97-AF65-F5344CB8AC3E}">
        <p14:creationId xmlns:p14="http://schemas.microsoft.com/office/powerpoint/2010/main" val="2708357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W" dirty="0"/>
          </a:p>
        </p:txBody>
      </p:sp>
      <p:sp>
        <p:nvSpPr>
          <p:cNvPr id="4" name="Slide Number Placeholder 3"/>
          <p:cNvSpPr>
            <a:spLocks noGrp="1"/>
          </p:cNvSpPr>
          <p:nvPr>
            <p:ph type="sldNum" sz="quarter" idx="5"/>
          </p:nvPr>
        </p:nvSpPr>
        <p:spPr/>
        <p:txBody>
          <a:bodyPr/>
          <a:lstStyle/>
          <a:p>
            <a:fld id="{83AECFD2-225B-4A98-899C-68617157C796}" type="slidenum">
              <a:rPr lang="en-MW" smtClean="0"/>
              <a:t>1</a:t>
            </a:fld>
            <a:endParaRPr lang="en-MW"/>
          </a:p>
        </p:txBody>
      </p:sp>
    </p:spTree>
    <p:extLst>
      <p:ext uri="{BB962C8B-B14F-4D97-AF65-F5344CB8AC3E}">
        <p14:creationId xmlns:p14="http://schemas.microsoft.com/office/powerpoint/2010/main" val="4150652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W" dirty="0"/>
          </a:p>
        </p:txBody>
      </p:sp>
      <p:sp>
        <p:nvSpPr>
          <p:cNvPr id="4" name="Slide Number Placeholder 3"/>
          <p:cNvSpPr>
            <a:spLocks noGrp="1"/>
          </p:cNvSpPr>
          <p:nvPr>
            <p:ph type="sldNum" sz="quarter" idx="5"/>
          </p:nvPr>
        </p:nvSpPr>
        <p:spPr/>
        <p:txBody>
          <a:bodyPr/>
          <a:lstStyle/>
          <a:p>
            <a:fld id="{83AECFD2-225B-4A98-899C-68617157C796}" type="slidenum">
              <a:rPr lang="en-MW" smtClean="0"/>
              <a:t>19</a:t>
            </a:fld>
            <a:endParaRPr lang="en-MW"/>
          </a:p>
        </p:txBody>
      </p:sp>
    </p:spTree>
    <p:extLst>
      <p:ext uri="{BB962C8B-B14F-4D97-AF65-F5344CB8AC3E}">
        <p14:creationId xmlns:p14="http://schemas.microsoft.com/office/powerpoint/2010/main" val="1862774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W" dirty="0"/>
          </a:p>
        </p:txBody>
      </p:sp>
      <p:sp>
        <p:nvSpPr>
          <p:cNvPr id="4" name="Slide Number Placeholder 3"/>
          <p:cNvSpPr>
            <a:spLocks noGrp="1"/>
          </p:cNvSpPr>
          <p:nvPr>
            <p:ph type="sldNum" sz="quarter" idx="5"/>
          </p:nvPr>
        </p:nvSpPr>
        <p:spPr/>
        <p:txBody>
          <a:bodyPr/>
          <a:lstStyle/>
          <a:p>
            <a:fld id="{83AECFD2-225B-4A98-899C-68617157C796}" type="slidenum">
              <a:rPr lang="en-MW" smtClean="0"/>
              <a:t>22</a:t>
            </a:fld>
            <a:endParaRPr lang="en-MW"/>
          </a:p>
        </p:txBody>
      </p:sp>
    </p:spTree>
    <p:extLst>
      <p:ext uri="{BB962C8B-B14F-4D97-AF65-F5344CB8AC3E}">
        <p14:creationId xmlns:p14="http://schemas.microsoft.com/office/powerpoint/2010/main" val="784812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7/9/2022</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304045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7/9/2022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539449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7/9/2022</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228297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7D0524-A34C-4900-845A-4E9C83E337B2}" type="datetimeFigureOut">
              <a:rPr lang="en-US" smtClean="0"/>
              <a:t>7/9/2022</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916749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7D0524-A34C-4900-845A-4E9C83E337B2}" type="datetimeFigureOut">
              <a:rPr lang="en-US" smtClean="0"/>
              <a:t>7/9/2022</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473595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7D0524-A34C-4900-845A-4E9C83E337B2}" type="datetimeFigureOut">
              <a:rPr lang="en-US" smtClean="0"/>
              <a:t>7/9/2022</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39650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7D0524-A34C-4900-845A-4E9C83E337B2}" type="datetimeFigureOut">
              <a:rPr lang="en-US" smtClean="0"/>
              <a:t>7/9/2022</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785476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7/9/2022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462805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7/9/2022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604373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7/9/2022</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300347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7/9/2022</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32590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7/9/2022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869602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7/9/2022</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912529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7/9/2022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739766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7/9/2022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15761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7/9/2022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246369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27D0524-A34C-4900-845A-4E9C83E337B2}" type="datetimeFigureOut">
              <a:rPr lang="en-US" smtClean="0"/>
              <a:t>7/9/2022</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D60242A-277F-4FDB-BCE8-613D7EDF74E6}" type="slidenum">
              <a:rPr lang="en-US" smtClean="0"/>
              <a:t>‹#›</a:t>
            </a:fld>
            <a:endParaRPr lang="en-US"/>
          </a:p>
        </p:txBody>
      </p:sp>
    </p:spTree>
    <p:extLst>
      <p:ext uri="{BB962C8B-B14F-4D97-AF65-F5344CB8AC3E}">
        <p14:creationId xmlns:p14="http://schemas.microsoft.com/office/powerpoint/2010/main" val="369988855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5616A-176D-41C7-8FC0-815DC3364E50}"/>
              </a:ext>
            </a:extLst>
          </p:cNvPr>
          <p:cNvSpPr>
            <a:spLocks noGrp="1"/>
          </p:cNvSpPr>
          <p:nvPr>
            <p:ph type="ctrTitle"/>
          </p:nvPr>
        </p:nvSpPr>
        <p:spPr/>
        <p:txBody>
          <a:bodyPr>
            <a:noAutofit/>
          </a:bodyPr>
          <a:lstStyle/>
          <a:p>
            <a:r>
              <a:rPr kumimoji="0" lang="en-GB"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END USER COMPUTING.</a:t>
            </a:r>
            <a:b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b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GB"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BICT 1101</a:t>
            </a:r>
            <a:endParaRPr lang="en-US" sz="4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594158F-1A6E-4430-854C-952EAA8BC32C}"/>
              </a:ext>
            </a:extLst>
          </p:cNvPr>
          <p:cNvSpPr>
            <a:spLocks noGrp="1"/>
          </p:cNvSpPr>
          <p:nvPr>
            <p:ph type="subTitle" idx="1"/>
          </p:nvPr>
        </p:nvSpPr>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Lecture 5: Databases</a:t>
            </a:r>
            <a:endParaRPr lang="en-US" sz="4000" dirty="0"/>
          </a:p>
        </p:txBody>
      </p:sp>
    </p:spTree>
    <p:extLst>
      <p:ext uri="{BB962C8B-B14F-4D97-AF65-F5344CB8AC3E}">
        <p14:creationId xmlns:p14="http://schemas.microsoft.com/office/powerpoint/2010/main" val="1653974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821B2-7BEB-4EAD-817C-A6346B47043E}"/>
              </a:ext>
            </a:extLst>
          </p:cNvPr>
          <p:cNvSpPr>
            <a:spLocks noGrp="1"/>
          </p:cNvSpPr>
          <p:nvPr>
            <p:ph type="title"/>
          </p:nvPr>
        </p:nvSpPr>
        <p:spPr>
          <a:xfrm>
            <a:off x="1614311" y="138687"/>
            <a:ext cx="9890301" cy="809579"/>
          </a:xfrm>
        </p:spPr>
        <p:txBody>
          <a:bodyPr/>
          <a:lstStyle/>
          <a:p>
            <a:r>
              <a:rPr lang="en-US" dirty="0"/>
              <a:t>INTRODUCTION TO DATABASE</a:t>
            </a:r>
            <a:endParaRPr lang="en-MW" dirty="0"/>
          </a:p>
        </p:txBody>
      </p:sp>
      <p:sp>
        <p:nvSpPr>
          <p:cNvPr id="3" name="Content Placeholder 2">
            <a:extLst>
              <a:ext uri="{FF2B5EF4-FFF2-40B4-BE49-F238E27FC236}">
                <a16:creationId xmlns:a16="http://schemas.microsoft.com/office/drawing/2014/main" id="{015AE781-AE20-45C7-BF1C-00D248B92154}"/>
              </a:ext>
            </a:extLst>
          </p:cNvPr>
          <p:cNvSpPr>
            <a:spLocks noGrp="1"/>
          </p:cNvSpPr>
          <p:nvPr>
            <p:ph idx="1"/>
          </p:nvPr>
        </p:nvSpPr>
        <p:spPr>
          <a:xfrm>
            <a:off x="1715911" y="948267"/>
            <a:ext cx="9788701" cy="5285624"/>
          </a:xfrm>
        </p:spPr>
        <p:txBody>
          <a:bodyPr>
            <a:normAutofit/>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lang="en-US" sz="2200" dirty="0"/>
              <a:t>Database is an </a:t>
            </a:r>
            <a:r>
              <a:rPr lang="en-US" sz="2200" b="1" dirty="0"/>
              <a:t>organized collection </a:t>
            </a:r>
            <a:r>
              <a:rPr lang="en-US" sz="2200" dirty="0"/>
              <a:t>of </a:t>
            </a:r>
            <a:r>
              <a:rPr lang="en-US" sz="2200" b="1" dirty="0"/>
              <a:t>related data designed </a:t>
            </a:r>
            <a:r>
              <a:rPr lang="en-US" sz="2200" dirty="0"/>
              <a:t>and </a:t>
            </a:r>
            <a:r>
              <a:rPr lang="en-US" sz="2200" b="1" dirty="0"/>
              <a:t>built</a:t>
            </a:r>
            <a:r>
              <a:rPr lang="en-US" sz="2200" dirty="0"/>
              <a:t> for a </a:t>
            </a:r>
            <a:r>
              <a:rPr lang="en-US" sz="2200" b="1" dirty="0"/>
              <a:t>specific purpose, this data is stored in a computer system</a:t>
            </a:r>
            <a:r>
              <a:rPr lang="en-US" sz="2200" dirty="0"/>
              <a:t>.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Databases </a:t>
            </a:r>
            <a:r>
              <a:rPr kumimoji="0" lang="en-US" sz="2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allow</a:t>
            </a:r>
            <a:r>
              <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their </a:t>
            </a:r>
            <a:r>
              <a:rPr kumimoji="0" lang="en-US" sz="2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users</a:t>
            </a:r>
            <a:r>
              <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to </a:t>
            </a:r>
            <a:r>
              <a:rPr kumimoji="0" lang="en-US" sz="2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enter</a:t>
            </a:r>
            <a:r>
              <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access</a:t>
            </a:r>
            <a:r>
              <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a:t>
            </a:r>
            <a:r>
              <a:rPr kumimoji="0" lang="en-US" sz="2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analyze</a:t>
            </a:r>
            <a:r>
              <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their </a:t>
            </a:r>
            <a:r>
              <a:rPr kumimoji="0" lang="en-US" sz="2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data</a:t>
            </a:r>
            <a:r>
              <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quickly</a:t>
            </a:r>
            <a:r>
              <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a:t>
            </a:r>
            <a:r>
              <a:rPr kumimoji="0" lang="en-US" sz="2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easily</a:t>
            </a:r>
            <a:r>
              <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Data organized </a:t>
            </a:r>
            <a:r>
              <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a </a:t>
            </a:r>
            <a:r>
              <a:rPr kumimoji="0" lang="en-US" sz="2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database</a:t>
            </a:r>
            <a:r>
              <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can be </a:t>
            </a:r>
            <a:r>
              <a:rPr kumimoji="0" lang="en-US" sz="2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easily accessed, managed </a:t>
            </a:r>
            <a:r>
              <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and </a:t>
            </a:r>
            <a:r>
              <a:rPr kumimoji="0" lang="en-US" sz="2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updated.</a:t>
            </a:r>
            <a:endPar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a:lnSpc>
                <a:spcPct val="150000"/>
              </a:lnSpc>
            </a:pPr>
            <a:r>
              <a:rPr lang="en-US" sz="2200" b="1" dirty="0"/>
              <a:t>Database </a:t>
            </a:r>
            <a:r>
              <a:rPr lang="en-US" sz="2200" dirty="0"/>
              <a:t>can </a:t>
            </a:r>
            <a:r>
              <a:rPr lang="en-US" sz="2200" b="1" dirty="0"/>
              <a:t>store information </a:t>
            </a:r>
            <a:r>
              <a:rPr lang="en-US" sz="2200" dirty="0"/>
              <a:t>about </a:t>
            </a:r>
            <a:r>
              <a:rPr lang="en-US" sz="2200" b="1" dirty="0"/>
              <a:t>people</a:t>
            </a:r>
            <a:r>
              <a:rPr lang="en-US" sz="2200" dirty="0"/>
              <a:t>, </a:t>
            </a:r>
            <a:r>
              <a:rPr lang="en-US" sz="2200" b="1" dirty="0"/>
              <a:t>products</a:t>
            </a:r>
            <a:r>
              <a:rPr lang="en-US" sz="2200" dirty="0"/>
              <a:t>, </a:t>
            </a:r>
            <a:r>
              <a:rPr lang="en-US" sz="2200" b="1" dirty="0"/>
              <a:t>orders</a:t>
            </a:r>
            <a:r>
              <a:rPr lang="en-US" sz="2200" dirty="0"/>
              <a:t> or </a:t>
            </a:r>
            <a:r>
              <a:rPr lang="en-US" sz="2200" b="1" dirty="0"/>
              <a:t>anything else</a:t>
            </a:r>
            <a:r>
              <a:rPr lang="en-US" sz="2200" dirty="0"/>
              <a:t>.</a:t>
            </a:r>
          </a:p>
          <a:p>
            <a:pPr marL="0" indent="0">
              <a:buNone/>
            </a:pPr>
            <a:endParaRPr lang="en-US" dirty="0"/>
          </a:p>
          <a:p>
            <a:endParaRPr lang="en-MW" dirty="0"/>
          </a:p>
        </p:txBody>
      </p:sp>
    </p:spTree>
    <p:extLst>
      <p:ext uri="{BB962C8B-B14F-4D97-AF65-F5344CB8AC3E}">
        <p14:creationId xmlns:p14="http://schemas.microsoft.com/office/powerpoint/2010/main" val="152883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821B2-7BEB-4EAD-817C-A6346B47043E}"/>
              </a:ext>
            </a:extLst>
          </p:cNvPr>
          <p:cNvSpPr>
            <a:spLocks noGrp="1"/>
          </p:cNvSpPr>
          <p:nvPr>
            <p:ph type="title"/>
          </p:nvPr>
        </p:nvSpPr>
        <p:spPr>
          <a:xfrm>
            <a:off x="1659467" y="219320"/>
            <a:ext cx="9845145" cy="809579"/>
          </a:xfrm>
        </p:spPr>
        <p:txBody>
          <a:bodyPr/>
          <a:lstStyle/>
          <a:p>
            <a:r>
              <a:rPr lang="en-US" dirty="0"/>
              <a:t>CONTD…</a:t>
            </a:r>
            <a:endParaRPr lang="en-MW" dirty="0"/>
          </a:p>
        </p:txBody>
      </p:sp>
      <p:sp>
        <p:nvSpPr>
          <p:cNvPr id="3" name="Content Placeholder 2">
            <a:extLst>
              <a:ext uri="{FF2B5EF4-FFF2-40B4-BE49-F238E27FC236}">
                <a16:creationId xmlns:a16="http://schemas.microsoft.com/office/drawing/2014/main" id="{015AE781-AE20-45C7-BF1C-00D248B92154}"/>
              </a:ext>
            </a:extLst>
          </p:cNvPr>
          <p:cNvSpPr>
            <a:spLocks noGrp="1"/>
          </p:cNvSpPr>
          <p:nvPr>
            <p:ph idx="1"/>
          </p:nvPr>
        </p:nvSpPr>
        <p:spPr>
          <a:xfrm>
            <a:off x="1659467" y="1028899"/>
            <a:ext cx="9845145" cy="5204991"/>
          </a:xfrm>
        </p:spPr>
        <p:txBody>
          <a:bodyPr>
            <a:normAutofit/>
          </a:bodyPr>
          <a:lstStyle/>
          <a:p>
            <a:pPr>
              <a:lnSpc>
                <a:spcPct val="150000"/>
              </a:lnSpc>
            </a:pPr>
            <a:r>
              <a:rPr lang="en-US" sz="2400" dirty="0"/>
              <a:t>To </a:t>
            </a:r>
            <a:r>
              <a:rPr lang="en-US" sz="2400" b="1" dirty="0"/>
              <a:t>create</a:t>
            </a:r>
            <a:r>
              <a:rPr lang="en-US" sz="2400" dirty="0"/>
              <a:t> and </a:t>
            </a:r>
            <a:r>
              <a:rPr lang="en-US" sz="2400" b="1" dirty="0"/>
              <a:t>manage databases</a:t>
            </a:r>
            <a:r>
              <a:rPr lang="en-US" sz="2400" dirty="0"/>
              <a:t>, we </a:t>
            </a:r>
            <a:r>
              <a:rPr lang="en-US" sz="2400" b="1" dirty="0"/>
              <a:t>use Database Management System Software (DBMS</a:t>
            </a:r>
            <a:r>
              <a:rPr lang="en-US" sz="2400" dirty="0"/>
              <a:t>).</a:t>
            </a:r>
          </a:p>
          <a:p>
            <a:pPr>
              <a:lnSpc>
                <a:spcPct val="150000"/>
              </a:lnSpc>
            </a:pPr>
            <a:r>
              <a:rPr lang="en-US" sz="2400" dirty="0"/>
              <a:t>DBMS </a:t>
            </a:r>
            <a:r>
              <a:rPr lang="en-US" sz="2400" b="1" dirty="0"/>
              <a:t>manages incoming data </a:t>
            </a:r>
            <a:r>
              <a:rPr lang="en-US" sz="2400" dirty="0"/>
              <a:t>(creation), </a:t>
            </a:r>
            <a:r>
              <a:rPr lang="en-US" sz="2400" b="1" dirty="0"/>
              <a:t>organizes it </a:t>
            </a:r>
            <a:r>
              <a:rPr lang="en-US" sz="2400" dirty="0"/>
              <a:t>(organization), and </a:t>
            </a:r>
            <a:r>
              <a:rPr lang="en-US" sz="2400" b="1" dirty="0"/>
              <a:t>provides ways fo</a:t>
            </a:r>
            <a:r>
              <a:rPr lang="en-US" sz="2400" dirty="0"/>
              <a:t>r the </a:t>
            </a:r>
            <a:r>
              <a:rPr lang="en-US" sz="2400" b="1" dirty="0"/>
              <a:t>data to be modified</a:t>
            </a:r>
            <a:r>
              <a:rPr lang="en-US" sz="2400" dirty="0"/>
              <a:t> or </a:t>
            </a:r>
            <a:r>
              <a:rPr lang="en-US" sz="2400" b="1" dirty="0"/>
              <a:t>extracted by users </a:t>
            </a:r>
            <a:r>
              <a:rPr lang="en-US" sz="2400" dirty="0"/>
              <a:t>or </a:t>
            </a:r>
            <a:r>
              <a:rPr lang="en-US" sz="2400" b="1" dirty="0"/>
              <a:t>other programs </a:t>
            </a:r>
            <a:r>
              <a:rPr lang="en-US" sz="2400" dirty="0"/>
              <a:t>(maintenance</a:t>
            </a:r>
            <a:r>
              <a:rPr lang="en-US" sz="2400" b="1" dirty="0"/>
              <a:t> </a:t>
            </a:r>
            <a:r>
              <a:rPr lang="en-US" sz="2400" dirty="0"/>
              <a:t>of databases).</a:t>
            </a:r>
          </a:p>
          <a:p>
            <a:endParaRPr lang="en-US" dirty="0"/>
          </a:p>
          <a:p>
            <a:endParaRPr lang="en-MW" dirty="0"/>
          </a:p>
        </p:txBody>
      </p:sp>
    </p:spTree>
    <p:extLst>
      <p:ext uri="{BB962C8B-B14F-4D97-AF65-F5344CB8AC3E}">
        <p14:creationId xmlns:p14="http://schemas.microsoft.com/office/powerpoint/2010/main" val="460569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811AF-DF23-4A79-9124-4D23AE3C9AD2}"/>
              </a:ext>
            </a:extLst>
          </p:cNvPr>
          <p:cNvSpPr>
            <a:spLocks noGrp="1"/>
          </p:cNvSpPr>
          <p:nvPr>
            <p:ph type="title"/>
          </p:nvPr>
        </p:nvSpPr>
        <p:spPr>
          <a:xfrm>
            <a:off x="1659467" y="195132"/>
            <a:ext cx="9845145" cy="899890"/>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MW" dirty="0"/>
          </a:p>
        </p:txBody>
      </p:sp>
      <p:sp>
        <p:nvSpPr>
          <p:cNvPr id="3" name="Content Placeholder 2">
            <a:extLst>
              <a:ext uri="{FF2B5EF4-FFF2-40B4-BE49-F238E27FC236}">
                <a16:creationId xmlns:a16="http://schemas.microsoft.com/office/drawing/2014/main" id="{04CF4E9D-A161-49E0-A123-9613C7EDAB40}"/>
              </a:ext>
            </a:extLst>
          </p:cNvPr>
          <p:cNvSpPr>
            <a:spLocks noGrp="1"/>
          </p:cNvSpPr>
          <p:nvPr>
            <p:ph idx="1"/>
          </p:nvPr>
        </p:nvSpPr>
        <p:spPr>
          <a:xfrm>
            <a:off x="1659467" y="1095021"/>
            <a:ext cx="9845145" cy="5294489"/>
          </a:xfrm>
        </p:spPr>
        <p:txBody>
          <a:bodyPr>
            <a:normAutofit fontScale="62500" lnSpcReduction="20000"/>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3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Examples</a:t>
            </a:r>
            <a:r>
              <a:rPr kumimoji="0" lang="en-US" sz="3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of </a:t>
            </a:r>
            <a:r>
              <a:rPr kumimoji="0" lang="en-US" sz="3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Database Management software </a:t>
            </a:r>
            <a:r>
              <a:rPr kumimoji="0" lang="en-US" sz="3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include</a:t>
            </a:r>
          </a:p>
          <a:p>
            <a:pPr lvl="1" indent="-342900">
              <a:lnSpc>
                <a:spcPct val="150000"/>
              </a:lnSpc>
              <a:buClr>
                <a:srgbClr val="A53010"/>
              </a:buClr>
              <a:defRPr/>
            </a:pPr>
            <a:r>
              <a:rPr kumimoji="0" lang="en-US" sz="3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Microsoft Access</a:t>
            </a:r>
            <a:endParaRPr lang="en-US" sz="3400" b="1" noProof="0" dirty="0">
              <a:solidFill>
                <a:prstClr val="black">
                  <a:lumMod val="75000"/>
                  <a:lumOff val="25000"/>
                </a:prstClr>
              </a:solidFill>
              <a:latin typeface="Century Gothic" panose="020B0502020202020204"/>
            </a:endParaRPr>
          </a:p>
          <a:p>
            <a:pPr lvl="1" indent="-342900">
              <a:lnSpc>
                <a:spcPct val="150000"/>
              </a:lnSpc>
              <a:buClr>
                <a:srgbClr val="A53010"/>
              </a:buClr>
              <a:defRPr/>
            </a:pPr>
            <a:r>
              <a:rPr kumimoji="0" lang="en-US" sz="3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Microsoft SQL Server</a:t>
            </a:r>
            <a:endParaRPr lang="en-US" sz="3400" b="1" dirty="0">
              <a:solidFill>
                <a:prstClr val="black">
                  <a:lumMod val="75000"/>
                  <a:lumOff val="25000"/>
                </a:prstClr>
              </a:solidFill>
              <a:latin typeface="Century Gothic" panose="020B0502020202020204"/>
            </a:endParaRPr>
          </a:p>
          <a:p>
            <a:pPr lvl="1" indent="-342900">
              <a:lnSpc>
                <a:spcPct val="150000"/>
              </a:lnSpc>
              <a:buClr>
                <a:srgbClr val="A53010"/>
              </a:buClr>
              <a:defRPr/>
            </a:pPr>
            <a:r>
              <a:rPr kumimoji="0" lang="en-US" sz="3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Oracle</a:t>
            </a:r>
            <a:endParaRPr lang="en-US" sz="3400" b="1" dirty="0">
              <a:solidFill>
                <a:prstClr val="black">
                  <a:lumMod val="75000"/>
                  <a:lumOff val="25000"/>
                </a:prstClr>
              </a:solidFill>
              <a:latin typeface="Century Gothic" panose="020B0502020202020204"/>
            </a:endParaRPr>
          </a:p>
          <a:p>
            <a:pPr lvl="1" indent="-342900">
              <a:lnSpc>
                <a:spcPct val="150000"/>
              </a:lnSpc>
              <a:buClr>
                <a:srgbClr val="A53010"/>
              </a:buClr>
              <a:defRPr/>
            </a:pPr>
            <a:r>
              <a:rPr kumimoji="0" lang="en-US" sz="3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FoxPro</a:t>
            </a:r>
            <a:endParaRPr lang="en-US" sz="3400" b="1" dirty="0">
              <a:solidFill>
                <a:prstClr val="black">
                  <a:lumMod val="75000"/>
                  <a:lumOff val="25000"/>
                </a:prstClr>
              </a:solidFill>
              <a:latin typeface="Century Gothic" panose="020B0502020202020204"/>
            </a:endParaRPr>
          </a:p>
          <a:p>
            <a:pPr lvl="1" indent="-342900">
              <a:lnSpc>
                <a:spcPct val="150000"/>
              </a:lnSpc>
              <a:buClr>
                <a:srgbClr val="A53010"/>
              </a:buClr>
              <a:defRPr/>
            </a:pPr>
            <a:r>
              <a:rPr kumimoji="0" lang="en-US" sz="3400" b="1"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Dbase</a:t>
            </a:r>
            <a:r>
              <a:rPr kumimoji="0" lang="en-US" sz="3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IV</a:t>
            </a:r>
            <a:endParaRPr lang="en-US" sz="3400" b="1" dirty="0">
              <a:solidFill>
                <a:prstClr val="black">
                  <a:lumMod val="75000"/>
                  <a:lumOff val="25000"/>
                </a:prstClr>
              </a:solidFill>
              <a:latin typeface="Century Gothic" panose="020B0502020202020204"/>
            </a:endParaRPr>
          </a:p>
          <a:p>
            <a:pPr lvl="1" indent="-342900">
              <a:lnSpc>
                <a:spcPct val="150000"/>
              </a:lnSpc>
              <a:buClr>
                <a:srgbClr val="A53010"/>
              </a:buClr>
              <a:defRPr/>
            </a:pPr>
            <a:r>
              <a:rPr kumimoji="0" lang="en-US" sz="3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Lotus Approach </a:t>
            </a:r>
            <a:endParaRPr lang="en-US" sz="3400" b="1" dirty="0">
              <a:solidFill>
                <a:prstClr val="black">
                  <a:lumMod val="75000"/>
                  <a:lumOff val="25000"/>
                </a:prstClr>
              </a:solidFill>
              <a:latin typeface="Century Gothic" panose="020B0502020202020204"/>
            </a:endParaRPr>
          </a:p>
          <a:p>
            <a:pPr lvl="1" indent="-342900">
              <a:lnSpc>
                <a:spcPct val="150000"/>
              </a:lnSpc>
              <a:buClr>
                <a:srgbClr val="A53010"/>
              </a:buClr>
              <a:defRPr/>
            </a:pPr>
            <a:r>
              <a:rPr kumimoji="0" lang="en-US" sz="3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MySQL</a:t>
            </a:r>
            <a:r>
              <a:rPr kumimoji="0" lang="en-US" sz="3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3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Microsoft Access is a database creation and management program/software we will use for this course.</a:t>
            </a:r>
          </a:p>
          <a:p>
            <a:endParaRPr lang="en-MW" dirty="0"/>
          </a:p>
        </p:txBody>
      </p:sp>
    </p:spTree>
    <p:extLst>
      <p:ext uri="{BB962C8B-B14F-4D97-AF65-F5344CB8AC3E}">
        <p14:creationId xmlns:p14="http://schemas.microsoft.com/office/powerpoint/2010/main" val="98913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B4E42-44CE-4FFE-8DF8-5BC18E1F95FD}"/>
              </a:ext>
            </a:extLst>
          </p:cNvPr>
          <p:cNvSpPr>
            <a:spLocks noGrp="1"/>
          </p:cNvSpPr>
          <p:nvPr>
            <p:ph type="title"/>
          </p:nvPr>
        </p:nvSpPr>
        <p:spPr>
          <a:xfrm>
            <a:off x="1603022" y="217710"/>
            <a:ext cx="9901590" cy="854734"/>
          </a:xfrm>
        </p:spPr>
        <p:txBody>
          <a:bodyPr/>
          <a:lstStyle/>
          <a:p>
            <a:r>
              <a:rPr lang="en-US" dirty="0">
                <a:solidFill>
                  <a:prstClr val="black">
                    <a:lumMod val="85000"/>
                    <a:lumOff val="15000"/>
                  </a:prstClr>
                </a:solidFill>
                <a:latin typeface="Century Gothic" panose="020B0502020202020204"/>
              </a:rPr>
              <a:t>CONTD…</a:t>
            </a:r>
            <a:endParaRPr lang="en-MW" dirty="0"/>
          </a:p>
        </p:txBody>
      </p:sp>
      <p:sp>
        <p:nvSpPr>
          <p:cNvPr id="3" name="Content Placeholder 2">
            <a:extLst>
              <a:ext uri="{FF2B5EF4-FFF2-40B4-BE49-F238E27FC236}">
                <a16:creationId xmlns:a16="http://schemas.microsoft.com/office/drawing/2014/main" id="{3F8935BC-2EE8-4067-8F87-196FB853B177}"/>
              </a:ext>
            </a:extLst>
          </p:cNvPr>
          <p:cNvSpPr>
            <a:spLocks noGrp="1"/>
          </p:cNvSpPr>
          <p:nvPr>
            <p:ph idx="1"/>
          </p:nvPr>
        </p:nvSpPr>
        <p:spPr>
          <a:xfrm>
            <a:off x="1603022" y="1072444"/>
            <a:ext cx="9901590" cy="4838778"/>
          </a:xfrm>
        </p:spPr>
        <p:txBody>
          <a:bodyPr>
            <a:normAutofit/>
          </a:bodyPr>
          <a:lstStyle/>
          <a:p>
            <a:pPr>
              <a:lnSpc>
                <a:spcPct val="150000"/>
              </a:lnSpc>
            </a:pPr>
            <a:r>
              <a:rPr lang="en-US" sz="2400" b="1" dirty="0"/>
              <a:t>MS Access </a:t>
            </a:r>
            <a:r>
              <a:rPr lang="en-US" sz="2400" dirty="0"/>
              <a:t>is a </a:t>
            </a:r>
            <a:r>
              <a:rPr lang="en-US" sz="2400" b="1" dirty="0"/>
              <a:t>Database Management program </a:t>
            </a:r>
            <a:r>
              <a:rPr lang="en-US" sz="2400" dirty="0"/>
              <a:t>that </a:t>
            </a:r>
            <a:r>
              <a:rPr lang="en-US" sz="2400" b="1" dirty="0"/>
              <a:t>stores information </a:t>
            </a:r>
            <a:r>
              <a:rPr lang="en-US" sz="2400" dirty="0"/>
              <a:t>in </a:t>
            </a:r>
            <a:r>
              <a:rPr lang="en-US" sz="2400" b="1" dirty="0"/>
              <a:t>tables</a:t>
            </a:r>
            <a:r>
              <a:rPr lang="en-US" sz="2400" dirty="0"/>
              <a:t> that are </a:t>
            </a:r>
            <a:r>
              <a:rPr lang="en-US" sz="2400" b="1" dirty="0"/>
              <a:t>related to each other</a:t>
            </a:r>
            <a:r>
              <a:rPr lang="en-US" sz="2400" dirty="0"/>
              <a:t>. </a:t>
            </a:r>
          </a:p>
          <a:p>
            <a:pPr lvl="1">
              <a:lnSpc>
                <a:spcPct val="150000"/>
              </a:lnSpc>
            </a:pPr>
            <a:r>
              <a:rPr lang="en-US" sz="2400" b="1" dirty="0"/>
              <a:t>MS Access </a:t>
            </a:r>
            <a:r>
              <a:rPr lang="en-US" sz="2400" dirty="0"/>
              <a:t>is a </a:t>
            </a:r>
            <a:r>
              <a:rPr lang="en-US" sz="2400" b="1" dirty="0"/>
              <a:t>relational database</a:t>
            </a:r>
            <a:r>
              <a:rPr lang="en-US" sz="2400" dirty="0"/>
              <a:t>.</a:t>
            </a:r>
          </a:p>
          <a:p>
            <a:pPr>
              <a:lnSpc>
                <a:spcPct val="150000"/>
              </a:lnSpc>
            </a:pPr>
            <a:r>
              <a:rPr lang="en-US" sz="2400" dirty="0"/>
              <a:t>In a </a:t>
            </a:r>
            <a:r>
              <a:rPr lang="en-US" sz="2400" b="1" dirty="0"/>
              <a:t>relational database data </a:t>
            </a:r>
            <a:r>
              <a:rPr lang="en-US" sz="2400" dirty="0"/>
              <a:t>is </a:t>
            </a:r>
            <a:r>
              <a:rPr lang="en-US" sz="2400" b="1" dirty="0"/>
              <a:t>organized</a:t>
            </a:r>
            <a:r>
              <a:rPr lang="en-US" sz="2400" dirty="0"/>
              <a:t> in </a:t>
            </a:r>
            <a:r>
              <a:rPr lang="en-US" sz="2400" b="1" dirty="0"/>
              <a:t>related tables</a:t>
            </a:r>
            <a:r>
              <a:rPr lang="en-US" sz="2400" dirty="0"/>
              <a:t>. </a:t>
            </a:r>
          </a:p>
          <a:p>
            <a:pPr>
              <a:lnSpc>
                <a:spcPct val="150000"/>
              </a:lnSpc>
            </a:pPr>
            <a:r>
              <a:rPr lang="en-US" sz="2400" dirty="0"/>
              <a:t>In </a:t>
            </a:r>
            <a:r>
              <a:rPr lang="en-US" sz="2400" b="1" dirty="0"/>
              <a:t>related tables</a:t>
            </a:r>
            <a:r>
              <a:rPr lang="en-US" sz="2400" dirty="0"/>
              <a:t>, </a:t>
            </a:r>
            <a:r>
              <a:rPr lang="en-US" sz="2400" b="1" dirty="0"/>
              <a:t>one or more fields </a:t>
            </a:r>
            <a:r>
              <a:rPr lang="en-US" sz="2400" dirty="0"/>
              <a:t>are </a:t>
            </a:r>
            <a:r>
              <a:rPr lang="en-US" sz="2400" b="1" dirty="0"/>
              <a:t>linked</a:t>
            </a:r>
            <a:r>
              <a:rPr lang="en-US" sz="2400" dirty="0"/>
              <a:t> to </a:t>
            </a:r>
            <a:r>
              <a:rPr lang="en-US" sz="2400" b="1" dirty="0"/>
              <a:t>fields</a:t>
            </a:r>
            <a:r>
              <a:rPr lang="en-US" sz="2400" dirty="0"/>
              <a:t> in </a:t>
            </a:r>
            <a:r>
              <a:rPr lang="en-US" sz="2400" b="1" dirty="0"/>
              <a:t>another table</a:t>
            </a:r>
            <a:r>
              <a:rPr lang="en-US" sz="2400" dirty="0"/>
              <a:t>. </a:t>
            </a:r>
          </a:p>
          <a:p>
            <a:pPr marL="0" indent="0">
              <a:buNone/>
            </a:pPr>
            <a:endParaRPr lang="en-MW" dirty="0"/>
          </a:p>
        </p:txBody>
      </p:sp>
    </p:spTree>
    <p:extLst>
      <p:ext uri="{BB962C8B-B14F-4D97-AF65-F5344CB8AC3E}">
        <p14:creationId xmlns:p14="http://schemas.microsoft.com/office/powerpoint/2010/main" val="3452495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B4E42-44CE-4FFE-8DF8-5BC18E1F95FD}"/>
              </a:ext>
            </a:extLst>
          </p:cNvPr>
          <p:cNvSpPr>
            <a:spLocks noGrp="1"/>
          </p:cNvSpPr>
          <p:nvPr>
            <p:ph type="title"/>
          </p:nvPr>
        </p:nvSpPr>
        <p:spPr>
          <a:xfrm>
            <a:off x="1625600" y="228999"/>
            <a:ext cx="9879012" cy="854734"/>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MW" dirty="0"/>
          </a:p>
        </p:txBody>
      </p:sp>
      <p:sp>
        <p:nvSpPr>
          <p:cNvPr id="3" name="Content Placeholder 2">
            <a:extLst>
              <a:ext uri="{FF2B5EF4-FFF2-40B4-BE49-F238E27FC236}">
                <a16:creationId xmlns:a16="http://schemas.microsoft.com/office/drawing/2014/main" id="{3F8935BC-2EE8-4067-8F87-196FB853B177}"/>
              </a:ext>
            </a:extLst>
          </p:cNvPr>
          <p:cNvSpPr>
            <a:spLocks noGrp="1"/>
          </p:cNvSpPr>
          <p:nvPr>
            <p:ph idx="1"/>
          </p:nvPr>
        </p:nvSpPr>
        <p:spPr>
          <a:xfrm>
            <a:off x="1625600" y="1083733"/>
            <a:ext cx="9879012" cy="4827489"/>
          </a:xfrm>
        </p:spPr>
        <p:txBody>
          <a:bodyPr>
            <a:normAutofit/>
          </a:bodyPr>
          <a:lstStyle/>
          <a:p>
            <a:pPr>
              <a:lnSpc>
                <a:spcPct val="150000"/>
              </a:lnSpc>
            </a:pPr>
            <a:r>
              <a:rPr lang="en-US" sz="2400" dirty="0"/>
              <a:t>This </a:t>
            </a:r>
            <a:r>
              <a:rPr lang="en-US" sz="2400" b="1" dirty="0"/>
              <a:t>link ensures </a:t>
            </a:r>
            <a:r>
              <a:rPr lang="en-US" sz="2400" dirty="0"/>
              <a:t>that you can </a:t>
            </a:r>
            <a:r>
              <a:rPr lang="en-US" sz="2400" b="1" dirty="0"/>
              <a:t>enter only values </a:t>
            </a:r>
            <a:r>
              <a:rPr lang="en-US" sz="2400" dirty="0"/>
              <a:t>that </a:t>
            </a:r>
            <a:r>
              <a:rPr lang="en-US" sz="2400" b="1" dirty="0"/>
              <a:t>have corresponding entries </a:t>
            </a:r>
            <a:r>
              <a:rPr lang="en-US" sz="2400" dirty="0"/>
              <a:t>in the </a:t>
            </a:r>
            <a:r>
              <a:rPr lang="en-US" sz="2400" b="1" dirty="0"/>
              <a:t>other table</a:t>
            </a:r>
            <a:r>
              <a:rPr lang="en-US" sz="2400" dirty="0"/>
              <a:t>. </a:t>
            </a:r>
          </a:p>
          <a:p>
            <a:pPr>
              <a:lnSpc>
                <a:spcPct val="150000"/>
              </a:lnSpc>
            </a:pPr>
            <a:r>
              <a:rPr lang="en-US" sz="2400" b="1" dirty="0"/>
              <a:t>Relational database relates</a:t>
            </a:r>
            <a:r>
              <a:rPr lang="en-US" sz="2400" dirty="0"/>
              <a:t>, or </a:t>
            </a:r>
            <a:r>
              <a:rPr lang="en-US" sz="2400" b="1" dirty="0"/>
              <a:t>connects data </a:t>
            </a:r>
            <a:r>
              <a:rPr lang="en-US" sz="2400" dirty="0"/>
              <a:t>in </a:t>
            </a:r>
            <a:r>
              <a:rPr lang="en-US" sz="2400" b="1" dirty="0"/>
              <a:t>different files </a:t>
            </a:r>
            <a:r>
              <a:rPr lang="en-US" sz="2400" dirty="0"/>
              <a:t>by </a:t>
            </a:r>
            <a:r>
              <a:rPr lang="en-US" sz="2400" b="1" dirty="0"/>
              <a:t>using key fields</a:t>
            </a:r>
            <a:r>
              <a:rPr lang="en-US" sz="2400" dirty="0"/>
              <a:t>. </a:t>
            </a:r>
          </a:p>
          <a:p>
            <a:endParaRPr lang="en-MW" dirty="0"/>
          </a:p>
        </p:txBody>
      </p:sp>
    </p:spTree>
    <p:extLst>
      <p:ext uri="{BB962C8B-B14F-4D97-AF65-F5344CB8AC3E}">
        <p14:creationId xmlns:p14="http://schemas.microsoft.com/office/powerpoint/2010/main" val="2593358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64327-35F6-4507-8401-73A891BF888F}"/>
              </a:ext>
            </a:extLst>
          </p:cNvPr>
          <p:cNvSpPr>
            <a:spLocks noGrp="1"/>
          </p:cNvSpPr>
          <p:nvPr>
            <p:ph type="title"/>
          </p:nvPr>
        </p:nvSpPr>
        <p:spPr>
          <a:xfrm>
            <a:off x="1659467" y="193644"/>
            <a:ext cx="9845145" cy="753134"/>
          </a:xfrm>
        </p:spPr>
        <p:txBody>
          <a:bodyPr/>
          <a:lstStyle/>
          <a:p>
            <a:r>
              <a:rPr lang="en-US" dirty="0"/>
              <a:t>TABLES</a:t>
            </a:r>
            <a:endParaRPr lang="en-MW" dirty="0"/>
          </a:p>
        </p:txBody>
      </p:sp>
      <p:sp>
        <p:nvSpPr>
          <p:cNvPr id="3" name="Content Placeholder 2">
            <a:extLst>
              <a:ext uri="{FF2B5EF4-FFF2-40B4-BE49-F238E27FC236}">
                <a16:creationId xmlns:a16="http://schemas.microsoft.com/office/drawing/2014/main" id="{8AD2B8B4-B093-40D0-AE9F-DE9A59D4610F}"/>
              </a:ext>
            </a:extLst>
          </p:cNvPr>
          <p:cNvSpPr>
            <a:spLocks noGrp="1"/>
          </p:cNvSpPr>
          <p:nvPr>
            <p:ph idx="1"/>
          </p:nvPr>
        </p:nvSpPr>
        <p:spPr>
          <a:xfrm>
            <a:off x="1275645" y="946777"/>
            <a:ext cx="10228967" cy="5566912"/>
          </a:xfrm>
        </p:spPr>
        <p:txBody>
          <a:bodyPr>
            <a:normAutofit fontScale="70000" lnSpcReduction="20000"/>
          </a:bodyPr>
          <a:lstStyle/>
          <a:p>
            <a:pPr>
              <a:lnSpc>
                <a:spcPct val="150000"/>
              </a:lnSpc>
            </a:pPr>
            <a:r>
              <a:rPr lang="en-US" sz="3100" dirty="0"/>
              <a:t>When you </a:t>
            </a:r>
            <a:r>
              <a:rPr lang="en-US" sz="3100" b="1" dirty="0"/>
              <a:t>use</a:t>
            </a:r>
            <a:r>
              <a:rPr lang="en-US" sz="3100" dirty="0"/>
              <a:t> a </a:t>
            </a:r>
            <a:r>
              <a:rPr lang="en-US" sz="3100" b="1" dirty="0"/>
              <a:t>database</a:t>
            </a:r>
            <a:r>
              <a:rPr lang="en-US" sz="3100" dirty="0"/>
              <a:t>, you </a:t>
            </a:r>
            <a:r>
              <a:rPr lang="en-US" sz="3100" b="1" dirty="0"/>
              <a:t>store</a:t>
            </a:r>
            <a:r>
              <a:rPr lang="en-US" sz="3100" dirty="0"/>
              <a:t> your </a:t>
            </a:r>
            <a:r>
              <a:rPr lang="en-US" sz="3100" b="1" dirty="0"/>
              <a:t>data</a:t>
            </a:r>
            <a:r>
              <a:rPr lang="en-US" sz="3100" dirty="0"/>
              <a:t> in </a:t>
            </a:r>
            <a:r>
              <a:rPr lang="en-US" sz="3100" b="1" dirty="0"/>
              <a:t>tables</a:t>
            </a:r>
            <a:r>
              <a:rPr lang="en-US" sz="3100" dirty="0"/>
              <a:t>.</a:t>
            </a:r>
          </a:p>
          <a:p>
            <a:pPr>
              <a:lnSpc>
                <a:spcPct val="150000"/>
              </a:lnSpc>
            </a:pPr>
            <a:r>
              <a:rPr lang="en-US" sz="3100" dirty="0"/>
              <a:t>A </a:t>
            </a:r>
            <a:r>
              <a:rPr lang="en-US" sz="3100" b="1" dirty="0"/>
              <a:t>table</a:t>
            </a:r>
            <a:r>
              <a:rPr lang="en-US" sz="3100" dirty="0"/>
              <a:t> is a </a:t>
            </a:r>
            <a:r>
              <a:rPr lang="en-US" sz="3100" b="1" dirty="0"/>
              <a:t>database object </a:t>
            </a:r>
            <a:r>
              <a:rPr lang="en-US" sz="3100" dirty="0"/>
              <a:t>that you </a:t>
            </a:r>
            <a:r>
              <a:rPr lang="en-US" sz="3100" b="1" dirty="0"/>
              <a:t>use</a:t>
            </a:r>
            <a:r>
              <a:rPr lang="en-US" sz="3100" dirty="0"/>
              <a:t> to </a:t>
            </a:r>
            <a:r>
              <a:rPr lang="en-US" sz="3100" b="1" dirty="0"/>
              <a:t>store data about</a:t>
            </a:r>
            <a:r>
              <a:rPr lang="en-US" sz="3100" dirty="0"/>
              <a:t> a </a:t>
            </a:r>
            <a:r>
              <a:rPr lang="en-US" sz="3100" b="1" dirty="0"/>
              <a:t>particular subject</a:t>
            </a:r>
            <a:r>
              <a:rPr lang="en-US" sz="3100" dirty="0"/>
              <a:t>, such as </a:t>
            </a:r>
            <a:r>
              <a:rPr lang="en-US" sz="3100" b="1" dirty="0"/>
              <a:t>employees</a:t>
            </a:r>
            <a:r>
              <a:rPr lang="en-US" sz="3100" dirty="0"/>
              <a:t> or </a:t>
            </a:r>
            <a:r>
              <a:rPr lang="en-US" sz="3100" b="1" dirty="0"/>
              <a:t>products</a:t>
            </a:r>
            <a:r>
              <a:rPr lang="en-US" sz="3100" dirty="0"/>
              <a:t>. </a:t>
            </a:r>
          </a:p>
          <a:p>
            <a:pPr>
              <a:lnSpc>
                <a:spcPct val="150000"/>
              </a:lnSpc>
            </a:pPr>
            <a:r>
              <a:rPr lang="en-US" sz="3100" dirty="0"/>
              <a:t>A </a:t>
            </a:r>
            <a:r>
              <a:rPr lang="en-US" sz="3100" b="1" dirty="0"/>
              <a:t>table consists </a:t>
            </a:r>
            <a:r>
              <a:rPr lang="en-US" sz="3100" dirty="0"/>
              <a:t>of </a:t>
            </a:r>
            <a:r>
              <a:rPr lang="en-US" sz="3100" b="1" dirty="0"/>
              <a:t>records </a:t>
            </a:r>
            <a:r>
              <a:rPr lang="en-US" sz="3100" dirty="0"/>
              <a:t>and </a:t>
            </a:r>
            <a:r>
              <a:rPr lang="en-US" sz="3100" b="1" dirty="0"/>
              <a:t>fields</a:t>
            </a:r>
            <a:r>
              <a:rPr lang="en-US" sz="3100" dirty="0"/>
              <a:t>.</a:t>
            </a:r>
          </a:p>
          <a:p>
            <a:pPr lvl="1">
              <a:lnSpc>
                <a:spcPct val="150000"/>
              </a:lnSpc>
            </a:pPr>
            <a:r>
              <a:rPr lang="en-US" sz="3100" dirty="0"/>
              <a:t>A </a:t>
            </a:r>
            <a:r>
              <a:rPr lang="en-US" sz="3100" b="1" dirty="0"/>
              <a:t>record</a:t>
            </a:r>
            <a:r>
              <a:rPr lang="en-US" sz="3100" dirty="0"/>
              <a:t> is </a:t>
            </a:r>
            <a:r>
              <a:rPr lang="en-US" sz="3100" b="1" dirty="0"/>
              <a:t>also called</a:t>
            </a:r>
            <a:r>
              <a:rPr lang="en-US" sz="3100" dirty="0"/>
              <a:t> a </a:t>
            </a:r>
            <a:r>
              <a:rPr lang="en-US" sz="3100" b="1" dirty="0"/>
              <a:t>row</a:t>
            </a:r>
            <a:r>
              <a:rPr lang="en-US" sz="3100" dirty="0"/>
              <a:t> or an </a:t>
            </a:r>
            <a:r>
              <a:rPr lang="en-US" sz="3100" b="1" dirty="0"/>
              <a:t>instance</a:t>
            </a:r>
            <a:r>
              <a:rPr lang="en-US" sz="3100" dirty="0"/>
              <a:t>.</a:t>
            </a:r>
          </a:p>
          <a:p>
            <a:pPr lvl="1">
              <a:lnSpc>
                <a:spcPct val="150000"/>
              </a:lnSpc>
            </a:pPr>
            <a:r>
              <a:rPr lang="en-US" sz="3100" dirty="0"/>
              <a:t>A </a:t>
            </a:r>
            <a:r>
              <a:rPr lang="en-US" sz="3100" b="1" dirty="0"/>
              <a:t>field</a:t>
            </a:r>
            <a:r>
              <a:rPr lang="en-US" sz="3100" dirty="0"/>
              <a:t> is </a:t>
            </a:r>
            <a:r>
              <a:rPr lang="en-US" sz="3100" b="1" dirty="0"/>
              <a:t>also called </a:t>
            </a:r>
            <a:r>
              <a:rPr lang="en-US" sz="3100" dirty="0"/>
              <a:t>a </a:t>
            </a:r>
            <a:r>
              <a:rPr lang="en-US" sz="3100" b="1" dirty="0"/>
              <a:t>column</a:t>
            </a:r>
            <a:r>
              <a:rPr lang="en-US" sz="3100" dirty="0"/>
              <a:t> or </a:t>
            </a:r>
            <a:r>
              <a:rPr lang="en-US" sz="3100" b="1" dirty="0"/>
              <a:t>an attribute</a:t>
            </a:r>
            <a:r>
              <a:rPr lang="en-US" sz="3100" dirty="0"/>
              <a:t>.</a:t>
            </a:r>
          </a:p>
          <a:p>
            <a:pPr marL="342900" marR="0" lvl="0" indent="-342900" algn="l" defTabSz="457200" rtl="0" eaLnBrk="1" fontAlgn="auto" latinLnBrk="0" hangingPunct="1">
              <a:lnSpc>
                <a:spcPct val="170000"/>
              </a:lnSpc>
              <a:spcBef>
                <a:spcPts val="1000"/>
              </a:spcBef>
              <a:spcAft>
                <a:spcPts val="0"/>
              </a:spcAft>
              <a:buClr>
                <a:srgbClr val="A53010"/>
              </a:buClr>
              <a:buSzTx/>
              <a:buFont typeface="Wingdings 3" charset="2"/>
              <a:buChar char=""/>
              <a:tabLst/>
              <a:defRPr/>
            </a:pPr>
            <a:r>
              <a:rPr kumimoji="0" lang="en-US" sz="3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a:t>
            </a:r>
            <a:r>
              <a:rPr kumimoji="0" lang="en-US" sz="31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database</a:t>
            </a:r>
            <a:r>
              <a:rPr kumimoji="0" lang="en-US" sz="3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can </a:t>
            </a:r>
            <a:r>
              <a:rPr kumimoji="0" lang="en-US" sz="31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contain many tables</a:t>
            </a:r>
            <a:r>
              <a:rPr kumimoji="0" lang="en-US" sz="3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31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each storing information </a:t>
            </a:r>
            <a:r>
              <a:rPr kumimoji="0" lang="en-US" sz="3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about a </a:t>
            </a:r>
            <a:r>
              <a:rPr kumimoji="0" lang="en-US" sz="31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different subject</a:t>
            </a:r>
            <a:r>
              <a:rPr kumimoji="0" lang="en-US" sz="3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342900" marR="0" lvl="0" indent="-342900" algn="l" defTabSz="457200" rtl="0" eaLnBrk="1" fontAlgn="auto" latinLnBrk="0" hangingPunct="1">
              <a:lnSpc>
                <a:spcPct val="170000"/>
              </a:lnSpc>
              <a:spcBef>
                <a:spcPts val="1000"/>
              </a:spcBef>
              <a:spcAft>
                <a:spcPts val="0"/>
              </a:spcAft>
              <a:buClr>
                <a:srgbClr val="A53010"/>
              </a:buClr>
              <a:buSzTx/>
              <a:buFont typeface="Wingdings 3" charset="2"/>
              <a:buChar char=""/>
              <a:tabLst/>
              <a:defRPr/>
            </a:pPr>
            <a:r>
              <a:rPr kumimoji="0" lang="en-US" sz="31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Each table </a:t>
            </a:r>
            <a:r>
              <a:rPr kumimoji="0" lang="en-US" sz="3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can </a:t>
            </a:r>
            <a:r>
              <a:rPr kumimoji="0" lang="en-US" sz="31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contain many fields </a:t>
            </a:r>
            <a:r>
              <a:rPr kumimoji="0" lang="en-US" sz="3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of </a:t>
            </a:r>
            <a:r>
              <a:rPr kumimoji="0" lang="en-US" sz="31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different types </a:t>
            </a:r>
            <a:r>
              <a:rPr kumimoji="0" lang="en-US" sz="3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of </a:t>
            </a:r>
            <a:r>
              <a:rPr kumimoji="0" lang="en-US" sz="31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data</a:t>
            </a:r>
            <a:r>
              <a:rPr kumimoji="0" lang="en-US" sz="3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such as </a:t>
            </a:r>
            <a:r>
              <a:rPr kumimoji="0" lang="en-US" sz="31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text,</a:t>
            </a:r>
            <a:r>
              <a:rPr kumimoji="0" lang="en-US" sz="3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31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numbers</a:t>
            </a:r>
            <a:r>
              <a:rPr kumimoji="0" lang="en-US" sz="3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31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dates</a:t>
            </a:r>
            <a:r>
              <a:rPr kumimoji="0" lang="en-US" sz="3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31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currency</a:t>
            </a:r>
            <a:r>
              <a:rPr kumimoji="0" lang="en-US" sz="3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etc.</a:t>
            </a:r>
          </a:p>
          <a:p>
            <a:endParaRPr lang="en-MW" dirty="0"/>
          </a:p>
        </p:txBody>
      </p:sp>
    </p:spTree>
    <p:extLst>
      <p:ext uri="{BB962C8B-B14F-4D97-AF65-F5344CB8AC3E}">
        <p14:creationId xmlns:p14="http://schemas.microsoft.com/office/powerpoint/2010/main" val="2763955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6446D-6F43-40CC-9C3D-0AF2743DACE7}"/>
              </a:ext>
            </a:extLst>
          </p:cNvPr>
          <p:cNvSpPr>
            <a:spLocks noGrp="1"/>
          </p:cNvSpPr>
          <p:nvPr>
            <p:ph type="title"/>
          </p:nvPr>
        </p:nvSpPr>
        <p:spPr>
          <a:xfrm>
            <a:off x="1636889" y="159777"/>
            <a:ext cx="9867723" cy="787001"/>
          </a:xfrm>
        </p:spPr>
        <p:txBody>
          <a:bodyPr/>
          <a:lstStyle/>
          <a:p>
            <a:r>
              <a:rPr lang="en-US" dirty="0">
                <a:solidFill>
                  <a:prstClr val="black">
                    <a:lumMod val="85000"/>
                    <a:lumOff val="15000"/>
                  </a:prstClr>
                </a:solidFill>
                <a:latin typeface="Century Gothic" panose="020B0502020202020204"/>
              </a:rPr>
              <a:t>CONTD…</a:t>
            </a:r>
            <a:endParaRPr lang="en-MW" dirty="0"/>
          </a:p>
        </p:txBody>
      </p:sp>
      <p:sp>
        <p:nvSpPr>
          <p:cNvPr id="3" name="Content Placeholder 2">
            <a:extLst>
              <a:ext uri="{FF2B5EF4-FFF2-40B4-BE49-F238E27FC236}">
                <a16:creationId xmlns:a16="http://schemas.microsoft.com/office/drawing/2014/main" id="{41280EA3-E113-4285-A59C-7E6CCBB558DA}"/>
              </a:ext>
            </a:extLst>
          </p:cNvPr>
          <p:cNvSpPr>
            <a:spLocks noGrp="1"/>
          </p:cNvSpPr>
          <p:nvPr>
            <p:ph idx="1"/>
          </p:nvPr>
        </p:nvSpPr>
        <p:spPr>
          <a:xfrm>
            <a:off x="1444978" y="946779"/>
            <a:ext cx="10182577" cy="5521754"/>
          </a:xfrm>
        </p:spPr>
        <p:txBody>
          <a:bodyPr>
            <a:normAutofit fontScale="85000" lnSpcReduction="20000"/>
          </a:bodyPr>
          <a:lstStyle/>
          <a:p>
            <a:pPr>
              <a:lnSpc>
                <a:spcPct val="150000"/>
              </a:lnSpc>
            </a:pPr>
            <a:r>
              <a:rPr lang="en-US" sz="2600" dirty="0"/>
              <a:t>A </a:t>
            </a:r>
            <a:r>
              <a:rPr lang="en-US" sz="2600" b="1" dirty="0"/>
              <a:t>table</a:t>
            </a:r>
            <a:r>
              <a:rPr lang="en-US" sz="2600" dirty="0"/>
              <a:t> is a </a:t>
            </a:r>
            <a:r>
              <a:rPr lang="en-US" sz="2600" b="1" dirty="0"/>
              <a:t>collection of related information </a:t>
            </a:r>
            <a:r>
              <a:rPr lang="en-US" sz="2600" dirty="0"/>
              <a:t>that is </a:t>
            </a:r>
            <a:r>
              <a:rPr lang="en-US" sz="2600" b="1" dirty="0"/>
              <a:t>organized</a:t>
            </a:r>
            <a:r>
              <a:rPr lang="en-US" sz="2600" dirty="0"/>
              <a:t> in </a:t>
            </a:r>
            <a:r>
              <a:rPr lang="en-US" sz="2600" b="1" dirty="0"/>
              <a:t>columns (fields)</a:t>
            </a:r>
            <a:r>
              <a:rPr lang="en-US" sz="2600" dirty="0"/>
              <a:t> that </a:t>
            </a:r>
            <a:r>
              <a:rPr lang="en-US" sz="2600" b="1" dirty="0"/>
              <a:t>describe an entity (record). </a:t>
            </a:r>
          </a:p>
          <a:p>
            <a:endParaRPr lang="en-US" sz="2600" b="1" dirty="0"/>
          </a:p>
          <a:p>
            <a:endParaRPr lang="en-US" sz="2600" dirty="0"/>
          </a:p>
          <a:p>
            <a:endParaRPr lang="en-US" sz="2600" dirty="0"/>
          </a:p>
          <a:p>
            <a:endParaRPr lang="en-US" sz="2600" dirty="0"/>
          </a:p>
          <a:p>
            <a:pPr marL="0" indent="0">
              <a:lnSpc>
                <a:spcPct val="160000"/>
              </a:lnSpc>
              <a:buNone/>
            </a:pPr>
            <a:endParaRPr lang="en-US" sz="2600" dirty="0"/>
          </a:p>
          <a:p>
            <a:pPr>
              <a:lnSpc>
                <a:spcPct val="160000"/>
              </a:lnSpc>
            </a:pPr>
            <a:r>
              <a:rPr lang="en-US" sz="2600" dirty="0"/>
              <a:t>A </a:t>
            </a:r>
            <a:r>
              <a:rPr lang="en-US" sz="2600" b="1" dirty="0"/>
              <a:t>Record</a:t>
            </a:r>
            <a:r>
              <a:rPr lang="en-US" sz="2600" dirty="0"/>
              <a:t> is a </a:t>
            </a:r>
            <a:r>
              <a:rPr lang="en-US" sz="2600" b="1" dirty="0"/>
              <a:t>collection of information </a:t>
            </a:r>
            <a:r>
              <a:rPr lang="en-US" sz="2600" dirty="0"/>
              <a:t>about a </a:t>
            </a:r>
            <a:r>
              <a:rPr lang="en-US" sz="2600" b="1" dirty="0"/>
              <a:t>specific entity</a:t>
            </a:r>
            <a:r>
              <a:rPr lang="en-US" sz="2600" dirty="0"/>
              <a:t>, such as a </a:t>
            </a:r>
            <a:r>
              <a:rPr lang="en-US" sz="2600" b="1" dirty="0"/>
              <a:t>student</a:t>
            </a:r>
            <a:r>
              <a:rPr lang="en-US" sz="2600" dirty="0"/>
              <a:t>, </a:t>
            </a:r>
            <a:r>
              <a:rPr lang="en-US" sz="2600" b="1" dirty="0"/>
              <a:t>applicant</a:t>
            </a:r>
            <a:r>
              <a:rPr lang="en-US" sz="2600" dirty="0"/>
              <a:t>, </a:t>
            </a:r>
            <a:r>
              <a:rPr lang="en-US" sz="2600" b="1" dirty="0"/>
              <a:t>program</a:t>
            </a:r>
            <a:r>
              <a:rPr lang="en-US" sz="2600" dirty="0"/>
              <a:t> or </a:t>
            </a:r>
            <a:r>
              <a:rPr lang="en-US" sz="2600" b="1" dirty="0"/>
              <a:t>project</a:t>
            </a:r>
            <a:r>
              <a:rPr lang="en-US" sz="2600" dirty="0"/>
              <a:t>. </a:t>
            </a:r>
          </a:p>
          <a:p>
            <a:pPr>
              <a:lnSpc>
                <a:spcPct val="160000"/>
              </a:lnSpc>
            </a:pPr>
            <a:r>
              <a:rPr lang="en-US" sz="2600" dirty="0"/>
              <a:t>An </a:t>
            </a:r>
            <a:r>
              <a:rPr lang="en-US" sz="2600" b="1" dirty="0"/>
              <a:t>entity</a:t>
            </a:r>
            <a:r>
              <a:rPr lang="en-US" sz="2600" dirty="0"/>
              <a:t> is a </a:t>
            </a:r>
            <a:r>
              <a:rPr lang="en-US" sz="2600" b="1" dirty="0"/>
              <a:t>person</a:t>
            </a:r>
            <a:r>
              <a:rPr lang="en-US" sz="2600" dirty="0"/>
              <a:t>, </a:t>
            </a:r>
            <a:r>
              <a:rPr lang="en-US" sz="2600" b="1" dirty="0"/>
              <a:t>place</a:t>
            </a:r>
            <a:r>
              <a:rPr lang="en-US" sz="2600" dirty="0"/>
              <a:t>, </a:t>
            </a:r>
            <a:r>
              <a:rPr lang="en-US" sz="2600" b="1" dirty="0"/>
              <a:t>thing </a:t>
            </a:r>
            <a:r>
              <a:rPr lang="en-US" sz="2600" dirty="0"/>
              <a:t>or </a:t>
            </a:r>
            <a:r>
              <a:rPr lang="en-US" sz="2600" b="1" dirty="0"/>
              <a:t>idea</a:t>
            </a:r>
            <a:r>
              <a:rPr lang="en-US" sz="2600" dirty="0"/>
              <a:t>. </a:t>
            </a:r>
          </a:p>
          <a:p>
            <a:pPr>
              <a:lnSpc>
                <a:spcPct val="160000"/>
              </a:lnSpc>
            </a:pPr>
            <a:r>
              <a:rPr lang="en-US" sz="2600" dirty="0"/>
              <a:t>If we </a:t>
            </a:r>
            <a:r>
              <a:rPr lang="en-US" sz="2600" b="1" dirty="0"/>
              <a:t>have pieces of information</a:t>
            </a:r>
            <a:r>
              <a:rPr lang="en-US" sz="2600" dirty="0"/>
              <a:t>, on </a:t>
            </a:r>
            <a:r>
              <a:rPr lang="en-US" sz="2600" b="1" dirty="0"/>
              <a:t>one subject</a:t>
            </a:r>
            <a:r>
              <a:rPr lang="en-US" sz="2600" dirty="0"/>
              <a:t>, we have a </a:t>
            </a:r>
            <a:r>
              <a:rPr lang="en-US" sz="2600" b="1" dirty="0"/>
              <a:t>record</a:t>
            </a:r>
            <a:r>
              <a:rPr lang="en-US" sz="2600" dirty="0"/>
              <a:t>. </a:t>
            </a:r>
          </a:p>
          <a:p>
            <a:endParaRPr lang="en-MW" dirty="0"/>
          </a:p>
        </p:txBody>
      </p:sp>
      <p:pic>
        <p:nvPicPr>
          <p:cNvPr id="4" name="Picture 3">
            <a:extLst>
              <a:ext uri="{FF2B5EF4-FFF2-40B4-BE49-F238E27FC236}">
                <a16:creationId xmlns:a16="http://schemas.microsoft.com/office/drawing/2014/main" id="{45183E96-E18A-46E6-9613-01DFCE3A2FF7}"/>
              </a:ext>
            </a:extLst>
          </p:cNvPr>
          <p:cNvPicPr>
            <a:picLocks noChangeAspect="1"/>
          </p:cNvPicPr>
          <p:nvPr/>
        </p:nvPicPr>
        <p:blipFill>
          <a:blip r:embed="rId2"/>
          <a:stretch>
            <a:fillRect/>
          </a:stretch>
        </p:blipFill>
        <p:spPr>
          <a:xfrm>
            <a:off x="3352562" y="1856224"/>
            <a:ext cx="5486876" cy="1919094"/>
          </a:xfrm>
          <a:prstGeom prst="rect">
            <a:avLst/>
          </a:prstGeom>
        </p:spPr>
      </p:pic>
    </p:spTree>
    <p:extLst>
      <p:ext uri="{BB962C8B-B14F-4D97-AF65-F5344CB8AC3E}">
        <p14:creationId xmlns:p14="http://schemas.microsoft.com/office/powerpoint/2010/main" val="3551468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B4C56-D884-4AC6-94E9-4DE622B95EEB}"/>
              </a:ext>
            </a:extLst>
          </p:cNvPr>
          <p:cNvSpPr>
            <a:spLocks noGrp="1"/>
          </p:cNvSpPr>
          <p:nvPr>
            <p:ph type="title"/>
          </p:nvPr>
        </p:nvSpPr>
        <p:spPr>
          <a:xfrm>
            <a:off x="1682044" y="171065"/>
            <a:ext cx="9822568" cy="775712"/>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TABLE RELATIONSHIPS</a:t>
            </a:r>
            <a:endParaRPr lang="en-MW" dirty="0"/>
          </a:p>
        </p:txBody>
      </p:sp>
      <p:sp>
        <p:nvSpPr>
          <p:cNvPr id="3" name="Content Placeholder 2">
            <a:extLst>
              <a:ext uri="{FF2B5EF4-FFF2-40B4-BE49-F238E27FC236}">
                <a16:creationId xmlns:a16="http://schemas.microsoft.com/office/drawing/2014/main" id="{D86F1C26-43D7-41C7-828C-8E66A170C894}"/>
              </a:ext>
            </a:extLst>
          </p:cNvPr>
          <p:cNvSpPr>
            <a:spLocks noGrp="1"/>
          </p:cNvSpPr>
          <p:nvPr>
            <p:ph idx="1"/>
          </p:nvPr>
        </p:nvSpPr>
        <p:spPr>
          <a:xfrm>
            <a:off x="1682044" y="946777"/>
            <a:ext cx="9822568" cy="4964446"/>
          </a:xfrm>
        </p:spPr>
        <p:txBody>
          <a:bodyPr>
            <a:normAutofit/>
          </a:bodyPr>
          <a:lstStyle/>
          <a:p>
            <a:pPr>
              <a:lnSpc>
                <a:spcPct val="150000"/>
              </a:lnSpc>
            </a:pPr>
            <a:r>
              <a:rPr lang="en-US" sz="2400" dirty="0"/>
              <a:t>To </a:t>
            </a:r>
            <a:r>
              <a:rPr lang="en-US" sz="2400" b="1" dirty="0"/>
              <a:t>connect</a:t>
            </a:r>
            <a:r>
              <a:rPr lang="en-US" sz="2400" dirty="0"/>
              <a:t> the </a:t>
            </a:r>
            <a:r>
              <a:rPr lang="en-US" sz="2400" b="1" dirty="0"/>
              <a:t>data stored </a:t>
            </a:r>
            <a:r>
              <a:rPr lang="en-US" sz="2400" dirty="0"/>
              <a:t>in </a:t>
            </a:r>
            <a:r>
              <a:rPr lang="en-US" sz="2400" b="1" dirty="0"/>
              <a:t>different tables</a:t>
            </a:r>
            <a:r>
              <a:rPr lang="en-US" sz="2400" dirty="0"/>
              <a:t>, you </a:t>
            </a:r>
            <a:r>
              <a:rPr lang="en-US" sz="2400" b="1" dirty="0"/>
              <a:t>create relationships</a:t>
            </a:r>
            <a:r>
              <a:rPr lang="en-US" sz="2400" dirty="0"/>
              <a:t>. </a:t>
            </a:r>
          </a:p>
          <a:p>
            <a:pPr>
              <a:lnSpc>
                <a:spcPct val="150000"/>
              </a:lnSpc>
            </a:pPr>
            <a:r>
              <a:rPr lang="en-US" sz="2400" b="1" dirty="0"/>
              <a:t>A</a:t>
            </a:r>
            <a:r>
              <a:rPr lang="en-US" sz="2400" dirty="0"/>
              <a:t> </a:t>
            </a:r>
            <a:r>
              <a:rPr lang="en-US" sz="2400" b="1" dirty="0"/>
              <a:t>relationship</a:t>
            </a:r>
            <a:r>
              <a:rPr lang="en-US" sz="2400" dirty="0"/>
              <a:t> is a </a:t>
            </a:r>
            <a:r>
              <a:rPr lang="en-US" sz="2400" b="1" dirty="0"/>
              <a:t>logical connection between two tables </a:t>
            </a:r>
            <a:r>
              <a:rPr lang="en-US" sz="2400" dirty="0"/>
              <a:t>that </a:t>
            </a:r>
            <a:r>
              <a:rPr lang="en-US" sz="2400" b="1" dirty="0"/>
              <a:t>specifies fields</a:t>
            </a:r>
            <a:r>
              <a:rPr lang="en-US" sz="2400" dirty="0"/>
              <a:t> that the </a:t>
            </a:r>
            <a:r>
              <a:rPr lang="en-US" sz="2400" b="1" dirty="0"/>
              <a:t>tables have in common</a:t>
            </a:r>
            <a:r>
              <a:rPr lang="en-US" sz="2400" dirty="0"/>
              <a:t>.</a:t>
            </a:r>
          </a:p>
          <a:p>
            <a:endParaRPr lang="en-MW" dirty="0"/>
          </a:p>
        </p:txBody>
      </p:sp>
    </p:spTree>
    <p:extLst>
      <p:ext uri="{BB962C8B-B14F-4D97-AF65-F5344CB8AC3E}">
        <p14:creationId xmlns:p14="http://schemas.microsoft.com/office/powerpoint/2010/main" val="2500530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76787-53EE-41E9-A4D1-6F68EFCEFA21}"/>
              </a:ext>
            </a:extLst>
          </p:cNvPr>
          <p:cNvSpPr>
            <a:spLocks noGrp="1"/>
          </p:cNvSpPr>
          <p:nvPr>
            <p:ph type="title"/>
          </p:nvPr>
        </p:nvSpPr>
        <p:spPr>
          <a:xfrm>
            <a:off x="1670756" y="159777"/>
            <a:ext cx="9833856" cy="787001"/>
          </a:xfrm>
        </p:spPr>
        <p:txBody>
          <a:bodyPr>
            <a:normAutofit/>
          </a:bodyPr>
          <a:lstStyle/>
          <a:p>
            <a:r>
              <a:rPr lang="en-US" dirty="0"/>
              <a:t>TABLES (PRIMARY AND SECONDARY KEYS)</a:t>
            </a:r>
            <a:endParaRPr lang="en-MW" dirty="0"/>
          </a:p>
        </p:txBody>
      </p:sp>
      <p:sp>
        <p:nvSpPr>
          <p:cNvPr id="6" name="Content Placeholder 5">
            <a:extLst>
              <a:ext uri="{FF2B5EF4-FFF2-40B4-BE49-F238E27FC236}">
                <a16:creationId xmlns:a16="http://schemas.microsoft.com/office/drawing/2014/main" id="{2E646E7C-C6BC-49D8-AFD2-3E90F4A93F98}"/>
              </a:ext>
            </a:extLst>
          </p:cNvPr>
          <p:cNvSpPr>
            <a:spLocks noGrp="1"/>
          </p:cNvSpPr>
          <p:nvPr>
            <p:ph idx="1"/>
          </p:nvPr>
        </p:nvSpPr>
        <p:spPr>
          <a:xfrm>
            <a:off x="1670755" y="946777"/>
            <a:ext cx="10024533" cy="5465311"/>
          </a:xfrm>
        </p:spPr>
        <p:txBody>
          <a:bodyPr>
            <a:normAutofit fontScale="62500" lnSpcReduction="20000"/>
          </a:bodyPr>
          <a:lstStyle/>
          <a:p>
            <a:pPr marL="0" indent="0">
              <a:lnSpc>
                <a:spcPct val="160000"/>
              </a:lnSpc>
              <a:buNone/>
            </a:pPr>
            <a:r>
              <a:rPr lang="en-US" sz="3400" b="1" dirty="0"/>
              <a:t>Keys</a:t>
            </a:r>
          </a:p>
          <a:p>
            <a:pPr>
              <a:lnSpc>
                <a:spcPct val="160000"/>
              </a:lnSpc>
            </a:pPr>
            <a:r>
              <a:rPr lang="en-US" sz="3400" b="1" dirty="0"/>
              <a:t>Keys </a:t>
            </a:r>
            <a:r>
              <a:rPr lang="en-US" sz="3400" dirty="0"/>
              <a:t>are </a:t>
            </a:r>
            <a:r>
              <a:rPr lang="en-US" sz="3400" b="1" dirty="0"/>
              <a:t>fields</a:t>
            </a:r>
            <a:r>
              <a:rPr lang="en-US" sz="3400" dirty="0"/>
              <a:t> </a:t>
            </a:r>
            <a:r>
              <a:rPr lang="en-US" sz="3400" b="1" dirty="0"/>
              <a:t>that</a:t>
            </a:r>
            <a:r>
              <a:rPr lang="en-US" sz="3400" dirty="0"/>
              <a:t> are </a:t>
            </a:r>
            <a:r>
              <a:rPr lang="en-US" sz="3400" b="1" dirty="0"/>
              <a:t>part</a:t>
            </a:r>
            <a:r>
              <a:rPr lang="en-US" sz="3400" dirty="0"/>
              <a:t> of a </a:t>
            </a:r>
            <a:r>
              <a:rPr lang="en-US" sz="3400" b="1" dirty="0"/>
              <a:t>table relationship</a:t>
            </a:r>
            <a:r>
              <a:rPr lang="en-US" sz="3400" dirty="0"/>
              <a:t>. </a:t>
            </a:r>
          </a:p>
          <a:p>
            <a:pPr>
              <a:lnSpc>
                <a:spcPct val="160000"/>
              </a:lnSpc>
            </a:pPr>
            <a:r>
              <a:rPr lang="en-US" sz="3400" dirty="0"/>
              <a:t>A </a:t>
            </a:r>
            <a:r>
              <a:rPr lang="en-US" sz="3400" b="1" dirty="0"/>
              <a:t>key may consists </a:t>
            </a:r>
            <a:r>
              <a:rPr lang="en-US" sz="3400" dirty="0"/>
              <a:t>of </a:t>
            </a:r>
            <a:r>
              <a:rPr lang="en-US" sz="3400" b="1" dirty="0"/>
              <a:t>one</a:t>
            </a:r>
            <a:r>
              <a:rPr lang="en-US" sz="3400" dirty="0"/>
              <a:t> or </a:t>
            </a:r>
            <a:r>
              <a:rPr lang="en-US" sz="3400" b="1" dirty="0"/>
              <a:t>more fields</a:t>
            </a:r>
            <a:r>
              <a:rPr lang="en-US" sz="3400" dirty="0"/>
              <a:t>.</a:t>
            </a:r>
          </a:p>
          <a:p>
            <a:pPr>
              <a:lnSpc>
                <a:spcPct val="160000"/>
              </a:lnSpc>
            </a:pPr>
            <a:r>
              <a:rPr lang="en-US" sz="3400" dirty="0"/>
              <a:t>We will look at </a:t>
            </a:r>
            <a:r>
              <a:rPr lang="en-US" sz="3400" b="1" dirty="0"/>
              <a:t>three kinds </a:t>
            </a:r>
            <a:r>
              <a:rPr lang="en-US" sz="3400" dirty="0"/>
              <a:t>of </a:t>
            </a:r>
            <a:r>
              <a:rPr lang="en-US" sz="3400" b="1" dirty="0"/>
              <a:t>keys</a:t>
            </a:r>
            <a:r>
              <a:rPr lang="en-US" sz="3400" dirty="0"/>
              <a:t>: </a:t>
            </a:r>
            <a:r>
              <a:rPr lang="en-US" sz="3400" b="1" dirty="0"/>
              <a:t>Primary, Foreign</a:t>
            </a:r>
            <a:r>
              <a:rPr lang="en-US" sz="3400" dirty="0"/>
              <a:t> and </a:t>
            </a:r>
            <a:r>
              <a:rPr lang="en-US" sz="3400" b="1" dirty="0"/>
              <a:t>Secondary Keys.</a:t>
            </a:r>
          </a:p>
          <a:p>
            <a:pPr marL="0" indent="0">
              <a:lnSpc>
                <a:spcPct val="160000"/>
              </a:lnSpc>
              <a:buNone/>
            </a:pPr>
            <a:r>
              <a:rPr lang="en-US" sz="3400" b="1" dirty="0"/>
              <a:t>Primary key  </a:t>
            </a:r>
          </a:p>
          <a:p>
            <a:pPr>
              <a:lnSpc>
                <a:spcPct val="160000"/>
              </a:lnSpc>
            </a:pPr>
            <a:r>
              <a:rPr lang="en-US" sz="3400" dirty="0"/>
              <a:t>A </a:t>
            </a:r>
            <a:r>
              <a:rPr lang="en-US" sz="3400" b="1" dirty="0"/>
              <a:t>primary key </a:t>
            </a:r>
            <a:r>
              <a:rPr lang="en-US" sz="3400" dirty="0"/>
              <a:t>is </a:t>
            </a:r>
            <a:r>
              <a:rPr lang="en-US" sz="3400" b="1" dirty="0"/>
              <a:t>a field </a:t>
            </a:r>
            <a:r>
              <a:rPr lang="en-US" sz="3400" dirty="0"/>
              <a:t>that </a:t>
            </a:r>
            <a:r>
              <a:rPr lang="en-US" sz="3400" b="1" dirty="0"/>
              <a:t>uniquely identifies each record </a:t>
            </a:r>
            <a:r>
              <a:rPr lang="en-US" sz="3400" dirty="0"/>
              <a:t>in a </a:t>
            </a:r>
            <a:r>
              <a:rPr lang="en-US" sz="3400" b="1" dirty="0"/>
              <a:t>table</a:t>
            </a:r>
            <a:r>
              <a:rPr lang="en-US" sz="3400" dirty="0"/>
              <a:t>. </a:t>
            </a:r>
          </a:p>
          <a:p>
            <a:pPr>
              <a:lnSpc>
                <a:spcPct val="160000"/>
              </a:lnSpc>
            </a:pPr>
            <a:r>
              <a:rPr lang="en-US" sz="3400" dirty="0"/>
              <a:t>A </a:t>
            </a:r>
            <a:r>
              <a:rPr lang="en-US" sz="3400" b="1" dirty="0"/>
              <a:t>table</a:t>
            </a:r>
            <a:r>
              <a:rPr lang="en-US" sz="3400" dirty="0"/>
              <a:t> can </a:t>
            </a:r>
            <a:r>
              <a:rPr lang="en-US" sz="3400" b="1" dirty="0"/>
              <a:t>have only one primary key</a:t>
            </a:r>
            <a:r>
              <a:rPr lang="en-US" sz="3400" dirty="0"/>
              <a:t>. </a:t>
            </a:r>
          </a:p>
          <a:p>
            <a:pPr>
              <a:lnSpc>
                <a:spcPct val="160000"/>
              </a:lnSpc>
            </a:pPr>
            <a:r>
              <a:rPr lang="en-US" sz="3400" dirty="0"/>
              <a:t>E.g. </a:t>
            </a:r>
            <a:r>
              <a:rPr lang="en-US" sz="3400" b="1" dirty="0"/>
              <a:t>ID number</a:t>
            </a:r>
            <a:r>
              <a:rPr lang="en-US" sz="3400" dirty="0"/>
              <a:t>, a </a:t>
            </a:r>
            <a:r>
              <a:rPr lang="en-US" sz="3400" b="1" dirty="0"/>
              <a:t>serial number</a:t>
            </a:r>
            <a:r>
              <a:rPr lang="en-US" sz="3400" dirty="0"/>
              <a:t>, or a </a:t>
            </a:r>
            <a:r>
              <a:rPr lang="en-US" sz="3400" b="1" dirty="0"/>
              <a:t>code</a:t>
            </a:r>
            <a:r>
              <a:rPr lang="en-US" sz="3400" dirty="0"/>
              <a:t>, that </a:t>
            </a:r>
            <a:r>
              <a:rPr lang="en-US" sz="3400" b="1" dirty="0"/>
              <a:t>serves</a:t>
            </a:r>
            <a:r>
              <a:rPr lang="en-US" sz="3400" dirty="0"/>
              <a:t> </a:t>
            </a:r>
            <a:r>
              <a:rPr lang="en-US" sz="3400" b="1" dirty="0"/>
              <a:t>as </a:t>
            </a:r>
            <a:r>
              <a:rPr lang="en-US" sz="3400" dirty="0"/>
              <a:t>a</a:t>
            </a:r>
            <a:r>
              <a:rPr lang="en-US" sz="3400" b="1" dirty="0"/>
              <a:t> primary key</a:t>
            </a:r>
            <a:r>
              <a:rPr lang="en-US" dirty="0"/>
              <a:t>	</a:t>
            </a:r>
          </a:p>
          <a:p>
            <a:endParaRPr lang="en-MW" dirty="0"/>
          </a:p>
        </p:txBody>
      </p:sp>
    </p:spTree>
    <p:extLst>
      <p:ext uri="{BB962C8B-B14F-4D97-AF65-F5344CB8AC3E}">
        <p14:creationId xmlns:p14="http://schemas.microsoft.com/office/powerpoint/2010/main" val="1216089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76787-53EE-41E9-A4D1-6F68EFCEFA21}"/>
              </a:ext>
            </a:extLst>
          </p:cNvPr>
          <p:cNvSpPr>
            <a:spLocks noGrp="1"/>
          </p:cNvSpPr>
          <p:nvPr>
            <p:ph type="title"/>
          </p:nvPr>
        </p:nvSpPr>
        <p:spPr>
          <a:xfrm>
            <a:off x="1648178" y="159777"/>
            <a:ext cx="9856434" cy="787001"/>
          </a:xfrm>
        </p:spPr>
        <p:txBody>
          <a:bodyPr>
            <a:normAutofit/>
          </a:bodyPr>
          <a:lstStyle/>
          <a:p>
            <a:r>
              <a:rPr lang="en-US" dirty="0"/>
              <a:t>CONTD…</a:t>
            </a:r>
            <a:endParaRPr lang="en-MW" dirty="0"/>
          </a:p>
        </p:txBody>
      </p:sp>
      <p:sp>
        <p:nvSpPr>
          <p:cNvPr id="6" name="Content Placeholder 5">
            <a:extLst>
              <a:ext uri="{FF2B5EF4-FFF2-40B4-BE49-F238E27FC236}">
                <a16:creationId xmlns:a16="http://schemas.microsoft.com/office/drawing/2014/main" id="{2E646E7C-C6BC-49D8-AFD2-3E90F4A93F98}"/>
              </a:ext>
            </a:extLst>
          </p:cNvPr>
          <p:cNvSpPr>
            <a:spLocks noGrp="1"/>
          </p:cNvSpPr>
          <p:nvPr>
            <p:ph idx="1"/>
          </p:nvPr>
        </p:nvSpPr>
        <p:spPr>
          <a:xfrm>
            <a:off x="1648178" y="946778"/>
            <a:ext cx="9856434" cy="5600777"/>
          </a:xfrm>
        </p:spPr>
        <p:txBody>
          <a:bodyPr>
            <a:normAutofit fontScale="92500" lnSpcReduction="10000"/>
          </a:bodyPr>
          <a:lstStyle/>
          <a:p>
            <a:pPr marL="0" indent="0">
              <a:lnSpc>
                <a:spcPct val="150000"/>
              </a:lnSpc>
              <a:buNone/>
            </a:pPr>
            <a:r>
              <a:rPr lang="en-US" sz="2400" b="1" dirty="0"/>
              <a:t>Foreign key </a:t>
            </a:r>
          </a:p>
          <a:p>
            <a:pPr>
              <a:lnSpc>
                <a:spcPct val="150000"/>
              </a:lnSpc>
            </a:pPr>
            <a:r>
              <a:rPr lang="en-US" sz="2400" b="1" dirty="0"/>
              <a:t>Foreign key </a:t>
            </a:r>
            <a:r>
              <a:rPr lang="en-US" sz="2400" dirty="0"/>
              <a:t>is a </a:t>
            </a:r>
            <a:r>
              <a:rPr lang="en-US" sz="2400" b="1" dirty="0"/>
              <a:t>field</a:t>
            </a:r>
            <a:r>
              <a:rPr lang="en-US" sz="2400" dirty="0"/>
              <a:t> (or </a:t>
            </a:r>
            <a:r>
              <a:rPr lang="en-US" sz="2400" b="1" dirty="0"/>
              <a:t>collection of fields</a:t>
            </a:r>
            <a:r>
              <a:rPr lang="en-US" sz="2400" dirty="0"/>
              <a:t>) in </a:t>
            </a:r>
            <a:r>
              <a:rPr lang="en-US" sz="2400" b="1" dirty="0"/>
              <a:t>one table </a:t>
            </a:r>
            <a:r>
              <a:rPr lang="en-US" sz="2400" dirty="0"/>
              <a:t>that </a:t>
            </a:r>
            <a:r>
              <a:rPr lang="en-US" sz="2400" b="1" dirty="0"/>
              <a:t>uniquely identifies a row of another table</a:t>
            </a:r>
            <a:r>
              <a:rPr lang="en-US" sz="2400" dirty="0"/>
              <a:t>. </a:t>
            </a:r>
          </a:p>
          <a:p>
            <a:pPr>
              <a:lnSpc>
                <a:spcPct val="150000"/>
              </a:lnSpc>
            </a:pPr>
            <a:r>
              <a:rPr lang="en-US" sz="2400" b="1" dirty="0"/>
              <a:t>Foreign key </a:t>
            </a:r>
            <a:r>
              <a:rPr lang="en-US" sz="2400" dirty="0"/>
              <a:t>is </a:t>
            </a:r>
            <a:r>
              <a:rPr lang="en-US" sz="2400" b="1" dirty="0"/>
              <a:t>defined</a:t>
            </a:r>
            <a:r>
              <a:rPr lang="en-US" sz="2400" dirty="0"/>
              <a:t> in a </a:t>
            </a:r>
            <a:r>
              <a:rPr lang="en-US" sz="2400" b="1" dirty="0"/>
              <a:t>second table</a:t>
            </a:r>
            <a:r>
              <a:rPr lang="en-US" sz="2400" dirty="0"/>
              <a:t>, but it </a:t>
            </a:r>
            <a:r>
              <a:rPr lang="en-US" sz="2400" b="1" dirty="0"/>
              <a:t>refers</a:t>
            </a:r>
            <a:r>
              <a:rPr lang="en-US" sz="2400" dirty="0"/>
              <a:t> </a:t>
            </a:r>
            <a:r>
              <a:rPr lang="en-US" sz="2400" b="1" dirty="0"/>
              <a:t>to</a:t>
            </a:r>
            <a:r>
              <a:rPr lang="en-US" sz="2400" dirty="0"/>
              <a:t> the </a:t>
            </a:r>
            <a:r>
              <a:rPr lang="en-US" sz="2400" b="1" dirty="0"/>
              <a:t>primary key </a:t>
            </a:r>
            <a:r>
              <a:rPr lang="en-US" sz="2400" dirty="0"/>
              <a:t>in the </a:t>
            </a:r>
            <a:r>
              <a:rPr lang="en-US" sz="2400" b="1" dirty="0"/>
              <a:t>first table</a:t>
            </a:r>
            <a:r>
              <a:rPr lang="en-US" sz="2400" dirty="0"/>
              <a:t>.</a:t>
            </a:r>
          </a:p>
          <a:p>
            <a:pPr>
              <a:lnSpc>
                <a:spcPct val="150000"/>
              </a:lnSpc>
            </a:pPr>
            <a:r>
              <a:rPr lang="en-US" sz="2400" dirty="0"/>
              <a:t>A </a:t>
            </a:r>
            <a:r>
              <a:rPr lang="en-US" sz="2400" b="1" dirty="0"/>
              <a:t>foreign key contains values </a:t>
            </a:r>
            <a:r>
              <a:rPr lang="en-US" sz="2400" dirty="0"/>
              <a:t>that </a:t>
            </a:r>
            <a:r>
              <a:rPr lang="en-US" sz="2400" b="1" dirty="0"/>
              <a:t>correspond to values </a:t>
            </a:r>
            <a:r>
              <a:rPr lang="en-US" sz="2400" dirty="0"/>
              <a:t>in </a:t>
            </a:r>
            <a:r>
              <a:rPr lang="en-US" sz="2400" b="1" dirty="0"/>
              <a:t>primary key </a:t>
            </a:r>
            <a:r>
              <a:rPr lang="en-US" sz="2400" dirty="0"/>
              <a:t>of </a:t>
            </a:r>
            <a:r>
              <a:rPr lang="en-US" sz="2400" b="1" dirty="0"/>
              <a:t>another table</a:t>
            </a:r>
            <a:r>
              <a:rPr lang="en-US" sz="2400" dirty="0"/>
              <a:t>.</a:t>
            </a:r>
          </a:p>
          <a:p>
            <a:pPr>
              <a:lnSpc>
                <a:spcPct val="150000"/>
              </a:lnSpc>
            </a:pPr>
            <a:r>
              <a:rPr lang="en-US" sz="2400" dirty="0"/>
              <a:t> A </a:t>
            </a:r>
            <a:r>
              <a:rPr lang="en-US" sz="2400" b="1" dirty="0"/>
              <a:t>table</a:t>
            </a:r>
            <a:r>
              <a:rPr lang="en-US" sz="2400" dirty="0"/>
              <a:t> </a:t>
            </a:r>
            <a:r>
              <a:rPr lang="en-US" sz="2400" b="1" dirty="0"/>
              <a:t>can</a:t>
            </a:r>
            <a:r>
              <a:rPr lang="en-US" sz="2400" dirty="0"/>
              <a:t> also have </a:t>
            </a:r>
            <a:r>
              <a:rPr lang="en-US" sz="2400" b="1" dirty="0"/>
              <a:t>one</a:t>
            </a:r>
            <a:r>
              <a:rPr lang="en-US" sz="2400" dirty="0"/>
              <a:t> or </a:t>
            </a:r>
            <a:r>
              <a:rPr lang="en-US" sz="2400" b="1" dirty="0"/>
              <a:t>more foreign keys</a:t>
            </a:r>
            <a:r>
              <a:rPr lang="en-US" sz="2400" dirty="0"/>
              <a:t>. </a:t>
            </a:r>
          </a:p>
          <a:p>
            <a:pPr>
              <a:lnSpc>
                <a:spcPct val="150000"/>
              </a:lnSpc>
            </a:pPr>
            <a:r>
              <a:rPr lang="en-US" sz="2400" b="1" dirty="0"/>
              <a:t>Relational database relates </a:t>
            </a:r>
            <a:r>
              <a:rPr lang="en-US" sz="2400" dirty="0"/>
              <a:t>or </a:t>
            </a:r>
            <a:r>
              <a:rPr lang="en-US" sz="2400" b="1" dirty="0"/>
              <a:t>connects data </a:t>
            </a:r>
            <a:r>
              <a:rPr lang="en-US" sz="2400" dirty="0"/>
              <a:t>in </a:t>
            </a:r>
            <a:r>
              <a:rPr lang="en-US" sz="2400" b="1" dirty="0"/>
              <a:t>different  files </a:t>
            </a:r>
            <a:r>
              <a:rPr lang="en-US" sz="2400" dirty="0"/>
              <a:t>by </a:t>
            </a:r>
            <a:r>
              <a:rPr lang="en-US" sz="2400" b="1" dirty="0"/>
              <a:t>using key fields</a:t>
            </a:r>
            <a:r>
              <a:rPr lang="en-US" sz="2400" dirty="0"/>
              <a:t>.</a:t>
            </a:r>
          </a:p>
          <a:p>
            <a:endParaRPr lang="en-MW" dirty="0"/>
          </a:p>
        </p:txBody>
      </p:sp>
    </p:spTree>
    <p:extLst>
      <p:ext uri="{BB962C8B-B14F-4D97-AF65-F5344CB8AC3E}">
        <p14:creationId xmlns:p14="http://schemas.microsoft.com/office/powerpoint/2010/main" val="2972865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64D28-6923-4E7A-A22B-9BF8238B21B6}"/>
              </a:ext>
            </a:extLst>
          </p:cNvPr>
          <p:cNvSpPr>
            <a:spLocks noGrp="1"/>
          </p:cNvSpPr>
          <p:nvPr>
            <p:ph type="title"/>
          </p:nvPr>
        </p:nvSpPr>
        <p:spPr>
          <a:xfrm>
            <a:off x="1693333" y="195132"/>
            <a:ext cx="9811279" cy="832157"/>
          </a:xfrm>
        </p:spPr>
        <p:txBody>
          <a:bodyPr>
            <a:normAutofit/>
          </a:bodyPr>
          <a:lstStyle/>
          <a:p>
            <a:r>
              <a:rPr kumimoji="0" lang="en-US"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MW" dirty="0"/>
          </a:p>
        </p:txBody>
      </p:sp>
      <p:sp>
        <p:nvSpPr>
          <p:cNvPr id="3" name="Content Placeholder 2">
            <a:extLst>
              <a:ext uri="{FF2B5EF4-FFF2-40B4-BE49-F238E27FC236}">
                <a16:creationId xmlns:a16="http://schemas.microsoft.com/office/drawing/2014/main" id="{FCB4EC55-C068-47DB-8632-614425AF4B22}"/>
              </a:ext>
            </a:extLst>
          </p:cNvPr>
          <p:cNvSpPr>
            <a:spLocks noGrp="1"/>
          </p:cNvSpPr>
          <p:nvPr>
            <p:ph idx="1"/>
          </p:nvPr>
        </p:nvSpPr>
        <p:spPr>
          <a:xfrm>
            <a:off x="1693333" y="1027289"/>
            <a:ext cx="9811279" cy="4883933"/>
          </a:xfrm>
        </p:spPr>
        <p:txBody>
          <a:bodyPr>
            <a:normAutofit/>
          </a:bodyPr>
          <a:lstStyle/>
          <a:p>
            <a:pPr marL="0" marR="0" lvl="0" indent="0" algn="l" defTabSz="457200" rtl="0" eaLnBrk="1" fontAlgn="auto" latinLnBrk="0" hangingPunct="1">
              <a:lnSpc>
                <a:spcPct val="15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Secondary key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lang="en-US" sz="2400" b="1" dirty="0">
                <a:solidFill>
                  <a:prstClr val="black">
                    <a:lumMod val="75000"/>
                    <a:lumOff val="25000"/>
                  </a:prstClr>
                </a:solidFill>
                <a:latin typeface="Century Gothic" panose="020B0502020202020204"/>
              </a:rPr>
              <a:t>Secondary</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key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is an additional key or alternate key, which can be used in addition to the primary key to locate specific data.</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lang="en-US" sz="2400" dirty="0">
                <a:solidFill>
                  <a:prstClr val="black">
                    <a:lumMod val="75000"/>
                    <a:lumOff val="25000"/>
                  </a:prstClr>
                </a:solidFill>
                <a:latin typeface="Century Gothic" panose="020B0502020202020204"/>
              </a:rPr>
              <a:t>It is </a:t>
            </a:r>
            <a:r>
              <a:rPr lang="en-US" sz="2400" b="1" dirty="0">
                <a:solidFill>
                  <a:prstClr val="black">
                    <a:lumMod val="75000"/>
                    <a:lumOff val="25000"/>
                  </a:prstClr>
                </a:solidFill>
                <a:latin typeface="Century Gothic" panose="020B0502020202020204"/>
              </a:rPr>
              <a:t>considered</a:t>
            </a:r>
            <a:r>
              <a:rPr lang="en-US" sz="2400" dirty="0">
                <a:solidFill>
                  <a:prstClr val="black">
                    <a:lumMod val="75000"/>
                    <a:lumOff val="25000"/>
                  </a:prstClr>
                </a:solidFill>
                <a:latin typeface="Century Gothic" panose="020B0502020202020204"/>
              </a:rPr>
              <a:t> a </a:t>
            </a:r>
            <a:r>
              <a:rPr lang="en-US" sz="2400" b="1" dirty="0">
                <a:solidFill>
                  <a:prstClr val="black">
                    <a:lumMod val="75000"/>
                    <a:lumOff val="25000"/>
                  </a:prstClr>
                </a:solidFill>
                <a:latin typeface="Century Gothic" panose="020B0502020202020204"/>
              </a:rPr>
              <a:t>candidate key </a:t>
            </a:r>
            <a:r>
              <a:rPr lang="en-US" sz="2400" dirty="0">
                <a:solidFill>
                  <a:prstClr val="black">
                    <a:lumMod val="75000"/>
                    <a:lumOff val="25000"/>
                  </a:prstClr>
                </a:solidFill>
                <a:latin typeface="Century Gothic" panose="020B0502020202020204"/>
              </a:rPr>
              <a:t>for the primary key.</a:t>
            </a:r>
          </a:p>
          <a:p>
            <a:pPr lvl="1" indent="-342900">
              <a:lnSpc>
                <a:spcPct val="150000"/>
              </a:lnSpc>
              <a:buClr>
                <a:srgbClr val="A53010"/>
              </a:buClr>
              <a:defRPr/>
            </a:pPr>
            <a:r>
              <a:rPr kumimoji="0" lang="en-US" sz="2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It can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uniquely identify </a:t>
            </a:r>
            <a:r>
              <a:rPr kumimoji="0" lang="en-US" sz="2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record.</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lang="en-US" sz="2400" dirty="0">
                <a:solidFill>
                  <a:prstClr val="black">
                    <a:lumMod val="75000"/>
                    <a:lumOff val="25000"/>
                  </a:prstClr>
                </a:solidFill>
                <a:latin typeface="Century Gothic" panose="020B0502020202020204"/>
              </a:rPr>
              <a:t>Secondary key is </a:t>
            </a:r>
            <a:r>
              <a:rPr lang="en-US" sz="2400" b="1" dirty="0">
                <a:solidFill>
                  <a:prstClr val="black">
                    <a:lumMod val="75000"/>
                    <a:lumOff val="25000"/>
                  </a:prstClr>
                </a:solidFill>
                <a:latin typeface="Century Gothic" panose="020B0502020202020204"/>
              </a:rPr>
              <a:t>not</a:t>
            </a:r>
            <a:r>
              <a:rPr lang="en-US" sz="2400" dirty="0">
                <a:solidFill>
                  <a:prstClr val="black">
                    <a:lumMod val="75000"/>
                    <a:lumOff val="25000"/>
                  </a:prstClr>
                </a:solidFill>
                <a:latin typeface="Century Gothic" panose="020B0502020202020204"/>
              </a:rPr>
              <a:t> a foreign key</a:t>
            </a:r>
            <a:endParaRPr lang="en-MW" sz="2400" dirty="0"/>
          </a:p>
        </p:txBody>
      </p:sp>
    </p:spTree>
    <p:extLst>
      <p:ext uri="{BB962C8B-B14F-4D97-AF65-F5344CB8AC3E}">
        <p14:creationId xmlns:p14="http://schemas.microsoft.com/office/powerpoint/2010/main" val="214536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E358-13FF-485E-B64D-1A817E4D5286}"/>
              </a:ext>
            </a:extLst>
          </p:cNvPr>
          <p:cNvSpPr>
            <a:spLocks noGrp="1"/>
          </p:cNvSpPr>
          <p:nvPr>
            <p:ph type="title"/>
          </p:nvPr>
        </p:nvSpPr>
        <p:spPr>
          <a:xfrm>
            <a:off x="1667043" y="217710"/>
            <a:ext cx="9833856" cy="854734"/>
          </a:xfrm>
        </p:spPr>
        <p:txBody>
          <a:bodyPr/>
          <a:lstStyle/>
          <a:p>
            <a:r>
              <a:rPr lang="en-US" dirty="0"/>
              <a:t>DATABASE DESIGN</a:t>
            </a:r>
            <a:endParaRPr lang="en-MW" dirty="0"/>
          </a:p>
        </p:txBody>
      </p:sp>
      <p:sp>
        <p:nvSpPr>
          <p:cNvPr id="3" name="Content Placeholder 2">
            <a:extLst>
              <a:ext uri="{FF2B5EF4-FFF2-40B4-BE49-F238E27FC236}">
                <a16:creationId xmlns:a16="http://schemas.microsoft.com/office/drawing/2014/main" id="{9B7FFF0B-A750-450C-A50C-435D790DC0F3}"/>
              </a:ext>
            </a:extLst>
          </p:cNvPr>
          <p:cNvSpPr>
            <a:spLocks noGrp="1"/>
          </p:cNvSpPr>
          <p:nvPr>
            <p:ph idx="1"/>
          </p:nvPr>
        </p:nvSpPr>
        <p:spPr>
          <a:xfrm>
            <a:off x="1320800" y="1072444"/>
            <a:ext cx="10180099" cy="5567846"/>
          </a:xfrm>
        </p:spPr>
        <p:txBody>
          <a:bodyPr>
            <a:normAutofit fontScale="25000" lnSpcReduction="20000"/>
          </a:bodyPr>
          <a:lstStyle/>
          <a:p>
            <a:pPr marL="0" indent="0">
              <a:lnSpc>
                <a:spcPct val="170000"/>
              </a:lnSpc>
              <a:buNone/>
            </a:pPr>
            <a:r>
              <a:rPr lang="en-US" sz="9600" b="1" dirty="0"/>
              <a:t>Step 1:  Identify the purpose of your database. </a:t>
            </a:r>
          </a:p>
          <a:p>
            <a:pPr lvl="1">
              <a:lnSpc>
                <a:spcPct val="170000"/>
              </a:lnSpc>
            </a:pPr>
            <a:r>
              <a:rPr lang="en-US" sz="9600" dirty="0"/>
              <a:t>This helps prepare you for the remaining steps.</a:t>
            </a:r>
          </a:p>
          <a:p>
            <a:pPr marL="0" indent="0">
              <a:lnSpc>
                <a:spcPct val="170000"/>
              </a:lnSpc>
              <a:buNone/>
            </a:pPr>
            <a:r>
              <a:rPr lang="en-US" sz="9600" b="1" dirty="0"/>
              <a:t>Step 2:  Find and organize the required information.  </a:t>
            </a:r>
          </a:p>
          <a:p>
            <a:pPr lvl="1">
              <a:lnSpc>
                <a:spcPct val="170000"/>
              </a:lnSpc>
            </a:pPr>
            <a:r>
              <a:rPr lang="en-US" sz="9600" dirty="0"/>
              <a:t>Gather all types of information you might want to record in the database, such as product name and order number.</a:t>
            </a:r>
          </a:p>
          <a:p>
            <a:pPr marL="0" indent="0">
              <a:lnSpc>
                <a:spcPct val="170000"/>
              </a:lnSpc>
              <a:buNone/>
            </a:pPr>
            <a:r>
              <a:rPr lang="en-US" sz="9600" b="1" dirty="0"/>
              <a:t>Step 3:  Determine the tables you need. </a:t>
            </a:r>
          </a:p>
          <a:p>
            <a:pPr lvl="1">
              <a:lnSpc>
                <a:spcPct val="170000"/>
              </a:lnSpc>
            </a:pPr>
            <a:r>
              <a:rPr lang="en-US" sz="9600" dirty="0"/>
              <a:t>Divide your information items into major entities or subjects, such as Products or Orders. Each subject then becomes a table.</a:t>
            </a:r>
          </a:p>
          <a:p>
            <a:endParaRPr lang="en-MW" dirty="0"/>
          </a:p>
        </p:txBody>
      </p:sp>
    </p:spTree>
    <p:extLst>
      <p:ext uri="{BB962C8B-B14F-4D97-AF65-F5344CB8AC3E}">
        <p14:creationId xmlns:p14="http://schemas.microsoft.com/office/powerpoint/2010/main" val="2646968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E358-13FF-485E-B64D-1A817E4D5286}"/>
              </a:ext>
            </a:extLst>
          </p:cNvPr>
          <p:cNvSpPr>
            <a:spLocks noGrp="1"/>
          </p:cNvSpPr>
          <p:nvPr>
            <p:ph type="title"/>
          </p:nvPr>
        </p:nvSpPr>
        <p:spPr>
          <a:xfrm>
            <a:off x="1576731" y="161265"/>
            <a:ext cx="9924168" cy="854734"/>
          </a:xfrm>
        </p:spPr>
        <p:txBody>
          <a:bodyPr/>
          <a:lstStyle/>
          <a:p>
            <a:r>
              <a:rPr lang="en-US" dirty="0"/>
              <a:t>CONTD…</a:t>
            </a:r>
            <a:endParaRPr lang="en-MW" dirty="0"/>
          </a:p>
        </p:txBody>
      </p:sp>
      <p:sp>
        <p:nvSpPr>
          <p:cNvPr id="3" name="Content Placeholder 2">
            <a:extLst>
              <a:ext uri="{FF2B5EF4-FFF2-40B4-BE49-F238E27FC236}">
                <a16:creationId xmlns:a16="http://schemas.microsoft.com/office/drawing/2014/main" id="{9B7FFF0B-A750-450C-A50C-435D790DC0F3}"/>
              </a:ext>
            </a:extLst>
          </p:cNvPr>
          <p:cNvSpPr>
            <a:spLocks noGrp="1"/>
          </p:cNvSpPr>
          <p:nvPr>
            <p:ph idx="1"/>
          </p:nvPr>
        </p:nvSpPr>
        <p:spPr>
          <a:xfrm>
            <a:off x="1576732" y="1016000"/>
            <a:ext cx="9924168" cy="5064556"/>
          </a:xfrm>
        </p:spPr>
        <p:txBody>
          <a:bodyPr>
            <a:normAutofit fontScale="92500"/>
          </a:bodyPr>
          <a:lstStyle/>
          <a:p>
            <a:pPr marL="0" indent="0">
              <a:lnSpc>
                <a:spcPct val="150000"/>
              </a:lnSpc>
              <a:buNone/>
            </a:pPr>
            <a:r>
              <a:rPr lang="en-US" sz="2400" b="1" dirty="0"/>
              <a:t>Step 4:  Breakdown the tables into fields (columns). </a:t>
            </a:r>
          </a:p>
          <a:p>
            <a:pPr lvl="1">
              <a:lnSpc>
                <a:spcPct val="150000"/>
              </a:lnSpc>
            </a:pPr>
            <a:r>
              <a:rPr lang="en-US" sz="2400" dirty="0"/>
              <a:t>Decide what information you want to store in each table. Each item becomes a field, and is displayed as a column in the table. For example, an Employees table might include fields such as Last Name and Hire Date.</a:t>
            </a:r>
          </a:p>
          <a:p>
            <a:pPr marL="0" marR="0" lvl="0" indent="0" algn="l" defTabSz="457200" rtl="0" eaLnBrk="1" fontAlgn="auto" latinLnBrk="0" hangingPunct="1">
              <a:lnSpc>
                <a:spcPct val="15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Step 5:  Specify primary keys   </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Choose each table’s primary key. The primary key is a column that is used to uniquely identify each row. An example might be Product ID or Order ID.</a:t>
            </a:r>
          </a:p>
          <a:p>
            <a:pPr marL="457200" lvl="1" indent="0">
              <a:buNone/>
            </a:pPr>
            <a:endParaRPr lang="en-US" sz="6200" dirty="0"/>
          </a:p>
          <a:p>
            <a:endParaRPr lang="en-MW" dirty="0"/>
          </a:p>
        </p:txBody>
      </p:sp>
    </p:spTree>
    <p:extLst>
      <p:ext uri="{BB962C8B-B14F-4D97-AF65-F5344CB8AC3E}">
        <p14:creationId xmlns:p14="http://schemas.microsoft.com/office/powerpoint/2010/main" val="1866781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E3111-90AF-4B49-80CA-B228DF099499}"/>
              </a:ext>
            </a:extLst>
          </p:cNvPr>
          <p:cNvSpPr>
            <a:spLocks noGrp="1"/>
          </p:cNvSpPr>
          <p:nvPr>
            <p:ph type="title"/>
          </p:nvPr>
        </p:nvSpPr>
        <p:spPr>
          <a:xfrm>
            <a:off x="1648178" y="159777"/>
            <a:ext cx="9856434" cy="787001"/>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MW" dirty="0"/>
          </a:p>
        </p:txBody>
      </p:sp>
      <p:sp>
        <p:nvSpPr>
          <p:cNvPr id="3" name="Content Placeholder 2">
            <a:extLst>
              <a:ext uri="{FF2B5EF4-FFF2-40B4-BE49-F238E27FC236}">
                <a16:creationId xmlns:a16="http://schemas.microsoft.com/office/drawing/2014/main" id="{49446571-FB99-4E2D-B5A3-8C18267931BD}"/>
              </a:ext>
            </a:extLst>
          </p:cNvPr>
          <p:cNvSpPr>
            <a:spLocks noGrp="1"/>
          </p:cNvSpPr>
          <p:nvPr>
            <p:ph idx="1"/>
          </p:nvPr>
        </p:nvSpPr>
        <p:spPr>
          <a:xfrm>
            <a:off x="1648178" y="946779"/>
            <a:ext cx="9856434" cy="4964444"/>
          </a:xfrm>
        </p:spPr>
        <p:txBody>
          <a:bodyPr>
            <a:normAutofit fontScale="92500" lnSpcReduction="10000"/>
          </a:bodyPr>
          <a:lstStyle/>
          <a:p>
            <a:pPr marL="0" marR="0" lvl="0" indent="0" algn="l" defTabSz="457200" rtl="0" eaLnBrk="1" fontAlgn="auto" latinLnBrk="0" hangingPunct="1">
              <a:lnSpc>
                <a:spcPct val="17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Step 6:  Determine the relationships. </a:t>
            </a:r>
          </a:p>
          <a:p>
            <a:pPr marL="742950" marR="0" lvl="1" indent="-285750" algn="l" defTabSz="457200" rtl="0" eaLnBrk="1" fontAlgn="auto" latinLnBrk="0" hangingPunct="1">
              <a:lnSpc>
                <a:spcPct val="17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Look at each table and decide how the data in one table is related to the data in other tables. Add fields to tables or create new tables to clarify the relationships, as necessary.</a:t>
            </a:r>
          </a:p>
          <a:p>
            <a:pPr marL="0" marR="0" lvl="0" indent="0" algn="l" defTabSz="457200" rtl="0" eaLnBrk="1" fontAlgn="auto" latinLnBrk="0" hangingPunct="1">
              <a:lnSpc>
                <a:spcPct val="17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Step 7:  Refine the design </a:t>
            </a:r>
          </a:p>
          <a:p>
            <a:pPr marL="742950" marR="0" lvl="1" indent="-285750" algn="l" defTabSz="457200" rtl="0" eaLnBrk="1" fontAlgn="auto" latinLnBrk="0" hangingPunct="1">
              <a:lnSpc>
                <a:spcPct val="17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Analyze your design for errors. Create the tables and add a few records of sample data. See if you can get the results you want from your tables. Make adjustments to the design, as needed.</a:t>
            </a:r>
          </a:p>
          <a:p>
            <a:endParaRPr lang="en-MW" dirty="0"/>
          </a:p>
        </p:txBody>
      </p:sp>
    </p:spTree>
    <p:extLst>
      <p:ext uri="{BB962C8B-B14F-4D97-AF65-F5344CB8AC3E}">
        <p14:creationId xmlns:p14="http://schemas.microsoft.com/office/powerpoint/2010/main" val="3104874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AB77-771D-4089-9AE3-881AF3347A7C}"/>
              </a:ext>
            </a:extLst>
          </p:cNvPr>
          <p:cNvSpPr>
            <a:spLocks noGrp="1"/>
          </p:cNvSpPr>
          <p:nvPr>
            <p:ph type="title"/>
          </p:nvPr>
        </p:nvSpPr>
        <p:spPr>
          <a:xfrm>
            <a:off x="1625600" y="217710"/>
            <a:ext cx="9879012" cy="911179"/>
          </a:xfrm>
        </p:spPr>
        <p:txBody>
          <a:bodyPr/>
          <a:lstStyle/>
          <a:p>
            <a:r>
              <a:rPr lang="en-US" dirty="0"/>
              <a:t>ADVANTAGES OF ACCESS</a:t>
            </a:r>
            <a:endParaRPr lang="en-MW" dirty="0"/>
          </a:p>
        </p:txBody>
      </p:sp>
      <p:sp>
        <p:nvSpPr>
          <p:cNvPr id="3" name="Content Placeholder 2">
            <a:extLst>
              <a:ext uri="{FF2B5EF4-FFF2-40B4-BE49-F238E27FC236}">
                <a16:creationId xmlns:a16="http://schemas.microsoft.com/office/drawing/2014/main" id="{E873DFF5-5AE3-4F66-9B00-7FFC502EF791}"/>
              </a:ext>
            </a:extLst>
          </p:cNvPr>
          <p:cNvSpPr>
            <a:spLocks noGrp="1"/>
          </p:cNvSpPr>
          <p:nvPr>
            <p:ph idx="1"/>
          </p:nvPr>
        </p:nvSpPr>
        <p:spPr>
          <a:xfrm>
            <a:off x="1625600" y="1128889"/>
            <a:ext cx="9879012" cy="4782333"/>
          </a:xfrm>
        </p:spPr>
        <p:txBody>
          <a:bodyPr/>
          <a:lstStyle/>
          <a:p>
            <a:pPr marL="457200" indent="-457200">
              <a:lnSpc>
                <a:spcPct val="150000"/>
              </a:lnSpc>
              <a:buFont typeface="+mj-lt"/>
              <a:buAutoNum type="arabicPeriod"/>
            </a:pPr>
            <a:r>
              <a:rPr lang="en-US" sz="2400" dirty="0"/>
              <a:t>Minimizes duplicate data, increasing accuracy and 		   consistency.</a:t>
            </a:r>
          </a:p>
          <a:p>
            <a:pPr marL="457200" indent="-457200">
              <a:lnSpc>
                <a:spcPct val="150000"/>
              </a:lnSpc>
              <a:buFont typeface="+mj-lt"/>
              <a:buAutoNum type="arabicPeriod"/>
            </a:pPr>
            <a:r>
              <a:rPr lang="en-US" sz="2400" dirty="0"/>
              <a:t>Data entry is faster and easier</a:t>
            </a:r>
          </a:p>
          <a:p>
            <a:pPr marL="457200" indent="-457200">
              <a:lnSpc>
                <a:spcPct val="150000"/>
              </a:lnSpc>
              <a:buFont typeface="+mj-lt"/>
              <a:buAutoNum type="arabicPeriod"/>
            </a:pPr>
            <a:r>
              <a:rPr lang="en-US" sz="2400" dirty="0"/>
              <a:t>Data can be viewed and sorted in many ways.</a:t>
            </a:r>
          </a:p>
          <a:p>
            <a:pPr marL="457200" indent="-457200">
              <a:lnSpc>
                <a:spcPct val="150000"/>
              </a:lnSpc>
              <a:buFont typeface="+mj-lt"/>
              <a:buAutoNum type="arabicPeriod"/>
            </a:pPr>
            <a:r>
              <a:rPr lang="en-US" sz="2400" dirty="0"/>
              <a:t>Information is more secure.</a:t>
            </a:r>
          </a:p>
          <a:p>
            <a:pPr marL="457200" indent="-457200">
              <a:lnSpc>
                <a:spcPct val="150000"/>
              </a:lnSpc>
              <a:buFont typeface="+mj-lt"/>
              <a:buAutoNum type="arabicPeriod"/>
            </a:pPr>
            <a:r>
              <a:rPr lang="en-US" sz="2400" dirty="0"/>
              <a:t>Data can be shared and edited by several users 		 	   simultaneously.</a:t>
            </a:r>
          </a:p>
          <a:p>
            <a:endParaRPr lang="en-MW" dirty="0"/>
          </a:p>
        </p:txBody>
      </p:sp>
    </p:spTree>
    <p:extLst>
      <p:ext uri="{BB962C8B-B14F-4D97-AF65-F5344CB8AC3E}">
        <p14:creationId xmlns:p14="http://schemas.microsoft.com/office/powerpoint/2010/main" val="3387811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7B53D-35F1-4121-98C9-DB528159C30B}"/>
              </a:ext>
            </a:extLst>
          </p:cNvPr>
          <p:cNvSpPr>
            <a:spLocks noGrp="1"/>
          </p:cNvSpPr>
          <p:nvPr>
            <p:ph type="title"/>
          </p:nvPr>
        </p:nvSpPr>
        <p:spPr>
          <a:xfrm>
            <a:off x="1659467" y="161266"/>
            <a:ext cx="9845145" cy="866023"/>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ACCESS 2016 USER INTERFACE</a:t>
            </a:r>
            <a:endParaRPr lang="en-MW" dirty="0"/>
          </a:p>
        </p:txBody>
      </p:sp>
      <p:sp>
        <p:nvSpPr>
          <p:cNvPr id="3" name="Content Placeholder 2">
            <a:extLst>
              <a:ext uri="{FF2B5EF4-FFF2-40B4-BE49-F238E27FC236}">
                <a16:creationId xmlns:a16="http://schemas.microsoft.com/office/drawing/2014/main" id="{F57C30F6-4451-46F5-91E9-0AC191C80FF2}"/>
              </a:ext>
            </a:extLst>
          </p:cNvPr>
          <p:cNvSpPr>
            <a:spLocks noGrp="1"/>
          </p:cNvSpPr>
          <p:nvPr>
            <p:ph idx="1"/>
          </p:nvPr>
        </p:nvSpPr>
        <p:spPr>
          <a:xfrm>
            <a:off x="1659467" y="1027289"/>
            <a:ext cx="9845145" cy="5520267"/>
          </a:xfrm>
        </p:spPr>
        <p:txBody>
          <a:bodyPr>
            <a:normAutofit fontScale="85000" lnSpcReduction="20000"/>
          </a:bodyPr>
          <a:lstStyle/>
          <a:p>
            <a:pPr marL="0" indent="0">
              <a:lnSpc>
                <a:spcPct val="160000"/>
              </a:lnSpc>
              <a:buNone/>
            </a:pPr>
            <a:r>
              <a:rPr lang="en-US" sz="2400" b="1" dirty="0"/>
              <a:t>Three main components </a:t>
            </a:r>
            <a:r>
              <a:rPr lang="en-US" sz="2400" dirty="0"/>
              <a:t>of </a:t>
            </a:r>
            <a:r>
              <a:rPr lang="en-US" sz="2400" b="1" dirty="0"/>
              <a:t>Access 2016 user interface </a:t>
            </a:r>
            <a:r>
              <a:rPr lang="en-US" sz="2400" dirty="0"/>
              <a:t>are:</a:t>
            </a:r>
          </a:p>
          <a:p>
            <a:pPr>
              <a:lnSpc>
                <a:spcPct val="160000"/>
              </a:lnSpc>
            </a:pPr>
            <a:r>
              <a:rPr lang="en-US" sz="2400" b="1" dirty="0"/>
              <a:t>Ribbon</a:t>
            </a:r>
            <a:r>
              <a:rPr lang="en-US" sz="2400" dirty="0"/>
              <a:t> - is the </a:t>
            </a:r>
            <a:r>
              <a:rPr lang="en-US" sz="2400" b="1" dirty="0"/>
              <a:t>strip</a:t>
            </a:r>
            <a:r>
              <a:rPr lang="en-US" sz="2400" dirty="0"/>
              <a:t> of </a:t>
            </a:r>
            <a:r>
              <a:rPr lang="en-US" sz="2400" b="1" dirty="0"/>
              <a:t>tabs across </a:t>
            </a:r>
            <a:r>
              <a:rPr lang="en-US" sz="2400" dirty="0"/>
              <a:t>the </a:t>
            </a:r>
            <a:r>
              <a:rPr lang="en-US" sz="2400" b="1" dirty="0"/>
              <a:t>top</a:t>
            </a:r>
            <a:r>
              <a:rPr lang="en-US" sz="2400" dirty="0"/>
              <a:t> </a:t>
            </a:r>
            <a:r>
              <a:rPr lang="en-US" sz="2400" b="1" dirty="0"/>
              <a:t>of</a:t>
            </a:r>
            <a:r>
              <a:rPr lang="en-US" sz="2400" dirty="0"/>
              <a:t> the </a:t>
            </a:r>
            <a:r>
              <a:rPr lang="en-US" sz="2400" b="1" dirty="0"/>
              <a:t>program window </a:t>
            </a:r>
            <a:r>
              <a:rPr lang="en-US" sz="2400" dirty="0"/>
              <a:t>that </a:t>
            </a:r>
            <a:r>
              <a:rPr lang="en-US" sz="2400" b="1" dirty="0"/>
              <a:t>contains groups of commands</a:t>
            </a:r>
            <a:r>
              <a:rPr lang="en-US" sz="2400" dirty="0"/>
              <a:t>. </a:t>
            </a:r>
          </a:p>
          <a:p>
            <a:pPr>
              <a:lnSpc>
                <a:spcPct val="160000"/>
              </a:lnSpc>
            </a:pPr>
            <a:r>
              <a:rPr lang="en-US" sz="2400" b="1" dirty="0"/>
              <a:t>Backstage view  </a:t>
            </a:r>
            <a:r>
              <a:rPr lang="en-US" sz="2400" dirty="0"/>
              <a:t>- is the </a:t>
            </a:r>
            <a:r>
              <a:rPr lang="en-US" sz="2400" b="1" dirty="0"/>
              <a:t>collection</a:t>
            </a:r>
            <a:r>
              <a:rPr lang="en-US" sz="2400" dirty="0"/>
              <a:t> of </a:t>
            </a:r>
            <a:r>
              <a:rPr lang="en-US" sz="2400" b="1" dirty="0"/>
              <a:t>commands</a:t>
            </a:r>
            <a:r>
              <a:rPr lang="en-US" sz="2400" dirty="0"/>
              <a:t> that you </a:t>
            </a:r>
            <a:r>
              <a:rPr lang="en-US" sz="2400" b="1" dirty="0"/>
              <a:t>see</a:t>
            </a:r>
            <a:r>
              <a:rPr lang="en-US" sz="2400" dirty="0"/>
              <a:t> </a:t>
            </a:r>
            <a:r>
              <a:rPr lang="en-US" sz="2400" b="1" dirty="0"/>
              <a:t>on</a:t>
            </a:r>
            <a:r>
              <a:rPr lang="en-US" sz="2400" dirty="0"/>
              <a:t> the </a:t>
            </a:r>
            <a:r>
              <a:rPr lang="en-US" sz="2400" b="1" dirty="0"/>
              <a:t>File tab </a:t>
            </a:r>
            <a:r>
              <a:rPr lang="en-US" sz="2400" dirty="0"/>
              <a:t>on the </a:t>
            </a:r>
            <a:r>
              <a:rPr lang="en-US" sz="2400" b="1" dirty="0"/>
              <a:t>ribbon</a:t>
            </a:r>
            <a:r>
              <a:rPr lang="en-US" sz="2400" dirty="0"/>
              <a:t>. </a:t>
            </a:r>
          </a:p>
          <a:p>
            <a:pPr lvl="1">
              <a:lnSpc>
                <a:spcPct val="160000"/>
              </a:lnSpc>
            </a:pPr>
            <a:r>
              <a:rPr lang="en-US" sz="2400" dirty="0"/>
              <a:t>Backstage view </a:t>
            </a:r>
            <a:r>
              <a:rPr lang="en-US" sz="2400" b="1" dirty="0"/>
              <a:t>occupies</a:t>
            </a:r>
            <a:r>
              <a:rPr lang="en-US" sz="2400" dirty="0"/>
              <a:t> the </a:t>
            </a:r>
            <a:r>
              <a:rPr lang="en-US" sz="2400" b="1" dirty="0"/>
              <a:t>File tab on</a:t>
            </a:r>
            <a:r>
              <a:rPr lang="en-US" sz="2400" dirty="0"/>
              <a:t> the </a:t>
            </a:r>
            <a:r>
              <a:rPr lang="en-US" sz="2400" b="1" dirty="0"/>
              <a:t>ribbon</a:t>
            </a:r>
            <a:r>
              <a:rPr lang="en-US" sz="2400" dirty="0"/>
              <a:t> and </a:t>
            </a:r>
            <a:r>
              <a:rPr lang="en-US" sz="2400" b="1" dirty="0"/>
              <a:t>contains many commands</a:t>
            </a:r>
            <a:r>
              <a:rPr lang="en-US" sz="2400" dirty="0"/>
              <a:t>.</a:t>
            </a:r>
          </a:p>
          <a:p>
            <a:pPr lvl="1">
              <a:lnSpc>
                <a:spcPct val="160000"/>
              </a:lnSpc>
            </a:pPr>
            <a:r>
              <a:rPr lang="en-US" sz="2400" dirty="0"/>
              <a:t>Backstage view also </a:t>
            </a:r>
            <a:r>
              <a:rPr lang="en-US" sz="2400" b="1" dirty="0"/>
              <a:t>contains</a:t>
            </a:r>
            <a:r>
              <a:rPr lang="en-US" sz="2400" dirty="0"/>
              <a:t> other </a:t>
            </a:r>
            <a:r>
              <a:rPr lang="en-US" sz="2400" b="1" dirty="0"/>
              <a:t>commands</a:t>
            </a:r>
            <a:r>
              <a:rPr lang="en-US" sz="2400" dirty="0"/>
              <a:t> that </a:t>
            </a:r>
            <a:r>
              <a:rPr lang="en-US" sz="2400" b="1" dirty="0"/>
              <a:t>apply</a:t>
            </a:r>
            <a:r>
              <a:rPr lang="en-US" sz="2400" dirty="0"/>
              <a:t> </a:t>
            </a:r>
            <a:r>
              <a:rPr lang="en-US" sz="2400" b="1" dirty="0"/>
              <a:t>to</a:t>
            </a:r>
            <a:r>
              <a:rPr lang="en-US" sz="2400" dirty="0"/>
              <a:t> an </a:t>
            </a:r>
            <a:r>
              <a:rPr lang="en-US" sz="2400" b="1" dirty="0"/>
              <a:t>entire database file</a:t>
            </a:r>
            <a:r>
              <a:rPr lang="en-US" sz="2400" dirty="0"/>
              <a:t>. </a:t>
            </a:r>
          </a:p>
          <a:p>
            <a:pPr lvl="1">
              <a:lnSpc>
                <a:spcPct val="160000"/>
              </a:lnSpc>
            </a:pPr>
            <a:r>
              <a:rPr lang="en-US" sz="2400" dirty="0"/>
              <a:t>In Backstage view, you can </a:t>
            </a:r>
            <a:r>
              <a:rPr lang="en-US" sz="2400" b="1" dirty="0"/>
              <a:t>create</a:t>
            </a:r>
            <a:r>
              <a:rPr lang="en-US" sz="2400" dirty="0"/>
              <a:t> a </a:t>
            </a:r>
            <a:r>
              <a:rPr lang="en-US" sz="2400" b="1" dirty="0"/>
              <a:t>new database</a:t>
            </a:r>
            <a:r>
              <a:rPr lang="en-US" sz="2400" dirty="0"/>
              <a:t>, </a:t>
            </a:r>
            <a:r>
              <a:rPr lang="en-US" sz="2400" b="1" dirty="0"/>
              <a:t>open</a:t>
            </a:r>
            <a:r>
              <a:rPr lang="en-US" sz="2400" dirty="0"/>
              <a:t> an </a:t>
            </a:r>
            <a:r>
              <a:rPr lang="en-US" sz="2400" b="1" dirty="0"/>
              <a:t>existing database </a:t>
            </a:r>
            <a:r>
              <a:rPr lang="en-US" sz="2400" dirty="0"/>
              <a:t>and </a:t>
            </a:r>
            <a:r>
              <a:rPr lang="en-US" sz="2400" b="1" dirty="0"/>
              <a:t>perform many file </a:t>
            </a:r>
            <a:r>
              <a:rPr lang="en-US" sz="2400" dirty="0"/>
              <a:t>and </a:t>
            </a:r>
            <a:r>
              <a:rPr lang="en-US" sz="2400" b="1" dirty="0"/>
              <a:t>database maintenance tasks</a:t>
            </a:r>
            <a:r>
              <a:rPr lang="en-US" sz="2400" dirty="0"/>
              <a:t>.</a:t>
            </a:r>
          </a:p>
          <a:p>
            <a:endParaRPr lang="en-MW" dirty="0"/>
          </a:p>
        </p:txBody>
      </p:sp>
    </p:spTree>
    <p:extLst>
      <p:ext uri="{BB962C8B-B14F-4D97-AF65-F5344CB8AC3E}">
        <p14:creationId xmlns:p14="http://schemas.microsoft.com/office/powerpoint/2010/main" val="75232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3ED7C-DF72-42F9-AE1A-064973A95391}"/>
              </a:ext>
            </a:extLst>
          </p:cNvPr>
          <p:cNvSpPr>
            <a:spLocks noGrp="1"/>
          </p:cNvSpPr>
          <p:nvPr>
            <p:ph type="title"/>
          </p:nvPr>
        </p:nvSpPr>
        <p:spPr>
          <a:xfrm>
            <a:off x="1693333" y="274155"/>
            <a:ext cx="9811279" cy="888601"/>
          </a:xfrm>
        </p:spPr>
        <p:txBody>
          <a:bodyPr/>
          <a:lstStyle/>
          <a:p>
            <a:r>
              <a:rPr lang="en-US" dirty="0"/>
              <a:t>CONTD…</a:t>
            </a:r>
            <a:endParaRPr lang="en-MW" dirty="0"/>
          </a:p>
        </p:txBody>
      </p:sp>
      <p:sp>
        <p:nvSpPr>
          <p:cNvPr id="3" name="Content Placeholder 2">
            <a:extLst>
              <a:ext uri="{FF2B5EF4-FFF2-40B4-BE49-F238E27FC236}">
                <a16:creationId xmlns:a16="http://schemas.microsoft.com/office/drawing/2014/main" id="{981C3777-0EBC-4540-B9A7-35BF634E910F}"/>
              </a:ext>
            </a:extLst>
          </p:cNvPr>
          <p:cNvSpPr>
            <a:spLocks noGrp="1"/>
          </p:cNvSpPr>
          <p:nvPr>
            <p:ph idx="1"/>
          </p:nvPr>
        </p:nvSpPr>
        <p:spPr>
          <a:xfrm>
            <a:off x="1693333" y="1162757"/>
            <a:ext cx="9811279" cy="5421088"/>
          </a:xfrm>
        </p:spPr>
        <p:txBody>
          <a:bodyPr>
            <a:normAutofit lnSpcReduction="10000"/>
          </a:bodyPr>
          <a:lstStyle/>
          <a:p>
            <a:pPr marL="0" indent="0">
              <a:lnSpc>
                <a:spcPct val="150000"/>
              </a:lnSpc>
              <a:buNone/>
            </a:pPr>
            <a:r>
              <a:rPr lang="en-US" sz="2400" b="1" dirty="0"/>
              <a:t>Navigation Pane</a:t>
            </a:r>
          </a:p>
          <a:p>
            <a:pPr>
              <a:lnSpc>
                <a:spcPct val="150000"/>
              </a:lnSpc>
            </a:pPr>
            <a:r>
              <a:rPr lang="en-US" sz="2400" dirty="0"/>
              <a:t>Navigation Pane - is the </a:t>
            </a:r>
            <a:r>
              <a:rPr lang="en-US" sz="2400" b="1" dirty="0"/>
              <a:t>pane on </a:t>
            </a:r>
            <a:r>
              <a:rPr lang="en-US" sz="2400" dirty="0"/>
              <a:t>the </a:t>
            </a:r>
            <a:r>
              <a:rPr lang="en-US" sz="2400" b="1" dirty="0"/>
              <a:t>left side of</a:t>
            </a:r>
            <a:r>
              <a:rPr lang="en-US" sz="2400" dirty="0"/>
              <a:t> the </a:t>
            </a:r>
            <a:r>
              <a:rPr lang="en-US" sz="2400" b="1" dirty="0"/>
              <a:t>Access program window</a:t>
            </a:r>
            <a:r>
              <a:rPr lang="en-US" sz="2400" dirty="0"/>
              <a:t> that </a:t>
            </a:r>
            <a:r>
              <a:rPr lang="en-US" sz="2400" b="1" dirty="0"/>
              <a:t>lets you work </a:t>
            </a:r>
            <a:r>
              <a:rPr lang="en-US" sz="2400" dirty="0"/>
              <a:t>with </a:t>
            </a:r>
            <a:r>
              <a:rPr lang="en-US" sz="2400" b="1" dirty="0"/>
              <a:t>database objects</a:t>
            </a:r>
            <a:r>
              <a:rPr lang="en-US" sz="2400" dirty="0"/>
              <a:t>. </a:t>
            </a:r>
          </a:p>
          <a:p>
            <a:pPr>
              <a:lnSpc>
                <a:spcPct val="150000"/>
              </a:lnSpc>
            </a:pPr>
            <a:r>
              <a:rPr lang="en-US" sz="2400" dirty="0"/>
              <a:t>Navigation Pane is </a:t>
            </a:r>
            <a:r>
              <a:rPr lang="en-US" sz="2400" b="1" dirty="0"/>
              <a:t>organized</a:t>
            </a:r>
            <a:r>
              <a:rPr lang="en-US" sz="2400" dirty="0"/>
              <a:t> by </a:t>
            </a:r>
            <a:r>
              <a:rPr lang="en-US" sz="2400" b="1" dirty="0"/>
              <a:t>categories</a:t>
            </a:r>
            <a:r>
              <a:rPr lang="en-US" sz="2400" dirty="0"/>
              <a:t> and </a:t>
            </a:r>
            <a:r>
              <a:rPr lang="en-US" sz="2400" b="1" dirty="0"/>
              <a:t>groups</a:t>
            </a:r>
            <a:r>
              <a:rPr lang="en-US" sz="2400" dirty="0"/>
              <a:t>.</a:t>
            </a:r>
          </a:p>
          <a:p>
            <a:pPr>
              <a:lnSpc>
                <a:spcPct val="150000"/>
              </a:lnSpc>
            </a:pPr>
            <a:r>
              <a:rPr lang="en-US" sz="2400" dirty="0"/>
              <a:t>You </a:t>
            </a:r>
            <a:r>
              <a:rPr lang="en-US" sz="2400" b="1" dirty="0"/>
              <a:t>can minimize Navigation Pane</a:t>
            </a:r>
            <a:r>
              <a:rPr lang="en-US" sz="2400" dirty="0"/>
              <a:t>, and you </a:t>
            </a:r>
            <a:r>
              <a:rPr lang="en-US" sz="2400" b="1" dirty="0"/>
              <a:t>can also hide it</a:t>
            </a:r>
            <a:r>
              <a:rPr lang="en-US" sz="2400" dirty="0"/>
              <a:t>.</a:t>
            </a:r>
          </a:p>
          <a:p>
            <a:pPr>
              <a:lnSpc>
                <a:spcPct val="150000"/>
              </a:lnSpc>
            </a:pPr>
            <a:r>
              <a:rPr lang="en-US" sz="2400" b="1" dirty="0"/>
              <a:t>When</a:t>
            </a:r>
            <a:r>
              <a:rPr lang="en-US" sz="2400" dirty="0"/>
              <a:t> you </a:t>
            </a:r>
            <a:r>
              <a:rPr lang="en-US" sz="2400" b="1" dirty="0"/>
              <a:t>open</a:t>
            </a:r>
            <a:r>
              <a:rPr lang="en-US" sz="2400" dirty="0"/>
              <a:t> a </a:t>
            </a:r>
            <a:r>
              <a:rPr lang="en-US" sz="2400" b="1" dirty="0"/>
              <a:t>database </a:t>
            </a:r>
            <a:r>
              <a:rPr lang="en-US" sz="2400" dirty="0"/>
              <a:t>or </a:t>
            </a:r>
            <a:r>
              <a:rPr lang="en-US" sz="2400" b="1" dirty="0"/>
              <a:t>create</a:t>
            </a:r>
            <a:r>
              <a:rPr lang="en-US" sz="2400" dirty="0"/>
              <a:t> a </a:t>
            </a:r>
            <a:r>
              <a:rPr lang="en-US" sz="2400" b="1" dirty="0"/>
              <a:t>new one</a:t>
            </a:r>
            <a:r>
              <a:rPr lang="en-US" sz="2400" dirty="0"/>
              <a:t>, the </a:t>
            </a:r>
            <a:r>
              <a:rPr lang="en-US" sz="2400" b="1" dirty="0"/>
              <a:t>names of </a:t>
            </a:r>
            <a:r>
              <a:rPr lang="en-US" sz="2400" dirty="0"/>
              <a:t>your </a:t>
            </a:r>
            <a:r>
              <a:rPr lang="en-US" sz="2400" b="1" dirty="0"/>
              <a:t>database objects appear </a:t>
            </a:r>
            <a:r>
              <a:rPr lang="en-US" sz="2400" dirty="0"/>
              <a:t>in the </a:t>
            </a:r>
            <a:r>
              <a:rPr lang="en-US" sz="2400" b="1" dirty="0"/>
              <a:t>Navigation Pane. </a:t>
            </a:r>
            <a:endPar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These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three elements provide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environment</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which</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you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create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use databases.</a:t>
            </a:r>
          </a:p>
          <a:p>
            <a:endParaRPr lang="en-US" sz="2400" b="1" dirty="0"/>
          </a:p>
          <a:p>
            <a:endParaRPr lang="en-MW" dirty="0"/>
          </a:p>
        </p:txBody>
      </p:sp>
    </p:spTree>
    <p:extLst>
      <p:ext uri="{BB962C8B-B14F-4D97-AF65-F5344CB8AC3E}">
        <p14:creationId xmlns:p14="http://schemas.microsoft.com/office/powerpoint/2010/main" val="2614381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61FB6-D403-4572-8013-2F3CB1170F8A}"/>
              </a:ext>
            </a:extLst>
          </p:cNvPr>
          <p:cNvSpPr>
            <a:spLocks noGrp="1"/>
          </p:cNvSpPr>
          <p:nvPr>
            <p:ph type="title"/>
          </p:nvPr>
        </p:nvSpPr>
        <p:spPr>
          <a:xfrm>
            <a:off x="1663180" y="172554"/>
            <a:ext cx="9845145" cy="877312"/>
          </a:xfrm>
        </p:spPr>
        <p:txBody>
          <a:bodyPr/>
          <a:lstStyle/>
          <a:p>
            <a:r>
              <a:rPr lang="en-US" dirty="0"/>
              <a:t>DATABASE OBJECTS</a:t>
            </a:r>
            <a:endParaRPr lang="en-MW" dirty="0"/>
          </a:p>
        </p:txBody>
      </p:sp>
      <p:sp>
        <p:nvSpPr>
          <p:cNvPr id="3" name="Content Placeholder 2">
            <a:extLst>
              <a:ext uri="{FF2B5EF4-FFF2-40B4-BE49-F238E27FC236}">
                <a16:creationId xmlns:a16="http://schemas.microsoft.com/office/drawing/2014/main" id="{B5AE31C4-A7EB-40DA-8B20-0120A84A90DE}"/>
              </a:ext>
            </a:extLst>
          </p:cNvPr>
          <p:cNvSpPr>
            <a:spLocks noGrp="1"/>
          </p:cNvSpPr>
          <p:nvPr>
            <p:ph idx="1"/>
          </p:nvPr>
        </p:nvSpPr>
        <p:spPr>
          <a:xfrm>
            <a:off x="1663180" y="1049866"/>
            <a:ext cx="9845145" cy="4850067"/>
          </a:xfrm>
        </p:spPr>
        <p:txBody>
          <a:bodyPr>
            <a:noAutofit/>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Databases are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composed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of </a:t>
            </a:r>
            <a:r>
              <a:rPr lang="en-US" sz="2400" dirty="0">
                <a:solidFill>
                  <a:prstClr val="black">
                    <a:lumMod val="75000"/>
                    <a:lumOff val="25000"/>
                  </a:prstClr>
                </a:solidFill>
                <a:latin typeface="Century Gothic" panose="020B0502020202020204"/>
              </a:rPr>
              <a:t>these</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objects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Tables, Queries, Forms, Reports, etc...,.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Together</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these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objects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allow</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you to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enter</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store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analyze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compile data</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however you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want</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0" marR="0" lvl="0" indent="0" algn="l" defTabSz="457200" rtl="0" eaLnBrk="1" fontAlgn="auto" latinLnBrk="0" hangingPunct="1">
              <a:lnSpc>
                <a:spcPct val="15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 stores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collection</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of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related information organized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columns (fields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and rows (records)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p:txBody>
      </p:sp>
    </p:spTree>
    <p:extLst>
      <p:ext uri="{BB962C8B-B14F-4D97-AF65-F5344CB8AC3E}">
        <p14:creationId xmlns:p14="http://schemas.microsoft.com/office/powerpoint/2010/main" val="2302482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88415-8C84-42CC-836C-F8063069901D}"/>
              </a:ext>
            </a:extLst>
          </p:cNvPr>
          <p:cNvSpPr>
            <a:spLocks noGrp="1"/>
          </p:cNvSpPr>
          <p:nvPr>
            <p:ph type="title"/>
          </p:nvPr>
        </p:nvSpPr>
        <p:spPr>
          <a:xfrm>
            <a:off x="1580445" y="262866"/>
            <a:ext cx="9845145" cy="820868"/>
          </a:xfrm>
        </p:spPr>
        <p:txBody>
          <a:bodyPr/>
          <a:lstStyle/>
          <a:p>
            <a:r>
              <a:rPr lang="en-US" dirty="0"/>
              <a:t>CONTD…</a:t>
            </a:r>
            <a:endParaRPr lang="en-MW" dirty="0"/>
          </a:p>
        </p:txBody>
      </p:sp>
      <p:sp>
        <p:nvSpPr>
          <p:cNvPr id="3" name="Content Placeholder 2">
            <a:extLst>
              <a:ext uri="{FF2B5EF4-FFF2-40B4-BE49-F238E27FC236}">
                <a16:creationId xmlns:a16="http://schemas.microsoft.com/office/drawing/2014/main" id="{08405841-65C4-4BCF-8CD8-927C8BCE6E0A}"/>
              </a:ext>
            </a:extLst>
          </p:cNvPr>
          <p:cNvSpPr>
            <a:spLocks noGrp="1"/>
          </p:cNvSpPr>
          <p:nvPr>
            <p:ph idx="1"/>
          </p:nvPr>
        </p:nvSpPr>
        <p:spPr>
          <a:xfrm>
            <a:off x="1207911" y="1083733"/>
            <a:ext cx="10296701" cy="5599289"/>
          </a:xfrm>
        </p:spPr>
        <p:txBody>
          <a:bodyPr>
            <a:normAutofit fontScale="55000" lnSpcReduction="20000"/>
          </a:bodyPr>
          <a:lstStyle/>
          <a:p>
            <a:pPr marL="0" marR="0" lvl="0" indent="0" algn="l" defTabSz="457200" rtl="0" eaLnBrk="1" fontAlgn="auto" latinLnBrk="0" hangingPunct="1">
              <a:lnSpc>
                <a:spcPct val="170000"/>
              </a:lnSpc>
              <a:spcBef>
                <a:spcPts val="1000"/>
              </a:spcBef>
              <a:spcAft>
                <a:spcPts val="0"/>
              </a:spcAft>
              <a:buClr>
                <a:srgbClr val="A53010"/>
              </a:buClr>
              <a:buSzTx/>
              <a:buFont typeface="Wingdings 3" charset="2"/>
              <a:buNone/>
              <a:tabLst/>
              <a:defRPr/>
            </a:pPr>
            <a:r>
              <a:rPr kumimoji="0" lang="en-US" sz="3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Queries </a:t>
            </a:r>
            <a:r>
              <a:rPr kumimoji="0" lang="en-US" sz="3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742950" marR="0" lvl="1" indent="-285750" algn="l" defTabSz="457200" rtl="0" eaLnBrk="1" fontAlgn="auto" latinLnBrk="0" hangingPunct="1">
              <a:lnSpc>
                <a:spcPct val="170000"/>
              </a:lnSpc>
              <a:spcBef>
                <a:spcPts val="1000"/>
              </a:spcBef>
              <a:spcAft>
                <a:spcPts val="0"/>
              </a:spcAft>
              <a:buClr>
                <a:srgbClr val="A53010"/>
              </a:buClr>
              <a:buSzTx/>
              <a:buFont typeface="Wingdings 3" charset="2"/>
              <a:buChar char=""/>
              <a:tabLst/>
              <a:defRPr/>
            </a:pPr>
            <a:r>
              <a:rPr kumimoji="0" lang="en-US" sz="3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a:t>
            </a:r>
            <a:r>
              <a:rPr kumimoji="0" lang="en-US" sz="3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query</a:t>
            </a:r>
            <a:r>
              <a:rPr kumimoji="0" lang="en-US" sz="3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is </a:t>
            </a:r>
            <a:r>
              <a:rPr kumimoji="0" lang="en-US" sz="3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used</a:t>
            </a:r>
            <a:r>
              <a:rPr kumimoji="0" lang="en-US" sz="3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to </a:t>
            </a:r>
            <a:r>
              <a:rPr kumimoji="0" lang="en-US" sz="3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extract specific information from</a:t>
            </a:r>
            <a:r>
              <a:rPr kumimoji="0" lang="en-US" sz="3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your </a:t>
            </a:r>
            <a:r>
              <a:rPr kumimoji="0" lang="en-US" sz="3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table(s)</a:t>
            </a:r>
            <a:r>
              <a:rPr kumimoji="0" lang="en-US" sz="3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742950" marR="0" lvl="1" indent="-285750" algn="l" defTabSz="457200" rtl="0" eaLnBrk="1" fontAlgn="auto" latinLnBrk="0" hangingPunct="1">
              <a:lnSpc>
                <a:spcPct val="170000"/>
              </a:lnSpc>
              <a:spcBef>
                <a:spcPts val="1000"/>
              </a:spcBef>
              <a:spcAft>
                <a:spcPts val="0"/>
              </a:spcAft>
              <a:buClr>
                <a:srgbClr val="A53010"/>
              </a:buClr>
              <a:buSzTx/>
              <a:buFont typeface="Wingdings 3" charset="2"/>
              <a:buChar char=""/>
              <a:tabLst/>
              <a:defRPr/>
            </a:pPr>
            <a:r>
              <a:rPr kumimoji="0" lang="en-US" sz="3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It  </a:t>
            </a:r>
            <a:r>
              <a:rPr kumimoji="0" lang="en-US" sz="3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takes information from</a:t>
            </a:r>
            <a:r>
              <a:rPr kumimoji="0" lang="en-US" sz="3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 </a:t>
            </a:r>
            <a:r>
              <a:rPr kumimoji="0" lang="en-US" sz="3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selected tables </a:t>
            </a:r>
            <a:r>
              <a:rPr kumimoji="0" lang="en-US" sz="3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and </a:t>
            </a:r>
            <a:r>
              <a:rPr kumimoji="0" lang="en-US" sz="3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displays</a:t>
            </a:r>
            <a:r>
              <a:rPr kumimoji="0" lang="en-US" sz="3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 </a:t>
            </a:r>
            <a:r>
              <a:rPr kumimoji="0" lang="en-US" sz="3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subset</a:t>
            </a:r>
            <a:r>
              <a:rPr kumimoji="0" lang="en-US" sz="3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3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of data </a:t>
            </a:r>
            <a:r>
              <a:rPr kumimoji="0" lang="en-US" sz="3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that </a:t>
            </a:r>
            <a:r>
              <a:rPr kumimoji="0" lang="en-US" sz="3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meets your criteria</a:t>
            </a:r>
            <a:endParaRPr lang="en-US" sz="3600" b="1" dirty="0"/>
          </a:p>
          <a:p>
            <a:pPr marL="0" indent="0">
              <a:lnSpc>
                <a:spcPct val="170000"/>
              </a:lnSpc>
              <a:buNone/>
            </a:pPr>
            <a:r>
              <a:rPr lang="en-US" sz="3600" b="1" dirty="0"/>
              <a:t>Forms </a:t>
            </a:r>
            <a:r>
              <a:rPr lang="en-US" sz="3600" dirty="0"/>
              <a:t>	</a:t>
            </a:r>
          </a:p>
          <a:p>
            <a:pPr lvl="1">
              <a:lnSpc>
                <a:spcPct val="170000"/>
              </a:lnSpc>
            </a:pPr>
            <a:r>
              <a:rPr lang="en-US" sz="3600" dirty="0"/>
              <a:t>A </a:t>
            </a:r>
            <a:r>
              <a:rPr lang="en-US" sz="3600" b="1" dirty="0"/>
              <a:t>form</a:t>
            </a:r>
            <a:r>
              <a:rPr lang="en-US" sz="3600" dirty="0"/>
              <a:t> is a </a:t>
            </a:r>
            <a:r>
              <a:rPr lang="en-US" sz="3600" b="1" dirty="0"/>
              <a:t>graphical representation used</a:t>
            </a:r>
            <a:r>
              <a:rPr lang="en-US" sz="3600" dirty="0"/>
              <a:t> to </a:t>
            </a:r>
            <a:r>
              <a:rPr lang="en-US" sz="3600" b="1" dirty="0"/>
              <a:t>enter</a:t>
            </a:r>
            <a:r>
              <a:rPr lang="en-US" sz="3600" dirty="0"/>
              <a:t> or </a:t>
            </a:r>
            <a:r>
              <a:rPr lang="en-US" sz="3600" b="1" dirty="0"/>
              <a:t>view data </a:t>
            </a:r>
            <a:r>
              <a:rPr lang="en-US" sz="3600" dirty="0"/>
              <a:t>into a </a:t>
            </a:r>
            <a:r>
              <a:rPr lang="en-US" sz="3600" b="1" dirty="0"/>
              <a:t>table</a:t>
            </a:r>
            <a:r>
              <a:rPr lang="en-US" sz="3600" dirty="0"/>
              <a:t>. 	</a:t>
            </a:r>
          </a:p>
          <a:p>
            <a:pPr marL="0" indent="0">
              <a:lnSpc>
                <a:spcPct val="170000"/>
              </a:lnSpc>
              <a:buNone/>
            </a:pPr>
            <a:r>
              <a:rPr lang="en-US" sz="3600" b="1" dirty="0"/>
              <a:t>Reports </a:t>
            </a:r>
            <a:r>
              <a:rPr lang="en-US" sz="3600" dirty="0"/>
              <a:t>	</a:t>
            </a:r>
          </a:p>
          <a:p>
            <a:pPr lvl="1">
              <a:lnSpc>
                <a:spcPct val="170000"/>
              </a:lnSpc>
            </a:pPr>
            <a:r>
              <a:rPr lang="en-US" sz="3600" b="1" dirty="0"/>
              <a:t>Presents data from </a:t>
            </a:r>
            <a:r>
              <a:rPr lang="en-US" sz="3600" dirty="0"/>
              <a:t>a </a:t>
            </a:r>
            <a:r>
              <a:rPr lang="en-US" sz="3600" b="1" dirty="0"/>
              <a:t>query</a:t>
            </a:r>
            <a:r>
              <a:rPr lang="en-US" sz="3600" dirty="0"/>
              <a:t> or </a:t>
            </a:r>
            <a:r>
              <a:rPr lang="en-US" sz="3600" b="1" dirty="0"/>
              <a:t>table</a:t>
            </a:r>
            <a:r>
              <a:rPr lang="en-US" sz="3600" dirty="0"/>
              <a:t> and </a:t>
            </a:r>
            <a:r>
              <a:rPr lang="en-US" sz="3600" b="1" dirty="0"/>
              <a:t>places it in neat</a:t>
            </a:r>
            <a:r>
              <a:rPr lang="en-US" sz="3600" dirty="0"/>
              <a:t>, </a:t>
            </a:r>
            <a:r>
              <a:rPr lang="en-US" sz="3600" b="1" dirty="0"/>
              <a:t>organized</a:t>
            </a:r>
            <a:r>
              <a:rPr lang="en-US" sz="3600" dirty="0"/>
              <a:t> and </a:t>
            </a:r>
            <a:r>
              <a:rPr lang="en-US" sz="3600" b="1" dirty="0"/>
              <a:t>readable form</a:t>
            </a:r>
            <a:r>
              <a:rPr lang="en-US" sz="3600" dirty="0"/>
              <a:t>. 	</a:t>
            </a:r>
          </a:p>
          <a:p>
            <a:pPr marL="0" indent="0">
              <a:buNone/>
            </a:pPr>
            <a:r>
              <a:rPr lang="en-US" sz="7400" dirty="0"/>
              <a:t>	</a:t>
            </a:r>
          </a:p>
          <a:p>
            <a:endParaRPr lang="en-MW" dirty="0"/>
          </a:p>
        </p:txBody>
      </p:sp>
    </p:spTree>
    <p:extLst>
      <p:ext uri="{BB962C8B-B14F-4D97-AF65-F5344CB8AC3E}">
        <p14:creationId xmlns:p14="http://schemas.microsoft.com/office/powerpoint/2010/main" val="1772645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7FD6D-242E-4A4E-B565-30BA7B04D3C9}"/>
              </a:ext>
            </a:extLst>
          </p:cNvPr>
          <p:cNvSpPr>
            <a:spLocks noGrp="1"/>
          </p:cNvSpPr>
          <p:nvPr>
            <p:ph type="title"/>
          </p:nvPr>
        </p:nvSpPr>
        <p:spPr>
          <a:xfrm>
            <a:off x="1682044" y="183844"/>
            <a:ext cx="9822568" cy="762934"/>
          </a:xfrm>
        </p:spPr>
        <p:txBody>
          <a:bodyPr/>
          <a:lstStyle/>
          <a:p>
            <a:r>
              <a:rPr lang="en-US" dirty="0"/>
              <a:t>DATABASE CREATION</a:t>
            </a:r>
            <a:endParaRPr lang="en-MW" dirty="0"/>
          </a:p>
        </p:txBody>
      </p:sp>
      <p:sp>
        <p:nvSpPr>
          <p:cNvPr id="3" name="Content Placeholder 2">
            <a:extLst>
              <a:ext uri="{FF2B5EF4-FFF2-40B4-BE49-F238E27FC236}">
                <a16:creationId xmlns:a16="http://schemas.microsoft.com/office/drawing/2014/main" id="{BECF45E9-4F97-42DC-84B7-0319793ADAE8}"/>
              </a:ext>
            </a:extLst>
          </p:cNvPr>
          <p:cNvSpPr>
            <a:spLocks noGrp="1"/>
          </p:cNvSpPr>
          <p:nvPr>
            <p:ph idx="1"/>
          </p:nvPr>
        </p:nvSpPr>
        <p:spPr>
          <a:xfrm>
            <a:off x="1682044" y="946778"/>
            <a:ext cx="9822568" cy="4964444"/>
          </a:xfrm>
        </p:spPr>
        <p:txBody>
          <a:bodyPr/>
          <a:lstStyle/>
          <a:p>
            <a:pPr marL="0" indent="0">
              <a:lnSpc>
                <a:spcPct val="150000"/>
              </a:lnSpc>
              <a:buNone/>
            </a:pPr>
            <a:r>
              <a:rPr lang="en-US" sz="2400" b="1" dirty="0"/>
              <a:t>Create a database by using a template</a:t>
            </a:r>
          </a:p>
          <a:p>
            <a:pPr>
              <a:lnSpc>
                <a:spcPct val="150000"/>
              </a:lnSpc>
            </a:pPr>
            <a:r>
              <a:rPr lang="en-US" sz="2400" dirty="0"/>
              <a:t>Access provides a </a:t>
            </a:r>
            <a:r>
              <a:rPr lang="en-US" sz="2400" b="1" dirty="0"/>
              <a:t>wide variety </a:t>
            </a:r>
            <a:r>
              <a:rPr lang="en-US" sz="2400" dirty="0"/>
              <a:t>of </a:t>
            </a:r>
            <a:r>
              <a:rPr lang="en-US" sz="2400" b="1" dirty="0"/>
              <a:t>templates</a:t>
            </a:r>
            <a:r>
              <a:rPr lang="en-US" sz="2400" dirty="0"/>
              <a:t> that can be </a:t>
            </a:r>
            <a:r>
              <a:rPr lang="en-US" sz="2400" b="1" dirty="0"/>
              <a:t>used to speed up database creation process</a:t>
            </a:r>
            <a:r>
              <a:rPr lang="en-US" sz="2400" dirty="0"/>
              <a:t>. </a:t>
            </a:r>
          </a:p>
          <a:p>
            <a:pPr>
              <a:lnSpc>
                <a:spcPct val="150000"/>
              </a:lnSpc>
            </a:pPr>
            <a:r>
              <a:rPr lang="en-US" sz="2400" dirty="0"/>
              <a:t>A </a:t>
            </a:r>
            <a:r>
              <a:rPr lang="en-US" sz="2400" b="1" dirty="0"/>
              <a:t>template</a:t>
            </a:r>
            <a:r>
              <a:rPr lang="en-US" sz="2400" dirty="0"/>
              <a:t> </a:t>
            </a:r>
            <a:r>
              <a:rPr lang="en-US" sz="2400" b="1" dirty="0"/>
              <a:t>is</a:t>
            </a:r>
            <a:r>
              <a:rPr lang="en-US" sz="2400" dirty="0"/>
              <a:t> a complete </a:t>
            </a:r>
            <a:r>
              <a:rPr lang="en-US" sz="2400" b="1" dirty="0"/>
              <a:t>ready-to-use database (predesigned) </a:t>
            </a:r>
            <a:r>
              <a:rPr lang="en-US" sz="2400" dirty="0"/>
              <a:t>that </a:t>
            </a:r>
            <a:r>
              <a:rPr lang="en-US" sz="2400" b="1" dirty="0"/>
              <a:t>contains  professionally designed tables</a:t>
            </a:r>
            <a:r>
              <a:rPr lang="en-US" sz="2400" dirty="0"/>
              <a:t>, </a:t>
            </a:r>
            <a:r>
              <a:rPr lang="en-US" sz="2400" b="1" dirty="0"/>
              <a:t>queries</a:t>
            </a:r>
            <a:r>
              <a:rPr lang="en-US" sz="2400" dirty="0"/>
              <a:t>, </a:t>
            </a:r>
            <a:r>
              <a:rPr lang="en-US" sz="2400" b="1" dirty="0"/>
              <a:t>forms</a:t>
            </a:r>
            <a:r>
              <a:rPr lang="en-US" sz="2400" dirty="0"/>
              <a:t>, and </a:t>
            </a:r>
            <a:r>
              <a:rPr lang="en-US" sz="2400" b="1" dirty="0"/>
              <a:t>reports needed </a:t>
            </a:r>
            <a:r>
              <a:rPr lang="en-US" sz="2400" dirty="0"/>
              <a:t>for </a:t>
            </a:r>
            <a:r>
              <a:rPr lang="en-US" sz="2400" b="1" dirty="0"/>
              <a:t>performing</a:t>
            </a:r>
            <a:r>
              <a:rPr lang="en-US" sz="2400" dirty="0"/>
              <a:t> a </a:t>
            </a:r>
            <a:r>
              <a:rPr lang="en-US" sz="2400" b="1" dirty="0"/>
              <a:t>specific task</a:t>
            </a:r>
            <a:r>
              <a:rPr lang="en-US" sz="2400" dirty="0"/>
              <a:t>. </a:t>
            </a:r>
          </a:p>
          <a:p>
            <a:pPr marL="0" indent="0">
              <a:buNone/>
            </a:pPr>
            <a:endParaRPr lang="en-MW" dirty="0"/>
          </a:p>
        </p:txBody>
      </p:sp>
    </p:spTree>
    <p:extLst>
      <p:ext uri="{BB962C8B-B14F-4D97-AF65-F5344CB8AC3E}">
        <p14:creationId xmlns:p14="http://schemas.microsoft.com/office/powerpoint/2010/main" val="3993578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3D77E-A617-4D8D-B5B6-FD103679F9C2}"/>
              </a:ext>
            </a:extLst>
          </p:cNvPr>
          <p:cNvSpPr>
            <a:spLocks noGrp="1"/>
          </p:cNvSpPr>
          <p:nvPr>
            <p:ph type="title"/>
          </p:nvPr>
        </p:nvSpPr>
        <p:spPr>
          <a:xfrm>
            <a:off x="1648178" y="228998"/>
            <a:ext cx="9856434" cy="820868"/>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MW" dirty="0"/>
          </a:p>
        </p:txBody>
      </p:sp>
      <p:sp>
        <p:nvSpPr>
          <p:cNvPr id="3" name="Content Placeholder 2">
            <a:extLst>
              <a:ext uri="{FF2B5EF4-FFF2-40B4-BE49-F238E27FC236}">
                <a16:creationId xmlns:a16="http://schemas.microsoft.com/office/drawing/2014/main" id="{69BAC821-7B46-49A6-856D-410DD6E10457}"/>
              </a:ext>
            </a:extLst>
          </p:cNvPr>
          <p:cNvSpPr>
            <a:spLocks noGrp="1"/>
          </p:cNvSpPr>
          <p:nvPr>
            <p:ph idx="1"/>
          </p:nvPr>
        </p:nvSpPr>
        <p:spPr>
          <a:xfrm>
            <a:off x="1207911" y="1049866"/>
            <a:ext cx="10464800" cy="4861356"/>
          </a:xfrm>
        </p:spPr>
        <p:txBody>
          <a:bodyPr>
            <a:normAutofit fontScale="77500" lnSpcReduction="20000"/>
          </a:bodyPr>
          <a:lstStyle/>
          <a:p>
            <a:pPr marL="0" indent="0">
              <a:lnSpc>
                <a:spcPct val="150000"/>
              </a:lnSpc>
              <a:buNone/>
            </a:pPr>
            <a:r>
              <a:rPr lang="en-US" sz="2400" b="1" dirty="0"/>
              <a:t>Create a database by using a template</a:t>
            </a:r>
          </a:p>
          <a:p>
            <a:pPr marL="914400" lvl="1" indent="-457200">
              <a:lnSpc>
                <a:spcPct val="150000"/>
              </a:lnSpc>
              <a:buFont typeface="+mj-lt"/>
              <a:buAutoNum type="arabicPeriod"/>
            </a:pPr>
            <a:r>
              <a:rPr lang="en-US" sz="2400" b="1" dirty="0"/>
              <a:t>Start </a:t>
            </a:r>
            <a:r>
              <a:rPr lang="en-US" sz="2400" dirty="0"/>
              <a:t>Access 2016. </a:t>
            </a:r>
          </a:p>
          <a:p>
            <a:pPr marL="914400" lvl="1" indent="-457200">
              <a:lnSpc>
                <a:spcPct val="150000"/>
              </a:lnSpc>
              <a:buFont typeface="+mj-lt"/>
              <a:buAutoNum type="arabicPeriod"/>
            </a:pPr>
            <a:r>
              <a:rPr lang="en-US" sz="2400" b="1" dirty="0"/>
              <a:t>On</a:t>
            </a:r>
            <a:r>
              <a:rPr lang="en-US" sz="2400" dirty="0"/>
              <a:t> the </a:t>
            </a:r>
            <a:r>
              <a:rPr lang="en-US" sz="2400" b="1" dirty="0"/>
              <a:t>New tab </a:t>
            </a:r>
            <a:r>
              <a:rPr lang="en-US" sz="2400" dirty="0"/>
              <a:t>of </a:t>
            </a:r>
            <a:r>
              <a:rPr lang="en-US" sz="2400" b="1" dirty="0"/>
              <a:t>Backstage view</a:t>
            </a:r>
            <a:r>
              <a:rPr lang="en-US" sz="2400" dirty="0"/>
              <a:t>, click </a:t>
            </a:r>
            <a:r>
              <a:rPr lang="en-US" sz="2400" b="1" dirty="0"/>
              <a:t>Sample Templates</a:t>
            </a:r>
            <a:r>
              <a:rPr lang="en-US" sz="2400" dirty="0"/>
              <a:t>. </a:t>
            </a:r>
          </a:p>
          <a:p>
            <a:pPr marL="914400" lvl="1" indent="-457200">
              <a:lnSpc>
                <a:spcPct val="150000"/>
              </a:lnSpc>
              <a:buFont typeface="+mj-lt"/>
              <a:buAutoNum type="arabicPeriod"/>
            </a:pPr>
            <a:r>
              <a:rPr lang="en-US" sz="2400" dirty="0"/>
              <a:t>Under </a:t>
            </a:r>
            <a:r>
              <a:rPr lang="en-US" sz="2400" b="1" dirty="0"/>
              <a:t>Available Templates</a:t>
            </a:r>
            <a:r>
              <a:rPr lang="en-US" sz="2400" dirty="0"/>
              <a:t>, </a:t>
            </a:r>
            <a:r>
              <a:rPr lang="en-US" sz="2400" b="1" dirty="0"/>
              <a:t>click</a:t>
            </a:r>
            <a:r>
              <a:rPr lang="en-US" sz="2400" dirty="0"/>
              <a:t> the </a:t>
            </a:r>
            <a:r>
              <a:rPr lang="en-US" sz="2400" b="1" dirty="0"/>
              <a:t>template</a:t>
            </a:r>
            <a:r>
              <a:rPr lang="en-US" sz="2400" dirty="0"/>
              <a:t> that you want </a:t>
            </a:r>
            <a:r>
              <a:rPr lang="en-US" sz="2400" b="1" dirty="0"/>
              <a:t>to use</a:t>
            </a:r>
            <a:r>
              <a:rPr lang="en-US" sz="2400" dirty="0"/>
              <a:t>. </a:t>
            </a:r>
          </a:p>
          <a:p>
            <a:pPr marL="914400" lvl="1" indent="-457200">
              <a:lnSpc>
                <a:spcPct val="150000"/>
              </a:lnSpc>
              <a:buFont typeface="+mj-lt"/>
              <a:buAutoNum type="arabicPeriod"/>
            </a:pPr>
            <a:r>
              <a:rPr lang="en-US" sz="2400" dirty="0"/>
              <a:t>In the </a:t>
            </a:r>
            <a:r>
              <a:rPr lang="en-US" sz="2400" b="1" dirty="0"/>
              <a:t>File Name box</a:t>
            </a:r>
            <a:r>
              <a:rPr lang="en-US" sz="2400" dirty="0"/>
              <a:t>, </a:t>
            </a:r>
            <a:r>
              <a:rPr lang="en-US" sz="2400" b="1" dirty="0"/>
              <a:t>type</a:t>
            </a:r>
            <a:r>
              <a:rPr lang="en-US" sz="2400" dirty="0"/>
              <a:t> a </a:t>
            </a:r>
            <a:r>
              <a:rPr lang="en-US" sz="2400" b="1" dirty="0"/>
              <a:t>file name</a:t>
            </a:r>
            <a:r>
              <a:rPr lang="en-US" sz="2400" dirty="0"/>
              <a:t>. </a:t>
            </a:r>
          </a:p>
          <a:p>
            <a:pPr marL="914400" lvl="1" indent="-457200">
              <a:lnSpc>
                <a:spcPct val="150000"/>
              </a:lnSpc>
              <a:buFont typeface="+mj-lt"/>
              <a:buAutoNum type="arabicPeriod"/>
            </a:pPr>
            <a:r>
              <a:rPr lang="en-US" sz="2400" b="1" dirty="0"/>
              <a:t>Optionally</a:t>
            </a:r>
            <a:r>
              <a:rPr lang="en-US" sz="2400" dirty="0"/>
              <a:t>, </a:t>
            </a:r>
            <a:r>
              <a:rPr lang="en-US" sz="2400" b="1" dirty="0"/>
              <a:t>click</a:t>
            </a:r>
            <a:r>
              <a:rPr lang="en-US" sz="2400" dirty="0"/>
              <a:t> the </a:t>
            </a:r>
            <a:r>
              <a:rPr lang="en-US" sz="2400" b="1" dirty="0"/>
              <a:t>folder icon next to </a:t>
            </a:r>
            <a:r>
              <a:rPr lang="en-US" sz="2400" dirty="0"/>
              <a:t>the </a:t>
            </a:r>
            <a:r>
              <a:rPr lang="en-US" sz="2400" b="1" dirty="0"/>
              <a:t>File Name box to browse </a:t>
            </a:r>
            <a:r>
              <a:rPr lang="en-US" sz="2400" dirty="0"/>
              <a:t>to a </a:t>
            </a:r>
            <a:r>
              <a:rPr lang="en-US" sz="2400" b="1" dirty="0"/>
              <a:t>location</a:t>
            </a:r>
            <a:r>
              <a:rPr lang="en-US" sz="2400" dirty="0"/>
              <a:t> where you want </a:t>
            </a:r>
            <a:r>
              <a:rPr lang="en-US" sz="2400" b="1" dirty="0"/>
              <a:t>to create </a:t>
            </a:r>
            <a:r>
              <a:rPr lang="en-US" sz="2400" dirty="0"/>
              <a:t>the </a:t>
            </a:r>
            <a:r>
              <a:rPr lang="en-US" sz="2400" b="1" dirty="0"/>
              <a:t>database</a:t>
            </a:r>
            <a:r>
              <a:rPr lang="en-US" sz="2400" dirty="0"/>
              <a:t>. </a:t>
            </a:r>
          </a:p>
          <a:p>
            <a:pPr lvl="2">
              <a:lnSpc>
                <a:spcPct val="150000"/>
              </a:lnSpc>
            </a:pPr>
            <a:r>
              <a:rPr lang="en-US" sz="2400" b="1" dirty="0"/>
              <a:t>If</a:t>
            </a:r>
            <a:r>
              <a:rPr lang="en-US" sz="2400" dirty="0"/>
              <a:t> you </a:t>
            </a:r>
            <a:r>
              <a:rPr lang="en-US" sz="2400" b="1" dirty="0"/>
              <a:t>don't indicate </a:t>
            </a:r>
            <a:r>
              <a:rPr lang="en-US" sz="2400" dirty="0"/>
              <a:t>a </a:t>
            </a:r>
            <a:r>
              <a:rPr lang="en-US" sz="2400" b="1" dirty="0"/>
              <a:t>specific location</a:t>
            </a:r>
            <a:r>
              <a:rPr lang="en-US" sz="2400" dirty="0"/>
              <a:t>, </a:t>
            </a:r>
            <a:r>
              <a:rPr lang="en-US" sz="2400" b="1" dirty="0"/>
              <a:t>Access creates </a:t>
            </a:r>
            <a:r>
              <a:rPr lang="en-US" sz="2400" dirty="0"/>
              <a:t>the </a:t>
            </a:r>
            <a:r>
              <a:rPr lang="en-US" sz="2400" b="1" dirty="0"/>
              <a:t>database</a:t>
            </a:r>
            <a:r>
              <a:rPr lang="en-US" sz="2400" dirty="0"/>
              <a:t> </a:t>
            </a:r>
            <a:r>
              <a:rPr lang="en-US" sz="2400" b="1" dirty="0"/>
              <a:t>in</a:t>
            </a:r>
            <a:r>
              <a:rPr lang="en-US" sz="2400" dirty="0"/>
              <a:t> the </a:t>
            </a:r>
            <a:r>
              <a:rPr lang="en-US" sz="2400" b="1" dirty="0"/>
              <a:t>default location</a:t>
            </a:r>
            <a:r>
              <a:rPr lang="en-US" sz="2400" dirty="0"/>
              <a:t> that is </a:t>
            </a:r>
            <a:r>
              <a:rPr lang="en-US" sz="2400" b="1" dirty="0"/>
              <a:t>displayed below </a:t>
            </a:r>
            <a:r>
              <a:rPr lang="en-US" sz="2400" dirty="0"/>
              <a:t>the </a:t>
            </a:r>
            <a:r>
              <a:rPr lang="en-US" sz="2400" b="1" dirty="0"/>
              <a:t>File Name box</a:t>
            </a:r>
            <a:r>
              <a:rPr lang="en-US" sz="2400" dirty="0"/>
              <a:t>. </a:t>
            </a:r>
          </a:p>
          <a:p>
            <a:pPr marL="914400" lvl="1" indent="-457200">
              <a:lnSpc>
                <a:spcPct val="150000"/>
              </a:lnSpc>
              <a:buFont typeface="+mj-lt"/>
              <a:buAutoNum type="arabicPeriod" startAt="6"/>
            </a:pPr>
            <a:r>
              <a:rPr lang="en-US" sz="2400" b="1" dirty="0"/>
              <a:t>Click </a:t>
            </a:r>
            <a:r>
              <a:rPr lang="en-US" sz="2400" dirty="0"/>
              <a:t>on the</a:t>
            </a:r>
            <a:r>
              <a:rPr lang="en-US" sz="2400" b="1" dirty="0"/>
              <a:t> Create </a:t>
            </a:r>
            <a:r>
              <a:rPr lang="en-US" sz="2400" dirty="0"/>
              <a:t>button</a:t>
            </a:r>
            <a:r>
              <a:rPr lang="en-US" sz="2400" b="1" dirty="0"/>
              <a:t>.</a:t>
            </a:r>
          </a:p>
          <a:p>
            <a:endParaRPr lang="en-MW" dirty="0"/>
          </a:p>
        </p:txBody>
      </p:sp>
    </p:spTree>
    <p:extLst>
      <p:ext uri="{BB962C8B-B14F-4D97-AF65-F5344CB8AC3E}">
        <p14:creationId xmlns:p14="http://schemas.microsoft.com/office/powerpoint/2010/main" val="3047205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C6B54-6A78-4049-B136-B8E84695EDA6}"/>
              </a:ext>
            </a:extLst>
          </p:cNvPr>
          <p:cNvSpPr>
            <a:spLocks noGrp="1"/>
          </p:cNvSpPr>
          <p:nvPr>
            <p:ph type="title"/>
          </p:nvPr>
        </p:nvSpPr>
        <p:spPr>
          <a:xfrm>
            <a:off x="1636889" y="138688"/>
            <a:ext cx="9867723" cy="866023"/>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MW" dirty="0"/>
          </a:p>
        </p:txBody>
      </p:sp>
      <p:sp>
        <p:nvSpPr>
          <p:cNvPr id="3" name="Content Placeholder 2">
            <a:extLst>
              <a:ext uri="{FF2B5EF4-FFF2-40B4-BE49-F238E27FC236}">
                <a16:creationId xmlns:a16="http://schemas.microsoft.com/office/drawing/2014/main" id="{4A6D7B4F-F243-4F31-90AE-230E2CECDA59}"/>
              </a:ext>
            </a:extLst>
          </p:cNvPr>
          <p:cNvSpPr>
            <a:spLocks noGrp="1"/>
          </p:cNvSpPr>
          <p:nvPr>
            <p:ph idx="1"/>
          </p:nvPr>
        </p:nvSpPr>
        <p:spPr>
          <a:xfrm>
            <a:off x="1636889" y="1004711"/>
            <a:ext cx="9867723" cy="5136446"/>
          </a:xfrm>
        </p:spPr>
        <p:txBody>
          <a:bodyPr>
            <a:normAutofit fontScale="25000" lnSpcReduction="20000"/>
          </a:bodyPr>
          <a:lstStyle/>
          <a:p>
            <a:pPr marL="0" indent="0">
              <a:lnSpc>
                <a:spcPct val="170000"/>
              </a:lnSpc>
              <a:buNone/>
            </a:pPr>
            <a:r>
              <a:rPr lang="en-US" sz="8000" b="1" dirty="0"/>
              <a:t>A blank database </a:t>
            </a:r>
            <a:r>
              <a:rPr lang="en-US" sz="8000" dirty="0"/>
              <a:t> </a:t>
            </a:r>
          </a:p>
          <a:p>
            <a:pPr>
              <a:lnSpc>
                <a:spcPct val="170000"/>
              </a:lnSpc>
            </a:pPr>
            <a:r>
              <a:rPr lang="en-US" sz="8000" dirty="0"/>
              <a:t>You can </a:t>
            </a:r>
            <a:r>
              <a:rPr lang="en-US" sz="8000" b="1" dirty="0"/>
              <a:t>start</a:t>
            </a:r>
            <a:r>
              <a:rPr lang="en-US" sz="8000" dirty="0"/>
              <a:t> a </a:t>
            </a:r>
            <a:r>
              <a:rPr lang="en-US" sz="8000" b="1" dirty="0"/>
              <a:t>database</a:t>
            </a:r>
            <a:r>
              <a:rPr lang="en-US" sz="8000" dirty="0"/>
              <a:t> from </a:t>
            </a:r>
            <a:r>
              <a:rPr lang="en-US" sz="8000" b="1" dirty="0"/>
              <a:t>scratch</a:t>
            </a:r>
            <a:r>
              <a:rPr lang="en-US" sz="8000" dirty="0"/>
              <a:t> if you want. This is a </a:t>
            </a:r>
            <a:r>
              <a:rPr lang="en-US" sz="8000" b="1" dirty="0"/>
              <a:t>good option </a:t>
            </a:r>
            <a:r>
              <a:rPr lang="en-US" sz="8000" dirty="0"/>
              <a:t>if you have very </a:t>
            </a:r>
            <a:r>
              <a:rPr lang="en-US" sz="8000" b="1" dirty="0"/>
              <a:t>specific design requirements</a:t>
            </a:r>
            <a:r>
              <a:rPr lang="en-US" sz="8000" dirty="0"/>
              <a:t> or have </a:t>
            </a:r>
            <a:r>
              <a:rPr lang="en-US" sz="8000" b="1" dirty="0"/>
              <a:t>existing data </a:t>
            </a:r>
            <a:r>
              <a:rPr lang="en-US" sz="8000" dirty="0"/>
              <a:t>that you need </a:t>
            </a:r>
            <a:r>
              <a:rPr lang="en-US" sz="8000" b="1" dirty="0"/>
              <a:t>to accommodate </a:t>
            </a:r>
            <a:r>
              <a:rPr lang="en-US" sz="8000" dirty="0"/>
              <a:t>or </a:t>
            </a:r>
            <a:r>
              <a:rPr lang="en-US" sz="8000" b="1" dirty="0"/>
              <a:t>incorporate</a:t>
            </a:r>
          </a:p>
          <a:p>
            <a:pPr marL="0" indent="0">
              <a:lnSpc>
                <a:spcPct val="170000"/>
              </a:lnSpc>
              <a:buNone/>
            </a:pPr>
            <a:r>
              <a:rPr lang="en-US" sz="8000" b="1" dirty="0"/>
              <a:t>Create a blank database</a:t>
            </a:r>
          </a:p>
          <a:p>
            <a:pPr marL="900000" marR="0" lvl="1" indent="-432000" algn="l" defTabSz="457200" rtl="0" eaLnBrk="1" fontAlgn="auto" latinLnBrk="0" hangingPunct="1">
              <a:lnSpc>
                <a:spcPct val="170000"/>
              </a:lnSpc>
              <a:spcBef>
                <a:spcPts val="1000"/>
              </a:spcBef>
              <a:spcAft>
                <a:spcPts val="0"/>
              </a:spcAft>
              <a:buClr>
                <a:srgbClr val="A53010"/>
              </a:buClr>
              <a:buSzTx/>
              <a:buFont typeface="+mj-lt"/>
              <a:buAutoNum type="arabicPeriod"/>
              <a:tabLst/>
              <a:defRPr/>
            </a:pPr>
            <a:r>
              <a:rPr kumimoji="0" lang="en-US" sz="8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Start </a:t>
            </a:r>
            <a:r>
              <a:rPr kumimoji="0" lang="en-US" sz="8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Access 2016. </a:t>
            </a:r>
          </a:p>
          <a:p>
            <a:pPr marL="900000" marR="0" lvl="1" indent="-432000" algn="l" defTabSz="457200" rtl="0" eaLnBrk="1" fontAlgn="auto" latinLnBrk="0" hangingPunct="1">
              <a:lnSpc>
                <a:spcPct val="170000"/>
              </a:lnSpc>
              <a:spcBef>
                <a:spcPts val="1000"/>
              </a:spcBef>
              <a:spcAft>
                <a:spcPts val="0"/>
              </a:spcAft>
              <a:buClr>
                <a:srgbClr val="A53010"/>
              </a:buClr>
              <a:buSzTx/>
              <a:buFont typeface="+mj-lt"/>
              <a:buAutoNum type="arabicPeriod"/>
              <a:tabLst/>
              <a:defRPr/>
            </a:pPr>
            <a:r>
              <a:rPr kumimoji="0" lang="en-US" sz="8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On</a:t>
            </a:r>
            <a:r>
              <a:rPr kumimoji="0" lang="en-US" sz="8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 </a:t>
            </a:r>
            <a:r>
              <a:rPr kumimoji="0" lang="en-US" sz="8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New tab </a:t>
            </a:r>
            <a:r>
              <a:rPr kumimoji="0" lang="en-US" sz="8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of </a:t>
            </a:r>
            <a:r>
              <a:rPr kumimoji="0" lang="en-US" sz="8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Backstage view</a:t>
            </a:r>
            <a:r>
              <a:rPr kumimoji="0" lang="en-US" sz="8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click </a:t>
            </a:r>
            <a:r>
              <a:rPr lang="en-US" sz="8000" b="1" dirty="0">
                <a:solidFill>
                  <a:prstClr val="black">
                    <a:lumMod val="75000"/>
                    <a:lumOff val="25000"/>
                  </a:prstClr>
                </a:solidFill>
                <a:latin typeface="Century Gothic" panose="020B0502020202020204"/>
              </a:rPr>
              <a:t>B</a:t>
            </a:r>
            <a:r>
              <a:rPr kumimoji="0" lang="en-US" sz="8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lank Database. </a:t>
            </a:r>
            <a:r>
              <a:rPr lang="en-US" sz="8000" dirty="0"/>
              <a:t>Or on the </a:t>
            </a:r>
            <a:r>
              <a:rPr lang="en-US" sz="8000" b="1" dirty="0"/>
              <a:t>File tab</a:t>
            </a:r>
            <a:r>
              <a:rPr lang="en-US" sz="8000" dirty="0"/>
              <a:t>, </a:t>
            </a:r>
            <a:r>
              <a:rPr lang="en-US" sz="8000" b="1" dirty="0"/>
              <a:t>click New</a:t>
            </a:r>
            <a:r>
              <a:rPr lang="en-US" sz="8000" dirty="0"/>
              <a:t>, and then </a:t>
            </a:r>
            <a:r>
              <a:rPr lang="en-US" sz="8000" b="1" dirty="0"/>
              <a:t>click Blank Database</a:t>
            </a:r>
            <a:r>
              <a:rPr lang="en-US" sz="8000" dirty="0"/>
              <a:t>. </a:t>
            </a:r>
          </a:p>
          <a:p>
            <a:pPr marL="900000" marR="0" lvl="1" indent="-432000" algn="l" defTabSz="457200" rtl="0" eaLnBrk="1" fontAlgn="auto" latinLnBrk="0" hangingPunct="1">
              <a:lnSpc>
                <a:spcPct val="170000"/>
              </a:lnSpc>
              <a:spcBef>
                <a:spcPts val="1000"/>
              </a:spcBef>
              <a:spcAft>
                <a:spcPts val="0"/>
              </a:spcAft>
              <a:buClr>
                <a:srgbClr val="A53010"/>
              </a:buClr>
              <a:buSzTx/>
              <a:buFont typeface="+mj-lt"/>
              <a:buAutoNum type="arabicPeriod"/>
              <a:tabLst/>
              <a:defRPr/>
            </a:pPr>
            <a:r>
              <a:rPr lang="en-US" sz="8000" dirty="0"/>
              <a:t>In the </a:t>
            </a:r>
            <a:r>
              <a:rPr lang="en-US" sz="8000" b="1" dirty="0"/>
              <a:t>right pane</a:t>
            </a:r>
            <a:r>
              <a:rPr lang="en-US" sz="8000" dirty="0"/>
              <a:t>, under Blank Database, </a:t>
            </a:r>
            <a:r>
              <a:rPr lang="en-US" sz="8000" b="1" dirty="0"/>
              <a:t>type</a:t>
            </a:r>
            <a:r>
              <a:rPr lang="en-US" sz="8000" dirty="0"/>
              <a:t> a </a:t>
            </a:r>
            <a:r>
              <a:rPr lang="en-US" sz="8000" b="1" dirty="0"/>
              <a:t>file name </a:t>
            </a:r>
            <a:r>
              <a:rPr lang="en-US" sz="8000" dirty="0"/>
              <a:t>in the </a:t>
            </a:r>
            <a:r>
              <a:rPr lang="en-US" sz="8000" b="1" dirty="0"/>
              <a:t>File Name box</a:t>
            </a:r>
            <a:r>
              <a:rPr lang="en-US" sz="8000" dirty="0"/>
              <a:t>. </a:t>
            </a:r>
          </a:p>
          <a:p>
            <a:endParaRPr lang="en-MW" dirty="0"/>
          </a:p>
        </p:txBody>
      </p:sp>
    </p:spTree>
    <p:extLst>
      <p:ext uri="{BB962C8B-B14F-4D97-AF65-F5344CB8AC3E}">
        <p14:creationId xmlns:p14="http://schemas.microsoft.com/office/powerpoint/2010/main" val="38856798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C6B54-6A78-4049-B136-B8E84695EDA6}"/>
              </a:ext>
            </a:extLst>
          </p:cNvPr>
          <p:cNvSpPr>
            <a:spLocks noGrp="1"/>
          </p:cNvSpPr>
          <p:nvPr>
            <p:ph type="title"/>
          </p:nvPr>
        </p:nvSpPr>
        <p:spPr>
          <a:xfrm>
            <a:off x="1625600" y="163810"/>
            <a:ext cx="9879012" cy="866023"/>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MW" dirty="0"/>
          </a:p>
        </p:txBody>
      </p:sp>
      <p:sp>
        <p:nvSpPr>
          <p:cNvPr id="3" name="Content Placeholder 2">
            <a:extLst>
              <a:ext uri="{FF2B5EF4-FFF2-40B4-BE49-F238E27FC236}">
                <a16:creationId xmlns:a16="http://schemas.microsoft.com/office/drawing/2014/main" id="{4A6D7B4F-F243-4F31-90AE-230E2CECDA59}"/>
              </a:ext>
            </a:extLst>
          </p:cNvPr>
          <p:cNvSpPr>
            <a:spLocks noGrp="1"/>
          </p:cNvSpPr>
          <p:nvPr>
            <p:ph idx="1"/>
          </p:nvPr>
        </p:nvSpPr>
        <p:spPr>
          <a:xfrm>
            <a:off x="1625600" y="1029833"/>
            <a:ext cx="9879012" cy="5167767"/>
          </a:xfrm>
        </p:spPr>
        <p:txBody>
          <a:bodyPr>
            <a:normAutofit fontScale="77500" lnSpcReduction="20000"/>
          </a:bodyPr>
          <a:lstStyle/>
          <a:p>
            <a:pPr marL="971550" marR="0" lvl="1" indent="-514350" algn="l" defTabSz="457200" rtl="0" eaLnBrk="1" fontAlgn="auto" latinLnBrk="0" hangingPunct="1">
              <a:lnSpc>
                <a:spcPct val="160000"/>
              </a:lnSpc>
              <a:spcBef>
                <a:spcPts val="1000"/>
              </a:spcBef>
              <a:spcAft>
                <a:spcPts val="0"/>
              </a:spcAft>
              <a:buClr>
                <a:srgbClr val="A53010"/>
              </a:buClr>
              <a:buSzTx/>
              <a:buFont typeface="+mj-lt"/>
              <a:buAutoNum type="arabicPeriod" startAt="4"/>
              <a:tabLst/>
              <a:defRPr/>
            </a:pP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change </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location of </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file</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from</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default</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Browse for</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location </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put</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your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database</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next to </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File Name box</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browse</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new location</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then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OK</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971550" marR="0" lvl="1" indent="-514350" algn="l" defTabSz="457200" rtl="0" eaLnBrk="1" fontAlgn="auto" latinLnBrk="0" hangingPunct="1">
              <a:lnSpc>
                <a:spcPct val="160000"/>
              </a:lnSpc>
              <a:spcBef>
                <a:spcPts val="1000"/>
              </a:spcBef>
              <a:spcAft>
                <a:spcPts val="0"/>
              </a:spcAft>
              <a:buClr>
                <a:srgbClr val="A53010"/>
              </a:buClr>
              <a:buSzTx/>
              <a:buFont typeface="+mj-lt"/>
              <a:buAutoNum type="arabicPeriod" startAt="4"/>
              <a:tabLst/>
              <a:defRPr/>
            </a:pP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Create</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endParaRPr lang="en-US" sz="2600" b="1" dirty="0"/>
          </a:p>
          <a:p>
            <a:pPr>
              <a:lnSpc>
                <a:spcPct val="160000"/>
              </a:lnSpc>
            </a:pPr>
            <a:r>
              <a:rPr lang="en-US" sz="2600" b="1" dirty="0"/>
              <a:t>Access creates database with</a:t>
            </a:r>
            <a:r>
              <a:rPr lang="en-US" sz="2600" dirty="0"/>
              <a:t> an </a:t>
            </a:r>
            <a:r>
              <a:rPr lang="en-US" sz="2600" b="1" dirty="0"/>
              <a:t>empty table </a:t>
            </a:r>
            <a:r>
              <a:rPr lang="en-US" sz="2600" dirty="0"/>
              <a:t>named </a:t>
            </a:r>
            <a:r>
              <a:rPr lang="en-US" sz="2600" b="1" dirty="0"/>
              <a:t>Table1</a:t>
            </a:r>
            <a:r>
              <a:rPr lang="en-US" sz="2600" dirty="0"/>
              <a:t>, and then </a:t>
            </a:r>
            <a:r>
              <a:rPr lang="en-US" sz="2600" b="1" dirty="0"/>
              <a:t>opens Table1 </a:t>
            </a:r>
            <a:r>
              <a:rPr lang="en-US" sz="2600" dirty="0"/>
              <a:t>in </a:t>
            </a:r>
            <a:r>
              <a:rPr lang="en-US" sz="2600" b="1" dirty="0"/>
              <a:t>Datasheet view</a:t>
            </a:r>
            <a:r>
              <a:rPr lang="en-US" sz="2600" dirty="0"/>
              <a:t>. </a:t>
            </a:r>
          </a:p>
          <a:p>
            <a:pPr>
              <a:lnSpc>
                <a:spcPct val="160000"/>
              </a:lnSpc>
            </a:pPr>
            <a:r>
              <a:rPr lang="en-US" sz="2600" dirty="0"/>
              <a:t>The </a:t>
            </a:r>
            <a:r>
              <a:rPr lang="en-US" sz="2600" b="1" dirty="0"/>
              <a:t>cursor</a:t>
            </a:r>
            <a:r>
              <a:rPr lang="en-US" sz="2600" dirty="0"/>
              <a:t> is </a:t>
            </a:r>
            <a:r>
              <a:rPr lang="en-US" sz="2600" b="1" dirty="0"/>
              <a:t>placed</a:t>
            </a:r>
            <a:r>
              <a:rPr lang="en-US" sz="2600" dirty="0"/>
              <a:t> in the </a:t>
            </a:r>
            <a:r>
              <a:rPr lang="en-US" sz="2600" b="1" dirty="0"/>
              <a:t>first empty cell</a:t>
            </a:r>
            <a:r>
              <a:rPr lang="en-US" sz="2600" dirty="0"/>
              <a:t> in the </a:t>
            </a:r>
            <a:r>
              <a:rPr lang="en-US" sz="2600" b="1" dirty="0"/>
              <a:t>Click to Add column</a:t>
            </a:r>
            <a:r>
              <a:rPr lang="en-US" sz="2600" dirty="0"/>
              <a:t>.</a:t>
            </a:r>
          </a:p>
          <a:p>
            <a:pPr>
              <a:lnSpc>
                <a:spcPct val="160000"/>
              </a:lnSpc>
            </a:pPr>
            <a:r>
              <a:rPr lang="en-US" sz="2600" b="1" dirty="0"/>
              <a:t>Begin typing </a:t>
            </a:r>
            <a:r>
              <a:rPr lang="en-US" sz="2600" dirty="0"/>
              <a:t>to </a:t>
            </a:r>
            <a:r>
              <a:rPr lang="en-US" sz="2600" b="1" dirty="0"/>
              <a:t>add data</a:t>
            </a:r>
            <a:r>
              <a:rPr lang="en-US" sz="2600" dirty="0"/>
              <a:t>, or you can </a:t>
            </a:r>
            <a:r>
              <a:rPr lang="en-US" sz="2600" b="1" dirty="0"/>
              <a:t>paste data </a:t>
            </a:r>
            <a:r>
              <a:rPr lang="en-US" sz="2600" dirty="0"/>
              <a:t>from </a:t>
            </a:r>
            <a:r>
              <a:rPr lang="en-US" sz="2600" b="1" dirty="0"/>
              <a:t>another source </a:t>
            </a:r>
            <a:r>
              <a:rPr lang="en-US" sz="2600" dirty="0"/>
              <a:t>that has been </a:t>
            </a:r>
            <a:r>
              <a:rPr lang="en-US" sz="2600" b="1" dirty="0"/>
              <a:t>copied</a:t>
            </a:r>
            <a:r>
              <a:rPr lang="en-US" sz="2600" dirty="0"/>
              <a:t> from </a:t>
            </a:r>
            <a:r>
              <a:rPr lang="en-US" sz="2600" b="1" dirty="0"/>
              <a:t>another source into</a:t>
            </a:r>
            <a:r>
              <a:rPr lang="en-US" sz="2600" dirty="0"/>
              <a:t> an </a:t>
            </a:r>
            <a:r>
              <a:rPr lang="en-US" sz="2600" b="1" dirty="0"/>
              <a:t>Access table</a:t>
            </a:r>
            <a:r>
              <a:rPr lang="en-US" sz="2600" dirty="0"/>
              <a:t>.</a:t>
            </a:r>
          </a:p>
          <a:p>
            <a:endParaRPr lang="en-MW" dirty="0"/>
          </a:p>
        </p:txBody>
      </p:sp>
    </p:spTree>
    <p:extLst>
      <p:ext uri="{BB962C8B-B14F-4D97-AF65-F5344CB8AC3E}">
        <p14:creationId xmlns:p14="http://schemas.microsoft.com/office/powerpoint/2010/main" val="1672840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BFD2E-2A45-40CA-9391-4786B10589D1}"/>
              </a:ext>
            </a:extLst>
          </p:cNvPr>
          <p:cNvSpPr>
            <a:spLocks noGrp="1"/>
          </p:cNvSpPr>
          <p:nvPr>
            <p:ph type="title"/>
          </p:nvPr>
        </p:nvSpPr>
        <p:spPr>
          <a:xfrm>
            <a:off x="1625600" y="228998"/>
            <a:ext cx="9879012" cy="798290"/>
          </a:xfrm>
        </p:spPr>
        <p:txBody>
          <a:bodyPr/>
          <a:lstStyle/>
          <a:p>
            <a:r>
              <a:rPr lang="en-US" dirty="0"/>
              <a:t>MS ACCESS VIEWS</a:t>
            </a:r>
            <a:endParaRPr lang="en-MW" dirty="0"/>
          </a:p>
        </p:txBody>
      </p:sp>
      <p:sp>
        <p:nvSpPr>
          <p:cNvPr id="3" name="Content Placeholder 2">
            <a:extLst>
              <a:ext uri="{FF2B5EF4-FFF2-40B4-BE49-F238E27FC236}">
                <a16:creationId xmlns:a16="http://schemas.microsoft.com/office/drawing/2014/main" id="{9111C479-CD21-4C60-9C07-3BD989F14C6F}"/>
              </a:ext>
            </a:extLst>
          </p:cNvPr>
          <p:cNvSpPr>
            <a:spLocks noGrp="1"/>
          </p:cNvSpPr>
          <p:nvPr>
            <p:ph idx="1"/>
          </p:nvPr>
        </p:nvSpPr>
        <p:spPr>
          <a:xfrm>
            <a:off x="1625600" y="1027288"/>
            <a:ext cx="9879012" cy="5601714"/>
          </a:xfrm>
        </p:spPr>
        <p:txBody>
          <a:bodyPr>
            <a:noAutofit/>
          </a:bodyPr>
          <a:lstStyle/>
          <a:p>
            <a:pPr marL="0" indent="0">
              <a:lnSpc>
                <a:spcPct val="150000"/>
              </a:lnSpc>
              <a:buNone/>
            </a:pPr>
            <a:r>
              <a:rPr lang="en-US" sz="2400" b="1" dirty="0"/>
              <a:t>Two types of views that can be used in access are:</a:t>
            </a:r>
          </a:p>
          <a:p>
            <a:pPr lvl="1">
              <a:lnSpc>
                <a:spcPct val="150000"/>
              </a:lnSpc>
            </a:pPr>
            <a:r>
              <a:rPr lang="en-US" sz="2400" dirty="0"/>
              <a:t>Datasheet view and Design view</a:t>
            </a:r>
          </a:p>
          <a:p>
            <a:pPr marL="0" indent="0">
              <a:lnSpc>
                <a:spcPct val="150000"/>
              </a:lnSpc>
              <a:buNone/>
            </a:pPr>
            <a:r>
              <a:rPr lang="en-US" sz="2400" b="1" dirty="0"/>
              <a:t>Datasheet view</a:t>
            </a:r>
          </a:p>
          <a:p>
            <a:pPr lvl="1">
              <a:lnSpc>
                <a:spcPct val="150000"/>
              </a:lnSpc>
            </a:pPr>
            <a:r>
              <a:rPr lang="en-US" sz="2400" dirty="0"/>
              <a:t>In </a:t>
            </a:r>
            <a:r>
              <a:rPr lang="en-US" sz="2400" b="1" dirty="0"/>
              <a:t>Datasheet view</a:t>
            </a:r>
            <a:r>
              <a:rPr lang="en-US" sz="2400" dirty="0"/>
              <a:t>, you can </a:t>
            </a:r>
            <a:r>
              <a:rPr lang="en-US" sz="2400" b="1" dirty="0"/>
              <a:t>edit fields</a:t>
            </a:r>
            <a:r>
              <a:rPr lang="en-US" sz="2400" dirty="0"/>
              <a:t>, </a:t>
            </a:r>
            <a:r>
              <a:rPr lang="en-US" sz="2400" b="1" dirty="0"/>
              <a:t>add</a:t>
            </a:r>
            <a:r>
              <a:rPr lang="en-US" sz="2400" dirty="0"/>
              <a:t> and </a:t>
            </a:r>
            <a:r>
              <a:rPr lang="en-US" sz="2400" b="1" dirty="0"/>
              <a:t>delete data </a:t>
            </a:r>
            <a:r>
              <a:rPr lang="en-US" sz="2400" dirty="0"/>
              <a:t>and </a:t>
            </a:r>
            <a:r>
              <a:rPr lang="en-US" sz="2400" b="1" dirty="0"/>
              <a:t>search</a:t>
            </a:r>
            <a:r>
              <a:rPr lang="en-US" sz="2400" dirty="0"/>
              <a:t> for </a:t>
            </a:r>
            <a:r>
              <a:rPr lang="en-US" sz="2400" b="1" dirty="0"/>
              <a:t>data.</a:t>
            </a:r>
          </a:p>
          <a:p>
            <a:pPr lvl="1">
              <a:lnSpc>
                <a:spcPct val="150000"/>
              </a:lnSpc>
            </a:pPr>
            <a:r>
              <a:rPr lang="en-US" sz="2400" b="1" dirty="0"/>
              <a:t>Entering data </a:t>
            </a:r>
            <a:r>
              <a:rPr lang="en-US" sz="2400" dirty="0"/>
              <a:t>in </a:t>
            </a:r>
            <a:r>
              <a:rPr lang="en-US" sz="2400" b="1" dirty="0"/>
              <a:t>Datasheet view </a:t>
            </a:r>
            <a:r>
              <a:rPr lang="en-US" sz="2400" dirty="0"/>
              <a:t>is </a:t>
            </a:r>
            <a:r>
              <a:rPr lang="en-US" sz="2400" b="1" dirty="0"/>
              <a:t>designed</a:t>
            </a:r>
            <a:r>
              <a:rPr lang="en-US" sz="2400" dirty="0"/>
              <a:t> to be </a:t>
            </a:r>
            <a:r>
              <a:rPr lang="en-US" sz="2400" b="1" dirty="0"/>
              <a:t>similar</a:t>
            </a:r>
            <a:r>
              <a:rPr lang="en-US" sz="2400" dirty="0"/>
              <a:t> to </a:t>
            </a:r>
            <a:r>
              <a:rPr lang="en-US" sz="2400" b="1" dirty="0"/>
              <a:t>working in </a:t>
            </a:r>
            <a:r>
              <a:rPr lang="en-US" sz="2400" dirty="0"/>
              <a:t>an </a:t>
            </a:r>
            <a:r>
              <a:rPr lang="en-US" sz="2400" b="1" dirty="0"/>
              <a:t>Excel worksheet</a:t>
            </a:r>
            <a:r>
              <a:rPr lang="en-US" sz="2400" dirty="0"/>
              <a:t>. </a:t>
            </a:r>
          </a:p>
          <a:p>
            <a:pPr lvl="1">
              <a:lnSpc>
                <a:spcPct val="150000"/>
              </a:lnSpc>
            </a:pPr>
            <a:r>
              <a:rPr lang="en-US" sz="2400" b="1" dirty="0"/>
              <a:t>Datasheet view </a:t>
            </a:r>
            <a:r>
              <a:rPr lang="en-US" sz="2400" dirty="0"/>
              <a:t>is a </a:t>
            </a:r>
            <a:r>
              <a:rPr lang="en-US" sz="2400" b="1" dirty="0"/>
              <a:t>spreadsheet-like view </a:t>
            </a:r>
            <a:r>
              <a:rPr lang="en-US" sz="2400" dirty="0"/>
              <a:t>of the </a:t>
            </a:r>
            <a:r>
              <a:rPr lang="en-US" sz="2400" b="1" dirty="0"/>
              <a:t>data</a:t>
            </a:r>
            <a:r>
              <a:rPr lang="en-US" sz="2400" dirty="0"/>
              <a:t> in a </a:t>
            </a:r>
            <a:r>
              <a:rPr lang="en-US" sz="2400" b="1" dirty="0"/>
              <a:t>table</a:t>
            </a:r>
            <a:r>
              <a:rPr lang="en-US" sz="2400" dirty="0"/>
              <a:t>.</a:t>
            </a:r>
          </a:p>
        </p:txBody>
      </p:sp>
    </p:spTree>
    <p:extLst>
      <p:ext uri="{BB962C8B-B14F-4D97-AF65-F5344CB8AC3E}">
        <p14:creationId xmlns:p14="http://schemas.microsoft.com/office/powerpoint/2010/main" val="2667301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BFD2E-2A45-40CA-9391-4786B10589D1}"/>
              </a:ext>
            </a:extLst>
          </p:cNvPr>
          <p:cNvSpPr>
            <a:spLocks noGrp="1"/>
          </p:cNvSpPr>
          <p:nvPr>
            <p:ph type="title"/>
          </p:nvPr>
        </p:nvSpPr>
        <p:spPr>
          <a:xfrm>
            <a:off x="1614312" y="148488"/>
            <a:ext cx="9777412" cy="798290"/>
          </a:xfrm>
        </p:spPr>
        <p:txBody>
          <a:bodyPr/>
          <a:lstStyle/>
          <a:p>
            <a:r>
              <a:rPr lang="en-US" dirty="0"/>
              <a:t>CONTD…</a:t>
            </a:r>
            <a:endParaRPr lang="en-MW" dirty="0"/>
          </a:p>
        </p:txBody>
      </p:sp>
      <p:sp>
        <p:nvSpPr>
          <p:cNvPr id="3" name="Content Placeholder 2">
            <a:extLst>
              <a:ext uri="{FF2B5EF4-FFF2-40B4-BE49-F238E27FC236}">
                <a16:creationId xmlns:a16="http://schemas.microsoft.com/office/drawing/2014/main" id="{9111C479-CD21-4C60-9C07-3BD989F14C6F}"/>
              </a:ext>
            </a:extLst>
          </p:cNvPr>
          <p:cNvSpPr>
            <a:spLocks noGrp="1"/>
          </p:cNvSpPr>
          <p:nvPr>
            <p:ph idx="1"/>
          </p:nvPr>
        </p:nvSpPr>
        <p:spPr>
          <a:xfrm>
            <a:off x="1614312" y="946778"/>
            <a:ext cx="9890300" cy="4964444"/>
          </a:xfrm>
        </p:spPr>
        <p:txBody>
          <a:bodyPr>
            <a:noAutofit/>
          </a:bodyPr>
          <a:lstStyle/>
          <a:p>
            <a:pPr marL="0" indent="0">
              <a:lnSpc>
                <a:spcPct val="150000"/>
              </a:lnSpc>
              <a:buNone/>
            </a:pPr>
            <a:r>
              <a:rPr lang="en-US" sz="2400" b="1" dirty="0"/>
              <a:t>Design view</a:t>
            </a:r>
          </a:p>
          <a:p>
            <a:pPr lvl="1">
              <a:lnSpc>
                <a:spcPct val="150000"/>
              </a:lnSpc>
            </a:pPr>
            <a:r>
              <a:rPr lang="en-US" sz="2400" b="1" dirty="0"/>
              <a:t>Opening </a:t>
            </a:r>
            <a:r>
              <a:rPr lang="en-US" sz="2400" dirty="0"/>
              <a:t>a </a:t>
            </a:r>
            <a:r>
              <a:rPr lang="en-US" sz="2400" b="1" dirty="0"/>
              <a:t>table</a:t>
            </a:r>
            <a:r>
              <a:rPr lang="en-US" sz="2400" dirty="0"/>
              <a:t> in </a:t>
            </a:r>
            <a:r>
              <a:rPr lang="en-US" sz="2400" b="1" dirty="0"/>
              <a:t>Design view gives </a:t>
            </a:r>
            <a:r>
              <a:rPr lang="en-US" sz="2400" dirty="0"/>
              <a:t>a </a:t>
            </a:r>
            <a:r>
              <a:rPr lang="en-US" sz="2400" b="1" dirty="0"/>
              <a:t>detailed look </a:t>
            </a:r>
            <a:r>
              <a:rPr lang="en-US" sz="2400" dirty="0"/>
              <a:t>at the </a:t>
            </a:r>
            <a:r>
              <a:rPr lang="en-US" sz="2400" b="1" dirty="0"/>
              <a:t>table's structure</a:t>
            </a:r>
            <a:r>
              <a:rPr lang="en-US" sz="2400" dirty="0"/>
              <a:t>. </a:t>
            </a:r>
          </a:p>
          <a:p>
            <a:pPr lvl="1">
              <a:lnSpc>
                <a:spcPct val="150000"/>
              </a:lnSpc>
            </a:pPr>
            <a:r>
              <a:rPr lang="en-US" sz="2400" dirty="0"/>
              <a:t>Design view </a:t>
            </a:r>
            <a:r>
              <a:rPr lang="en-US" sz="2400" b="1" dirty="0"/>
              <a:t>provides</a:t>
            </a:r>
            <a:r>
              <a:rPr lang="en-US" sz="2400" dirty="0"/>
              <a:t> the </a:t>
            </a:r>
            <a:r>
              <a:rPr lang="en-US" sz="2400" b="1" dirty="0"/>
              <a:t>most options </a:t>
            </a:r>
            <a:r>
              <a:rPr lang="en-US" sz="2400" dirty="0"/>
              <a:t>for </a:t>
            </a:r>
            <a:r>
              <a:rPr lang="en-US" sz="2400" b="1" dirty="0"/>
              <a:t>defining fields</a:t>
            </a:r>
            <a:r>
              <a:rPr lang="en-US" sz="2400" dirty="0"/>
              <a:t>.</a:t>
            </a:r>
          </a:p>
          <a:p>
            <a:pPr lvl="2">
              <a:lnSpc>
                <a:spcPct val="150000"/>
              </a:lnSpc>
            </a:pPr>
            <a:r>
              <a:rPr lang="en-US" sz="2400" dirty="0"/>
              <a:t>For </a:t>
            </a:r>
            <a:r>
              <a:rPr lang="en-US" sz="2400" b="1" dirty="0"/>
              <a:t>example</a:t>
            </a:r>
            <a:r>
              <a:rPr lang="en-US" sz="2400" dirty="0"/>
              <a:t>, you can </a:t>
            </a:r>
            <a:r>
              <a:rPr lang="en-US" sz="2400" b="1" dirty="0"/>
              <a:t>find</a:t>
            </a:r>
            <a:r>
              <a:rPr lang="en-US" sz="2400" dirty="0"/>
              <a:t> the </a:t>
            </a:r>
            <a:r>
              <a:rPr lang="en-US" sz="2400" b="1" dirty="0"/>
              <a:t>data type setting </a:t>
            </a:r>
            <a:r>
              <a:rPr lang="en-US" sz="2400" dirty="0"/>
              <a:t>for </a:t>
            </a:r>
            <a:r>
              <a:rPr lang="en-US" sz="2400" b="1" dirty="0"/>
              <a:t>each field</a:t>
            </a:r>
            <a:r>
              <a:rPr lang="en-US" sz="2400" dirty="0"/>
              <a:t>.</a:t>
            </a:r>
            <a:endParaRPr lang="en-MW" sz="2400" dirty="0"/>
          </a:p>
        </p:txBody>
      </p:sp>
    </p:spTree>
    <p:extLst>
      <p:ext uri="{BB962C8B-B14F-4D97-AF65-F5344CB8AC3E}">
        <p14:creationId xmlns:p14="http://schemas.microsoft.com/office/powerpoint/2010/main" val="11614569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FDCDD-A501-4C3B-9C0D-4E2236A6487C}"/>
              </a:ext>
            </a:extLst>
          </p:cNvPr>
          <p:cNvSpPr>
            <a:spLocks noGrp="1"/>
          </p:cNvSpPr>
          <p:nvPr>
            <p:ph type="title"/>
          </p:nvPr>
        </p:nvSpPr>
        <p:spPr>
          <a:xfrm>
            <a:off x="1648178" y="228999"/>
            <a:ext cx="9856434" cy="832157"/>
          </a:xfrm>
        </p:spPr>
        <p:txBody>
          <a:bodyPr/>
          <a:lstStyle/>
          <a:p>
            <a:r>
              <a:rPr lang="en-US" dirty="0"/>
              <a:t>CREATING A TABLE</a:t>
            </a:r>
            <a:endParaRPr lang="en-MW" dirty="0"/>
          </a:p>
        </p:txBody>
      </p:sp>
      <p:sp>
        <p:nvSpPr>
          <p:cNvPr id="3" name="Content Placeholder 2">
            <a:extLst>
              <a:ext uri="{FF2B5EF4-FFF2-40B4-BE49-F238E27FC236}">
                <a16:creationId xmlns:a16="http://schemas.microsoft.com/office/drawing/2014/main" id="{5BCF4AFA-7953-44EA-8EFB-4A66EAEA2758}"/>
              </a:ext>
            </a:extLst>
          </p:cNvPr>
          <p:cNvSpPr>
            <a:spLocks noGrp="1"/>
          </p:cNvSpPr>
          <p:nvPr>
            <p:ph idx="1"/>
          </p:nvPr>
        </p:nvSpPr>
        <p:spPr>
          <a:xfrm>
            <a:off x="1648178" y="1061157"/>
            <a:ext cx="9856434" cy="4850066"/>
          </a:xfrm>
        </p:spPr>
        <p:txBody>
          <a:bodyPr/>
          <a:lstStyle/>
          <a:p>
            <a:pPr marL="0" indent="0">
              <a:lnSpc>
                <a:spcPct val="150000"/>
              </a:lnSpc>
              <a:buNone/>
            </a:pPr>
            <a:r>
              <a:rPr lang="en-US" sz="2400" b="1" dirty="0"/>
              <a:t>Three essential tasks in creating a table:</a:t>
            </a:r>
          </a:p>
          <a:p>
            <a:pPr lvl="1">
              <a:lnSpc>
                <a:spcPct val="150000"/>
              </a:lnSpc>
            </a:pPr>
            <a:r>
              <a:rPr lang="en-US" sz="2400" b="1" dirty="0"/>
              <a:t>Naming</a:t>
            </a:r>
            <a:r>
              <a:rPr lang="en-US" sz="2400" dirty="0"/>
              <a:t> the </a:t>
            </a:r>
            <a:r>
              <a:rPr lang="en-US" sz="2400" b="1" dirty="0"/>
              <a:t>table</a:t>
            </a:r>
          </a:p>
          <a:p>
            <a:pPr lvl="1">
              <a:lnSpc>
                <a:spcPct val="150000"/>
              </a:lnSpc>
            </a:pPr>
            <a:r>
              <a:rPr lang="en-US" sz="2400" b="1" dirty="0"/>
              <a:t>Naming</a:t>
            </a:r>
            <a:r>
              <a:rPr lang="en-US" sz="2400" dirty="0"/>
              <a:t> the </a:t>
            </a:r>
            <a:r>
              <a:rPr lang="en-US" sz="2400" b="1" dirty="0"/>
              <a:t>fields (columns)</a:t>
            </a:r>
          </a:p>
          <a:p>
            <a:pPr lvl="1">
              <a:lnSpc>
                <a:spcPct val="150000"/>
              </a:lnSpc>
            </a:pPr>
            <a:r>
              <a:rPr lang="en-US" sz="2400" b="1" dirty="0"/>
              <a:t>Selecting data types </a:t>
            </a:r>
            <a:r>
              <a:rPr lang="en-US" sz="2400" dirty="0"/>
              <a:t>for </a:t>
            </a:r>
            <a:r>
              <a:rPr lang="en-US" sz="2400" b="1" dirty="0"/>
              <a:t>each field </a:t>
            </a:r>
            <a:r>
              <a:rPr lang="en-US" sz="2400" dirty="0"/>
              <a:t>(e.g. </a:t>
            </a:r>
            <a:r>
              <a:rPr lang="en-US" sz="2400" b="1" dirty="0"/>
              <a:t>number, text, dates currency etc</a:t>
            </a:r>
            <a:r>
              <a:rPr lang="en-US" sz="2400" dirty="0"/>
              <a:t>.)</a:t>
            </a:r>
          </a:p>
          <a:p>
            <a:endParaRPr lang="en-MW" dirty="0"/>
          </a:p>
        </p:txBody>
      </p:sp>
    </p:spTree>
    <p:extLst>
      <p:ext uri="{BB962C8B-B14F-4D97-AF65-F5344CB8AC3E}">
        <p14:creationId xmlns:p14="http://schemas.microsoft.com/office/powerpoint/2010/main" val="3631854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1F7D4-80F9-4DF2-B9BA-C69DEEBAE9FC}"/>
              </a:ext>
            </a:extLst>
          </p:cNvPr>
          <p:cNvSpPr>
            <a:spLocks noGrp="1"/>
          </p:cNvSpPr>
          <p:nvPr>
            <p:ph type="title"/>
          </p:nvPr>
        </p:nvSpPr>
        <p:spPr>
          <a:xfrm>
            <a:off x="1682044" y="159777"/>
            <a:ext cx="9822568" cy="787001"/>
          </a:xfrm>
        </p:spPr>
        <p:txBody>
          <a:bodyPr/>
          <a:lstStyle/>
          <a:p>
            <a:r>
              <a:rPr lang="en-US" dirty="0"/>
              <a:t>ADD A TABLE</a:t>
            </a:r>
            <a:endParaRPr lang="en-MW" dirty="0"/>
          </a:p>
        </p:txBody>
      </p:sp>
      <p:sp>
        <p:nvSpPr>
          <p:cNvPr id="3" name="Content Placeholder 2">
            <a:extLst>
              <a:ext uri="{FF2B5EF4-FFF2-40B4-BE49-F238E27FC236}">
                <a16:creationId xmlns:a16="http://schemas.microsoft.com/office/drawing/2014/main" id="{07C28237-1FC1-4406-81ED-94CBF125826F}"/>
              </a:ext>
            </a:extLst>
          </p:cNvPr>
          <p:cNvSpPr>
            <a:spLocks noGrp="1"/>
          </p:cNvSpPr>
          <p:nvPr>
            <p:ph idx="1"/>
          </p:nvPr>
        </p:nvSpPr>
        <p:spPr>
          <a:xfrm>
            <a:off x="1682044" y="946779"/>
            <a:ext cx="9822568" cy="4964444"/>
          </a:xfrm>
        </p:spPr>
        <p:txBody>
          <a:bodyPr>
            <a:normAutofit fontScale="92500" lnSpcReduction="10000"/>
          </a:bodyPr>
          <a:lstStyle/>
          <a:p>
            <a:pPr>
              <a:lnSpc>
                <a:spcPct val="150000"/>
              </a:lnSpc>
            </a:pPr>
            <a:r>
              <a:rPr lang="en-US" sz="2400" dirty="0"/>
              <a:t>You can </a:t>
            </a:r>
            <a:r>
              <a:rPr lang="en-US" sz="2400" b="1" dirty="0"/>
              <a:t>add new tables </a:t>
            </a:r>
            <a:r>
              <a:rPr lang="en-US" sz="2400" dirty="0"/>
              <a:t>to an </a:t>
            </a:r>
            <a:r>
              <a:rPr lang="en-US" sz="2400" b="1" dirty="0"/>
              <a:t>existing database </a:t>
            </a:r>
            <a:r>
              <a:rPr lang="en-US" sz="2400" dirty="0"/>
              <a:t>by </a:t>
            </a:r>
            <a:r>
              <a:rPr lang="en-US" sz="2400" b="1" dirty="0"/>
              <a:t>using Commands </a:t>
            </a:r>
            <a:r>
              <a:rPr lang="en-US" sz="2400" dirty="0"/>
              <a:t>in </a:t>
            </a:r>
            <a:r>
              <a:rPr lang="en-US" sz="2400" b="1" dirty="0"/>
              <a:t>Tables Group </a:t>
            </a:r>
            <a:r>
              <a:rPr lang="en-US" sz="2400" dirty="0"/>
              <a:t>on the </a:t>
            </a:r>
            <a:r>
              <a:rPr lang="en-US" sz="2400" b="1" dirty="0"/>
              <a:t>Create Tab </a:t>
            </a:r>
            <a:r>
              <a:rPr lang="en-US" sz="2400" dirty="0"/>
              <a:t>and also from</a:t>
            </a:r>
            <a:r>
              <a:rPr lang="en-US" sz="2400" b="1" dirty="0"/>
              <a:t> Templates </a:t>
            </a:r>
            <a:r>
              <a:rPr lang="en-US" sz="2400" dirty="0"/>
              <a:t>in</a:t>
            </a:r>
            <a:r>
              <a:rPr lang="en-US" sz="2400" b="1" dirty="0"/>
              <a:t> Application Parts</a:t>
            </a:r>
            <a:r>
              <a:rPr lang="en-US" sz="2400" dirty="0"/>
              <a:t>. </a:t>
            </a:r>
          </a:p>
          <a:p>
            <a:pPr>
              <a:lnSpc>
                <a:spcPct val="150000"/>
              </a:lnSpc>
            </a:pPr>
            <a:r>
              <a:rPr lang="en-US" sz="2400" b="1" dirty="0"/>
              <a:t>Create</a:t>
            </a:r>
            <a:r>
              <a:rPr lang="en-US" sz="2400" dirty="0"/>
              <a:t> a </a:t>
            </a:r>
            <a:r>
              <a:rPr lang="en-US" sz="2400" b="1" dirty="0"/>
              <a:t>table</a:t>
            </a:r>
            <a:r>
              <a:rPr lang="en-US" sz="2400" dirty="0"/>
              <a:t>, </a:t>
            </a:r>
            <a:r>
              <a:rPr lang="en-US" sz="2400" b="1" dirty="0"/>
              <a:t>starting </a:t>
            </a:r>
            <a:r>
              <a:rPr lang="en-US" sz="2400" dirty="0"/>
              <a:t>in</a:t>
            </a:r>
            <a:r>
              <a:rPr lang="en-US" sz="2400" b="1" dirty="0"/>
              <a:t> Datasheet view  </a:t>
            </a:r>
          </a:p>
          <a:p>
            <a:pPr>
              <a:lnSpc>
                <a:spcPct val="150000"/>
              </a:lnSpc>
            </a:pPr>
            <a:r>
              <a:rPr lang="en-US" sz="2400" dirty="0"/>
              <a:t>In</a:t>
            </a:r>
            <a:r>
              <a:rPr lang="en-US" sz="2400" b="1" dirty="0"/>
              <a:t> Datasheet view, </a:t>
            </a:r>
            <a:r>
              <a:rPr lang="en-US" sz="2400" dirty="0"/>
              <a:t>you</a:t>
            </a:r>
            <a:r>
              <a:rPr lang="en-US" sz="2400" b="1" dirty="0"/>
              <a:t> </a:t>
            </a:r>
            <a:r>
              <a:rPr lang="en-US" sz="2400" dirty="0"/>
              <a:t>can </a:t>
            </a:r>
            <a:r>
              <a:rPr lang="en-US" sz="2400" b="1" dirty="0"/>
              <a:t>enter data immediately </a:t>
            </a:r>
            <a:r>
              <a:rPr lang="en-US" sz="2400" dirty="0"/>
              <a:t>and </a:t>
            </a:r>
            <a:r>
              <a:rPr lang="en-US" sz="2400" b="1" dirty="0"/>
              <a:t>let Access build </a:t>
            </a:r>
            <a:r>
              <a:rPr lang="en-US" sz="2400" dirty="0"/>
              <a:t>the </a:t>
            </a:r>
            <a:r>
              <a:rPr lang="en-US" sz="2400" b="1" dirty="0"/>
              <a:t>table structure behind the scenes</a:t>
            </a:r>
            <a:r>
              <a:rPr lang="en-US" sz="2400" dirty="0"/>
              <a:t>. </a:t>
            </a:r>
          </a:p>
          <a:p>
            <a:pPr>
              <a:lnSpc>
                <a:spcPct val="150000"/>
              </a:lnSpc>
            </a:pPr>
            <a:r>
              <a:rPr lang="en-US" sz="2400" b="1" dirty="0"/>
              <a:t>Field names </a:t>
            </a:r>
            <a:r>
              <a:rPr lang="en-US" sz="2400" dirty="0"/>
              <a:t>are </a:t>
            </a:r>
            <a:r>
              <a:rPr lang="en-US" sz="2400" b="1" dirty="0"/>
              <a:t>assigned numerically </a:t>
            </a:r>
            <a:r>
              <a:rPr lang="en-US" sz="2400" dirty="0"/>
              <a:t>(</a:t>
            </a:r>
            <a:r>
              <a:rPr lang="en-US" sz="2400" b="1" dirty="0"/>
              <a:t>Field1, Field2, </a:t>
            </a:r>
            <a:r>
              <a:rPr lang="en-US" sz="2400" dirty="0"/>
              <a:t>and </a:t>
            </a:r>
            <a:r>
              <a:rPr lang="en-US" sz="2400" b="1" dirty="0"/>
              <a:t>so on</a:t>
            </a:r>
            <a:r>
              <a:rPr lang="en-US" sz="2400" dirty="0"/>
              <a:t>), </a:t>
            </a:r>
          </a:p>
          <a:p>
            <a:pPr>
              <a:lnSpc>
                <a:spcPct val="150000"/>
              </a:lnSpc>
            </a:pPr>
            <a:r>
              <a:rPr lang="en-US" sz="2400" b="1" dirty="0"/>
              <a:t>Access </a:t>
            </a:r>
            <a:r>
              <a:rPr lang="en-US" sz="2400" dirty="0"/>
              <a:t>automatically </a:t>
            </a:r>
            <a:r>
              <a:rPr lang="en-US" sz="2400" b="1" dirty="0"/>
              <a:t>sets</a:t>
            </a:r>
            <a:r>
              <a:rPr lang="en-US" sz="2400" dirty="0"/>
              <a:t> each </a:t>
            </a:r>
            <a:r>
              <a:rPr lang="en-US" sz="2400" b="1" dirty="0"/>
              <a:t>field's data type</a:t>
            </a:r>
            <a:r>
              <a:rPr lang="en-US" sz="2400" dirty="0"/>
              <a:t>, </a:t>
            </a:r>
            <a:r>
              <a:rPr lang="en-US" sz="2400" b="1" dirty="0"/>
              <a:t>based</a:t>
            </a:r>
            <a:r>
              <a:rPr lang="en-US" sz="2400" dirty="0"/>
              <a:t> on the </a:t>
            </a:r>
            <a:r>
              <a:rPr lang="en-US" sz="2400" b="1" dirty="0"/>
              <a:t>data</a:t>
            </a:r>
            <a:r>
              <a:rPr lang="en-US" sz="2400" dirty="0"/>
              <a:t> you </a:t>
            </a:r>
            <a:r>
              <a:rPr lang="en-US" sz="2400" b="1" dirty="0"/>
              <a:t>enter</a:t>
            </a:r>
            <a:r>
              <a:rPr lang="en-US" sz="2400" dirty="0"/>
              <a:t>.</a:t>
            </a:r>
          </a:p>
          <a:p>
            <a:endParaRPr lang="en-MW" dirty="0"/>
          </a:p>
        </p:txBody>
      </p:sp>
    </p:spTree>
    <p:extLst>
      <p:ext uri="{BB962C8B-B14F-4D97-AF65-F5344CB8AC3E}">
        <p14:creationId xmlns:p14="http://schemas.microsoft.com/office/powerpoint/2010/main" val="22585632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6EDD5-E144-4CC9-93FB-7A6A8625B22A}"/>
              </a:ext>
            </a:extLst>
          </p:cNvPr>
          <p:cNvSpPr>
            <a:spLocks noGrp="1"/>
          </p:cNvSpPr>
          <p:nvPr>
            <p:ph type="title"/>
          </p:nvPr>
        </p:nvSpPr>
        <p:spPr>
          <a:xfrm>
            <a:off x="1636889" y="227510"/>
            <a:ext cx="9867723" cy="719268"/>
          </a:xfrm>
        </p:spPr>
        <p:txBody>
          <a:bodyPr>
            <a:normAutofit fontScale="90000"/>
          </a:bodyPr>
          <a:lstStyle/>
          <a:p>
            <a:r>
              <a:rPr lang="en-US" sz="4000" dirty="0"/>
              <a:t>CREATE A TABLE, STARTING IN DESIGN VIEW</a:t>
            </a:r>
            <a:br>
              <a:rPr lang="en-US" dirty="0"/>
            </a:br>
            <a:endParaRPr lang="en-MW" dirty="0"/>
          </a:p>
        </p:txBody>
      </p:sp>
      <p:sp>
        <p:nvSpPr>
          <p:cNvPr id="3" name="Content Placeholder 2">
            <a:extLst>
              <a:ext uri="{FF2B5EF4-FFF2-40B4-BE49-F238E27FC236}">
                <a16:creationId xmlns:a16="http://schemas.microsoft.com/office/drawing/2014/main" id="{9107A6CB-E492-4361-99F1-A2D02E172D4C}"/>
              </a:ext>
            </a:extLst>
          </p:cNvPr>
          <p:cNvSpPr>
            <a:spLocks noGrp="1"/>
          </p:cNvSpPr>
          <p:nvPr>
            <p:ph idx="1"/>
          </p:nvPr>
        </p:nvSpPr>
        <p:spPr>
          <a:xfrm>
            <a:off x="1636889" y="946779"/>
            <a:ext cx="9867723" cy="5183088"/>
          </a:xfrm>
        </p:spPr>
        <p:txBody>
          <a:bodyPr>
            <a:normAutofit fontScale="85000" lnSpcReduction="20000"/>
          </a:bodyPr>
          <a:lstStyle/>
          <a:p>
            <a:pPr>
              <a:lnSpc>
                <a:spcPct val="160000"/>
              </a:lnSpc>
            </a:pPr>
            <a:r>
              <a:rPr lang="en-US" sz="2600" dirty="0"/>
              <a:t>In </a:t>
            </a:r>
            <a:r>
              <a:rPr lang="en-US" sz="2600" b="1" dirty="0"/>
              <a:t>Design view</a:t>
            </a:r>
            <a:r>
              <a:rPr lang="en-US" sz="2600" dirty="0"/>
              <a:t>, you </a:t>
            </a:r>
            <a:r>
              <a:rPr lang="en-US" sz="2600" b="1" dirty="0"/>
              <a:t>first create </a:t>
            </a:r>
            <a:r>
              <a:rPr lang="en-US" sz="2600" dirty="0"/>
              <a:t>the </a:t>
            </a:r>
            <a:r>
              <a:rPr lang="en-US" sz="2600" b="1" dirty="0"/>
              <a:t>table structure</a:t>
            </a:r>
            <a:r>
              <a:rPr lang="en-US" sz="2600" dirty="0"/>
              <a:t>. </a:t>
            </a:r>
          </a:p>
          <a:p>
            <a:pPr>
              <a:lnSpc>
                <a:spcPct val="160000"/>
              </a:lnSpc>
            </a:pPr>
            <a:r>
              <a:rPr lang="en-US" sz="2600" dirty="0"/>
              <a:t>Then </a:t>
            </a:r>
            <a:r>
              <a:rPr lang="en-US" sz="2600" b="1" dirty="0"/>
              <a:t>switch</a:t>
            </a:r>
            <a:r>
              <a:rPr lang="en-US" sz="2600" dirty="0"/>
              <a:t> to </a:t>
            </a:r>
            <a:r>
              <a:rPr lang="en-US" sz="2600" b="1" dirty="0"/>
              <a:t>Datasheet view </a:t>
            </a:r>
            <a:r>
              <a:rPr lang="en-US" sz="2600" dirty="0"/>
              <a:t>to </a:t>
            </a:r>
            <a:r>
              <a:rPr lang="en-US" sz="2600" b="1" dirty="0"/>
              <a:t>enter data</a:t>
            </a:r>
            <a:r>
              <a:rPr lang="en-US" sz="2600" dirty="0"/>
              <a:t>.</a:t>
            </a:r>
          </a:p>
          <a:p>
            <a:pPr>
              <a:lnSpc>
                <a:spcPct val="160000"/>
              </a:lnSpc>
            </a:pPr>
            <a:r>
              <a:rPr lang="en-US" sz="2600" b="1" dirty="0"/>
              <a:t>On</a:t>
            </a:r>
            <a:r>
              <a:rPr lang="en-US" sz="2600" dirty="0"/>
              <a:t> the </a:t>
            </a:r>
            <a:r>
              <a:rPr lang="en-US" sz="2600" b="1" dirty="0"/>
              <a:t>Create Tab</a:t>
            </a:r>
            <a:r>
              <a:rPr lang="en-US" sz="2600" dirty="0"/>
              <a:t>, in the </a:t>
            </a:r>
            <a:r>
              <a:rPr lang="en-US" sz="2600" b="1" dirty="0"/>
              <a:t>Tables Group</a:t>
            </a:r>
            <a:r>
              <a:rPr lang="en-US" sz="2600" dirty="0"/>
              <a:t>, </a:t>
            </a:r>
            <a:r>
              <a:rPr lang="en-US" sz="2600" b="1" dirty="0"/>
              <a:t>click Table Design</a:t>
            </a:r>
            <a:r>
              <a:rPr lang="en-US" sz="2600" dirty="0"/>
              <a:t>. </a:t>
            </a:r>
          </a:p>
          <a:p>
            <a:pPr>
              <a:lnSpc>
                <a:spcPct val="160000"/>
              </a:lnSpc>
            </a:pPr>
            <a:r>
              <a:rPr lang="en-US" sz="2600" b="1" dirty="0"/>
              <a:t>For each field in </a:t>
            </a:r>
            <a:r>
              <a:rPr lang="en-US" sz="2600" dirty="0"/>
              <a:t>your </a:t>
            </a:r>
            <a:r>
              <a:rPr lang="en-US" sz="2600" b="1" dirty="0"/>
              <a:t>table</a:t>
            </a:r>
            <a:r>
              <a:rPr lang="en-US" sz="2600" dirty="0"/>
              <a:t>, </a:t>
            </a:r>
            <a:r>
              <a:rPr lang="en-US" sz="2600" b="1" dirty="0"/>
              <a:t>type</a:t>
            </a:r>
            <a:r>
              <a:rPr lang="en-US" sz="2600" dirty="0"/>
              <a:t> a </a:t>
            </a:r>
            <a:r>
              <a:rPr lang="en-US" sz="2600" b="1" dirty="0"/>
              <a:t>name in </a:t>
            </a:r>
            <a:r>
              <a:rPr lang="en-US" sz="2600" dirty="0"/>
              <a:t>the </a:t>
            </a:r>
            <a:r>
              <a:rPr lang="en-US" sz="2600" b="1" dirty="0"/>
              <a:t>Field Name column</a:t>
            </a:r>
            <a:r>
              <a:rPr lang="en-US" sz="2600" dirty="0"/>
              <a:t>, and </a:t>
            </a:r>
            <a:r>
              <a:rPr lang="en-US" sz="2600" b="1" dirty="0"/>
              <a:t>then</a:t>
            </a:r>
            <a:r>
              <a:rPr lang="en-US" sz="2600" dirty="0"/>
              <a:t> </a:t>
            </a:r>
            <a:r>
              <a:rPr lang="en-US" sz="2600" b="1" dirty="0"/>
              <a:t>select</a:t>
            </a:r>
            <a:r>
              <a:rPr lang="en-US" sz="2600" dirty="0"/>
              <a:t> a </a:t>
            </a:r>
            <a:r>
              <a:rPr lang="en-US" sz="2600" b="1" dirty="0"/>
              <a:t>data type from </a:t>
            </a:r>
            <a:r>
              <a:rPr lang="en-US" sz="2600" dirty="0"/>
              <a:t>the </a:t>
            </a:r>
            <a:r>
              <a:rPr lang="en-US" sz="2600" b="1" dirty="0"/>
              <a:t>Data Type list</a:t>
            </a:r>
            <a:r>
              <a:rPr lang="en-US" sz="2600" dirty="0"/>
              <a:t>. </a:t>
            </a:r>
          </a:p>
          <a:p>
            <a:pPr>
              <a:lnSpc>
                <a:spcPct val="160000"/>
              </a:lnSpc>
            </a:pPr>
            <a:r>
              <a:rPr lang="en-US" sz="2600" dirty="0"/>
              <a:t>If you want, </a:t>
            </a:r>
            <a:r>
              <a:rPr lang="en-US" sz="2600" b="1" dirty="0"/>
              <a:t>you can type </a:t>
            </a:r>
            <a:r>
              <a:rPr lang="en-US" sz="2600" dirty="0"/>
              <a:t>a </a:t>
            </a:r>
            <a:r>
              <a:rPr lang="en-US" sz="2600" b="1" dirty="0"/>
              <a:t>description</a:t>
            </a:r>
            <a:r>
              <a:rPr lang="en-US" sz="2600" dirty="0"/>
              <a:t> for </a:t>
            </a:r>
            <a:r>
              <a:rPr lang="en-US" sz="2600" b="1" dirty="0"/>
              <a:t>each field </a:t>
            </a:r>
            <a:r>
              <a:rPr lang="en-US" sz="2600" dirty="0"/>
              <a:t>in the </a:t>
            </a:r>
            <a:r>
              <a:rPr lang="en-US" sz="2600" b="1" dirty="0"/>
              <a:t>Description column</a:t>
            </a:r>
            <a:r>
              <a:rPr lang="en-US" sz="2600" dirty="0"/>
              <a:t>. </a:t>
            </a:r>
          </a:p>
          <a:p>
            <a:pPr>
              <a:lnSpc>
                <a:spcPct val="160000"/>
              </a:lnSpc>
            </a:pPr>
            <a:r>
              <a:rPr lang="en-US" sz="2600" dirty="0"/>
              <a:t>The </a:t>
            </a:r>
            <a:r>
              <a:rPr lang="en-US" sz="2600" b="1" dirty="0"/>
              <a:t>description</a:t>
            </a:r>
            <a:r>
              <a:rPr lang="en-US" sz="2600" dirty="0"/>
              <a:t> is then </a:t>
            </a:r>
            <a:r>
              <a:rPr lang="en-US" sz="2600" b="1" dirty="0"/>
              <a:t>displayed on </a:t>
            </a:r>
            <a:r>
              <a:rPr lang="en-US" sz="2600" dirty="0"/>
              <a:t>the </a:t>
            </a:r>
            <a:r>
              <a:rPr lang="en-US" sz="2600" b="1" dirty="0"/>
              <a:t>status bar when</a:t>
            </a:r>
            <a:r>
              <a:rPr lang="en-US" sz="2600" dirty="0"/>
              <a:t> the </a:t>
            </a:r>
            <a:r>
              <a:rPr lang="en-US" sz="2600" b="1" dirty="0"/>
              <a:t>cursor</a:t>
            </a:r>
            <a:r>
              <a:rPr lang="en-US" sz="2600" dirty="0"/>
              <a:t> is </a:t>
            </a:r>
            <a:r>
              <a:rPr lang="en-US" sz="2600" b="1" dirty="0"/>
              <a:t>located</a:t>
            </a:r>
            <a:r>
              <a:rPr lang="en-US" sz="2600" dirty="0"/>
              <a:t> in that </a:t>
            </a:r>
            <a:r>
              <a:rPr lang="en-US" sz="2600" b="1" dirty="0"/>
              <a:t>field</a:t>
            </a:r>
            <a:r>
              <a:rPr lang="en-US" sz="2600" dirty="0"/>
              <a:t> </a:t>
            </a:r>
            <a:r>
              <a:rPr lang="en-US" sz="2600" b="1" dirty="0"/>
              <a:t>in Datasheet view</a:t>
            </a:r>
            <a:r>
              <a:rPr lang="en-US" sz="2600" dirty="0"/>
              <a:t>. </a:t>
            </a:r>
          </a:p>
          <a:p>
            <a:pPr marL="0" indent="0">
              <a:buNone/>
            </a:pPr>
            <a:endParaRPr lang="en-MW" dirty="0"/>
          </a:p>
        </p:txBody>
      </p:sp>
    </p:spTree>
    <p:extLst>
      <p:ext uri="{BB962C8B-B14F-4D97-AF65-F5344CB8AC3E}">
        <p14:creationId xmlns:p14="http://schemas.microsoft.com/office/powerpoint/2010/main" val="909952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6EDD5-E144-4CC9-93FB-7A6A8625B22A}"/>
              </a:ext>
            </a:extLst>
          </p:cNvPr>
          <p:cNvSpPr>
            <a:spLocks noGrp="1"/>
          </p:cNvSpPr>
          <p:nvPr>
            <p:ph type="title"/>
          </p:nvPr>
        </p:nvSpPr>
        <p:spPr>
          <a:xfrm>
            <a:off x="1614311" y="227510"/>
            <a:ext cx="9890301" cy="719268"/>
          </a:xfrm>
        </p:spPr>
        <p:txBody>
          <a:bodyPr>
            <a:normAutofit fontScale="90000"/>
          </a:bodyPr>
          <a:lstStyle/>
          <a:p>
            <a:r>
              <a:rPr lang="en-US" sz="4000" dirty="0"/>
              <a:t>CONTD…</a:t>
            </a:r>
            <a:br>
              <a:rPr lang="en-US" dirty="0"/>
            </a:br>
            <a:endParaRPr lang="en-MW" dirty="0"/>
          </a:p>
        </p:txBody>
      </p:sp>
      <p:sp>
        <p:nvSpPr>
          <p:cNvPr id="3" name="Content Placeholder 2">
            <a:extLst>
              <a:ext uri="{FF2B5EF4-FFF2-40B4-BE49-F238E27FC236}">
                <a16:creationId xmlns:a16="http://schemas.microsoft.com/office/drawing/2014/main" id="{9107A6CB-E492-4361-99F1-A2D02E172D4C}"/>
              </a:ext>
            </a:extLst>
          </p:cNvPr>
          <p:cNvSpPr>
            <a:spLocks noGrp="1"/>
          </p:cNvSpPr>
          <p:nvPr>
            <p:ph idx="1"/>
          </p:nvPr>
        </p:nvSpPr>
        <p:spPr>
          <a:xfrm>
            <a:off x="1614311" y="946778"/>
            <a:ext cx="9890301" cy="4964444"/>
          </a:xfrm>
        </p:spPr>
        <p:txBody>
          <a:bodyPr>
            <a:normAutofit fontScale="92500"/>
          </a:bodyPr>
          <a:lstStyle/>
          <a:p>
            <a:pPr>
              <a:lnSpc>
                <a:spcPct val="150000"/>
              </a:lnSpc>
            </a:pPr>
            <a:r>
              <a:rPr lang="en-US" sz="2400" dirty="0"/>
              <a:t>The </a:t>
            </a:r>
            <a:r>
              <a:rPr lang="en-US" sz="2400" b="1" dirty="0"/>
              <a:t>description</a:t>
            </a:r>
            <a:r>
              <a:rPr lang="en-US" sz="2400" dirty="0"/>
              <a:t> is </a:t>
            </a:r>
            <a:r>
              <a:rPr lang="en-US" sz="2400" b="1" dirty="0"/>
              <a:t>also used as </a:t>
            </a:r>
            <a:r>
              <a:rPr lang="en-US" sz="2400" dirty="0"/>
              <a:t>the </a:t>
            </a:r>
            <a:r>
              <a:rPr lang="en-US" sz="2400" b="1" dirty="0"/>
              <a:t>status bar text for any controls in </a:t>
            </a:r>
            <a:r>
              <a:rPr lang="en-US" sz="2400" dirty="0"/>
              <a:t>a </a:t>
            </a:r>
            <a:r>
              <a:rPr lang="en-US" sz="2400" b="1" dirty="0"/>
              <a:t>form</a:t>
            </a:r>
            <a:r>
              <a:rPr lang="en-US" sz="2400" dirty="0"/>
              <a:t> </a:t>
            </a:r>
            <a:r>
              <a:rPr lang="en-US" sz="2400" b="1" dirty="0"/>
              <a:t>or report</a:t>
            </a:r>
            <a:r>
              <a:rPr lang="en-US" sz="2400" dirty="0"/>
              <a:t> that </a:t>
            </a:r>
            <a:r>
              <a:rPr lang="en-US" sz="2400" b="1" dirty="0"/>
              <a:t>you create by dragging </a:t>
            </a:r>
            <a:r>
              <a:rPr lang="en-US" sz="2400" dirty="0"/>
              <a:t>the </a:t>
            </a:r>
            <a:r>
              <a:rPr lang="en-US" sz="2400" b="1" dirty="0"/>
              <a:t>field from </a:t>
            </a:r>
            <a:r>
              <a:rPr lang="en-US" sz="2400" dirty="0"/>
              <a:t>the </a:t>
            </a:r>
            <a:r>
              <a:rPr lang="en-US" sz="2400" b="1" dirty="0"/>
              <a:t>Field List pane</a:t>
            </a:r>
            <a:r>
              <a:rPr lang="en-US" sz="2400" dirty="0"/>
              <a:t>, </a:t>
            </a:r>
            <a:r>
              <a:rPr lang="en-US" sz="2400" b="1" dirty="0"/>
              <a:t>and for </a:t>
            </a:r>
            <a:r>
              <a:rPr lang="en-US" sz="2400" dirty="0"/>
              <a:t>any </a:t>
            </a:r>
            <a:r>
              <a:rPr lang="en-US" sz="2400" b="1" dirty="0"/>
              <a:t>controls</a:t>
            </a:r>
            <a:r>
              <a:rPr lang="en-US" sz="2400" dirty="0"/>
              <a:t> that are </a:t>
            </a:r>
            <a:r>
              <a:rPr lang="en-US" sz="2400" b="1" dirty="0"/>
              <a:t>created for that field when</a:t>
            </a:r>
            <a:r>
              <a:rPr lang="en-US" sz="2400" dirty="0"/>
              <a:t> you </a:t>
            </a:r>
            <a:r>
              <a:rPr lang="en-US" sz="2400" b="1" dirty="0"/>
              <a:t>use</a:t>
            </a:r>
            <a:r>
              <a:rPr lang="en-US" sz="2400" dirty="0"/>
              <a:t> the </a:t>
            </a:r>
            <a:r>
              <a:rPr lang="en-US" sz="2400" b="1" dirty="0"/>
              <a:t>Form Wizard or Report Wizard</a:t>
            </a:r>
            <a:r>
              <a:rPr lang="en-US" sz="2400" dirty="0"/>
              <a:t>. </a:t>
            </a:r>
          </a:p>
          <a:p>
            <a:pPr>
              <a:lnSpc>
                <a:spcPct val="150000"/>
              </a:lnSpc>
            </a:pPr>
            <a:r>
              <a:rPr lang="en-US" sz="2400" b="1" dirty="0"/>
              <a:t>After</a:t>
            </a:r>
            <a:r>
              <a:rPr lang="en-US" sz="2400" dirty="0"/>
              <a:t> you have </a:t>
            </a:r>
            <a:r>
              <a:rPr lang="en-US" sz="2400" b="1" dirty="0"/>
              <a:t>added all </a:t>
            </a:r>
            <a:r>
              <a:rPr lang="en-US" sz="2400" dirty="0"/>
              <a:t>of your </a:t>
            </a:r>
            <a:r>
              <a:rPr lang="en-US" sz="2400" b="1" dirty="0"/>
              <a:t>fields</a:t>
            </a:r>
            <a:r>
              <a:rPr lang="en-US" sz="2400" dirty="0"/>
              <a:t>, </a:t>
            </a:r>
            <a:r>
              <a:rPr lang="en-US" sz="2400" b="1" dirty="0"/>
              <a:t>save</a:t>
            </a:r>
            <a:r>
              <a:rPr lang="en-US" sz="2400" dirty="0"/>
              <a:t> the </a:t>
            </a:r>
            <a:r>
              <a:rPr lang="en-US" sz="2400" b="1" dirty="0"/>
              <a:t>table</a:t>
            </a:r>
            <a:r>
              <a:rPr lang="en-US" sz="2400" dirty="0"/>
              <a:t>: </a:t>
            </a:r>
          </a:p>
          <a:p>
            <a:pPr lvl="1">
              <a:lnSpc>
                <a:spcPct val="150000"/>
              </a:lnSpc>
            </a:pPr>
            <a:r>
              <a:rPr lang="en-US" sz="2400" dirty="0"/>
              <a:t>On the </a:t>
            </a:r>
            <a:r>
              <a:rPr lang="en-US" sz="2400" b="1" dirty="0"/>
              <a:t>File Tab</a:t>
            </a:r>
            <a:r>
              <a:rPr lang="en-US" sz="2400" dirty="0"/>
              <a:t>, click </a:t>
            </a:r>
            <a:r>
              <a:rPr lang="en-US" sz="2400" b="1" dirty="0"/>
              <a:t>Save</a:t>
            </a:r>
            <a:r>
              <a:rPr lang="en-US" sz="2400" dirty="0"/>
              <a:t>.</a:t>
            </a:r>
          </a:p>
          <a:p>
            <a:pPr>
              <a:lnSpc>
                <a:spcPct val="150000"/>
              </a:lnSpc>
            </a:pPr>
            <a:r>
              <a:rPr lang="en-US" sz="2400" dirty="0"/>
              <a:t>You can begin typing data in the table at any time by switching to Datasheet view and clicking in the first empty cell. </a:t>
            </a:r>
          </a:p>
          <a:p>
            <a:pPr marL="0" indent="0">
              <a:buNone/>
            </a:pPr>
            <a:endParaRPr lang="en-MW" dirty="0"/>
          </a:p>
        </p:txBody>
      </p:sp>
    </p:spTree>
    <p:extLst>
      <p:ext uri="{BB962C8B-B14F-4D97-AF65-F5344CB8AC3E}">
        <p14:creationId xmlns:p14="http://schemas.microsoft.com/office/powerpoint/2010/main" val="11557295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73DD2-59D3-4166-96D1-D96DE2412DFB}"/>
              </a:ext>
            </a:extLst>
          </p:cNvPr>
          <p:cNvSpPr>
            <a:spLocks noGrp="1"/>
          </p:cNvSpPr>
          <p:nvPr>
            <p:ph type="title"/>
          </p:nvPr>
        </p:nvSpPr>
        <p:spPr>
          <a:xfrm>
            <a:off x="1659467" y="183843"/>
            <a:ext cx="9845145" cy="866024"/>
          </a:xfrm>
        </p:spPr>
        <p:txBody>
          <a:bodyPr/>
          <a:lstStyle/>
          <a:p>
            <a:r>
              <a:rPr lang="en-US" dirty="0"/>
              <a:t>DATA TYPES</a:t>
            </a:r>
            <a:endParaRPr lang="en-MW" dirty="0"/>
          </a:p>
        </p:txBody>
      </p:sp>
      <p:sp>
        <p:nvSpPr>
          <p:cNvPr id="3" name="Content Placeholder 2">
            <a:extLst>
              <a:ext uri="{FF2B5EF4-FFF2-40B4-BE49-F238E27FC236}">
                <a16:creationId xmlns:a16="http://schemas.microsoft.com/office/drawing/2014/main" id="{BDBFF8DF-D989-4853-8AF0-4FB0B8443C44}"/>
              </a:ext>
            </a:extLst>
          </p:cNvPr>
          <p:cNvSpPr>
            <a:spLocks noGrp="1"/>
          </p:cNvSpPr>
          <p:nvPr>
            <p:ph idx="1"/>
          </p:nvPr>
        </p:nvSpPr>
        <p:spPr>
          <a:xfrm>
            <a:off x="1659467" y="1049867"/>
            <a:ext cx="9845145" cy="4861355"/>
          </a:xfrm>
        </p:spPr>
        <p:txBody>
          <a:bodyPr>
            <a:normAutofit fontScale="85000" lnSpcReduction="20000"/>
          </a:bodyPr>
          <a:lstStyle/>
          <a:p>
            <a:pPr>
              <a:lnSpc>
                <a:spcPct val="150000"/>
              </a:lnSpc>
            </a:pPr>
            <a:r>
              <a:rPr lang="en-US" sz="2400" b="1" dirty="0"/>
              <a:t>Every field </a:t>
            </a:r>
            <a:r>
              <a:rPr lang="en-US" sz="2400" dirty="0"/>
              <a:t>has a </a:t>
            </a:r>
            <a:r>
              <a:rPr lang="en-US" sz="2400" b="1" dirty="0"/>
              <a:t>data type</a:t>
            </a:r>
            <a:r>
              <a:rPr lang="en-US" sz="2400" dirty="0"/>
              <a:t>.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field's data type indicates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kind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of</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data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that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field stores,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such as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text (large amounts of text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or</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attached files), number, date/time, currency etc</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endParaRPr lang="en-US" sz="2400" dirty="0"/>
          </a:p>
          <a:p>
            <a:pPr>
              <a:lnSpc>
                <a:spcPct val="150000"/>
              </a:lnSpc>
            </a:pPr>
            <a:r>
              <a:rPr lang="en-US" sz="2400" dirty="0"/>
              <a:t>A </a:t>
            </a:r>
            <a:r>
              <a:rPr lang="en-US" sz="2400" b="1" dirty="0"/>
              <a:t>data type</a:t>
            </a:r>
            <a:r>
              <a:rPr lang="en-US" sz="2400" dirty="0"/>
              <a:t> is a </a:t>
            </a:r>
            <a:r>
              <a:rPr lang="en-US" sz="2400" b="1" dirty="0"/>
              <a:t>field property</a:t>
            </a:r>
            <a:r>
              <a:rPr lang="en-US" sz="2400" dirty="0"/>
              <a:t>, but it </a:t>
            </a:r>
            <a:r>
              <a:rPr lang="en-US" sz="2400" b="1" dirty="0"/>
              <a:t>differs</a:t>
            </a:r>
            <a:r>
              <a:rPr lang="en-US" sz="2400" dirty="0"/>
              <a:t> from </a:t>
            </a:r>
            <a:r>
              <a:rPr lang="en-US" sz="2400" b="1" dirty="0"/>
              <a:t>other field properties </a:t>
            </a:r>
            <a:r>
              <a:rPr lang="en-US" sz="2400" dirty="0"/>
              <a:t>as follows:</a:t>
            </a:r>
          </a:p>
          <a:p>
            <a:pPr lvl="1">
              <a:lnSpc>
                <a:spcPct val="150000"/>
              </a:lnSpc>
            </a:pPr>
            <a:r>
              <a:rPr lang="en-US" sz="2400" dirty="0"/>
              <a:t>You </a:t>
            </a:r>
            <a:r>
              <a:rPr lang="en-US" sz="2400" b="1" dirty="0"/>
              <a:t>set</a:t>
            </a:r>
            <a:r>
              <a:rPr lang="en-US" sz="2400" dirty="0"/>
              <a:t> a </a:t>
            </a:r>
            <a:r>
              <a:rPr lang="en-US" sz="2400" b="1" dirty="0"/>
              <a:t>field's data type in</a:t>
            </a:r>
            <a:r>
              <a:rPr lang="en-US" sz="2400" dirty="0"/>
              <a:t> the </a:t>
            </a:r>
            <a:r>
              <a:rPr lang="en-US" sz="2400" b="1" dirty="0"/>
              <a:t>table design grid</a:t>
            </a:r>
            <a:r>
              <a:rPr lang="en-US" sz="2400" dirty="0"/>
              <a:t>, </a:t>
            </a:r>
            <a:r>
              <a:rPr lang="en-US" sz="2400" b="1" dirty="0"/>
              <a:t>not</a:t>
            </a:r>
            <a:r>
              <a:rPr lang="en-US" sz="2400" dirty="0"/>
              <a:t> in the </a:t>
            </a:r>
            <a:r>
              <a:rPr lang="en-US" sz="2400" b="1" dirty="0"/>
              <a:t>Field Properties pane</a:t>
            </a:r>
            <a:r>
              <a:rPr lang="en-US" sz="2400" dirty="0"/>
              <a:t>. </a:t>
            </a:r>
          </a:p>
          <a:p>
            <a:pPr>
              <a:lnSpc>
                <a:spcPct val="150000"/>
              </a:lnSpc>
            </a:pPr>
            <a:r>
              <a:rPr lang="en-US" sz="2400" dirty="0"/>
              <a:t>A </a:t>
            </a:r>
            <a:r>
              <a:rPr lang="en-US" sz="2400" b="1" dirty="0"/>
              <a:t>field's data type determines </a:t>
            </a:r>
            <a:r>
              <a:rPr lang="en-US" sz="2400" dirty="0"/>
              <a:t>what </a:t>
            </a:r>
            <a:r>
              <a:rPr lang="en-US" sz="2400" b="1" dirty="0"/>
              <a:t>other properties </a:t>
            </a:r>
            <a:r>
              <a:rPr lang="en-US" sz="2400" dirty="0"/>
              <a:t>the </a:t>
            </a:r>
            <a:r>
              <a:rPr lang="en-US" sz="2400" b="1" dirty="0"/>
              <a:t>field has</a:t>
            </a:r>
            <a:r>
              <a:rPr lang="en-US" sz="2400" dirty="0"/>
              <a:t>. </a:t>
            </a:r>
          </a:p>
          <a:p>
            <a:pPr>
              <a:lnSpc>
                <a:spcPct val="150000"/>
              </a:lnSpc>
            </a:pPr>
            <a:r>
              <a:rPr lang="en-US" sz="2400" dirty="0"/>
              <a:t>You must </a:t>
            </a:r>
            <a:r>
              <a:rPr lang="en-US" sz="2400" b="1" dirty="0"/>
              <a:t>set</a:t>
            </a:r>
            <a:r>
              <a:rPr lang="en-US" sz="2400" dirty="0"/>
              <a:t> a </a:t>
            </a:r>
            <a:r>
              <a:rPr lang="en-US" sz="2400" b="1" dirty="0"/>
              <a:t>field's data type when </a:t>
            </a:r>
            <a:r>
              <a:rPr lang="en-US" sz="2400" dirty="0"/>
              <a:t>you </a:t>
            </a:r>
            <a:r>
              <a:rPr lang="en-US" sz="2400" b="1" dirty="0"/>
              <a:t>create</a:t>
            </a:r>
            <a:r>
              <a:rPr lang="en-US" sz="2400" dirty="0"/>
              <a:t> the </a:t>
            </a:r>
            <a:r>
              <a:rPr lang="en-US" sz="2400" b="1" dirty="0"/>
              <a:t>field</a:t>
            </a:r>
            <a:r>
              <a:rPr lang="en-US" sz="2400" dirty="0"/>
              <a:t>.</a:t>
            </a:r>
          </a:p>
          <a:p>
            <a:endParaRPr lang="en-US" dirty="0"/>
          </a:p>
          <a:p>
            <a:endParaRPr lang="en-MW" dirty="0"/>
          </a:p>
        </p:txBody>
      </p:sp>
    </p:spTree>
    <p:extLst>
      <p:ext uri="{BB962C8B-B14F-4D97-AF65-F5344CB8AC3E}">
        <p14:creationId xmlns:p14="http://schemas.microsoft.com/office/powerpoint/2010/main" val="1196295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C05FC-5465-42E3-AC74-AE1C97B655F8}"/>
              </a:ext>
            </a:extLst>
          </p:cNvPr>
          <p:cNvSpPr>
            <a:spLocks noGrp="1"/>
          </p:cNvSpPr>
          <p:nvPr>
            <p:ph type="title"/>
          </p:nvPr>
        </p:nvSpPr>
        <p:spPr>
          <a:xfrm>
            <a:off x="1682044" y="195132"/>
            <a:ext cx="9822568" cy="877312"/>
          </a:xfrm>
        </p:spPr>
        <p:txBody>
          <a:bodyPr/>
          <a:lstStyle/>
          <a:p>
            <a:r>
              <a:rPr lang="en-US" dirty="0"/>
              <a:t>SET OR CHANGE PRIMARY KEY</a:t>
            </a:r>
            <a:endParaRPr lang="en-MW" dirty="0"/>
          </a:p>
        </p:txBody>
      </p:sp>
      <p:sp>
        <p:nvSpPr>
          <p:cNvPr id="3" name="Content Placeholder 2">
            <a:extLst>
              <a:ext uri="{FF2B5EF4-FFF2-40B4-BE49-F238E27FC236}">
                <a16:creationId xmlns:a16="http://schemas.microsoft.com/office/drawing/2014/main" id="{0C8E241C-CABA-444C-807B-2EEBDDDF83CD}"/>
              </a:ext>
            </a:extLst>
          </p:cNvPr>
          <p:cNvSpPr>
            <a:spLocks noGrp="1"/>
          </p:cNvSpPr>
          <p:nvPr>
            <p:ph idx="1"/>
          </p:nvPr>
        </p:nvSpPr>
        <p:spPr>
          <a:xfrm>
            <a:off x="1682044" y="1072444"/>
            <a:ext cx="9822568" cy="4838778"/>
          </a:xfrm>
        </p:spPr>
        <p:txBody>
          <a:bodyPr>
            <a:normAutofit fontScale="85000" lnSpcReduction="20000"/>
          </a:bodyPr>
          <a:lstStyle/>
          <a:p>
            <a:pPr>
              <a:lnSpc>
                <a:spcPct val="160000"/>
              </a:lnSpc>
            </a:pPr>
            <a:r>
              <a:rPr lang="en-US" sz="2600" b="1" dirty="0"/>
              <a:t>Select</a:t>
            </a:r>
            <a:r>
              <a:rPr lang="en-US" sz="2600" dirty="0"/>
              <a:t> the </a:t>
            </a:r>
            <a:r>
              <a:rPr lang="en-US" sz="2600" b="1" dirty="0"/>
              <a:t>table whose primary key </a:t>
            </a:r>
            <a:r>
              <a:rPr lang="en-US" sz="2600" dirty="0"/>
              <a:t>you </a:t>
            </a:r>
            <a:r>
              <a:rPr lang="en-US" sz="2600" b="1" dirty="0"/>
              <a:t>want</a:t>
            </a:r>
            <a:r>
              <a:rPr lang="en-US" sz="2600" dirty="0"/>
              <a:t> to </a:t>
            </a:r>
            <a:r>
              <a:rPr lang="en-US" sz="2600" b="1" dirty="0"/>
              <a:t>set</a:t>
            </a:r>
            <a:r>
              <a:rPr lang="en-US" sz="2600" dirty="0"/>
              <a:t> </a:t>
            </a:r>
            <a:r>
              <a:rPr lang="en-US" sz="2600" b="1" dirty="0"/>
              <a:t>or change</a:t>
            </a:r>
            <a:r>
              <a:rPr lang="en-US" sz="2600" dirty="0"/>
              <a:t>. </a:t>
            </a:r>
          </a:p>
          <a:p>
            <a:pPr>
              <a:lnSpc>
                <a:spcPct val="160000"/>
              </a:lnSpc>
            </a:pPr>
            <a:r>
              <a:rPr lang="en-US" sz="2600" dirty="0"/>
              <a:t>On the </a:t>
            </a:r>
            <a:r>
              <a:rPr lang="en-US" sz="2600" b="1" dirty="0"/>
              <a:t>Home Tab</a:t>
            </a:r>
            <a:r>
              <a:rPr lang="en-US" sz="2600" dirty="0"/>
              <a:t>, in the </a:t>
            </a:r>
            <a:r>
              <a:rPr lang="en-US" sz="2600" b="1" dirty="0"/>
              <a:t>Views Group</a:t>
            </a:r>
            <a:r>
              <a:rPr lang="en-US" sz="2600" dirty="0"/>
              <a:t>, </a:t>
            </a:r>
            <a:r>
              <a:rPr lang="en-US" sz="2600" b="1" dirty="0"/>
              <a:t>click View</a:t>
            </a:r>
            <a:r>
              <a:rPr lang="en-US" sz="2600" dirty="0"/>
              <a:t>, and then </a:t>
            </a:r>
            <a:r>
              <a:rPr lang="en-US" sz="2600" b="1" dirty="0"/>
              <a:t>click Design View</a:t>
            </a:r>
            <a:r>
              <a:rPr lang="en-US" sz="2600" dirty="0"/>
              <a:t>. </a:t>
            </a:r>
          </a:p>
          <a:p>
            <a:pPr>
              <a:lnSpc>
                <a:spcPct val="160000"/>
              </a:lnSpc>
            </a:pPr>
            <a:r>
              <a:rPr lang="en-US" sz="2600" dirty="0"/>
              <a:t>In the </a:t>
            </a:r>
            <a:r>
              <a:rPr lang="en-US" sz="2600" b="1" dirty="0"/>
              <a:t>table design grid</a:t>
            </a:r>
            <a:r>
              <a:rPr lang="en-US" sz="2600" dirty="0"/>
              <a:t>, </a:t>
            </a:r>
            <a:r>
              <a:rPr lang="en-US" sz="2600" b="1" dirty="0"/>
              <a:t>select</a:t>
            </a:r>
            <a:r>
              <a:rPr lang="en-US" sz="2600" dirty="0"/>
              <a:t> the </a:t>
            </a:r>
            <a:r>
              <a:rPr lang="en-US" sz="2600" b="1" dirty="0"/>
              <a:t>field or fields </a:t>
            </a:r>
            <a:r>
              <a:rPr lang="en-US" sz="2600" dirty="0"/>
              <a:t>that you want </a:t>
            </a:r>
            <a:r>
              <a:rPr lang="en-US" sz="2600" b="1" dirty="0"/>
              <a:t>to use as </a:t>
            </a:r>
            <a:r>
              <a:rPr lang="en-US" sz="2600" dirty="0"/>
              <a:t>the </a:t>
            </a:r>
            <a:r>
              <a:rPr lang="en-US" sz="2600" b="1" dirty="0"/>
              <a:t>primary key</a:t>
            </a:r>
            <a:r>
              <a:rPr lang="en-US" sz="2600" dirty="0"/>
              <a:t>. </a:t>
            </a:r>
          </a:p>
          <a:p>
            <a:pPr lvl="1">
              <a:lnSpc>
                <a:spcPct val="160000"/>
              </a:lnSpc>
            </a:pPr>
            <a:r>
              <a:rPr lang="en-US" sz="2600" b="1" dirty="0"/>
              <a:t>To select one field</a:t>
            </a:r>
            <a:r>
              <a:rPr lang="en-US" sz="2600" dirty="0"/>
              <a:t>, </a:t>
            </a:r>
            <a:r>
              <a:rPr lang="en-US" sz="2600" b="1" dirty="0"/>
              <a:t>click</a:t>
            </a:r>
            <a:r>
              <a:rPr lang="en-US" sz="2600" dirty="0"/>
              <a:t> the </a:t>
            </a:r>
            <a:r>
              <a:rPr lang="en-US" sz="2600" b="1" dirty="0"/>
              <a:t>row selector </a:t>
            </a:r>
            <a:r>
              <a:rPr lang="en-US" sz="2600" dirty="0"/>
              <a:t>for the </a:t>
            </a:r>
            <a:r>
              <a:rPr lang="en-US" sz="2600" b="1" dirty="0"/>
              <a:t>field</a:t>
            </a:r>
            <a:r>
              <a:rPr lang="en-US" sz="2600" dirty="0"/>
              <a:t> you </a:t>
            </a:r>
            <a:r>
              <a:rPr lang="en-US" sz="2600" b="1" dirty="0"/>
              <a:t>want</a:t>
            </a:r>
            <a:r>
              <a:rPr lang="en-US" sz="2600" dirty="0"/>
              <a:t>.</a:t>
            </a:r>
          </a:p>
          <a:p>
            <a:pPr lvl="2">
              <a:lnSpc>
                <a:spcPct val="160000"/>
              </a:lnSpc>
            </a:pPr>
            <a:r>
              <a:rPr lang="en-US" sz="2600" b="1" dirty="0"/>
              <a:t>Row selector</a:t>
            </a:r>
            <a:r>
              <a:rPr lang="en-US" sz="2600" dirty="0"/>
              <a:t>: A </a:t>
            </a:r>
            <a:r>
              <a:rPr lang="en-US" sz="2600" b="1" dirty="0"/>
              <a:t>small box or bar </a:t>
            </a:r>
            <a:r>
              <a:rPr lang="en-US" sz="2600" dirty="0"/>
              <a:t>that, </a:t>
            </a:r>
            <a:r>
              <a:rPr lang="en-US" sz="2600" b="1" dirty="0"/>
              <a:t>when clicked</a:t>
            </a:r>
            <a:r>
              <a:rPr lang="en-US" sz="2600" dirty="0"/>
              <a:t>, </a:t>
            </a:r>
            <a:r>
              <a:rPr lang="en-US" sz="2600" b="1" dirty="0"/>
              <a:t>selects</a:t>
            </a:r>
            <a:r>
              <a:rPr lang="en-US" sz="2600" dirty="0"/>
              <a:t> an </a:t>
            </a:r>
            <a:r>
              <a:rPr lang="en-US" sz="2600" b="1" dirty="0"/>
              <a:t>entire row </a:t>
            </a:r>
            <a:r>
              <a:rPr lang="en-US" sz="2600" dirty="0"/>
              <a:t>in </a:t>
            </a:r>
            <a:r>
              <a:rPr lang="en-US" sz="2600" b="1" dirty="0"/>
              <a:t>table Design view</a:t>
            </a:r>
            <a:r>
              <a:rPr lang="en-US" sz="2600" dirty="0"/>
              <a:t>, </a:t>
            </a:r>
            <a:r>
              <a:rPr lang="en-US" sz="2600" b="1" dirty="0"/>
              <a:t>or when</a:t>
            </a:r>
            <a:r>
              <a:rPr lang="en-US" sz="2600" dirty="0"/>
              <a:t> you </a:t>
            </a:r>
            <a:r>
              <a:rPr lang="en-US" sz="2600" b="1" dirty="0"/>
              <a:t>sort and group records </a:t>
            </a:r>
            <a:r>
              <a:rPr lang="en-US" sz="2600" dirty="0"/>
              <a:t>in</a:t>
            </a:r>
            <a:r>
              <a:rPr lang="en-US" sz="2600" b="1" dirty="0"/>
              <a:t> report Design view. </a:t>
            </a:r>
          </a:p>
          <a:p>
            <a:endParaRPr lang="en-US" dirty="0"/>
          </a:p>
          <a:p>
            <a:endParaRPr lang="en-MW" dirty="0"/>
          </a:p>
        </p:txBody>
      </p:sp>
    </p:spTree>
    <p:extLst>
      <p:ext uri="{BB962C8B-B14F-4D97-AF65-F5344CB8AC3E}">
        <p14:creationId xmlns:p14="http://schemas.microsoft.com/office/powerpoint/2010/main" val="1695275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C05FC-5465-42E3-AC74-AE1C97B655F8}"/>
              </a:ext>
            </a:extLst>
          </p:cNvPr>
          <p:cNvSpPr>
            <a:spLocks noGrp="1"/>
          </p:cNvSpPr>
          <p:nvPr>
            <p:ph type="title"/>
          </p:nvPr>
        </p:nvSpPr>
        <p:spPr>
          <a:xfrm>
            <a:off x="1625600" y="217710"/>
            <a:ext cx="9879012" cy="877312"/>
          </a:xfrm>
        </p:spPr>
        <p:txBody>
          <a:bodyPr/>
          <a:lstStyle/>
          <a:p>
            <a:r>
              <a:rPr lang="en-US" dirty="0"/>
              <a:t>CONTD…</a:t>
            </a:r>
            <a:endParaRPr lang="en-MW" dirty="0"/>
          </a:p>
        </p:txBody>
      </p:sp>
      <p:sp>
        <p:nvSpPr>
          <p:cNvPr id="3" name="Content Placeholder 2">
            <a:extLst>
              <a:ext uri="{FF2B5EF4-FFF2-40B4-BE49-F238E27FC236}">
                <a16:creationId xmlns:a16="http://schemas.microsoft.com/office/drawing/2014/main" id="{0C8E241C-CABA-444C-807B-2EEBDDDF83CD}"/>
              </a:ext>
            </a:extLst>
          </p:cNvPr>
          <p:cNvSpPr>
            <a:spLocks noGrp="1"/>
          </p:cNvSpPr>
          <p:nvPr>
            <p:ph idx="1"/>
          </p:nvPr>
        </p:nvSpPr>
        <p:spPr>
          <a:xfrm>
            <a:off x="1625600" y="1095022"/>
            <a:ext cx="9879012" cy="4816200"/>
          </a:xfrm>
        </p:spPr>
        <p:txBody>
          <a:bodyPr>
            <a:normAutofit/>
          </a:bodyPr>
          <a:lstStyle/>
          <a:p>
            <a:pPr>
              <a:lnSpc>
                <a:spcPct val="150000"/>
              </a:lnSpc>
            </a:pPr>
            <a:r>
              <a:rPr lang="en-US" sz="2400" b="1" dirty="0"/>
              <a:t>To select more than one field</a:t>
            </a:r>
            <a:r>
              <a:rPr lang="en-US" sz="2400" dirty="0"/>
              <a:t>, hold down </a:t>
            </a:r>
            <a:r>
              <a:rPr lang="en-US" sz="2400" b="1" dirty="0"/>
              <a:t>CTRL </a:t>
            </a:r>
            <a:r>
              <a:rPr lang="en-US" sz="2400" dirty="0"/>
              <a:t>key, and then </a:t>
            </a:r>
            <a:r>
              <a:rPr lang="en-US" sz="2400" b="1" dirty="0"/>
              <a:t>click </a:t>
            </a:r>
            <a:r>
              <a:rPr lang="en-US" sz="2400" dirty="0"/>
              <a:t>the </a:t>
            </a:r>
            <a:r>
              <a:rPr lang="en-US" sz="2400" b="1" dirty="0"/>
              <a:t>row selector </a:t>
            </a:r>
            <a:r>
              <a:rPr lang="en-US" sz="2400" dirty="0"/>
              <a:t>for </a:t>
            </a:r>
            <a:r>
              <a:rPr lang="en-US" sz="2400" b="1" dirty="0"/>
              <a:t>each field</a:t>
            </a:r>
            <a:r>
              <a:rPr lang="en-US" sz="2400" dirty="0"/>
              <a:t>.</a:t>
            </a:r>
          </a:p>
          <a:p>
            <a:pPr>
              <a:lnSpc>
                <a:spcPct val="150000"/>
              </a:lnSpc>
            </a:pPr>
            <a:r>
              <a:rPr lang="en-US" sz="2400" dirty="0"/>
              <a:t>On the </a:t>
            </a:r>
            <a:r>
              <a:rPr lang="en-US" sz="2400" b="1" dirty="0"/>
              <a:t>Design Tab</a:t>
            </a:r>
            <a:r>
              <a:rPr lang="en-US" sz="2400" dirty="0"/>
              <a:t>, in the </a:t>
            </a:r>
            <a:r>
              <a:rPr lang="en-US" sz="2400" b="1" dirty="0"/>
              <a:t>Tools Group</a:t>
            </a:r>
            <a:r>
              <a:rPr lang="en-US" sz="2400" dirty="0"/>
              <a:t>, click </a:t>
            </a:r>
            <a:r>
              <a:rPr lang="en-US" sz="2400" b="1" dirty="0"/>
              <a:t>Primary Key</a:t>
            </a:r>
            <a:r>
              <a:rPr lang="en-US" sz="2400" dirty="0"/>
              <a:t>.</a:t>
            </a:r>
          </a:p>
          <a:p>
            <a:endParaRPr lang="en-US" dirty="0"/>
          </a:p>
          <a:p>
            <a:endParaRPr lang="en-MW" dirty="0"/>
          </a:p>
        </p:txBody>
      </p:sp>
      <p:pic>
        <p:nvPicPr>
          <p:cNvPr id="4" name="Picture 3">
            <a:extLst>
              <a:ext uri="{FF2B5EF4-FFF2-40B4-BE49-F238E27FC236}">
                <a16:creationId xmlns:a16="http://schemas.microsoft.com/office/drawing/2014/main" id="{7CF03EAC-5F39-4B6F-AAC9-B06E064B1115}"/>
              </a:ext>
            </a:extLst>
          </p:cNvPr>
          <p:cNvPicPr>
            <a:picLocks noChangeAspect="1"/>
          </p:cNvPicPr>
          <p:nvPr/>
        </p:nvPicPr>
        <p:blipFill>
          <a:blip r:embed="rId2"/>
          <a:stretch>
            <a:fillRect/>
          </a:stretch>
        </p:blipFill>
        <p:spPr>
          <a:xfrm>
            <a:off x="3162200" y="3429000"/>
            <a:ext cx="6206266" cy="1981372"/>
          </a:xfrm>
          <a:prstGeom prst="rect">
            <a:avLst/>
          </a:prstGeom>
        </p:spPr>
      </p:pic>
    </p:spTree>
    <p:extLst>
      <p:ext uri="{BB962C8B-B14F-4D97-AF65-F5344CB8AC3E}">
        <p14:creationId xmlns:p14="http://schemas.microsoft.com/office/powerpoint/2010/main" val="2614513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D988-E6A1-4894-8845-8BF62401775D}"/>
              </a:ext>
            </a:extLst>
          </p:cNvPr>
          <p:cNvSpPr>
            <a:spLocks noGrp="1"/>
          </p:cNvSpPr>
          <p:nvPr>
            <p:ph type="title"/>
          </p:nvPr>
        </p:nvSpPr>
        <p:spPr>
          <a:xfrm>
            <a:off x="1636889" y="228999"/>
            <a:ext cx="9867723" cy="809579"/>
          </a:xfrm>
        </p:spPr>
        <p:txBody>
          <a:bodyPr/>
          <a:lstStyle/>
          <a:p>
            <a:r>
              <a:rPr lang="en-US" dirty="0"/>
              <a:t>REMOVING PRIMARY KEY</a:t>
            </a:r>
            <a:endParaRPr lang="en-MW" dirty="0"/>
          </a:p>
        </p:txBody>
      </p:sp>
      <p:sp>
        <p:nvSpPr>
          <p:cNvPr id="3" name="Content Placeholder 2">
            <a:extLst>
              <a:ext uri="{FF2B5EF4-FFF2-40B4-BE49-F238E27FC236}">
                <a16:creationId xmlns:a16="http://schemas.microsoft.com/office/drawing/2014/main" id="{27A9F400-EE1C-4D97-B6BA-023BB0738EEF}"/>
              </a:ext>
            </a:extLst>
          </p:cNvPr>
          <p:cNvSpPr>
            <a:spLocks noGrp="1"/>
          </p:cNvSpPr>
          <p:nvPr>
            <p:ph idx="1"/>
          </p:nvPr>
        </p:nvSpPr>
        <p:spPr>
          <a:xfrm>
            <a:off x="1636889" y="1038579"/>
            <a:ext cx="9867723" cy="4872644"/>
          </a:xfrm>
        </p:spPr>
        <p:txBody>
          <a:bodyPr/>
          <a:lstStyle/>
          <a:p>
            <a:pPr>
              <a:lnSpc>
                <a:spcPct val="150000"/>
              </a:lnSpc>
            </a:pPr>
            <a:r>
              <a:rPr lang="en-US" sz="2400" b="1" dirty="0"/>
              <a:t>Select</a:t>
            </a:r>
            <a:r>
              <a:rPr lang="en-US" sz="2400" dirty="0"/>
              <a:t> the </a:t>
            </a:r>
            <a:r>
              <a:rPr lang="en-US" sz="2400" b="1" dirty="0"/>
              <a:t>table</a:t>
            </a:r>
            <a:r>
              <a:rPr lang="en-US" sz="2400" dirty="0"/>
              <a:t> whose </a:t>
            </a:r>
            <a:r>
              <a:rPr lang="en-US" sz="2400" b="1" dirty="0"/>
              <a:t>primary key </a:t>
            </a:r>
            <a:r>
              <a:rPr lang="en-US" sz="2400" dirty="0"/>
              <a:t>you want </a:t>
            </a:r>
            <a:r>
              <a:rPr lang="en-US" sz="2400" b="1" dirty="0"/>
              <a:t>to remove</a:t>
            </a:r>
            <a:r>
              <a:rPr lang="en-US" sz="2400" dirty="0"/>
              <a:t>. </a:t>
            </a:r>
          </a:p>
          <a:p>
            <a:pPr>
              <a:lnSpc>
                <a:spcPct val="150000"/>
              </a:lnSpc>
            </a:pPr>
            <a:r>
              <a:rPr lang="en-US" sz="2400" dirty="0"/>
              <a:t>On the </a:t>
            </a:r>
            <a:r>
              <a:rPr lang="en-US" sz="2400" b="1" dirty="0"/>
              <a:t>Home Tab</a:t>
            </a:r>
            <a:r>
              <a:rPr lang="en-US" sz="2400" dirty="0"/>
              <a:t>, in the </a:t>
            </a:r>
            <a:r>
              <a:rPr lang="en-US" sz="2400" b="1" dirty="0"/>
              <a:t>Views Group</a:t>
            </a:r>
            <a:r>
              <a:rPr lang="en-US" sz="2400" dirty="0"/>
              <a:t>, </a:t>
            </a:r>
            <a:r>
              <a:rPr lang="en-US" sz="2400" b="1" dirty="0"/>
              <a:t>click View</a:t>
            </a:r>
            <a:r>
              <a:rPr lang="en-US" sz="2400" dirty="0"/>
              <a:t>, and then </a:t>
            </a:r>
            <a:r>
              <a:rPr lang="en-US" sz="2400" b="1" dirty="0"/>
              <a:t>click Design View</a:t>
            </a:r>
            <a:r>
              <a:rPr lang="en-US" sz="2400" dirty="0"/>
              <a:t>. </a:t>
            </a:r>
          </a:p>
          <a:p>
            <a:pPr>
              <a:lnSpc>
                <a:spcPct val="150000"/>
              </a:lnSpc>
            </a:pPr>
            <a:r>
              <a:rPr lang="en-US" sz="2400" b="1" dirty="0"/>
              <a:t>Click</a:t>
            </a:r>
            <a:r>
              <a:rPr lang="en-US" sz="2400" dirty="0"/>
              <a:t> the </a:t>
            </a:r>
            <a:r>
              <a:rPr lang="en-US" sz="2400" b="1" dirty="0"/>
              <a:t>row selector </a:t>
            </a:r>
            <a:r>
              <a:rPr lang="en-US" sz="2400" dirty="0"/>
              <a:t>for the </a:t>
            </a:r>
            <a:r>
              <a:rPr lang="en-US" sz="2400" b="1" dirty="0"/>
              <a:t>current primary key</a:t>
            </a:r>
            <a:r>
              <a:rPr lang="en-US" sz="2400" dirty="0"/>
              <a:t>. </a:t>
            </a:r>
          </a:p>
          <a:p>
            <a:pPr lvl="1">
              <a:lnSpc>
                <a:spcPct val="150000"/>
              </a:lnSpc>
            </a:pPr>
            <a:r>
              <a:rPr lang="en-US" sz="2400" b="1" dirty="0"/>
              <a:t>If</a:t>
            </a:r>
            <a:r>
              <a:rPr lang="en-US" sz="2400" dirty="0"/>
              <a:t> the </a:t>
            </a:r>
            <a:r>
              <a:rPr lang="en-US" sz="2400" b="1" dirty="0"/>
              <a:t>primary key consists </a:t>
            </a:r>
            <a:r>
              <a:rPr lang="en-US" sz="2400" dirty="0"/>
              <a:t>of </a:t>
            </a:r>
            <a:r>
              <a:rPr lang="en-US" sz="2400" b="1" dirty="0"/>
              <a:t>multiple fields</a:t>
            </a:r>
            <a:r>
              <a:rPr lang="en-US" sz="2400" dirty="0"/>
              <a:t>, hold down </a:t>
            </a:r>
            <a:r>
              <a:rPr lang="en-US" sz="2400" b="1" dirty="0"/>
              <a:t>CTRL</a:t>
            </a:r>
            <a:r>
              <a:rPr lang="en-US" sz="2400" dirty="0"/>
              <a:t> Key, and then </a:t>
            </a:r>
            <a:r>
              <a:rPr lang="en-US" sz="2400" b="1" dirty="0"/>
              <a:t>click </a:t>
            </a:r>
            <a:r>
              <a:rPr lang="en-US" sz="2400" dirty="0"/>
              <a:t>the </a:t>
            </a:r>
            <a:r>
              <a:rPr lang="en-US" sz="2400" b="1" dirty="0"/>
              <a:t>row selector </a:t>
            </a:r>
            <a:r>
              <a:rPr lang="en-US" sz="2400" dirty="0"/>
              <a:t>for </a:t>
            </a:r>
            <a:r>
              <a:rPr lang="en-US" sz="2400" b="1" dirty="0"/>
              <a:t>each field. </a:t>
            </a:r>
          </a:p>
          <a:p>
            <a:pPr>
              <a:lnSpc>
                <a:spcPct val="150000"/>
              </a:lnSpc>
            </a:pPr>
            <a:r>
              <a:rPr lang="en-US" sz="2400" dirty="0"/>
              <a:t>On the </a:t>
            </a:r>
            <a:r>
              <a:rPr lang="en-US" sz="2400" b="1" dirty="0"/>
              <a:t>Design Tab</a:t>
            </a:r>
            <a:r>
              <a:rPr lang="en-US" sz="2400" dirty="0"/>
              <a:t>, in the </a:t>
            </a:r>
            <a:r>
              <a:rPr lang="en-US" sz="2400" b="1" dirty="0"/>
              <a:t>Tools Group</a:t>
            </a:r>
            <a:r>
              <a:rPr lang="en-US" sz="2400" dirty="0"/>
              <a:t>, </a:t>
            </a:r>
            <a:r>
              <a:rPr lang="en-US" sz="2400" b="1" dirty="0"/>
              <a:t>click Primary Key</a:t>
            </a:r>
            <a:r>
              <a:rPr lang="en-US" sz="2400" dirty="0"/>
              <a:t>.</a:t>
            </a:r>
          </a:p>
          <a:p>
            <a:endParaRPr lang="en-MW" dirty="0"/>
          </a:p>
        </p:txBody>
      </p:sp>
    </p:spTree>
    <p:extLst>
      <p:ext uri="{BB962C8B-B14F-4D97-AF65-F5344CB8AC3E}">
        <p14:creationId xmlns:p14="http://schemas.microsoft.com/office/powerpoint/2010/main" val="234703281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23101</TotalTime>
  <Words>2508</Words>
  <Application>Microsoft Office PowerPoint</Application>
  <PresentationFormat>Widescreen</PresentationFormat>
  <Paragraphs>209</Paragraphs>
  <Slides>34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Century Gothic</vt:lpstr>
      <vt:lpstr>Times New Roman</vt:lpstr>
      <vt:lpstr>Wingdings 3</vt:lpstr>
      <vt:lpstr>Wisp</vt:lpstr>
      <vt:lpstr>END USER COMPUTING.   BICT 1101</vt:lpstr>
      <vt:lpstr>INTRODUCTION TO DATABASE</vt:lpstr>
      <vt:lpstr>CONTD…</vt:lpstr>
      <vt:lpstr>CONTD…</vt:lpstr>
      <vt:lpstr>CONTD…</vt:lpstr>
      <vt:lpstr>CONTD…</vt:lpstr>
      <vt:lpstr>TABLES</vt:lpstr>
      <vt:lpstr>CONTD…</vt:lpstr>
      <vt:lpstr>TABLE RELATIONSHIPS</vt:lpstr>
      <vt:lpstr>TABLES (PRIMARY AND SECONDARY KEYS)</vt:lpstr>
      <vt:lpstr>CONTD…</vt:lpstr>
      <vt:lpstr>CONTD…</vt:lpstr>
      <vt:lpstr>DATABASE DESIGN</vt:lpstr>
      <vt:lpstr>CONTD…</vt:lpstr>
      <vt:lpstr>CONTD…</vt:lpstr>
      <vt:lpstr>ADVANTAGES OF ACCESS</vt:lpstr>
      <vt:lpstr>ACCESS 2016 USER INTERFACE</vt:lpstr>
      <vt:lpstr>CONTD…</vt:lpstr>
      <vt:lpstr>DATABASE OBJECTS</vt:lpstr>
      <vt:lpstr>CONTD…</vt:lpstr>
      <vt:lpstr>DATABASE CREATION</vt:lpstr>
      <vt:lpstr>CONTD…</vt:lpstr>
      <vt:lpstr>CONTD…</vt:lpstr>
      <vt:lpstr>CONTD…</vt:lpstr>
      <vt:lpstr>MS ACCESS VIEWS</vt:lpstr>
      <vt:lpstr>CONTD…</vt:lpstr>
      <vt:lpstr>CREATING A TABLE</vt:lpstr>
      <vt:lpstr>ADD A TABLE</vt:lpstr>
      <vt:lpstr>CREATE A TABLE, STARTING IN DESIGN VIEW </vt:lpstr>
      <vt:lpstr>CONTD… </vt:lpstr>
      <vt:lpstr>DATA TYPES</vt:lpstr>
      <vt:lpstr>SET OR CHANGE PRIMARY KEY</vt:lpstr>
      <vt:lpstr>CONTD…</vt:lpstr>
      <vt:lpstr>REMOVING PRIMARY KEY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Patricia Khonje</dc:creator>
  <cp:lastModifiedBy>Patricia Khonje</cp:lastModifiedBy>
  <cp:revision>281</cp:revision>
  <dcterms:created xsi:type="dcterms:W3CDTF">2021-04-25T22:35:39Z</dcterms:created>
  <dcterms:modified xsi:type="dcterms:W3CDTF">2022-07-09T20:11:29Z</dcterms:modified>
</cp:coreProperties>
</file>