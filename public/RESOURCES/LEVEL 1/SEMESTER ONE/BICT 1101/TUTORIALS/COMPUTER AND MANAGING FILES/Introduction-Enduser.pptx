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23" r:id="rId3"/>
    <p:sldId id="258" r:id="rId4"/>
    <p:sldId id="291" r:id="rId5"/>
    <p:sldId id="259" r:id="rId6"/>
    <p:sldId id="262" r:id="rId7"/>
    <p:sldId id="260" r:id="rId8"/>
    <p:sldId id="261" r:id="rId9"/>
    <p:sldId id="312" r:id="rId10"/>
    <p:sldId id="292" r:id="rId11"/>
    <p:sldId id="293" r:id="rId12"/>
    <p:sldId id="294" r:id="rId13"/>
    <p:sldId id="295" r:id="rId14"/>
    <p:sldId id="296" r:id="rId15"/>
    <p:sldId id="297" r:id="rId16"/>
    <p:sldId id="298" r:id="rId17"/>
    <p:sldId id="299" r:id="rId18"/>
    <p:sldId id="300" r:id="rId19"/>
    <p:sldId id="313" r:id="rId20"/>
    <p:sldId id="301" r:id="rId21"/>
    <p:sldId id="302" r:id="rId22"/>
    <p:sldId id="303" r:id="rId23"/>
    <p:sldId id="304" r:id="rId24"/>
    <p:sldId id="307" r:id="rId25"/>
    <p:sldId id="308" r:id="rId26"/>
    <p:sldId id="266" r:id="rId27"/>
    <p:sldId id="314" r:id="rId28"/>
    <p:sldId id="315" r:id="rId29"/>
    <p:sldId id="267" r:id="rId30"/>
    <p:sldId id="268" r:id="rId31"/>
    <p:sldId id="310" r:id="rId32"/>
    <p:sldId id="311" r:id="rId33"/>
    <p:sldId id="269" r:id="rId34"/>
    <p:sldId id="270" r:id="rId35"/>
    <p:sldId id="317" r:id="rId36"/>
    <p:sldId id="318" r:id="rId37"/>
    <p:sldId id="319" r:id="rId38"/>
    <p:sldId id="321" r:id="rId39"/>
    <p:sldId id="322"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82" y="-90"/>
      </p:cViewPr>
      <p:guideLst>
        <p:guide orient="horz" pos="2160"/>
        <p:guide pos="3840"/>
      </p:guideLst>
    </p:cSldViewPr>
  </p:slideViewPr>
  <p:notesTextViewPr>
    <p:cViewPr>
      <p:scale>
        <a:sx n="1" d="1"/>
        <a:sy n="1" d="1"/>
      </p:scale>
      <p:origin x="0" y="0"/>
    </p:cViewPr>
  </p:notesTextViewPr>
  <p:sorterViewPr>
    <p:cViewPr>
      <p:scale>
        <a:sx n="180" d="100"/>
        <a:sy n="1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02CBB51-5788-41B1-BF2D-782FBF55FD21}" type="datetimeFigureOut">
              <a:rPr lang="en-US" smtClean="0"/>
              <a:t>9/11/2020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6C55B1-FF52-4DDB-BFBD-5FA7BBDC010C}" type="slidenum">
              <a:rPr lang="en-US" smtClean="0"/>
              <a:t>‹#›</a:t>
            </a:fld>
            <a:endParaRPr lang="en-US"/>
          </a:p>
        </p:txBody>
      </p:sp>
    </p:spTree>
    <p:extLst>
      <p:ext uri="{BB962C8B-B14F-4D97-AF65-F5344CB8AC3E}">
        <p14:creationId xmlns:p14="http://schemas.microsoft.com/office/powerpoint/2010/main" val="2375326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2CBB51-5788-41B1-BF2D-782FBF55FD21}" type="datetimeFigureOut">
              <a:rPr lang="en-US" smtClean="0"/>
              <a:t>9/11/2020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6C55B1-FF52-4DDB-BFBD-5FA7BBDC010C}" type="slidenum">
              <a:rPr lang="en-US" smtClean="0"/>
              <a:t>‹#›</a:t>
            </a:fld>
            <a:endParaRPr lang="en-US"/>
          </a:p>
        </p:txBody>
      </p:sp>
    </p:spTree>
    <p:extLst>
      <p:ext uri="{BB962C8B-B14F-4D97-AF65-F5344CB8AC3E}">
        <p14:creationId xmlns:p14="http://schemas.microsoft.com/office/powerpoint/2010/main" val="52475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2CBB51-5788-41B1-BF2D-782FBF55FD21}" type="datetimeFigureOut">
              <a:rPr lang="en-US" smtClean="0"/>
              <a:t>9/11/2020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6C55B1-FF52-4DDB-BFBD-5FA7BBDC010C}" type="slidenum">
              <a:rPr lang="en-US" smtClean="0"/>
              <a:t>‹#›</a:t>
            </a:fld>
            <a:endParaRPr lang="en-US"/>
          </a:p>
        </p:txBody>
      </p:sp>
    </p:spTree>
    <p:extLst>
      <p:ext uri="{BB962C8B-B14F-4D97-AF65-F5344CB8AC3E}">
        <p14:creationId xmlns:p14="http://schemas.microsoft.com/office/powerpoint/2010/main" val="2434111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02CBB51-5788-41B1-BF2D-782FBF55FD21}" type="datetimeFigureOut">
              <a:rPr lang="en-US" smtClean="0"/>
              <a:t>9/11/2020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6C55B1-FF52-4DDB-BFBD-5FA7BBDC010C}" type="slidenum">
              <a:rPr lang="en-US" smtClean="0"/>
              <a:t>‹#›</a:t>
            </a:fld>
            <a:endParaRPr lang="en-US"/>
          </a:p>
        </p:txBody>
      </p:sp>
    </p:spTree>
    <p:extLst>
      <p:ext uri="{BB962C8B-B14F-4D97-AF65-F5344CB8AC3E}">
        <p14:creationId xmlns:p14="http://schemas.microsoft.com/office/powerpoint/2010/main" val="100845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02CBB51-5788-41B1-BF2D-782FBF55FD21}" type="datetimeFigureOut">
              <a:rPr lang="en-US" smtClean="0"/>
              <a:t>9/11/2020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6C55B1-FF52-4DDB-BFBD-5FA7BBDC010C}" type="slidenum">
              <a:rPr lang="en-US" smtClean="0"/>
              <a:t>‹#›</a:t>
            </a:fld>
            <a:endParaRPr lang="en-US"/>
          </a:p>
        </p:txBody>
      </p:sp>
    </p:spTree>
    <p:extLst>
      <p:ext uri="{BB962C8B-B14F-4D97-AF65-F5344CB8AC3E}">
        <p14:creationId xmlns:p14="http://schemas.microsoft.com/office/powerpoint/2010/main" val="3654771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02CBB51-5788-41B1-BF2D-782FBF55FD21}" type="datetimeFigureOut">
              <a:rPr lang="en-US" smtClean="0"/>
              <a:t>9/11/2020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6C55B1-FF52-4DDB-BFBD-5FA7BBDC010C}" type="slidenum">
              <a:rPr lang="en-US" smtClean="0"/>
              <a:t>‹#›</a:t>
            </a:fld>
            <a:endParaRPr lang="en-US"/>
          </a:p>
        </p:txBody>
      </p:sp>
    </p:spTree>
    <p:extLst>
      <p:ext uri="{BB962C8B-B14F-4D97-AF65-F5344CB8AC3E}">
        <p14:creationId xmlns:p14="http://schemas.microsoft.com/office/powerpoint/2010/main" val="2131808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2CBB51-5788-41B1-BF2D-782FBF55FD21}" type="datetimeFigureOut">
              <a:rPr lang="en-US" smtClean="0"/>
              <a:t>9/11/2020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6C55B1-FF52-4DDB-BFBD-5FA7BBDC010C}" type="slidenum">
              <a:rPr lang="en-US" smtClean="0"/>
              <a:t>‹#›</a:t>
            </a:fld>
            <a:endParaRPr lang="en-US"/>
          </a:p>
        </p:txBody>
      </p:sp>
    </p:spTree>
    <p:extLst>
      <p:ext uri="{BB962C8B-B14F-4D97-AF65-F5344CB8AC3E}">
        <p14:creationId xmlns:p14="http://schemas.microsoft.com/office/powerpoint/2010/main" val="3654376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2CBB51-5788-41B1-BF2D-782FBF55FD21}" type="datetimeFigureOut">
              <a:rPr lang="en-US" smtClean="0"/>
              <a:t>9/11/2020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6C55B1-FF52-4DDB-BFBD-5FA7BBDC010C}" type="slidenum">
              <a:rPr lang="en-US" smtClean="0"/>
              <a:t>‹#›</a:t>
            </a:fld>
            <a:endParaRPr lang="en-US"/>
          </a:p>
        </p:txBody>
      </p:sp>
    </p:spTree>
    <p:extLst>
      <p:ext uri="{BB962C8B-B14F-4D97-AF65-F5344CB8AC3E}">
        <p14:creationId xmlns:p14="http://schemas.microsoft.com/office/powerpoint/2010/main" val="1825606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2CBB51-5788-41B1-BF2D-782FBF55FD21}" type="datetimeFigureOut">
              <a:rPr lang="en-US" smtClean="0"/>
              <a:t>9/11/2020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6C55B1-FF52-4DDB-BFBD-5FA7BBDC010C}" type="slidenum">
              <a:rPr lang="en-US" smtClean="0"/>
              <a:t>‹#›</a:t>
            </a:fld>
            <a:endParaRPr lang="en-US"/>
          </a:p>
        </p:txBody>
      </p:sp>
    </p:spTree>
    <p:extLst>
      <p:ext uri="{BB962C8B-B14F-4D97-AF65-F5344CB8AC3E}">
        <p14:creationId xmlns:p14="http://schemas.microsoft.com/office/powerpoint/2010/main" val="801718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2CBB51-5788-41B1-BF2D-782FBF55FD21}" type="datetimeFigureOut">
              <a:rPr lang="en-US" smtClean="0"/>
              <a:t>9/11/2020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6C55B1-FF52-4DDB-BFBD-5FA7BBDC010C}" type="slidenum">
              <a:rPr lang="en-US" smtClean="0"/>
              <a:t>‹#›</a:t>
            </a:fld>
            <a:endParaRPr lang="en-US"/>
          </a:p>
        </p:txBody>
      </p:sp>
    </p:spTree>
    <p:extLst>
      <p:ext uri="{BB962C8B-B14F-4D97-AF65-F5344CB8AC3E}">
        <p14:creationId xmlns:p14="http://schemas.microsoft.com/office/powerpoint/2010/main" val="2195317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2CBB51-5788-41B1-BF2D-782FBF55FD21}" type="datetimeFigureOut">
              <a:rPr lang="en-US" smtClean="0"/>
              <a:t>9/11/2020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6C55B1-FF52-4DDB-BFBD-5FA7BBDC010C}" type="slidenum">
              <a:rPr lang="en-US" smtClean="0"/>
              <a:t>‹#›</a:t>
            </a:fld>
            <a:endParaRPr lang="en-US"/>
          </a:p>
        </p:txBody>
      </p:sp>
    </p:spTree>
    <p:extLst>
      <p:ext uri="{BB962C8B-B14F-4D97-AF65-F5344CB8AC3E}">
        <p14:creationId xmlns:p14="http://schemas.microsoft.com/office/powerpoint/2010/main" val="316029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2CBB51-5788-41B1-BF2D-782FBF55FD21}" type="datetimeFigureOut">
              <a:rPr lang="en-US" smtClean="0"/>
              <a:t>9/11/2020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C55B1-FF52-4DDB-BFBD-5FA7BBDC010C}" type="slidenum">
              <a:rPr lang="en-US" smtClean="0"/>
              <a:t>‹#›</a:t>
            </a:fld>
            <a:endParaRPr lang="en-US"/>
          </a:p>
        </p:txBody>
      </p:sp>
    </p:spTree>
    <p:extLst>
      <p:ext uri="{BB962C8B-B14F-4D97-AF65-F5344CB8AC3E}">
        <p14:creationId xmlns:p14="http://schemas.microsoft.com/office/powerpoint/2010/main" val="37250644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eaLnBrk="1" hangingPunct="1"/>
            <a:r>
              <a:rPr lang="en-US" dirty="0"/>
              <a:t>ICT1101</a:t>
            </a:r>
            <a:endParaRPr lang="en-US" altLang="en-US" dirty="0"/>
          </a:p>
        </p:txBody>
      </p:sp>
      <p:sp>
        <p:nvSpPr>
          <p:cNvPr id="2051" name="Rectangle 3"/>
          <p:cNvSpPr>
            <a:spLocks noGrp="1" noChangeArrowheads="1"/>
          </p:cNvSpPr>
          <p:nvPr>
            <p:ph type="subTitle" idx="1"/>
          </p:nvPr>
        </p:nvSpPr>
        <p:spPr/>
        <p:txBody>
          <a:bodyPr/>
          <a:lstStyle/>
          <a:p>
            <a:pPr eaLnBrk="1" hangingPunct="1"/>
            <a:r>
              <a:rPr lang="en-US" dirty="0"/>
              <a:t>ENDUSER COMPUTING</a:t>
            </a:r>
          </a:p>
          <a:p>
            <a:pPr eaLnBrk="1" hangingPunct="1"/>
            <a:r>
              <a:rPr lang="en-US" dirty="0"/>
              <a:t>Ngwenya J. </a:t>
            </a:r>
            <a:endParaRPr lang="en-US" altLang="en-US" dirty="0"/>
          </a:p>
        </p:txBody>
      </p:sp>
    </p:spTree>
    <p:extLst>
      <p:ext uri="{BB962C8B-B14F-4D97-AF65-F5344CB8AC3E}">
        <p14:creationId xmlns:p14="http://schemas.microsoft.com/office/powerpoint/2010/main" val="4108221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b="1" kern="0" dirty="0">
                <a:solidFill>
                  <a:srgbClr val="000000"/>
                </a:solidFill>
                <a:latin typeface="Century Gothic"/>
              </a:rPr>
              <a:t>Main Objectives</a:t>
            </a:r>
            <a:endParaRPr lang="en-US" dirty="0"/>
          </a:p>
        </p:txBody>
      </p:sp>
      <p:sp>
        <p:nvSpPr>
          <p:cNvPr id="3" name="Content Placeholder 2"/>
          <p:cNvSpPr>
            <a:spLocks noGrp="1"/>
          </p:cNvSpPr>
          <p:nvPr>
            <p:ph idx="1"/>
          </p:nvPr>
        </p:nvSpPr>
        <p:spPr/>
        <p:txBody>
          <a:bodyPr/>
          <a:lstStyle/>
          <a:p>
            <a:r>
              <a:rPr lang="en-US" dirty="0">
                <a:solidFill>
                  <a:srgbClr val="000000"/>
                </a:solidFill>
              </a:rPr>
              <a:t>Operate a personal computer running Win/Linux</a:t>
            </a:r>
          </a:p>
          <a:p>
            <a:r>
              <a:rPr lang="en-US" dirty="0">
                <a:solidFill>
                  <a:srgbClr val="000000"/>
                </a:solidFill>
              </a:rPr>
              <a:t>Create documents using </a:t>
            </a:r>
            <a:r>
              <a:rPr lang="en-US" dirty="0" err="1">
                <a:solidFill>
                  <a:srgbClr val="000000"/>
                </a:solidFill>
              </a:rPr>
              <a:t>Ms</a:t>
            </a:r>
            <a:r>
              <a:rPr lang="en-US" dirty="0">
                <a:solidFill>
                  <a:srgbClr val="000000"/>
                </a:solidFill>
              </a:rPr>
              <a:t> Word, </a:t>
            </a:r>
            <a:r>
              <a:rPr lang="en-US" dirty="0" err="1">
                <a:solidFill>
                  <a:srgbClr val="000000"/>
                </a:solidFill>
              </a:rPr>
              <a:t>Ms</a:t>
            </a:r>
            <a:r>
              <a:rPr lang="en-US" dirty="0">
                <a:solidFill>
                  <a:srgbClr val="000000"/>
                </a:solidFill>
              </a:rPr>
              <a:t> Excel and presentations using </a:t>
            </a:r>
            <a:r>
              <a:rPr lang="en-US" dirty="0" err="1">
                <a:solidFill>
                  <a:srgbClr val="000000"/>
                </a:solidFill>
              </a:rPr>
              <a:t>Ms</a:t>
            </a:r>
            <a:r>
              <a:rPr lang="en-US" dirty="0">
                <a:solidFill>
                  <a:srgbClr val="000000"/>
                </a:solidFill>
              </a:rPr>
              <a:t> PowerPoint</a:t>
            </a:r>
          </a:p>
          <a:p>
            <a:r>
              <a:rPr lang="en-US" dirty="0">
                <a:solidFill>
                  <a:srgbClr val="000000"/>
                </a:solidFill>
              </a:rPr>
              <a:t>Build databases using </a:t>
            </a:r>
            <a:r>
              <a:rPr lang="en-US" dirty="0" err="1">
                <a:solidFill>
                  <a:srgbClr val="000000"/>
                </a:solidFill>
              </a:rPr>
              <a:t>Ms</a:t>
            </a:r>
            <a:r>
              <a:rPr lang="en-US" dirty="0">
                <a:solidFill>
                  <a:srgbClr val="000000"/>
                </a:solidFill>
              </a:rPr>
              <a:t> Access</a:t>
            </a:r>
          </a:p>
          <a:p>
            <a:r>
              <a:rPr lang="en-US" dirty="0">
                <a:solidFill>
                  <a:srgbClr val="000000"/>
                </a:solidFill>
              </a:rPr>
              <a:t>Find information on the web using search engines</a:t>
            </a:r>
          </a:p>
          <a:p>
            <a:r>
              <a:rPr lang="en-US" dirty="0">
                <a:solidFill>
                  <a:srgbClr val="000000"/>
                </a:solidFill>
              </a:rPr>
              <a:t>Send and receive electronic mail</a:t>
            </a:r>
          </a:p>
          <a:p>
            <a:endParaRPr lang="en-US" dirty="0"/>
          </a:p>
        </p:txBody>
      </p:sp>
    </p:spTree>
    <p:extLst>
      <p:ext uri="{BB962C8B-B14F-4D97-AF65-F5344CB8AC3E}">
        <p14:creationId xmlns:p14="http://schemas.microsoft.com/office/powerpoint/2010/main" val="3589989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81825" y="274638"/>
            <a:ext cx="9491730" cy="1143000"/>
          </a:xfrm>
        </p:spPr>
        <p:txBody>
          <a:bodyPr/>
          <a:lstStyle/>
          <a:p>
            <a:pPr algn="ctr" eaLnBrk="1" hangingPunct="1"/>
            <a:r>
              <a:rPr lang="en-US" sz="3200" dirty="0"/>
              <a:t>EXPLAIN THE IMPORTANCE OF COMPUTER LITERACY</a:t>
            </a:r>
          </a:p>
        </p:txBody>
      </p:sp>
      <p:sp>
        <p:nvSpPr>
          <p:cNvPr id="3075" name="Rectangle 3"/>
          <p:cNvSpPr>
            <a:spLocks noGrp="1" noChangeArrowheads="1"/>
          </p:cNvSpPr>
          <p:nvPr>
            <p:ph type="body" idx="1"/>
          </p:nvPr>
        </p:nvSpPr>
        <p:spPr>
          <a:xfrm>
            <a:off x="1081825" y="1246189"/>
            <a:ext cx="9491730" cy="5334915"/>
          </a:xfrm>
        </p:spPr>
        <p:txBody>
          <a:bodyPr>
            <a:noAutofit/>
          </a:bodyPr>
          <a:lstStyle/>
          <a:p>
            <a:pPr eaLnBrk="1" hangingPunct="1">
              <a:lnSpc>
                <a:spcPct val="80000"/>
              </a:lnSpc>
            </a:pPr>
            <a:r>
              <a:rPr lang="en-ZA" dirty="0"/>
              <a:t>Who is an end user?</a:t>
            </a:r>
            <a:endParaRPr lang="en-US" dirty="0"/>
          </a:p>
          <a:p>
            <a:pPr eaLnBrk="1" hangingPunct="1">
              <a:lnSpc>
                <a:spcPct val="80000"/>
              </a:lnSpc>
            </a:pPr>
            <a:r>
              <a:rPr lang="en-US" dirty="0"/>
              <a:t>Computers have touched every part of our lives: </a:t>
            </a:r>
          </a:p>
          <a:p>
            <a:pPr lvl="1">
              <a:lnSpc>
                <a:spcPct val="80000"/>
              </a:lnSpc>
            </a:pPr>
            <a:r>
              <a:rPr lang="en-US" dirty="0"/>
              <a:t>The way we work</a:t>
            </a:r>
          </a:p>
          <a:p>
            <a:pPr lvl="1">
              <a:lnSpc>
                <a:spcPct val="80000"/>
              </a:lnSpc>
            </a:pPr>
            <a:r>
              <a:rPr lang="en-US" dirty="0"/>
              <a:t>The way we learn</a:t>
            </a:r>
          </a:p>
          <a:p>
            <a:pPr lvl="1">
              <a:lnSpc>
                <a:spcPct val="80000"/>
              </a:lnSpc>
            </a:pPr>
            <a:r>
              <a:rPr lang="en-US" dirty="0"/>
              <a:t>The way we live</a:t>
            </a:r>
          </a:p>
          <a:p>
            <a:pPr lvl="1">
              <a:lnSpc>
                <a:spcPct val="80000"/>
              </a:lnSpc>
            </a:pPr>
            <a:r>
              <a:rPr lang="en-US" dirty="0"/>
              <a:t>Even the way we play. </a:t>
            </a:r>
          </a:p>
          <a:p>
            <a:pPr eaLnBrk="1" hangingPunct="1">
              <a:lnSpc>
                <a:spcPct val="80000"/>
              </a:lnSpc>
            </a:pPr>
            <a:r>
              <a:rPr lang="en-US" dirty="0"/>
              <a:t>Because of the significance of computers in today’s world, it is important to be computer literate. </a:t>
            </a:r>
          </a:p>
          <a:p>
            <a:pPr eaLnBrk="1" hangingPunct="1">
              <a:lnSpc>
                <a:spcPct val="80000"/>
              </a:lnSpc>
            </a:pPr>
            <a:r>
              <a:rPr lang="en-US" dirty="0"/>
              <a:t>Being computer literate means you have knowledge and understanding of computers and their uses.</a:t>
            </a:r>
          </a:p>
          <a:p>
            <a:pPr eaLnBrk="1" hangingPunct="1">
              <a:lnSpc>
                <a:spcPct val="80000"/>
              </a:lnSpc>
            </a:pPr>
            <a:r>
              <a:rPr lang="en-US" dirty="0"/>
              <a:t>A computer is an electronic machine, operating under the control of instructions stored in its own memory, that can accept data, manipulate the data according to specified rules, produce results, and store the results for future use.</a:t>
            </a:r>
          </a:p>
        </p:txBody>
      </p:sp>
    </p:spTree>
    <p:extLst>
      <p:ext uri="{BB962C8B-B14F-4D97-AF65-F5344CB8AC3E}">
        <p14:creationId xmlns:p14="http://schemas.microsoft.com/office/powerpoint/2010/main" val="4226185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838200" y="365126"/>
            <a:ext cx="10515600" cy="922762"/>
          </a:xfrm>
        </p:spPr>
        <p:txBody>
          <a:bodyPr>
            <a:normAutofit fontScale="90000"/>
          </a:bodyPr>
          <a:lstStyle/>
          <a:p>
            <a:r>
              <a:rPr lang="en-US" sz="4000" dirty="0"/>
              <a:t>Understand the startup process for a personal computer</a:t>
            </a:r>
            <a:br>
              <a:rPr lang="en-US" sz="4000" dirty="0"/>
            </a:br>
            <a:endParaRPr lang="en-US" dirty="0"/>
          </a:p>
        </p:txBody>
      </p:sp>
      <p:sp>
        <p:nvSpPr>
          <p:cNvPr id="56323" name="Rectangle 3"/>
          <p:cNvSpPr>
            <a:spLocks noGrp="1" noChangeArrowheads="1"/>
          </p:cNvSpPr>
          <p:nvPr>
            <p:ph type="body" idx="1"/>
          </p:nvPr>
        </p:nvSpPr>
        <p:spPr>
          <a:xfrm>
            <a:off x="838200" y="1030310"/>
            <a:ext cx="10515600" cy="5146653"/>
          </a:xfrm>
        </p:spPr>
        <p:txBody>
          <a:bodyPr>
            <a:noAutofit/>
          </a:bodyPr>
          <a:lstStyle/>
          <a:p>
            <a:pPr eaLnBrk="1" hangingPunct="1">
              <a:lnSpc>
                <a:spcPct val="80000"/>
              </a:lnSpc>
            </a:pPr>
            <a:r>
              <a:rPr lang="en-US" sz="2400" dirty="0"/>
              <a:t>Booting is the process of starting or restarting a computer. </a:t>
            </a:r>
          </a:p>
          <a:p>
            <a:pPr eaLnBrk="1" hangingPunct="1">
              <a:lnSpc>
                <a:spcPct val="80000"/>
              </a:lnSpc>
            </a:pPr>
            <a:r>
              <a:rPr lang="en-US" sz="2400" dirty="0"/>
              <a:t>When you turn on the computer, the power supply sends an electrical signal to devices located in the system unit. </a:t>
            </a:r>
          </a:p>
          <a:p>
            <a:pPr eaLnBrk="1" hangingPunct="1">
              <a:lnSpc>
                <a:spcPct val="80000"/>
              </a:lnSpc>
            </a:pPr>
            <a:r>
              <a:rPr lang="en-US" sz="2400" dirty="0"/>
              <a:t>The processor chip resets itself and looks for the ROM chip that contains the BIOS (basic input/output system), which is firmware that holds the startup instructions. </a:t>
            </a:r>
          </a:p>
          <a:p>
            <a:pPr eaLnBrk="1" hangingPunct="1">
              <a:lnSpc>
                <a:spcPct val="80000"/>
              </a:lnSpc>
            </a:pPr>
            <a:r>
              <a:rPr lang="en-US" sz="2400" dirty="0"/>
              <a:t>The BIOS executes the power-on self test (POST) to make sure hardware is connected properly and operating correctly. </a:t>
            </a:r>
          </a:p>
          <a:p>
            <a:pPr eaLnBrk="1" hangingPunct="1">
              <a:lnSpc>
                <a:spcPct val="80000"/>
              </a:lnSpc>
            </a:pPr>
            <a:r>
              <a:rPr lang="en-US" sz="2400" dirty="0"/>
              <a:t>The POST results are compared with data in a CMOS chip on the motherboard. </a:t>
            </a:r>
          </a:p>
          <a:p>
            <a:pPr eaLnBrk="1" hangingPunct="1">
              <a:lnSpc>
                <a:spcPct val="80000"/>
              </a:lnSpc>
            </a:pPr>
            <a:r>
              <a:rPr lang="en-US" sz="2400" dirty="0"/>
              <a:t>If the POST completes successfully, the BIOS searches for specific operating system files called system files. </a:t>
            </a:r>
          </a:p>
          <a:p>
            <a:pPr lvl="1">
              <a:lnSpc>
                <a:spcPct val="80000"/>
              </a:lnSpc>
            </a:pPr>
            <a:r>
              <a:rPr lang="en-US" sz="1800" dirty="0"/>
              <a:t>Once located, the boot drive (the drive from which your personal computer starts), loads the system files from storage (the hard disk – usually drive C) into memory (RAM) and executes them. </a:t>
            </a:r>
          </a:p>
          <a:p>
            <a:pPr lvl="1">
              <a:lnSpc>
                <a:spcPct val="80000"/>
              </a:lnSpc>
            </a:pPr>
            <a:r>
              <a:rPr lang="en-US" sz="1800" dirty="0"/>
              <a:t>Next, the kernel of the operating system loads into memory and takes control of the computer. </a:t>
            </a:r>
          </a:p>
          <a:p>
            <a:pPr lvl="1">
              <a:lnSpc>
                <a:spcPct val="80000"/>
              </a:lnSpc>
            </a:pPr>
            <a:r>
              <a:rPr lang="en-US" sz="1800" dirty="0"/>
              <a:t>The operating system loads configuration information. </a:t>
            </a:r>
          </a:p>
        </p:txBody>
      </p:sp>
    </p:spTree>
    <p:extLst>
      <p:ext uri="{BB962C8B-B14F-4D97-AF65-F5344CB8AC3E}">
        <p14:creationId xmlns:p14="http://schemas.microsoft.com/office/powerpoint/2010/main" val="1343584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idx="1"/>
          </p:nvPr>
        </p:nvSpPr>
        <p:spPr>
          <a:xfrm>
            <a:off x="838200" y="463639"/>
            <a:ext cx="10515600" cy="5713324"/>
          </a:xfrm>
        </p:spPr>
        <p:txBody>
          <a:bodyPr/>
          <a:lstStyle/>
          <a:p>
            <a:pPr eaLnBrk="1" hangingPunct="1">
              <a:lnSpc>
                <a:spcPct val="80000"/>
              </a:lnSpc>
            </a:pPr>
            <a:r>
              <a:rPr lang="en-US" sz="2400" b="1" dirty="0"/>
              <a:t>What computers do:</a:t>
            </a:r>
          </a:p>
          <a:p>
            <a:pPr lvl="1">
              <a:lnSpc>
                <a:spcPct val="80000"/>
              </a:lnSpc>
            </a:pPr>
            <a:r>
              <a:rPr lang="en-US" sz="2000" dirty="0"/>
              <a:t>Computers process data to create information. </a:t>
            </a:r>
          </a:p>
          <a:p>
            <a:pPr lvl="1">
              <a:lnSpc>
                <a:spcPct val="80000"/>
              </a:lnSpc>
            </a:pPr>
            <a:r>
              <a:rPr lang="en-US" sz="2000" dirty="0"/>
              <a:t>Data is a collection of raw unprocessed facts, figures, and symbols. </a:t>
            </a:r>
          </a:p>
          <a:p>
            <a:pPr lvl="1">
              <a:lnSpc>
                <a:spcPct val="80000"/>
              </a:lnSpc>
            </a:pPr>
            <a:r>
              <a:rPr lang="en-US" sz="2000" dirty="0"/>
              <a:t>Information is data that is organized, meaningful, and useful. </a:t>
            </a:r>
          </a:p>
          <a:p>
            <a:pPr eaLnBrk="1" hangingPunct="1">
              <a:lnSpc>
                <a:spcPct val="80000"/>
              </a:lnSpc>
            </a:pPr>
            <a:r>
              <a:rPr lang="en-US" dirty="0"/>
              <a:t>To process data into information, a computer uses hardware and software. </a:t>
            </a:r>
          </a:p>
          <a:p>
            <a:pPr eaLnBrk="1" hangingPunct="1">
              <a:lnSpc>
                <a:spcPct val="80000"/>
              </a:lnSpc>
            </a:pPr>
            <a:r>
              <a:rPr lang="en-US" dirty="0"/>
              <a:t>Hardware is the electric, electronic, and mechanical equipment that makes up a computer. </a:t>
            </a:r>
          </a:p>
          <a:p>
            <a:pPr eaLnBrk="1" hangingPunct="1">
              <a:lnSpc>
                <a:spcPct val="80000"/>
              </a:lnSpc>
            </a:pPr>
            <a:r>
              <a:rPr lang="en-US" dirty="0"/>
              <a:t>Software is the series of instructions that tells the hardware how to perform tasks.</a:t>
            </a:r>
          </a:p>
        </p:txBody>
      </p:sp>
    </p:spTree>
    <p:extLst>
      <p:ext uri="{BB962C8B-B14F-4D97-AF65-F5344CB8AC3E}">
        <p14:creationId xmlns:p14="http://schemas.microsoft.com/office/powerpoint/2010/main" val="1914248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838200" y="365126"/>
            <a:ext cx="10515600" cy="752476"/>
          </a:xfrm>
        </p:spPr>
        <p:txBody>
          <a:bodyPr/>
          <a:lstStyle/>
          <a:p>
            <a:pPr algn="ctr" eaLnBrk="1" hangingPunct="1"/>
            <a:r>
              <a:rPr lang="en-US" altLang="en-US" sz="3200" dirty="0"/>
              <a:t>WHY</a:t>
            </a:r>
            <a:r>
              <a:rPr lang="en-US" sz="3200" dirty="0"/>
              <a:t> </a:t>
            </a:r>
            <a:r>
              <a:rPr lang="en-US" altLang="en-US" sz="3200" dirty="0"/>
              <a:t>A COMPUTER IS A POWERFUL TOOL</a:t>
            </a:r>
          </a:p>
        </p:txBody>
      </p:sp>
      <p:sp>
        <p:nvSpPr>
          <p:cNvPr id="7171" name="Rectangle 3"/>
          <p:cNvSpPr>
            <a:spLocks noGrp="1" noChangeArrowheads="1"/>
          </p:cNvSpPr>
          <p:nvPr>
            <p:ph type="body" idx="1"/>
          </p:nvPr>
        </p:nvSpPr>
        <p:spPr>
          <a:xfrm>
            <a:off x="838200" y="1117601"/>
            <a:ext cx="10515599" cy="5008563"/>
          </a:xfrm>
        </p:spPr>
        <p:txBody>
          <a:bodyPr>
            <a:normAutofit/>
          </a:bodyPr>
          <a:lstStyle/>
          <a:p>
            <a:pPr lvl="1" eaLnBrk="1" hangingPunct="1">
              <a:lnSpc>
                <a:spcPct val="90000"/>
              </a:lnSpc>
            </a:pPr>
            <a:r>
              <a:rPr lang="en-US" dirty="0"/>
              <a:t>It  is able to perform the information processing cycle operations (input, process, output, and storage) with:</a:t>
            </a:r>
          </a:p>
          <a:p>
            <a:pPr lvl="2"/>
            <a:r>
              <a:rPr lang="en-US" dirty="0"/>
              <a:t> amazing speed</a:t>
            </a:r>
          </a:p>
          <a:p>
            <a:pPr lvl="2"/>
            <a:r>
              <a:rPr lang="en-US" dirty="0"/>
              <a:t>reliability, and </a:t>
            </a:r>
          </a:p>
          <a:p>
            <a:pPr lvl="2"/>
            <a:r>
              <a:rPr lang="en-US" dirty="0"/>
              <a:t>accuracy</a:t>
            </a:r>
          </a:p>
          <a:p>
            <a:pPr lvl="1" eaLnBrk="1" hangingPunct="1">
              <a:lnSpc>
                <a:spcPct val="90000"/>
              </a:lnSpc>
            </a:pPr>
            <a:r>
              <a:rPr lang="en-US" dirty="0"/>
              <a:t>Stores  huge amounts of data and information and  </a:t>
            </a:r>
          </a:p>
          <a:p>
            <a:pPr lvl="1" eaLnBrk="1" hangingPunct="1">
              <a:lnSpc>
                <a:spcPct val="90000"/>
              </a:lnSpc>
            </a:pPr>
            <a:r>
              <a:rPr lang="en-US" dirty="0"/>
              <a:t>Communicate with other computers. </a:t>
            </a:r>
          </a:p>
          <a:p>
            <a:pPr lvl="2"/>
            <a:r>
              <a:rPr lang="en-US" dirty="0"/>
              <a:t>Computers allow users to generate correct information quickly, hold the information so it is available at any time, and share the information with other computer users.</a:t>
            </a:r>
          </a:p>
        </p:txBody>
      </p:sp>
    </p:spTree>
    <p:extLst>
      <p:ext uri="{BB962C8B-B14F-4D97-AF65-F5344CB8AC3E}">
        <p14:creationId xmlns:p14="http://schemas.microsoft.com/office/powerpoint/2010/main" val="2961592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838200" y="365126"/>
            <a:ext cx="10515600" cy="806852"/>
          </a:xfrm>
        </p:spPr>
        <p:txBody>
          <a:bodyPr/>
          <a:lstStyle/>
          <a:p>
            <a:pPr algn="ctr" eaLnBrk="1" hangingPunct="1"/>
            <a:r>
              <a:rPr lang="en-US" sz="3200" dirty="0"/>
              <a:t>IDENTIFY THE COMPONENTS OF A COMPUTER</a:t>
            </a:r>
          </a:p>
        </p:txBody>
      </p:sp>
      <p:sp>
        <p:nvSpPr>
          <p:cNvPr id="5123" name="Rectangle 3"/>
          <p:cNvSpPr>
            <a:spLocks noGrp="1" noChangeArrowheads="1"/>
          </p:cNvSpPr>
          <p:nvPr>
            <p:ph type="body" idx="1"/>
          </p:nvPr>
        </p:nvSpPr>
        <p:spPr>
          <a:xfrm>
            <a:off x="838200" y="1044575"/>
            <a:ext cx="10515600" cy="5556250"/>
          </a:xfrm>
        </p:spPr>
        <p:txBody>
          <a:bodyPr>
            <a:normAutofit lnSpcReduction="10000"/>
          </a:bodyPr>
          <a:lstStyle/>
          <a:p>
            <a:pPr eaLnBrk="1" hangingPunct="1">
              <a:lnSpc>
                <a:spcPct val="80000"/>
              </a:lnSpc>
              <a:buFontTx/>
              <a:buNone/>
            </a:pPr>
            <a:endParaRPr lang="en-US" altLang="en-US" sz="1000" dirty="0"/>
          </a:p>
          <a:p>
            <a:pPr eaLnBrk="1" hangingPunct="1">
              <a:lnSpc>
                <a:spcPct val="80000"/>
              </a:lnSpc>
            </a:pPr>
            <a:r>
              <a:rPr lang="en-US" altLang="en-US" sz="2000" dirty="0"/>
              <a:t>Computer hardware components include</a:t>
            </a:r>
            <a:r>
              <a:rPr lang="en-US" sz="2000" dirty="0"/>
              <a:t>:</a:t>
            </a:r>
          </a:p>
          <a:p>
            <a:pPr lvl="1" eaLnBrk="1" hangingPunct="1">
              <a:lnSpc>
                <a:spcPct val="80000"/>
              </a:lnSpc>
            </a:pPr>
            <a:r>
              <a:rPr lang="en-US" altLang="en-US" sz="1600" dirty="0"/>
              <a:t>Input devices</a:t>
            </a:r>
          </a:p>
          <a:p>
            <a:pPr lvl="1" eaLnBrk="1" hangingPunct="1">
              <a:lnSpc>
                <a:spcPct val="80000"/>
              </a:lnSpc>
            </a:pPr>
            <a:r>
              <a:rPr lang="en-US" altLang="en-US" sz="1600" dirty="0"/>
              <a:t>Output devices</a:t>
            </a:r>
          </a:p>
          <a:p>
            <a:pPr lvl="1" eaLnBrk="1" hangingPunct="1">
              <a:lnSpc>
                <a:spcPct val="80000"/>
              </a:lnSpc>
            </a:pPr>
            <a:r>
              <a:rPr lang="en-US" altLang="en-US" sz="1600" dirty="0"/>
              <a:t>A system unit</a:t>
            </a:r>
          </a:p>
          <a:p>
            <a:pPr lvl="1" eaLnBrk="1" hangingPunct="1">
              <a:lnSpc>
                <a:spcPct val="80000"/>
              </a:lnSpc>
            </a:pPr>
            <a:r>
              <a:rPr lang="en-US" altLang="en-US" sz="1600" dirty="0"/>
              <a:t>Storage devices and</a:t>
            </a:r>
          </a:p>
          <a:p>
            <a:pPr lvl="1" eaLnBrk="1" hangingPunct="1">
              <a:lnSpc>
                <a:spcPct val="80000"/>
              </a:lnSpc>
            </a:pPr>
            <a:r>
              <a:rPr lang="en-US" altLang="en-US" sz="1600" dirty="0"/>
              <a:t>Communication devices. </a:t>
            </a:r>
          </a:p>
          <a:p>
            <a:pPr eaLnBrk="1" hangingPunct="1">
              <a:lnSpc>
                <a:spcPct val="80000"/>
              </a:lnSpc>
            </a:pPr>
            <a:r>
              <a:rPr lang="en-US" altLang="en-US" sz="2000" dirty="0"/>
              <a:t>An input device is any hardware component that allows a user to enter data and instructions into a computer. </a:t>
            </a:r>
          </a:p>
          <a:p>
            <a:pPr lvl="1" eaLnBrk="1" hangingPunct="1">
              <a:lnSpc>
                <a:spcPct val="80000"/>
              </a:lnSpc>
            </a:pPr>
            <a:r>
              <a:rPr lang="en-US" altLang="en-US" sz="1600" dirty="0"/>
              <a:t>Six commonly used input devices are</a:t>
            </a:r>
            <a:r>
              <a:rPr lang="en-US" sz="1600" dirty="0"/>
              <a:t>:</a:t>
            </a:r>
          </a:p>
          <a:p>
            <a:pPr lvl="2" eaLnBrk="1" hangingPunct="1">
              <a:lnSpc>
                <a:spcPct val="80000"/>
              </a:lnSpc>
            </a:pPr>
            <a:r>
              <a:rPr lang="en-US" altLang="en-US" sz="1600" dirty="0"/>
              <a:t>The  keyboard</a:t>
            </a:r>
          </a:p>
          <a:p>
            <a:pPr lvl="2" eaLnBrk="1" hangingPunct="1">
              <a:lnSpc>
                <a:spcPct val="80000"/>
              </a:lnSpc>
            </a:pPr>
            <a:r>
              <a:rPr lang="en-US" altLang="en-US" sz="1600" dirty="0"/>
              <a:t>Mouse </a:t>
            </a:r>
          </a:p>
          <a:p>
            <a:pPr lvl="2" eaLnBrk="1" hangingPunct="1">
              <a:lnSpc>
                <a:spcPct val="80000"/>
              </a:lnSpc>
            </a:pPr>
            <a:r>
              <a:rPr lang="en-US" altLang="en-US" sz="1600" dirty="0"/>
              <a:t>Microphone </a:t>
            </a:r>
          </a:p>
          <a:p>
            <a:pPr lvl="2" eaLnBrk="1" hangingPunct="1">
              <a:lnSpc>
                <a:spcPct val="80000"/>
              </a:lnSpc>
            </a:pPr>
            <a:r>
              <a:rPr lang="en-US" altLang="en-US" sz="1600" dirty="0"/>
              <a:t>Scanner </a:t>
            </a:r>
          </a:p>
          <a:p>
            <a:pPr lvl="2" eaLnBrk="1" hangingPunct="1">
              <a:lnSpc>
                <a:spcPct val="80000"/>
              </a:lnSpc>
            </a:pPr>
            <a:r>
              <a:rPr lang="en-US" altLang="en-US" sz="1600" dirty="0"/>
              <a:t>Digital camera and </a:t>
            </a:r>
          </a:p>
          <a:p>
            <a:pPr lvl="2" eaLnBrk="1" hangingPunct="1">
              <a:lnSpc>
                <a:spcPct val="80000"/>
              </a:lnSpc>
            </a:pPr>
            <a:r>
              <a:rPr lang="en-US" altLang="en-US" sz="1600" dirty="0"/>
              <a:t>PC camera.</a:t>
            </a:r>
            <a:r>
              <a:rPr lang="en-US" altLang="en-US" dirty="0"/>
              <a:t> </a:t>
            </a:r>
          </a:p>
          <a:p>
            <a:pPr eaLnBrk="1" hangingPunct="1">
              <a:lnSpc>
                <a:spcPct val="80000"/>
              </a:lnSpc>
            </a:pPr>
            <a:r>
              <a:rPr lang="en-US" altLang="en-US" sz="2000" dirty="0"/>
              <a:t>An output device is any hardware component that can convey information to a user. </a:t>
            </a:r>
          </a:p>
          <a:p>
            <a:pPr lvl="1" eaLnBrk="1" hangingPunct="1">
              <a:lnSpc>
                <a:spcPct val="80000"/>
              </a:lnSpc>
            </a:pPr>
            <a:r>
              <a:rPr lang="en-US" altLang="en-US" sz="1600" dirty="0"/>
              <a:t>Three commonly used output devices are</a:t>
            </a:r>
            <a:r>
              <a:rPr lang="en-US" sz="1600" dirty="0"/>
              <a:t>:</a:t>
            </a:r>
          </a:p>
          <a:p>
            <a:pPr lvl="2" eaLnBrk="1" hangingPunct="1">
              <a:lnSpc>
                <a:spcPct val="80000"/>
              </a:lnSpc>
            </a:pPr>
            <a:r>
              <a:rPr lang="en-US" altLang="en-US" sz="1600" dirty="0"/>
              <a:t>A printer</a:t>
            </a:r>
          </a:p>
          <a:p>
            <a:pPr lvl="2" eaLnBrk="1" hangingPunct="1">
              <a:lnSpc>
                <a:spcPct val="80000"/>
              </a:lnSpc>
            </a:pPr>
            <a:r>
              <a:rPr lang="en-US" altLang="en-US" sz="1600" dirty="0"/>
              <a:t>A monitor</a:t>
            </a:r>
          </a:p>
          <a:p>
            <a:pPr lvl="2" eaLnBrk="1" hangingPunct="1">
              <a:lnSpc>
                <a:spcPct val="80000"/>
              </a:lnSpc>
            </a:pPr>
            <a:r>
              <a:rPr lang="en-US" altLang="en-US" sz="1600" dirty="0"/>
              <a:t>Speakers </a:t>
            </a:r>
          </a:p>
          <a:p>
            <a:pPr eaLnBrk="1" hangingPunct="1">
              <a:lnSpc>
                <a:spcPct val="80000"/>
              </a:lnSpc>
            </a:pPr>
            <a:endParaRPr lang="en-US" altLang="en-US" sz="1600" dirty="0"/>
          </a:p>
        </p:txBody>
      </p:sp>
    </p:spTree>
    <p:extLst>
      <p:ext uri="{BB962C8B-B14F-4D97-AF65-F5344CB8AC3E}">
        <p14:creationId xmlns:p14="http://schemas.microsoft.com/office/powerpoint/2010/main" val="2086492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body" idx="1"/>
          </p:nvPr>
        </p:nvSpPr>
        <p:spPr>
          <a:xfrm>
            <a:off x="901521" y="315913"/>
            <a:ext cx="10290220" cy="6100762"/>
          </a:xfrm>
        </p:spPr>
        <p:txBody>
          <a:bodyPr>
            <a:normAutofit/>
          </a:bodyPr>
          <a:lstStyle/>
          <a:p>
            <a:pPr eaLnBrk="1" hangingPunct="1">
              <a:lnSpc>
                <a:spcPct val="80000"/>
              </a:lnSpc>
            </a:pPr>
            <a:r>
              <a:rPr lang="en-US" sz="3200" dirty="0"/>
              <a:t>The system unit is a box-like case made from metal or plastic that protects the internal electronic components of the computer from damage. </a:t>
            </a:r>
          </a:p>
          <a:p>
            <a:pPr lvl="1" eaLnBrk="1" hangingPunct="1">
              <a:lnSpc>
                <a:spcPct val="80000"/>
              </a:lnSpc>
            </a:pPr>
            <a:r>
              <a:rPr lang="en-US" dirty="0"/>
              <a:t>The system unit contains the central processing unit and memory. </a:t>
            </a:r>
          </a:p>
          <a:p>
            <a:pPr lvl="1" eaLnBrk="1" hangingPunct="1">
              <a:lnSpc>
                <a:spcPct val="80000"/>
              </a:lnSpc>
            </a:pPr>
            <a:r>
              <a:rPr lang="en-US" dirty="0"/>
              <a:t>Can be a Tower or Base</a:t>
            </a:r>
          </a:p>
          <a:p>
            <a:pPr lvl="1" eaLnBrk="1" hangingPunct="1">
              <a:lnSpc>
                <a:spcPct val="80000"/>
              </a:lnSpc>
            </a:pPr>
            <a:r>
              <a:rPr lang="en-US" dirty="0"/>
              <a:t>The central processing unit (CPU) is the electronic device that interprets and carries out the basic instructions that operate the computer. </a:t>
            </a:r>
          </a:p>
          <a:p>
            <a:pPr lvl="1" eaLnBrk="1" hangingPunct="1">
              <a:lnSpc>
                <a:spcPct val="80000"/>
              </a:lnSpc>
            </a:pPr>
            <a:r>
              <a:rPr lang="en-US" dirty="0"/>
              <a:t>Memory is a temporary holding place for data and instructions.</a:t>
            </a:r>
          </a:p>
          <a:p>
            <a:pPr eaLnBrk="1" hangingPunct="1">
              <a:lnSpc>
                <a:spcPct val="80000"/>
              </a:lnSpc>
            </a:pPr>
            <a:endParaRPr lang="en-US" sz="2400" dirty="0"/>
          </a:p>
          <a:p>
            <a:pPr eaLnBrk="1" hangingPunct="1">
              <a:lnSpc>
                <a:spcPct val="80000"/>
              </a:lnSpc>
            </a:pPr>
            <a:r>
              <a:rPr lang="en-US" sz="3200" dirty="0"/>
              <a:t>A communications device enables computer users to communicate and exchange items such as data, instructions, and information with another computer. </a:t>
            </a:r>
          </a:p>
          <a:p>
            <a:pPr lvl="1" eaLnBrk="1" hangingPunct="1">
              <a:lnSpc>
                <a:spcPct val="80000"/>
              </a:lnSpc>
            </a:pPr>
            <a:r>
              <a:rPr lang="en-US" dirty="0"/>
              <a:t>A modem is a communications device that enables computers to communicate usually via telephone lines or cable.</a:t>
            </a:r>
          </a:p>
          <a:p>
            <a:pPr eaLnBrk="1" hangingPunct="1"/>
            <a:endParaRPr lang="en-US" sz="1600" dirty="0"/>
          </a:p>
        </p:txBody>
      </p:sp>
    </p:spTree>
    <p:extLst>
      <p:ext uri="{BB962C8B-B14F-4D97-AF65-F5344CB8AC3E}">
        <p14:creationId xmlns:p14="http://schemas.microsoft.com/office/powerpoint/2010/main" val="4110567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21217"/>
            <a:ext cx="10515600" cy="5455746"/>
          </a:xfrm>
        </p:spPr>
        <p:txBody>
          <a:bodyPr/>
          <a:lstStyle/>
          <a:p>
            <a:pPr>
              <a:lnSpc>
                <a:spcPct val="80000"/>
              </a:lnSpc>
            </a:pPr>
            <a:r>
              <a:rPr lang="en-US" dirty="0"/>
              <a:t>A storage device records and retrieves data to and from a storage medium. </a:t>
            </a:r>
          </a:p>
          <a:p>
            <a:pPr lvl="1">
              <a:lnSpc>
                <a:spcPct val="80000"/>
              </a:lnSpc>
            </a:pPr>
            <a:r>
              <a:rPr lang="en-US" sz="2000" dirty="0"/>
              <a:t>Six common storage devices are </a:t>
            </a:r>
          </a:p>
          <a:p>
            <a:pPr lvl="2">
              <a:lnSpc>
                <a:spcPct val="80000"/>
              </a:lnSpc>
            </a:pPr>
            <a:r>
              <a:rPr lang="en-US" sz="1800" dirty="0"/>
              <a:t>A floppy disk drive</a:t>
            </a:r>
          </a:p>
          <a:p>
            <a:pPr lvl="2">
              <a:lnSpc>
                <a:spcPct val="80000"/>
              </a:lnSpc>
            </a:pPr>
            <a:r>
              <a:rPr lang="en-US" sz="1800" dirty="0"/>
              <a:t>A hard disk drive</a:t>
            </a:r>
          </a:p>
          <a:p>
            <a:pPr lvl="2">
              <a:lnSpc>
                <a:spcPct val="80000"/>
              </a:lnSpc>
            </a:pPr>
            <a:r>
              <a:rPr lang="en-US" sz="1800" dirty="0"/>
              <a:t>A CD-ROM drive</a:t>
            </a:r>
          </a:p>
          <a:p>
            <a:pPr lvl="2">
              <a:lnSpc>
                <a:spcPct val="80000"/>
              </a:lnSpc>
            </a:pPr>
            <a:r>
              <a:rPr lang="en-US" sz="1800" dirty="0"/>
              <a:t>A CD-RW drive</a:t>
            </a:r>
          </a:p>
          <a:p>
            <a:pPr lvl="2">
              <a:lnSpc>
                <a:spcPct val="80000"/>
              </a:lnSpc>
            </a:pPr>
            <a:r>
              <a:rPr lang="en-US" sz="1800" dirty="0"/>
              <a:t>A DVD-ROM drive</a:t>
            </a:r>
          </a:p>
          <a:p>
            <a:pPr lvl="2">
              <a:lnSpc>
                <a:spcPct val="80000"/>
              </a:lnSpc>
            </a:pPr>
            <a:r>
              <a:rPr lang="en-US" sz="1800" dirty="0"/>
              <a:t>A DVD (</a:t>
            </a:r>
            <a:r>
              <a:rPr lang="en-US" dirty="0"/>
              <a:t>digital versatile disc or digital video disc </a:t>
            </a:r>
            <a:r>
              <a:rPr lang="en-US" sz="1800" dirty="0"/>
              <a:t>)+RW drive. </a:t>
            </a:r>
          </a:p>
          <a:p>
            <a:endParaRPr lang="en-US" dirty="0"/>
          </a:p>
        </p:txBody>
      </p:sp>
    </p:spTree>
    <p:extLst>
      <p:ext uri="{BB962C8B-B14F-4D97-AF65-F5344CB8AC3E}">
        <p14:creationId xmlns:p14="http://schemas.microsoft.com/office/powerpoint/2010/main" val="3920092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838200" y="365125"/>
            <a:ext cx="10515600" cy="845489"/>
          </a:xfrm>
        </p:spPr>
        <p:txBody>
          <a:bodyPr>
            <a:normAutofit fontScale="90000"/>
          </a:bodyPr>
          <a:lstStyle/>
          <a:p>
            <a:pPr algn="ctr" eaLnBrk="1" hangingPunct="1"/>
            <a:r>
              <a:rPr lang="en-US" sz="3200" dirty="0"/>
              <a:t>THE COMPONENTS IN THE SYSTEM UNIT</a:t>
            </a:r>
            <a:br>
              <a:rPr lang="en-US" sz="3200" dirty="0"/>
            </a:br>
            <a:endParaRPr lang="en-US" sz="3200" dirty="0"/>
          </a:p>
        </p:txBody>
      </p:sp>
      <p:sp>
        <p:nvSpPr>
          <p:cNvPr id="25603" name="Rectangle 3"/>
          <p:cNvSpPr>
            <a:spLocks noGrp="1" noChangeArrowheads="1"/>
          </p:cNvSpPr>
          <p:nvPr>
            <p:ph type="body" idx="1"/>
          </p:nvPr>
        </p:nvSpPr>
        <p:spPr>
          <a:xfrm>
            <a:off x="838200" y="1043189"/>
            <a:ext cx="10515600" cy="5133774"/>
          </a:xfrm>
        </p:spPr>
        <p:txBody>
          <a:bodyPr/>
          <a:lstStyle/>
          <a:p>
            <a:pPr eaLnBrk="1" hangingPunct="1">
              <a:lnSpc>
                <a:spcPct val="80000"/>
              </a:lnSpc>
            </a:pPr>
            <a:r>
              <a:rPr lang="en-US" sz="1800" dirty="0"/>
              <a:t>The system unit, sometimes called the chassis, is a box-like case housing the electronic components of a computer that are used to process data. </a:t>
            </a:r>
          </a:p>
          <a:p>
            <a:pPr eaLnBrk="1" hangingPunct="1">
              <a:lnSpc>
                <a:spcPct val="80000"/>
              </a:lnSpc>
            </a:pPr>
            <a:r>
              <a:rPr lang="en-US" sz="1800" dirty="0"/>
              <a:t>System unit components include </a:t>
            </a:r>
          </a:p>
          <a:p>
            <a:pPr lvl="1" eaLnBrk="1" hangingPunct="1">
              <a:lnSpc>
                <a:spcPct val="80000"/>
              </a:lnSpc>
            </a:pPr>
            <a:r>
              <a:rPr lang="en-US" sz="1500" dirty="0"/>
              <a:t>The processor</a:t>
            </a:r>
          </a:p>
          <a:p>
            <a:pPr lvl="1" eaLnBrk="1" hangingPunct="1">
              <a:lnSpc>
                <a:spcPct val="80000"/>
              </a:lnSpc>
            </a:pPr>
            <a:r>
              <a:rPr lang="en-US" sz="1500" dirty="0"/>
              <a:t>Memory  module</a:t>
            </a:r>
          </a:p>
          <a:p>
            <a:pPr lvl="1" eaLnBrk="1" hangingPunct="1">
              <a:lnSpc>
                <a:spcPct val="80000"/>
              </a:lnSpc>
            </a:pPr>
            <a:r>
              <a:rPr lang="en-US" sz="1500" dirty="0"/>
              <a:t>Cards </a:t>
            </a:r>
          </a:p>
          <a:p>
            <a:pPr lvl="1" eaLnBrk="1" hangingPunct="1">
              <a:lnSpc>
                <a:spcPct val="80000"/>
              </a:lnSpc>
            </a:pPr>
            <a:r>
              <a:rPr lang="en-US" sz="1500" dirty="0"/>
              <a:t>Ports </a:t>
            </a:r>
          </a:p>
          <a:p>
            <a:pPr lvl="1" eaLnBrk="1" hangingPunct="1">
              <a:lnSpc>
                <a:spcPct val="80000"/>
              </a:lnSpc>
            </a:pPr>
            <a:r>
              <a:rPr lang="en-US" sz="1500" dirty="0"/>
              <a:t>Connectors  </a:t>
            </a:r>
          </a:p>
          <a:p>
            <a:pPr eaLnBrk="1" hangingPunct="1">
              <a:lnSpc>
                <a:spcPct val="80000"/>
              </a:lnSpc>
            </a:pPr>
            <a:r>
              <a:rPr lang="en-US" sz="1800" dirty="0"/>
              <a:t>Many of the system unit’s components reside on a circuit board called the motherboard. </a:t>
            </a:r>
          </a:p>
          <a:p>
            <a:pPr eaLnBrk="1" hangingPunct="1">
              <a:lnSpc>
                <a:spcPct val="80000"/>
              </a:lnSpc>
            </a:pPr>
            <a:r>
              <a:rPr lang="en-US" sz="1800" dirty="0"/>
              <a:t>The motherboard contains many different types of chips, or small pieces of semiconducting material, on which one or more integrated circuits (IC) are etched. </a:t>
            </a:r>
          </a:p>
          <a:p>
            <a:pPr eaLnBrk="1" hangingPunct="1">
              <a:lnSpc>
                <a:spcPct val="80000"/>
              </a:lnSpc>
            </a:pPr>
            <a:r>
              <a:rPr lang="en-US" sz="1800" dirty="0"/>
              <a:t>An integrated circuit is a microscopic pathway capable of carrying electronic current. </a:t>
            </a:r>
          </a:p>
          <a:p>
            <a:pPr eaLnBrk="1" hangingPunct="1">
              <a:lnSpc>
                <a:spcPct val="80000"/>
              </a:lnSpc>
            </a:pPr>
            <a:r>
              <a:rPr lang="en-US" sz="1800" dirty="0"/>
              <a:t>Each IC can contain millions of transistors, which act as switches for electronic signals.</a:t>
            </a:r>
          </a:p>
        </p:txBody>
      </p:sp>
    </p:spTree>
    <p:extLst>
      <p:ext uri="{BB962C8B-B14F-4D97-AF65-F5344CB8AC3E}">
        <p14:creationId xmlns:p14="http://schemas.microsoft.com/office/powerpoint/2010/main" val="1427513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838200" y="365126"/>
            <a:ext cx="10515600" cy="784226"/>
          </a:xfrm>
        </p:spPr>
        <p:txBody>
          <a:bodyPr/>
          <a:lstStyle/>
          <a:p>
            <a:pPr algn="ctr" eaLnBrk="1" hangingPunct="1"/>
            <a:r>
              <a:rPr lang="en-US" sz="2400" dirty="0"/>
              <a:t>HOW THE CPU USES THE FOUR STEPS OF A MACHINE CYCLE TO PROCESS DATA</a:t>
            </a:r>
            <a:r>
              <a:rPr lang="en-US" sz="2000" dirty="0"/>
              <a:t> </a:t>
            </a:r>
          </a:p>
        </p:txBody>
      </p:sp>
      <p:sp>
        <p:nvSpPr>
          <p:cNvPr id="26627" name="Rectangle 3"/>
          <p:cNvSpPr>
            <a:spLocks noGrp="1" noChangeArrowheads="1"/>
          </p:cNvSpPr>
          <p:nvPr>
            <p:ph type="body" idx="1"/>
          </p:nvPr>
        </p:nvSpPr>
        <p:spPr>
          <a:xfrm>
            <a:off x="838200" y="1149351"/>
            <a:ext cx="10515600" cy="5440363"/>
          </a:xfrm>
        </p:spPr>
        <p:txBody>
          <a:bodyPr>
            <a:normAutofit lnSpcReduction="10000"/>
          </a:bodyPr>
          <a:lstStyle/>
          <a:p>
            <a:pPr eaLnBrk="1" hangingPunct="1">
              <a:lnSpc>
                <a:spcPct val="80000"/>
              </a:lnSpc>
            </a:pPr>
            <a:r>
              <a:rPr lang="en-US" sz="2400" dirty="0"/>
              <a:t>The central processing unit (CPU), also called a processor, significantly impacts overall computing power and manages most of a computer’s operations. </a:t>
            </a:r>
          </a:p>
          <a:p>
            <a:pPr eaLnBrk="1" hangingPunct="1">
              <a:lnSpc>
                <a:spcPct val="80000"/>
              </a:lnSpc>
            </a:pPr>
            <a:r>
              <a:rPr lang="en-US" sz="2400" dirty="0"/>
              <a:t>The CPU contains the control unit and the arithmetic/logic unit. </a:t>
            </a:r>
          </a:p>
          <a:p>
            <a:pPr eaLnBrk="1" hangingPunct="1">
              <a:lnSpc>
                <a:spcPct val="80000"/>
              </a:lnSpc>
            </a:pPr>
            <a:r>
              <a:rPr lang="en-US" sz="2400" dirty="0"/>
              <a:t>The control unit directs and coordinates most of the operations in the computer. For every instruction, the control unit repeats a set of four basic operations called the machine cycle: </a:t>
            </a:r>
          </a:p>
          <a:p>
            <a:pPr lvl="1" eaLnBrk="1" hangingPunct="1">
              <a:lnSpc>
                <a:spcPct val="80000"/>
              </a:lnSpc>
            </a:pPr>
            <a:r>
              <a:rPr lang="en-US" sz="1600" dirty="0"/>
              <a:t>(1</a:t>
            </a:r>
            <a:r>
              <a:rPr lang="en-US" sz="1800" dirty="0"/>
              <a:t>) Fetching the instruction or data item from memory, </a:t>
            </a:r>
          </a:p>
          <a:p>
            <a:pPr lvl="1" eaLnBrk="1" hangingPunct="1">
              <a:lnSpc>
                <a:spcPct val="80000"/>
              </a:lnSpc>
            </a:pPr>
            <a:r>
              <a:rPr lang="en-US" sz="1800" dirty="0"/>
              <a:t>(2) Decoding the instruction into commands the computer understands, </a:t>
            </a:r>
          </a:p>
          <a:p>
            <a:pPr lvl="1" eaLnBrk="1" hangingPunct="1">
              <a:lnSpc>
                <a:spcPct val="80000"/>
              </a:lnSpc>
            </a:pPr>
            <a:r>
              <a:rPr lang="en-US" sz="1800" dirty="0"/>
              <a:t>(3) Executing the commands, and, if necessary, </a:t>
            </a:r>
          </a:p>
          <a:p>
            <a:pPr lvl="1" eaLnBrk="1" hangingPunct="1">
              <a:lnSpc>
                <a:spcPct val="80000"/>
              </a:lnSpc>
            </a:pPr>
            <a:r>
              <a:rPr lang="en-US" sz="1800" dirty="0"/>
              <a:t>(4) Storing, or writing the result to memory. </a:t>
            </a:r>
          </a:p>
          <a:p>
            <a:pPr lvl="1" eaLnBrk="1" hangingPunct="1">
              <a:lnSpc>
                <a:spcPct val="80000"/>
              </a:lnSpc>
              <a:buFontTx/>
              <a:buNone/>
            </a:pPr>
            <a:endParaRPr lang="en-US" sz="1800" dirty="0"/>
          </a:p>
          <a:p>
            <a:pPr eaLnBrk="1" hangingPunct="1">
              <a:lnSpc>
                <a:spcPct val="80000"/>
              </a:lnSpc>
            </a:pPr>
            <a:r>
              <a:rPr lang="en-US" sz="2400" dirty="0"/>
              <a:t>The arithmetic/logic unit (ALU) performs the execution part of the machine cycle. Specifically, the ALU carries out three operations:</a:t>
            </a:r>
          </a:p>
          <a:p>
            <a:pPr lvl="1" algn="just" eaLnBrk="1" hangingPunct="1">
              <a:lnSpc>
                <a:spcPct val="80000"/>
              </a:lnSpc>
            </a:pPr>
            <a:r>
              <a:rPr lang="en-US" sz="1600" dirty="0"/>
              <a:t>Arithmetic operations – performing calculations, which include addition, subtraction, multiplication, and division</a:t>
            </a:r>
          </a:p>
          <a:p>
            <a:pPr lvl="1" algn="just" eaLnBrk="1" hangingPunct="1">
              <a:lnSpc>
                <a:spcPct val="80000"/>
              </a:lnSpc>
            </a:pPr>
            <a:r>
              <a:rPr lang="en-US" sz="1600" dirty="0"/>
              <a:t>Comparison operations – comparing data items to determine if the first item is greater than, equal to, or less than the other item</a:t>
            </a:r>
          </a:p>
          <a:p>
            <a:pPr lvl="1" algn="just" eaLnBrk="1" hangingPunct="1">
              <a:lnSpc>
                <a:spcPct val="80000"/>
              </a:lnSpc>
            </a:pPr>
            <a:r>
              <a:rPr lang="en-US" sz="1600" dirty="0"/>
              <a:t>Logical operations – working with conditions and logical operators such as AND, OR, and not</a:t>
            </a:r>
          </a:p>
          <a:p>
            <a:pPr eaLnBrk="1" hangingPunct="1">
              <a:lnSpc>
                <a:spcPct val="80000"/>
              </a:lnSpc>
              <a:buFontTx/>
              <a:buNone/>
            </a:pPr>
            <a:r>
              <a:rPr lang="en-US" sz="2000" dirty="0"/>
              <a:t>        </a:t>
            </a:r>
          </a:p>
          <a:p>
            <a:pPr eaLnBrk="1" hangingPunct="1">
              <a:lnSpc>
                <a:spcPct val="80000"/>
              </a:lnSpc>
            </a:pPr>
            <a:endParaRPr lang="en-US" sz="2000" dirty="0"/>
          </a:p>
        </p:txBody>
      </p:sp>
    </p:spTree>
    <p:extLst>
      <p:ext uri="{BB962C8B-B14F-4D97-AF65-F5344CB8AC3E}">
        <p14:creationId xmlns:p14="http://schemas.microsoft.com/office/powerpoint/2010/main" val="3088289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0" y="365126"/>
            <a:ext cx="10515600" cy="742458"/>
          </a:xfrm>
        </p:spPr>
        <p:txBody>
          <a:bodyPr>
            <a:normAutofit fontScale="90000"/>
          </a:bodyPr>
          <a:lstStyle/>
          <a:p>
            <a:pPr algn="ctr" eaLnBrk="1" hangingPunct="1"/>
            <a:r>
              <a:rPr lang="en-US" sz="2400" dirty="0"/>
              <a:t> </a:t>
            </a:r>
            <a:r>
              <a:rPr lang="en-US" sz="2800" dirty="0"/>
              <a:t>A BIT AND DESCRIBE HOW A SERIES OF BITS REPRESENTS DATA(</a:t>
            </a:r>
            <a:r>
              <a:rPr lang="en-US" sz="2800" dirty="0" err="1"/>
              <a:t>hw</a:t>
            </a:r>
            <a:r>
              <a:rPr lang="en-US" sz="2800" dirty="0"/>
              <a:t> to communicate with a pc)</a:t>
            </a:r>
          </a:p>
        </p:txBody>
      </p:sp>
      <p:sp>
        <p:nvSpPr>
          <p:cNvPr id="27651" name="Rectangle 3"/>
          <p:cNvSpPr>
            <a:spLocks noGrp="1" noChangeArrowheads="1"/>
          </p:cNvSpPr>
          <p:nvPr>
            <p:ph type="body" idx="1"/>
          </p:nvPr>
        </p:nvSpPr>
        <p:spPr>
          <a:xfrm>
            <a:off x="838200" y="1107584"/>
            <a:ext cx="10515600" cy="5069379"/>
          </a:xfrm>
        </p:spPr>
        <p:txBody>
          <a:bodyPr>
            <a:normAutofit lnSpcReduction="10000"/>
          </a:bodyPr>
          <a:lstStyle/>
          <a:p>
            <a:pPr eaLnBrk="1" hangingPunct="1">
              <a:lnSpc>
                <a:spcPct val="80000"/>
              </a:lnSpc>
            </a:pPr>
            <a:r>
              <a:rPr lang="en-US" sz="2400" dirty="0"/>
              <a:t>Most computers are digital, meaning they understand only two discrete states: </a:t>
            </a:r>
          </a:p>
          <a:p>
            <a:pPr lvl="1" eaLnBrk="1" hangingPunct="1">
              <a:lnSpc>
                <a:spcPct val="80000"/>
              </a:lnSpc>
            </a:pPr>
            <a:r>
              <a:rPr lang="en-US" sz="1800" dirty="0"/>
              <a:t>on and off.</a:t>
            </a:r>
          </a:p>
          <a:p>
            <a:pPr lvl="1" eaLnBrk="1" hangingPunct="1">
              <a:lnSpc>
                <a:spcPct val="80000"/>
              </a:lnSpc>
            </a:pPr>
            <a:r>
              <a:rPr lang="en-US" sz="1800" dirty="0"/>
              <a:t>These states are represented using two digits, 0 (off) and 1 (on). </a:t>
            </a:r>
          </a:p>
          <a:p>
            <a:pPr lvl="1" eaLnBrk="1" hangingPunct="1">
              <a:lnSpc>
                <a:spcPct val="80000"/>
              </a:lnSpc>
            </a:pPr>
            <a:r>
              <a:rPr lang="en-US" sz="1800" dirty="0"/>
              <a:t>Each on or off value is called a bit (short for binary digit), the smallest unit of data a computer can handle. </a:t>
            </a:r>
          </a:p>
          <a:p>
            <a:pPr lvl="1" eaLnBrk="1" hangingPunct="1">
              <a:lnSpc>
                <a:spcPct val="80000"/>
              </a:lnSpc>
            </a:pPr>
            <a:r>
              <a:rPr lang="en-US" sz="1800" dirty="0"/>
              <a:t>Eight bits grouped together as a unit form a byte. </a:t>
            </a:r>
          </a:p>
          <a:p>
            <a:pPr lvl="1" eaLnBrk="1" hangingPunct="1">
              <a:lnSpc>
                <a:spcPct val="80000"/>
              </a:lnSpc>
            </a:pPr>
            <a:r>
              <a:rPr lang="en-US" sz="1800" dirty="0"/>
              <a:t>A byte provides enough different combinations of 0s and 1s to represent 256 individual characters including numbers, letters of the alphabet, punctuation marks, and other characters.</a:t>
            </a:r>
          </a:p>
          <a:p>
            <a:pPr eaLnBrk="1" hangingPunct="1">
              <a:lnSpc>
                <a:spcPct val="80000"/>
              </a:lnSpc>
            </a:pPr>
            <a:endParaRPr lang="en-US" sz="2400" dirty="0"/>
          </a:p>
          <a:p>
            <a:pPr eaLnBrk="1" hangingPunct="1">
              <a:lnSpc>
                <a:spcPct val="80000"/>
              </a:lnSpc>
            </a:pPr>
            <a:r>
              <a:rPr lang="en-US" sz="2400" dirty="0"/>
              <a:t>The combinations of 0s and 1s used to represent data are defined by patterns called coding schemes. </a:t>
            </a:r>
          </a:p>
          <a:p>
            <a:pPr eaLnBrk="1" hangingPunct="1">
              <a:lnSpc>
                <a:spcPct val="80000"/>
              </a:lnSpc>
            </a:pPr>
            <a:r>
              <a:rPr lang="en-US" sz="2400" dirty="0"/>
              <a:t>Popular coding schemes are ASCII, EBCDIC, and Unicode. </a:t>
            </a:r>
          </a:p>
          <a:p>
            <a:pPr eaLnBrk="1" hangingPunct="1">
              <a:lnSpc>
                <a:spcPct val="80000"/>
              </a:lnSpc>
            </a:pPr>
            <a:r>
              <a:rPr lang="en-US" sz="2400" dirty="0"/>
              <a:t>Coding schemes make it possible for humans to interact with a digital computer that recognizes only bits. </a:t>
            </a:r>
          </a:p>
          <a:p>
            <a:pPr eaLnBrk="1" hangingPunct="1">
              <a:lnSpc>
                <a:spcPct val="80000"/>
              </a:lnSpc>
            </a:pPr>
            <a:r>
              <a:rPr lang="en-US" sz="2400" dirty="0"/>
              <a:t>Every character you type on a keyboard is converted into a corresponding byte, a series of on/off electrical states the computer can process</a:t>
            </a:r>
            <a:r>
              <a:rPr lang="en-US" sz="1800" dirty="0"/>
              <a:t>.</a:t>
            </a:r>
          </a:p>
        </p:txBody>
      </p:sp>
    </p:spTree>
    <p:extLst>
      <p:ext uri="{BB962C8B-B14F-4D97-AF65-F5344CB8AC3E}">
        <p14:creationId xmlns:p14="http://schemas.microsoft.com/office/powerpoint/2010/main" val="2995243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body" idx="1"/>
          </p:nvPr>
        </p:nvSpPr>
        <p:spPr>
          <a:xfrm>
            <a:off x="838200" y="1107584"/>
            <a:ext cx="10515600" cy="5835650"/>
          </a:xfrm>
        </p:spPr>
        <p:txBody>
          <a:bodyPr/>
          <a:lstStyle/>
          <a:p>
            <a:pPr eaLnBrk="1" hangingPunct="1"/>
            <a:r>
              <a:rPr lang="en-US" sz="2000" dirty="0"/>
              <a:t>Memory is a temporary storage place for data, instructions, and information. </a:t>
            </a:r>
          </a:p>
          <a:p>
            <a:pPr eaLnBrk="1" hangingPunct="1"/>
            <a:r>
              <a:rPr lang="en-US" sz="2000" dirty="0"/>
              <a:t>Memory stores the operating system, application programs, and the data processed by application programs. </a:t>
            </a:r>
          </a:p>
          <a:p>
            <a:pPr eaLnBrk="1" hangingPunct="1"/>
            <a:r>
              <a:rPr lang="en-US" sz="2000" dirty="0"/>
              <a:t>A byte is the basic storage unit in memory. </a:t>
            </a:r>
          </a:p>
          <a:p>
            <a:pPr eaLnBrk="1" hangingPunct="1"/>
            <a:r>
              <a:rPr lang="en-US" sz="2000" dirty="0"/>
              <a:t>Memory size is measured by the number of bytes available for use. </a:t>
            </a:r>
          </a:p>
          <a:p>
            <a:pPr eaLnBrk="1" hangingPunct="1"/>
            <a:r>
              <a:rPr lang="en-US" sz="2000" dirty="0"/>
              <a:t>A kilobyte (KB or K) of memory is approximately one thousand bytes, a megabyte (MB) is approximately one million bytes, and a gigabyte (GB) is approximately one billion bytes. </a:t>
            </a:r>
          </a:p>
          <a:p>
            <a:pPr eaLnBrk="1" hangingPunct="1"/>
            <a:r>
              <a:rPr lang="en-US" sz="2000" dirty="0"/>
              <a:t>The system unit contains several types of memory.</a:t>
            </a:r>
          </a:p>
          <a:p>
            <a:pPr eaLnBrk="1" hangingPunct="1"/>
            <a:r>
              <a:rPr lang="en-US" sz="2000" dirty="0"/>
              <a:t>RAM (random access memory) consists of memory chips that the processor can read from and write to. Most RAM is volatile memory, meaning that its contents are lost when the computer’s power is turned off. </a:t>
            </a:r>
          </a:p>
          <a:p>
            <a:pPr eaLnBrk="1" hangingPunct="1"/>
            <a:r>
              <a:rPr lang="en-US" sz="2000" dirty="0"/>
              <a:t>Two basic types of RAM chips are dynamic RAM and static RAM. </a:t>
            </a:r>
          </a:p>
          <a:p>
            <a:pPr eaLnBrk="1" hangingPunct="1"/>
            <a:r>
              <a:rPr lang="en-US" sz="2000" dirty="0"/>
              <a:t>Dynamic RAM (DRAM) must be re-energized constantly or it loses its contents. </a:t>
            </a:r>
          </a:p>
          <a:p>
            <a:pPr eaLnBrk="1" hangingPunct="1"/>
            <a:r>
              <a:rPr lang="en-US" sz="2000" dirty="0"/>
              <a:t>Static RAM (SRAM) is faster and more reliable than DRAM and has to be re-energized less often, but it is much more expensive.</a:t>
            </a:r>
          </a:p>
          <a:p>
            <a:pPr eaLnBrk="1" hangingPunct="1"/>
            <a:endParaRPr lang="en-US" sz="1600" dirty="0"/>
          </a:p>
        </p:txBody>
      </p:sp>
      <p:sp>
        <p:nvSpPr>
          <p:cNvPr id="3" name="Rectangle 2"/>
          <p:cNvSpPr>
            <a:spLocks noGrp="1" noChangeArrowheads="1"/>
          </p:cNvSpPr>
          <p:nvPr>
            <p:ph type="title"/>
          </p:nvPr>
        </p:nvSpPr>
        <p:spPr>
          <a:xfrm>
            <a:off x="838200" y="365126"/>
            <a:ext cx="10515600" cy="600789"/>
          </a:xfrm>
        </p:spPr>
        <p:txBody>
          <a:bodyPr>
            <a:normAutofit/>
          </a:bodyPr>
          <a:lstStyle/>
          <a:p>
            <a:pPr algn="ctr"/>
            <a:r>
              <a:rPr lang="en-US" sz="2800" dirty="0"/>
              <a:t>DIFFERENTIATE BETWEEN THE VARIOUS TYPES OF MEMORY</a:t>
            </a:r>
          </a:p>
        </p:txBody>
      </p:sp>
    </p:spTree>
    <p:extLst>
      <p:ext uri="{BB962C8B-B14F-4D97-AF65-F5344CB8AC3E}">
        <p14:creationId xmlns:p14="http://schemas.microsoft.com/office/powerpoint/2010/main" val="1393924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type="body" idx="1"/>
          </p:nvPr>
        </p:nvSpPr>
        <p:spPr>
          <a:xfrm>
            <a:off x="838200" y="592428"/>
            <a:ext cx="10515600" cy="5584535"/>
          </a:xfrm>
        </p:spPr>
        <p:txBody>
          <a:bodyPr>
            <a:normAutofit/>
          </a:bodyPr>
          <a:lstStyle/>
          <a:p>
            <a:pPr eaLnBrk="1" hangingPunct="1"/>
            <a:r>
              <a:rPr lang="en-US" sz="2000" dirty="0"/>
              <a:t>Memory cache, also called a cache store or RAM cache, improves processing time by storing frequently used instructions and data. </a:t>
            </a:r>
          </a:p>
          <a:p>
            <a:pPr eaLnBrk="1" hangingPunct="1"/>
            <a:r>
              <a:rPr lang="en-US" sz="2000" dirty="0"/>
              <a:t>ROM (read-only memory) refers to memory chips that only can be read and used; that is, they cannot be modified. </a:t>
            </a:r>
          </a:p>
          <a:p>
            <a:pPr eaLnBrk="1" hangingPunct="1"/>
            <a:r>
              <a:rPr lang="en-US" sz="2000" dirty="0"/>
              <a:t>ROM is nonvolatile memory (NVM), meaning that its contents are not lost when the computer’s power is turned off. </a:t>
            </a:r>
          </a:p>
          <a:p>
            <a:pPr eaLnBrk="1" hangingPunct="1"/>
            <a:r>
              <a:rPr lang="en-US" sz="2000" dirty="0"/>
              <a:t>A variation of the ROM chip, called programmable read-only memory (PROM), is a blank chip on which you can place items permanently.</a:t>
            </a:r>
          </a:p>
          <a:p>
            <a:pPr eaLnBrk="1" hangingPunct="1"/>
            <a:r>
              <a:rPr lang="en-US" sz="2000" dirty="0"/>
              <a:t>Flash memory, also known as flash ROM or flash RAM, is nonvolatile memory that can be erased electronically and reprogrammed. </a:t>
            </a:r>
          </a:p>
          <a:p>
            <a:pPr eaLnBrk="1" hangingPunct="1"/>
            <a:r>
              <a:rPr lang="en-US" sz="2000" dirty="0"/>
              <a:t>Complementary metal-oxide semiconductor (CMOS) memory, another type of memory chip, stores configuration information about the computer and uses battery power to retain information when the power to the computer is off.</a:t>
            </a:r>
          </a:p>
          <a:p>
            <a:pPr eaLnBrk="1" hangingPunct="1"/>
            <a:endParaRPr lang="en-US" sz="2000" dirty="0"/>
          </a:p>
        </p:txBody>
      </p:sp>
    </p:spTree>
    <p:extLst>
      <p:ext uri="{BB962C8B-B14F-4D97-AF65-F5344CB8AC3E}">
        <p14:creationId xmlns:p14="http://schemas.microsoft.com/office/powerpoint/2010/main" val="2151896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838200" y="365126"/>
            <a:ext cx="10515600" cy="884126"/>
          </a:xfrm>
        </p:spPr>
        <p:txBody>
          <a:bodyPr>
            <a:normAutofit fontScale="90000"/>
          </a:bodyPr>
          <a:lstStyle/>
          <a:p>
            <a:pPr algn="ctr"/>
            <a:r>
              <a:rPr lang="en-US" dirty="0"/>
              <a:t>DESCRIBE THE TWO TYPES OF INPUT</a:t>
            </a:r>
            <a:br>
              <a:rPr lang="en-US" dirty="0"/>
            </a:br>
            <a:endParaRPr lang="en-US" dirty="0"/>
          </a:p>
        </p:txBody>
      </p:sp>
      <p:sp>
        <p:nvSpPr>
          <p:cNvPr id="33795" name="Rectangle 3"/>
          <p:cNvSpPr>
            <a:spLocks noGrp="1" noChangeArrowheads="1"/>
          </p:cNvSpPr>
          <p:nvPr>
            <p:ph type="body" idx="1"/>
          </p:nvPr>
        </p:nvSpPr>
        <p:spPr>
          <a:xfrm>
            <a:off x="838200" y="875763"/>
            <a:ext cx="10515600" cy="5301200"/>
          </a:xfrm>
        </p:spPr>
        <p:txBody>
          <a:bodyPr>
            <a:noAutofit/>
          </a:bodyPr>
          <a:lstStyle/>
          <a:p>
            <a:pPr eaLnBrk="1" hangingPunct="1">
              <a:lnSpc>
                <a:spcPct val="80000"/>
              </a:lnSpc>
            </a:pPr>
            <a:r>
              <a:rPr lang="en-US" dirty="0"/>
              <a:t>Input is any data or instructions entered into the memory of a computer. </a:t>
            </a:r>
          </a:p>
          <a:p>
            <a:pPr eaLnBrk="1" hangingPunct="1">
              <a:lnSpc>
                <a:spcPct val="80000"/>
              </a:lnSpc>
            </a:pPr>
            <a:r>
              <a:rPr lang="en-US" dirty="0"/>
              <a:t>Two types of input are:</a:t>
            </a:r>
          </a:p>
          <a:p>
            <a:pPr lvl="1">
              <a:lnSpc>
                <a:spcPct val="80000"/>
              </a:lnSpc>
            </a:pPr>
            <a:r>
              <a:rPr lang="en-US" sz="2000" dirty="0"/>
              <a:t> data and </a:t>
            </a:r>
          </a:p>
          <a:p>
            <a:pPr lvl="1">
              <a:lnSpc>
                <a:spcPct val="80000"/>
              </a:lnSpc>
            </a:pPr>
            <a:r>
              <a:rPr lang="en-US" sz="2000" dirty="0"/>
              <a:t>instructions. </a:t>
            </a:r>
          </a:p>
          <a:p>
            <a:pPr lvl="1">
              <a:lnSpc>
                <a:spcPct val="80000"/>
              </a:lnSpc>
            </a:pPr>
            <a:r>
              <a:rPr lang="en-US" sz="2000" dirty="0"/>
              <a:t>Data is a collection of unorganized items that can include words, numbers, pictures, sounds, and video. </a:t>
            </a:r>
          </a:p>
          <a:p>
            <a:pPr lvl="1">
              <a:lnSpc>
                <a:spcPct val="80000"/>
              </a:lnSpc>
            </a:pPr>
            <a:r>
              <a:rPr lang="en-US" sz="2000" dirty="0"/>
              <a:t>A computer processes data into information, which is organized, meaningful, and useful.</a:t>
            </a:r>
          </a:p>
          <a:p>
            <a:pPr lvl="1">
              <a:lnSpc>
                <a:spcPct val="80000"/>
              </a:lnSpc>
            </a:pPr>
            <a:r>
              <a:rPr lang="en-US" sz="2000" dirty="0"/>
              <a:t>Instructions can be in the form of programs, commands, or user responses. </a:t>
            </a:r>
          </a:p>
          <a:p>
            <a:pPr lvl="1">
              <a:lnSpc>
                <a:spcPct val="80000"/>
              </a:lnSpc>
            </a:pPr>
            <a:r>
              <a:rPr lang="en-US" sz="2000" dirty="0"/>
              <a:t>A program is a series of instructions that tells a computer how to perform the tasks necessary to process data into information. </a:t>
            </a:r>
          </a:p>
          <a:p>
            <a:pPr lvl="1">
              <a:lnSpc>
                <a:spcPct val="80000"/>
              </a:lnSpc>
            </a:pPr>
            <a:r>
              <a:rPr lang="en-US" sz="2000" dirty="0"/>
              <a:t>A command is an instruction given to a computer program. </a:t>
            </a:r>
          </a:p>
          <a:p>
            <a:pPr lvl="1">
              <a:lnSpc>
                <a:spcPct val="80000"/>
              </a:lnSpc>
            </a:pPr>
            <a:r>
              <a:rPr lang="en-US" sz="2000" dirty="0"/>
              <a:t>A user response is an instruction you issue to the computer by responding to a question posed by a computer program. </a:t>
            </a:r>
          </a:p>
          <a:p>
            <a:pPr lvl="1">
              <a:lnSpc>
                <a:spcPct val="80000"/>
              </a:lnSpc>
            </a:pPr>
            <a:r>
              <a:rPr lang="en-US" sz="2000" dirty="0"/>
              <a:t>Any hardware component that allows you to enter data, programs, commands, and user responses into a computer is an input device.</a:t>
            </a:r>
          </a:p>
        </p:txBody>
      </p:sp>
    </p:spTree>
    <p:extLst>
      <p:ext uri="{BB962C8B-B14F-4D97-AF65-F5344CB8AC3E}">
        <p14:creationId xmlns:p14="http://schemas.microsoft.com/office/powerpoint/2010/main" val="427296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838200" y="365126"/>
            <a:ext cx="10515600" cy="922762"/>
          </a:xfrm>
        </p:spPr>
        <p:txBody>
          <a:bodyPr>
            <a:normAutofit fontScale="90000"/>
          </a:bodyPr>
          <a:lstStyle/>
          <a:p>
            <a:r>
              <a:rPr lang="en-US" dirty="0"/>
              <a:t>LIST THE CHARACTERISTICS OF A KEYBOARD</a:t>
            </a:r>
            <a:br>
              <a:rPr lang="en-US" dirty="0"/>
            </a:br>
            <a:endParaRPr lang="en-US" dirty="0"/>
          </a:p>
        </p:txBody>
      </p:sp>
      <p:sp>
        <p:nvSpPr>
          <p:cNvPr id="34819" name="Rectangle 3"/>
          <p:cNvSpPr>
            <a:spLocks noGrp="1" noChangeArrowheads="1"/>
          </p:cNvSpPr>
          <p:nvPr>
            <p:ph type="body" idx="1"/>
          </p:nvPr>
        </p:nvSpPr>
        <p:spPr>
          <a:xfrm>
            <a:off x="838200" y="1094704"/>
            <a:ext cx="10515600" cy="5082259"/>
          </a:xfrm>
        </p:spPr>
        <p:txBody>
          <a:bodyPr>
            <a:normAutofit/>
          </a:bodyPr>
          <a:lstStyle/>
          <a:p>
            <a:pPr eaLnBrk="1" hangingPunct="1">
              <a:lnSpc>
                <a:spcPct val="80000"/>
              </a:lnSpc>
            </a:pPr>
            <a:r>
              <a:rPr lang="en-US" sz="2400" dirty="0"/>
              <a:t>The keyboard is an input device that contains keys you press to enter data into a computer. </a:t>
            </a:r>
          </a:p>
          <a:p>
            <a:pPr eaLnBrk="1" hangingPunct="1">
              <a:lnSpc>
                <a:spcPct val="80000"/>
              </a:lnSpc>
            </a:pPr>
            <a:r>
              <a:rPr lang="en-US" sz="2400" dirty="0"/>
              <a:t>Desktop computer keyboards usually have from 101 to 105 keys</a:t>
            </a:r>
          </a:p>
          <a:p>
            <a:pPr eaLnBrk="1" hangingPunct="1">
              <a:lnSpc>
                <a:spcPct val="80000"/>
              </a:lnSpc>
            </a:pPr>
            <a:r>
              <a:rPr lang="en-US" sz="2400" dirty="0"/>
              <a:t>While keyboards for smaller computers contain fewer keys.</a:t>
            </a:r>
          </a:p>
          <a:p>
            <a:pPr eaLnBrk="1" hangingPunct="1">
              <a:lnSpc>
                <a:spcPct val="80000"/>
              </a:lnSpc>
            </a:pPr>
            <a:r>
              <a:rPr lang="en-US" sz="2400" dirty="0"/>
              <a:t>All keyboards have a typing area used to type letters of the alphabet, numbers, punctuation marks, and other basic characters. </a:t>
            </a:r>
          </a:p>
          <a:p>
            <a:pPr eaLnBrk="1" hangingPunct="1">
              <a:lnSpc>
                <a:spcPct val="80000"/>
              </a:lnSpc>
            </a:pPr>
            <a:r>
              <a:rPr lang="en-US" sz="2400" dirty="0"/>
              <a:t>Many desktop computer keyboards also have </a:t>
            </a:r>
          </a:p>
          <a:p>
            <a:pPr lvl="1">
              <a:lnSpc>
                <a:spcPct val="80000"/>
              </a:lnSpc>
            </a:pPr>
            <a:r>
              <a:rPr lang="en-US" sz="2000" dirty="0"/>
              <a:t>a numeric keypad designed to make it easier to enter numbers</a:t>
            </a:r>
          </a:p>
          <a:p>
            <a:pPr lvl="1">
              <a:lnSpc>
                <a:spcPct val="80000"/>
              </a:lnSpc>
            </a:pPr>
            <a:r>
              <a:rPr lang="en-US" sz="2000" dirty="0"/>
              <a:t>function keys programmed to issue commands and accomplish certain tasks</a:t>
            </a:r>
          </a:p>
          <a:p>
            <a:pPr lvl="1">
              <a:lnSpc>
                <a:spcPct val="80000"/>
              </a:lnSpc>
            </a:pPr>
            <a:r>
              <a:rPr lang="en-US" sz="2000" dirty="0"/>
              <a:t>arrow keys used to move the insertion point (a symbol on the screen that indicates where the next typed character will display)</a:t>
            </a:r>
          </a:p>
          <a:p>
            <a:pPr lvl="1">
              <a:lnSpc>
                <a:spcPct val="80000"/>
              </a:lnSpc>
            </a:pPr>
            <a:r>
              <a:rPr lang="en-US" sz="2000" dirty="0"/>
              <a:t>and toggle keys that can be switched between two different states.</a:t>
            </a:r>
          </a:p>
        </p:txBody>
      </p:sp>
    </p:spTree>
    <p:extLst>
      <p:ext uri="{BB962C8B-B14F-4D97-AF65-F5344CB8AC3E}">
        <p14:creationId xmlns:p14="http://schemas.microsoft.com/office/powerpoint/2010/main" val="2462192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838200" y="365125"/>
            <a:ext cx="10515600" cy="845489"/>
          </a:xfrm>
        </p:spPr>
        <p:txBody>
          <a:bodyPr>
            <a:normAutofit fontScale="90000"/>
          </a:bodyPr>
          <a:lstStyle/>
          <a:p>
            <a:pPr algn="ctr"/>
            <a:r>
              <a:rPr lang="en-US" dirty="0"/>
              <a:t>IDENTIFY VARIOUS TYPES OF KEYBOARDS</a:t>
            </a:r>
            <a:br>
              <a:rPr lang="en-US" dirty="0"/>
            </a:br>
            <a:endParaRPr lang="en-US" dirty="0"/>
          </a:p>
        </p:txBody>
      </p:sp>
      <p:sp>
        <p:nvSpPr>
          <p:cNvPr id="35843" name="Rectangle 3"/>
          <p:cNvSpPr>
            <a:spLocks noGrp="1" noChangeArrowheads="1"/>
          </p:cNvSpPr>
          <p:nvPr>
            <p:ph type="body" idx="1"/>
          </p:nvPr>
        </p:nvSpPr>
        <p:spPr>
          <a:xfrm>
            <a:off x="838200" y="862886"/>
            <a:ext cx="10515600" cy="5314078"/>
          </a:xfrm>
        </p:spPr>
        <p:txBody>
          <a:bodyPr>
            <a:normAutofit lnSpcReduction="10000"/>
          </a:bodyPr>
          <a:lstStyle/>
          <a:p>
            <a:pPr eaLnBrk="1" hangingPunct="1">
              <a:lnSpc>
                <a:spcPct val="80000"/>
              </a:lnSpc>
            </a:pPr>
            <a:r>
              <a:rPr lang="en-US" sz="2000" dirty="0"/>
              <a:t> </a:t>
            </a:r>
            <a:r>
              <a:rPr lang="en-US" sz="2400" dirty="0"/>
              <a:t>A standard computer keyboard sometimes is called a QWERTY keyboard</a:t>
            </a:r>
          </a:p>
          <a:p>
            <a:pPr lvl="1">
              <a:lnSpc>
                <a:spcPct val="80000"/>
              </a:lnSpc>
            </a:pPr>
            <a:r>
              <a:rPr lang="en-US" sz="1800" dirty="0"/>
              <a:t> because of the layout of its typing area.</a:t>
            </a:r>
          </a:p>
          <a:p>
            <a:pPr>
              <a:lnSpc>
                <a:spcPct val="80000"/>
              </a:lnSpc>
            </a:pPr>
            <a:r>
              <a:rPr lang="en-US" sz="2400" dirty="0"/>
              <a:t> An enhanced keyboard has </a:t>
            </a:r>
          </a:p>
          <a:p>
            <a:pPr lvl="1">
              <a:lnSpc>
                <a:spcPct val="80000"/>
              </a:lnSpc>
            </a:pPr>
            <a:r>
              <a:rPr lang="en-US" sz="1800" dirty="0"/>
              <a:t>12 function keys along the top row</a:t>
            </a:r>
          </a:p>
          <a:p>
            <a:pPr lvl="1">
              <a:lnSpc>
                <a:spcPct val="80000"/>
              </a:lnSpc>
            </a:pPr>
            <a:r>
              <a:rPr lang="en-US" sz="1800" dirty="0"/>
              <a:t>2 ctrl keys</a:t>
            </a:r>
          </a:p>
          <a:p>
            <a:pPr lvl="1">
              <a:lnSpc>
                <a:spcPct val="80000"/>
              </a:lnSpc>
            </a:pPr>
            <a:r>
              <a:rPr lang="en-US" sz="1800" dirty="0"/>
              <a:t> 2 alt keys and </a:t>
            </a:r>
          </a:p>
          <a:p>
            <a:pPr lvl="1">
              <a:lnSpc>
                <a:spcPct val="80000"/>
              </a:lnSpc>
            </a:pPr>
            <a:r>
              <a:rPr lang="en-US" sz="1800" dirty="0"/>
              <a:t>a set of arrow and additional keys between the typing area and the numeric keypad. </a:t>
            </a:r>
          </a:p>
          <a:p>
            <a:pPr>
              <a:lnSpc>
                <a:spcPct val="80000"/>
              </a:lnSpc>
            </a:pPr>
            <a:r>
              <a:rPr lang="en-US" sz="2400" dirty="0"/>
              <a:t>Cordless keyboards transmit data via infrared light waves. </a:t>
            </a:r>
          </a:p>
          <a:p>
            <a:pPr>
              <a:lnSpc>
                <a:spcPct val="80000"/>
              </a:lnSpc>
            </a:pPr>
            <a:r>
              <a:rPr lang="en-US" sz="2400" dirty="0"/>
              <a:t>Keyboards for notebook and handheld computers usually have smaller and fewer keys than desktop computers. </a:t>
            </a:r>
          </a:p>
          <a:p>
            <a:pPr>
              <a:lnSpc>
                <a:spcPct val="80000"/>
              </a:lnSpc>
            </a:pPr>
            <a:r>
              <a:rPr lang="en-US" sz="2400" dirty="0"/>
              <a:t>A portable keyboard is a full-sized keyboard you can attach to and remove from a handheld computer. </a:t>
            </a:r>
          </a:p>
          <a:p>
            <a:pPr>
              <a:lnSpc>
                <a:spcPct val="80000"/>
              </a:lnSpc>
            </a:pPr>
            <a:r>
              <a:rPr lang="en-US" sz="2400" dirty="0">
                <a:solidFill>
                  <a:srgbClr val="FF0000"/>
                </a:solidFill>
              </a:rPr>
              <a:t>Some manufacturers have designed ergonomic keyboards to reduce the chance of workplace injuries. </a:t>
            </a:r>
          </a:p>
          <a:p>
            <a:pPr>
              <a:lnSpc>
                <a:spcPct val="80000"/>
              </a:lnSpc>
            </a:pPr>
            <a:r>
              <a:rPr lang="en-US" sz="2400" dirty="0">
                <a:solidFill>
                  <a:srgbClr val="FF0000"/>
                </a:solidFill>
              </a:rPr>
              <a:t>The goal of ergonomics is to incorporate comfort, efficiency, and safety into the design of workplace items.</a:t>
            </a:r>
          </a:p>
        </p:txBody>
      </p:sp>
    </p:spTree>
    <p:extLst>
      <p:ext uri="{BB962C8B-B14F-4D97-AF65-F5344CB8AC3E}">
        <p14:creationId xmlns:p14="http://schemas.microsoft.com/office/powerpoint/2010/main" val="19987984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838200" y="365125"/>
            <a:ext cx="10515600" cy="755337"/>
          </a:xfrm>
        </p:spPr>
        <p:txBody>
          <a:bodyPr>
            <a:normAutofit fontScale="90000"/>
          </a:bodyPr>
          <a:lstStyle/>
          <a:p>
            <a:r>
              <a:rPr lang="en-US" dirty="0"/>
              <a:t>IDENTIFY VARIOUS TYPES OF POINTING DEVICES</a:t>
            </a:r>
            <a:br>
              <a:rPr lang="en-US" dirty="0"/>
            </a:br>
            <a:endParaRPr lang="en-US" dirty="0"/>
          </a:p>
        </p:txBody>
      </p:sp>
      <p:sp>
        <p:nvSpPr>
          <p:cNvPr id="36867" name="Rectangle 3"/>
          <p:cNvSpPr>
            <a:spLocks noGrp="1" noChangeArrowheads="1"/>
          </p:cNvSpPr>
          <p:nvPr>
            <p:ph type="body" idx="1"/>
          </p:nvPr>
        </p:nvSpPr>
        <p:spPr>
          <a:xfrm>
            <a:off x="838200" y="953037"/>
            <a:ext cx="10515600" cy="5223926"/>
          </a:xfrm>
        </p:spPr>
        <p:txBody>
          <a:bodyPr>
            <a:normAutofit lnSpcReduction="10000"/>
          </a:bodyPr>
          <a:lstStyle/>
          <a:p>
            <a:pPr marL="341313" indent="-339725">
              <a:spcBef>
                <a:spcPts val="800"/>
              </a:spcBef>
              <a:buClr>
                <a:srgbClr val="00007D"/>
              </a:buClr>
              <a:buSzPct val="45000"/>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sz="1800" b="1" dirty="0">
                <a:solidFill>
                  <a:srgbClr val="000000"/>
                </a:solidFill>
                <a:latin typeface="Times New Roman" pitchFamily="18" charset="0"/>
              </a:rPr>
              <a:t>Computer Allows you to interact with the software using graphics and icons.</a:t>
            </a:r>
          </a:p>
          <a:p>
            <a:pPr marL="341313" indent="-339725">
              <a:spcBef>
                <a:spcPts val="800"/>
              </a:spcBef>
              <a:buClr>
                <a:srgbClr val="00007D"/>
              </a:buClr>
              <a:buSzPct val="45000"/>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sz="1800" b="1" dirty="0">
                <a:solidFill>
                  <a:srgbClr val="000000"/>
                </a:solidFill>
                <a:latin typeface="Times New Roman" pitchFamily="18" charset="0"/>
              </a:rPr>
              <a:t>Controls how you enter data and how  the screen displays information.</a:t>
            </a:r>
          </a:p>
          <a:p>
            <a:pPr eaLnBrk="1" hangingPunct="1">
              <a:lnSpc>
                <a:spcPct val="80000"/>
              </a:lnSpc>
            </a:pPr>
            <a:endParaRPr lang="en-US" sz="1800" dirty="0"/>
          </a:p>
          <a:p>
            <a:pPr eaLnBrk="1" hangingPunct="1">
              <a:lnSpc>
                <a:spcPct val="80000"/>
              </a:lnSpc>
            </a:pPr>
            <a:r>
              <a:rPr lang="en-US" sz="1800" dirty="0"/>
              <a:t> </a:t>
            </a:r>
            <a:r>
              <a:rPr lang="en-US" dirty="0"/>
              <a:t>In a graphical user interface, the pointer is a small symbol on the screen. </a:t>
            </a:r>
          </a:p>
          <a:p>
            <a:pPr eaLnBrk="1" hangingPunct="1">
              <a:lnSpc>
                <a:spcPct val="80000"/>
              </a:lnSpc>
            </a:pPr>
            <a:r>
              <a:rPr lang="en-US" dirty="0"/>
              <a:t>A pointing device is an input device that allows you to control the pointer. </a:t>
            </a:r>
          </a:p>
          <a:p>
            <a:pPr eaLnBrk="1" hangingPunct="1">
              <a:lnSpc>
                <a:spcPct val="80000"/>
              </a:lnSpc>
            </a:pPr>
            <a:r>
              <a:rPr lang="en-US" dirty="0"/>
              <a:t>Common pointing devices include </a:t>
            </a:r>
          </a:p>
          <a:p>
            <a:pPr lvl="1">
              <a:lnSpc>
                <a:spcPct val="80000"/>
              </a:lnSpc>
            </a:pPr>
            <a:r>
              <a:rPr lang="en-US" sz="2000" dirty="0"/>
              <a:t>The mouse</a:t>
            </a:r>
          </a:p>
          <a:p>
            <a:pPr lvl="1">
              <a:lnSpc>
                <a:spcPct val="80000"/>
              </a:lnSpc>
            </a:pPr>
            <a:r>
              <a:rPr lang="en-US" sz="2000" dirty="0"/>
              <a:t>Trackball</a:t>
            </a:r>
          </a:p>
          <a:p>
            <a:pPr lvl="1">
              <a:lnSpc>
                <a:spcPct val="80000"/>
              </a:lnSpc>
            </a:pPr>
            <a:r>
              <a:rPr lang="en-US" sz="2000" dirty="0"/>
              <a:t>Touchpad</a:t>
            </a:r>
          </a:p>
          <a:p>
            <a:pPr lvl="1">
              <a:lnSpc>
                <a:spcPct val="80000"/>
              </a:lnSpc>
            </a:pPr>
            <a:r>
              <a:rPr lang="en-US" sz="2000" dirty="0"/>
              <a:t>Pointing stick</a:t>
            </a:r>
          </a:p>
          <a:p>
            <a:pPr lvl="1">
              <a:lnSpc>
                <a:spcPct val="80000"/>
              </a:lnSpc>
            </a:pPr>
            <a:r>
              <a:rPr lang="en-US" sz="2000" dirty="0"/>
              <a:t>Joystick</a:t>
            </a:r>
          </a:p>
          <a:p>
            <a:pPr lvl="1">
              <a:lnSpc>
                <a:spcPct val="80000"/>
              </a:lnSpc>
            </a:pPr>
            <a:r>
              <a:rPr lang="en-US" sz="2000" dirty="0"/>
              <a:t>Touch screen</a:t>
            </a:r>
          </a:p>
          <a:p>
            <a:pPr lvl="1">
              <a:lnSpc>
                <a:spcPct val="80000"/>
              </a:lnSpc>
            </a:pPr>
            <a:r>
              <a:rPr lang="en-US" sz="2000" dirty="0"/>
              <a:t>Light pen and </a:t>
            </a:r>
          </a:p>
          <a:p>
            <a:pPr lvl="1">
              <a:lnSpc>
                <a:spcPct val="80000"/>
              </a:lnSpc>
            </a:pPr>
            <a:r>
              <a:rPr lang="en-US" sz="2000" dirty="0"/>
              <a:t>A stylus</a:t>
            </a:r>
          </a:p>
        </p:txBody>
      </p:sp>
    </p:spTree>
    <p:extLst>
      <p:ext uri="{BB962C8B-B14F-4D97-AF65-F5344CB8AC3E}">
        <p14:creationId xmlns:p14="http://schemas.microsoft.com/office/powerpoint/2010/main" val="32089477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442" y="589253"/>
            <a:ext cx="10515600" cy="4351338"/>
          </a:xfrm>
        </p:spPr>
        <p:txBody>
          <a:bodyPr>
            <a:normAutofit fontScale="85000" lnSpcReduction="20000"/>
          </a:bodyPr>
          <a:lstStyle/>
          <a:p>
            <a:pPr>
              <a:lnSpc>
                <a:spcPct val="80000"/>
              </a:lnSpc>
            </a:pPr>
            <a:r>
              <a:rPr lang="en-US" dirty="0"/>
              <a:t>A mouse is a pointing device, designed to fit comfortably under the palm of your hand, that is moved across a flat surface. </a:t>
            </a:r>
          </a:p>
          <a:p>
            <a:pPr>
              <a:lnSpc>
                <a:spcPct val="80000"/>
              </a:lnSpc>
            </a:pPr>
            <a:r>
              <a:rPr lang="en-US" dirty="0"/>
              <a:t>A trackball is a stationary pointing device with a ball mechanism on its top. </a:t>
            </a:r>
          </a:p>
          <a:p>
            <a:pPr>
              <a:lnSpc>
                <a:spcPct val="80000"/>
              </a:lnSpc>
            </a:pPr>
            <a:r>
              <a:rPr lang="en-US" dirty="0"/>
              <a:t>A touchpad is a flat, rectangular pointing device that is sensitive to pressure and motion. </a:t>
            </a:r>
          </a:p>
          <a:p>
            <a:pPr>
              <a:lnSpc>
                <a:spcPct val="80000"/>
              </a:lnSpc>
            </a:pPr>
            <a:r>
              <a:rPr lang="en-US" dirty="0"/>
              <a:t>A pointing-stick is a pressure-sensitive pointing device shaped like a pencil eraser that is positioned between keys on the keyboard. </a:t>
            </a:r>
          </a:p>
          <a:p>
            <a:pPr>
              <a:lnSpc>
                <a:spcPct val="80000"/>
              </a:lnSpc>
            </a:pPr>
            <a:r>
              <a:rPr lang="en-US" dirty="0"/>
              <a:t>A joystick is a vertical lever mounted on a base. </a:t>
            </a:r>
          </a:p>
          <a:p>
            <a:pPr>
              <a:lnSpc>
                <a:spcPct val="80000"/>
              </a:lnSpc>
            </a:pPr>
            <a:r>
              <a:rPr lang="en-US" dirty="0"/>
              <a:t>A light pen is a handheld device that contains a light source or can detect light. </a:t>
            </a:r>
          </a:p>
          <a:p>
            <a:pPr>
              <a:lnSpc>
                <a:spcPct val="80000"/>
              </a:lnSpc>
            </a:pPr>
            <a:r>
              <a:rPr lang="en-US" dirty="0"/>
              <a:t>A touch screen is a touch-sensitive display on the screen. </a:t>
            </a:r>
          </a:p>
          <a:p>
            <a:pPr>
              <a:lnSpc>
                <a:spcPct val="80000"/>
              </a:lnSpc>
            </a:pPr>
            <a:r>
              <a:rPr lang="en-US" dirty="0"/>
              <a:t>A stylus looks like a ballpoint pen but uses pressure, instead of ink, to write text and draw lines. </a:t>
            </a:r>
          </a:p>
          <a:p>
            <a:pPr>
              <a:lnSpc>
                <a:spcPct val="80000"/>
              </a:lnSpc>
            </a:pPr>
            <a:r>
              <a:rPr lang="en-US" dirty="0"/>
              <a:t>An electronic pen can be used on a graphics tablet, which consists of a flat, rectangular, electronic plastic board used to input graphical data.</a:t>
            </a:r>
          </a:p>
          <a:p>
            <a:endParaRPr lang="en-US" dirty="0"/>
          </a:p>
        </p:txBody>
      </p:sp>
    </p:spTree>
    <p:extLst>
      <p:ext uri="{BB962C8B-B14F-4D97-AF65-F5344CB8AC3E}">
        <p14:creationId xmlns:p14="http://schemas.microsoft.com/office/powerpoint/2010/main" val="3858525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838200" y="365126"/>
            <a:ext cx="10515600" cy="768216"/>
          </a:xfrm>
        </p:spPr>
        <p:txBody>
          <a:bodyPr>
            <a:normAutofit fontScale="90000"/>
          </a:bodyPr>
          <a:lstStyle/>
          <a:p>
            <a:pPr algn="ctr"/>
            <a:r>
              <a:rPr lang="en-US" dirty="0"/>
              <a:t>EXPLAIN HOW A MOUSE WORKS</a:t>
            </a:r>
            <a:br>
              <a:rPr lang="en-US" dirty="0"/>
            </a:br>
            <a:endParaRPr lang="en-US" dirty="0"/>
          </a:p>
        </p:txBody>
      </p:sp>
      <p:sp>
        <p:nvSpPr>
          <p:cNvPr id="37891" name="Rectangle 3"/>
          <p:cNvSpPr>
            <a:spLocks noGrp="1" noChangeArrowheads="1"/>
          </p:cNvSpPr>
          <p:nvPr>
            <p:ph type="body" idx="1"/>
          </p:nvPr>
        </p:nvSpPr>
        <p:spPr>
          <a:xfrm>
            <a:off x="838200" y="1133342"/>
            <a:ext cx="10515600" cy="5043621"/>
          </a:xfrm>
        </p:spPr>
        <p:txBody>
          <a:bodyPr>
            <a:normAutofit lnSpcReduction="10000"/>
          </a:bodyPr>
          <a:lstStyle/>
          <a:p>
            <a:pPr eaLnBrk="1" hangingPunct="1">
              <a:lnSpc>
                <a:spcPct val="80000"/>
              </a:lnSpc>
            </a:pPr>
            <a:r>
              <a:rPr lang="en-US" sz="2400" dirty="0"/>
              <a:t> As you move a mouse across a flat surface, the movement is translated into signals that are sent to the computer, and the pointer on the screen also moves. </a:t>
            </a:r>
          </a:p>
          <a:p>
            <a:pPr eaLnBrk="1" hangingPunct="1">
              <a:lnSpc>
                <a:spcPct val="80000"/>
              </a:lnSpc>
            </a:pPr>
            <a:r>
              <a:rPr lang="en-US" sz="2400" dirty="0"/>
              <a:t>When you move the mouse to the right, the pointer moves to the right on the screen. </a:t>
            </a:r>
          </a:p>
          <a:p>
            <a:pPr eaLnBrk="1" hangingPunct="1">
              <a:lnSpc>
                <a:spcPct val="80000"/>
              </a:lnSpc>
            </a:pPr>
            <a:r>
              <a:rPr lang="en-US" sz="2400" dirty="0"/>
              <a:t>For Windows users, the top of a mouse has at least two buttons and sometimes also a wheel. </a:t>
            </a:r>
          </a:p>
          <a:p>
            <a:pPr eaLnBrk="1" hangingPunct="1">
              <a:lnSpc>
                <a:spcPct val="80000"/>
              </a:lnSpc>
            </a:pPr>
            <a:r>
              <a:rPr lang="en-US" sz="2400" dirty="0"/>
              <a:t>Generally, you use a mouse to move the pointer on the screen to an object and then press a button, or click, to perform a certain action on that object. </a:t>
            </a:r>
          </a:p>
          <a:p>
            <a:pPr eaLnBrk="1" hangingPunct="1">
              <a:lnSpc>
                <a:spcPct val="80000"/>
              </a:lnSpc>
            </a:pPr>
            <a:r>
              <a:rPr lang="en-US" sz="2400" dirty="0"/>
              <a:t>Other operations you can perform using a mouse include </a:t>
            </a:r>
          </a:p>
          <a:p>
            <a:pPr lvl="1">
              <a:lnSpc>
                <a:spcPct val="80000"/>
              </a:lnSpc>
            </a:pPr>
            <a:r>
              <a:rPr lang="en-US" sz="2000" dirty="0"/>
              <a:t>right-click, </a:t>
            </a:r>
          </a:p>
          <a:p>
            <a:pPr lvl="1">
              <a:lnSpc>
                <a:spcPct val="80000"/>
              </a:lnSpc>
            </a:pPr>
            <a:r>
              <a:rPr lang="en-US" sz="2000" dirty="0"/>
              <a:t>double-click, </a:t>
            </a:r>
          </a:p>
          <a:p>
            <a:pPr lvl="1">
              <a:lnSpc>
                <a:spcPct val="80000"/>
              </a:lnSpc>
            </a:pPr>
            <a:r>
              <a:rPr lang="en-US" sz="2000" dirty="0"/>
              <a:t>drag, </a:t>
            </a:r>
          </a:p>
          <a:p>
            <a:pPr lvl="1">
              <a:lnSpc>
                <a:spcPct val="80000"/>
              </a:lnSpc>
            </a:pPr>
            <a:r>
              <a:rPr lang="en-US" sz="2000" dirty="0"/>
              <a:t>right-drag, </a:t>
            </a:r>
          </a:p>
          <a:p>
            <a:pPr lvl="1">
              <a:lnSpc>
                <a:spcPct val="80000"/>
              </a:lnSpc>
            </a:pPr>
            <a:r>
              <a:rPr lang="en-US" sz="2000" dirty="0"/>
              <a:t>rotate wheel, and </a:t>
            </a:r>
          </a:p>
          <a:p>
            <a:pPr lvl="1">
              <a:lnSpc>
                <a:spcPct val="80000"/>
              </a:lnSpc>
            </a:pPr>
            <a:r>
              <a:rPr lang="en-US" sz="2000" dirty="0"/>
              <a:t>press wheel button.</a:t>
            </a:r>
          </a:p>
        </p:txBody>
      </p:sp>
    </p:spTree>
    <p:extLst>
      <p:ext uri="{BB962C8B-B14F-4D97-AF65-F5344CB8AC3E}">
        <p14:creationId xmlns:p14="http://schemas.microsoft.com/office/powerpoint/2010/main" val="2025862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838200" y="365126"/>
            <a:ext cx="10515600" cy="806852"/>
          </a:xfrm>
        </p:spPr>
        <p:txBody>
          <a:bodyPr/>
          <a:lstStyle/>
          <a:p>
            <a:pPr algn="ctr"/>
            <a:r>
              <a:rPr lang="en-US" dirty="0"/>
              <a:t>DESCRIBE DIFFERENT MOUSE TYPES</a:t>
            </a:r>
          </a:p>
        </p:txBody>
      </p:sp>
      <p:sp>
        <p:nvSpPr>
          <p:cNvPr id="38915" name="Rectangle 3"/>
          <p:cNvSpPr>
            <a:spLocks noGrp="1" noChangeArrowheads="1"/>
          </p:cNvSpPr>
          <p:nvPr>
            <p:ph type="body" idx="1"/>
          </p:nvPr>
        </p:nvSpPr>
        <p:spPr>
          <a:xfrm>
            <a:off x="838200" y="1171978"/>
            <a:ext cx="10515600" cy="5004985"/>
          </a:xfrm>
        </p:spPr>
        <p:txBody>
          <a:bodyPr>
            <a:normAutofit fontScale="92500" lnSpcReduction="10000"/>
          </a:bodyPr>
          <a:lstStyle/>
          <a:p>
            <a:pPr eaLnBrk="1" hangingPunct="1">
              <a:lnSpc>
                <a:spcPct val="80000"/>
              </a:lnSpc>
            </a:pPr>
            <a:r>
              <a:rPr lang="en-US" sz="2000" dirty="0"/>
              <a:t> </a:t>
            </a:r>
            <a:r>
              <a:rPr lang="en-US" dirty="0"/>
              <a:t>A mechanical mouse has a rubber or metal ball on its underside. </a:t>
            </a:r>
          </a:p>
          <a:p>
            <a:pPr eaLnBrk="1" hangingPunct="1">
              <a:lnSpc>
                <a:spcPct val="80000"/>
              </a:lnSpc>
            </a:pPr>
            <a:r>
              <a:rPr lang="en-US" dirty="0"/>
              <a:t>When the ball rolls in a certain direction, electronic circuits in the mouse translate the movement into signals that are sent to the computer. </a:t>
            </a:r>
          </a:p>
          <a:p>
            <a:pPr eaLnBrk="1" hangingPunct="1">
              <a:lnSpc>
                <a:spcPct val="80000"/>
              </a:lnSpc>
            </a:pPr>
            <a:r>
              <a:rPr lang="en-US" dirty="0"/>
              <a:t>For better traction, you should place a mechanical mouse on a mouse pad. </a:t>
            </a:r>
          </a:p>
          <a:p>
            <a:pPr eaLnBrk="1" hangingPunct="1">
              <a:lnSpc>
                <a:spcPct val="80000"/>
              </a:lnSpc>
            </a:pPr>
            <a:r>
              <a:rPr lang="en-US" dirty="0"/>
              <a:t>An optical mouse has no moving parts; </a:t>
            </a:r>
          </a:p>
          <a:p>
            <a:pPr eaLnBrk="1" hangingPunct="1">
              <a:lnSpc>
                <a:spcPct val="80000"/>
              </a:lnSpc>
            </a:pPr>
            <a:r>
              <a:rPr lang="en-US" dirty="0"/>
              <a:t>instead it uses devices that emit and sense light to detect the mouse’s movement. </a:t>
            </a:r>
          </a:p>
          <a:p>
            <a:pPr eaLnBrk="1" hangingPunct="1">
              <a:lnSpc>
                <a:spcPct val="80000"/>
              </a:lnSpc>
            </a:pPr>
            <a:r>
              <a:rPr lang="en-US" dirty="0"/>
              <a:t>An optical mouse can be used on nearly all surfaces, is more precise than a mechanical mouse, and does not require cleaning. </a:t>
            </a:r>
          </a:p>
          <a:p>
            <a:pPr eaLnBrk="1" hangingPunct="1">
              <a:lnSpc>
                <a:spcPct val="80000"/>
              </a:lnSpc>
            </a:pPr>
            <a:r>
              <a:rPr lang="en-US" dirty="0"/>
              <a:t>A cordless mouse, or wireless mouse, is a battery powered device that transmits data using wireless technology, such as radio waves or infrared light waves. </a:t>
            </a:r>
          </a:p>
          <a:p>
            <a:pPr eaLnBrk="1" hangingPunct="1">
              <a:lnSpc>
                <a:spcPct val="80000"/>
              </a:lnSpc>
            </a:pPr>
            <a:r>
              <a:rPr lang="en-US" dirty="0"/>
              <a:t>A cordless mouse uses technology very similar to that of a cordless keyboard.</a:t>
            </a:r>
          </a:p>
        </p:txBody>
      </p:sp>
    </p:spTree>
    <p:extLst>
      <p:ext uri="{BB962C8B-B14F-4D97-AF65-F5344CB8AC3E}">
        <p14:creationId xmlns:p14="http://schemas.microsoft.com/office/powerpoint/2010/main" val="3546257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838200" y="365126"/>
            <a:ext cx="10515600" cy="793974"/>
          </a:xfrm>
        </p:spPr>
        <p:txBody>
          <a:bodyPr/>
          <a:lstStyle/>
          <a:p>
            <a:r>
              <a:rPr lang="en-US" dirty="0"/>
              <a:t>DEFINE THE FOUR CATEGORIES OF OUTPUT</a:t>
            </a:r>
          </a:p>
        </p:txBody>
      </p:sp>
      <p:sp>
        <p:nvSpPr>
          <p:cNvPr id="39939" name="Rectangle 3"/>
          <p:cNvSpPr>
            <a:spLocks noGrp="1" noChangeArrowheads="1"/>
          </p:cNvSpPr>
          <p:nvPr>
            <p:ph type="body" idx="1"/>
          </p:nvPr>
        </p:nvSpPr>
        <p:spPr>
          <a:xfrm>
            <a:off x="838200" y="1287887"/>
            <a:ext cx="10515600" cy="4889076"/>
          </a:xfrm>
        </p:spPr>
        <p:txBody>
          <a:bodyPr>
            <a:noAutofit/>
          </a:bodyPr>
          <a:lstStyle/>
          <a:p>
            <a:pPr eaLnBrk="1" hangingPunct="1">
              <a:lnSpc>
                <a:spcPct val="80000"/>
              </a:lnSpc>
            </a:pPr>
            <a:r>
              <a:rPr lang="en-US" sz="2000" dirty="0"/>
              <a:t>Output is data that has been processed into a useful form called information. </a:t>
            </a:r>
          </a:p>
          <a:p>
            <a:pPr eaLnBrk="1" hangingPunct="1">
              <a:lnSpc>
                <a:spcPct val="80000"/>
              </a:lnSpc>
            </a:pPr>
            <a:r>
              <a:rPr lang="en-US" sz="2000" dirty="0"/>
              <a:t>Four types of output are </a:t>
            </a:r>
          </a:p>
          <a:p>
            <a:pPr lvl="1">
              <a:lnSpc>
                <a:spcPct val="80000"/>
              </a:lnSpc>
            </a:pPr>
            <a:r>
              <a:rPr lang="en-US" sz="1600" dirty="0"/>
              <a:t>text, </a:t>
            </a:r>
          </a:p>
          <a:p>
            <a:pPr lvl="1">
              <a:lnSpc>
                <a:spcPct val="80000"/>
              </a:lnSpc>
            </a:pPr>
            <a:r>
              <a:rPr lang="en-US" sz="1600" dirty="0"/>
              <a:t>graphics, </a:t>
            </a:r>
          </a:p>
          <a:p>
            <a:pPr lvl="1">
              <a:lnSpc>
                <a:spcPct val="80000"/>
              </a:lnSpc>
            </a:pPr>
            <a:r>
              <a:rPr lang="en-US" sz="1600" dirty="0"/>
              <a:t>audio, and</a:t>
            </a:r>
          </a:p>
          <a:p>
            <a:pPr lvl="1">
              <a:lnSpc>
                <a:spcPct val="80000"/>
              </a:lnSpc>
            </a:pPr>
            <a:r>
              <a:rPr lang="en-US" sz="1600" dirty="0"/>
              <a:t> video. </a:t>
            </a:r>
          </a:p>
          <a:p>
            <a:pPr>
              <a:lnSpc>
                <a:spcPct val="80000"/>
              </a:lnSpc>
            </a:pPr>
            <a:r>
              <a:rPr lang="en-US" sz="2000" dirty="0"/>
              <a:t>Text consists of characters (letters, numbers, punctuation marks, or any other symbol requiring one byte of computer storage space) that are used to create words, sentences, and paragraphs. </a:t>
            </a:r>
          </a:p>
          <a:p>
            <a:pPr>
              <a:lnSpc>
                <a:spcPct val="80000"/>
              </a:lnSpc>
            </a:pPr>
            <a:r>
              <a:rPr lang="en-US" sz="2000" dirty="0"/>
              <a:t>Graphics are digital representations of </a:t>
            </a:r>
            <a:r>
              <a:rPr lang="en-US" sz="2000" dirty="0" err="1"/>
              <a:t>nonetext</a:t>
            </a:r>
            <a:r>
              <a:rPr lang="en-US" sz="2000" dirty="0"/>
              <a:t> information such as drawings, charts, photographs, and animation (a series of still images in rapid sequence that gives the illusion of motion). </a:t>
            </a:r>
          </a:p>
          <a:p>
            <a:pPr>
              <a:lnSpc>
                <a:spcPct val="80000"/>
              </a:lnSpc>
            </a:pPr>
            <a:r>
              <a:rPr lang="en-US" sz="2000" dirty="0"/>
              <a:t>Audio is music, speech, or any other sound. </a:t>
            </a:r>
          </a:p>
          <a:p>
            <a:pPr>
              <a:lnSpc>
                <a:spcPct val="80000"/>
              </a:lnSpc>
            </a:pPr>
            <a:r>
              <a:rPr lang="en-US" sz="2000" dirty="0"/>
              <a:t>Video consists of images played back at speeds to provide the appearance of full motion. </a:t>
            </a:r>
          </a:p>
          <a:p>
            <a:pPr>
              <a:lnSpc>
                <a:spcPct val="80000"/>
              </a:lnSpc>
            </a:pPr>
            <a:r>
              <a:rPr lang="en-US" sz="2000" dirty="0"/>
              <a:t>An output device is any computer component capable of conveying information to a user.</a:t>
            </a:r>
          </a:p>
        </p:txBody>
      </p:sp>
    </p:spTree>
    <p:extLst>
      <p:ext uri="{BB962C8B-B14F-4D97-AF65-F5344CB8AC3E}">
        <p14:creationId xmlns:p14="http://schemas.microsoft.com/office/powerpoint/2010/main" val="8420210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838200" y="365126"/>
            <a:ext cx="10515600" cy="922762"/>
          </a:xfrm>
        </p:spPr>
        <p:txBody>
          <a:bodyPr>
            <a:normAutofit fontScale="90000"/>
          </a:bodyPr>
          <a:lstStyle/>
          <a:p>
            <a:pPr algn="ctr"/>
            <a:r>
              <a:rPr lang="en-US" dirty="0"/>
              <a:t>IDENTIFY THE DIFFERENT TYPES OF DISPLAY DEVICES</a:t>
            </a:r>
            <a:br>
              <a:rPr lang="en-US" dirty="0"/>
            </a:br>
            <a:endParaRPr lang="en-US" dirty="0"/>
          </a:p>
        </p:txBody>
      </p:sp>
      <p:sp>
        <p:nvSpPr>
          <p:cNvPr id="40963" name="Rectangle 3"/>
          <p:cNvSpPr>
            <a:spLocks noGrp="1" noChangeArrowheads="1"/>
          </p:cNvSpPr>
          <p:nvPr>
            <p:ph type="body" idx="1"/>
          </p:nvPr>
        </p:nvSpPr>
        <p:spPr>
          <a:xfrm>
            <a:off x="838200" y="1017431"/>
            <a:ext cx="10515600" cy="5159532"/>
          </a:xfrm>
        </p:spPr>
        <p:txBody>
          <a:bodyPr>
            <a:noAutofit/>
          </a:bodyPr>
          <a:lstStyle/>
          <a:p>
            <a:pPr eaLnBrk="1" hangingPunct="1">
              <a:lnSpc>
                <a:spcPct val="80000"/>
              </a:lnSpc>
            </a:pPr>
            <a:r>
              <a:rPr lang="en-US" sz="1600" dirty="0"/>
              <a:t> A display device is an output device that visually conveys text, graphics, and video information. </a:t>
            </a:r>
          </a:p>
          <a:p>
            <a:pPr eaLnBrk="1" hangingPunct="1">
              <a:lnSpc>
                <a:spcPct val="80000"/>
              </a:lnSpc>
            </a:pPr>
            <a:r>
              <a:rPr lang="en-US" sz="1600" dirty="0"/>
              <a:t>Information shown on a display device is called soft copy because the information exists electronically and is displayed for a temporary period of time. </a:t>
            </a:r>
          </a:p>
          <a:p>
            <a:pPr eaLnBrk="1" hangingPunct="1">
              <a:lnSpc>
                <a:spcPct val="80000"/>
              </a:lnSpc>
            </a:pPr>
            <a:r>
              <a:rPr lang="en-US" sz="1600" dirty="0"/>
              <a:t>Display devices include</a:t>
            </a:r>
          </a:p>
          <a:p>
            <a:pPr lvl="1">
              <a:lnSpc>
                <a:spcPct val="80000"/>
              </a:lnSpc>
            </a:pPr>
            <a:r>
              <a:rPr lang="en-US" sz="1600" dirty="0"/>
              <a:t>CRT monitors, </a:t>
            </a:r>
          </a:p>
          <a:p>
            <a:pPr lvl="1">
              <a:lnSpc>
                <a:spcPct val="80000"/>
              </a:lnSpc>
            </a:pPr>
            <a:r>
              <a:rPr lang="en-US" sz="1600" dirty="0"/>
              <a:t>LCD monitors and displays,</a:t>
            </a:r>
          </a:p>
          <a:p>
            <a:pPr lvl="1">
              <a:lnSpc>
                <a:spcPct val="80000"/>
              </a:lnSpc>
            </a:pPr>
            <a:r>
              <a:rPr lang="en-US" sz="1600" dirty="0"/>
              <a:t> gas plasma monitors, and televisions. </a:t>
            </a:r>
          </a:p>
          <a:p>
            <a:pPr>
              <a:lnSpc>
                <a:spcPct val="80000"/>
              </a:lnSpc>
            </a:pPr>
            <a:r>
              <a:rPr lang="en-US" sz="1600" dirty="0"/>
              <a:t>A CRT monitor is a monitor that is similar to a standard television set because it contains a cathode ray tube. </a:t>
            </a:r>
          </a:p>
          <a:p>
            <a:pPr>
              <a:lnSpc>
                <a:spcPct val="80000"/>
              </a:lnSpc>
            </a:pPr>
            <a:r>
              <a:rPr lang="en-US" sz="1600" dirty="0"/>
              <a:t>A cathode ray tube (CRT) is a large, sealed, glass tube. The front of the tube is a screen coated with phosphor material that glows as an electron beam moves back and forth, which produces an image on the screen. </a:t>
            </a:r>
          </a:p>
          <a:p>
            <a:pPr>
              <a:lnSpc>
                <a:spcPct val="80000"/>
              </a:lnSpc>
            </a:pPr>
            <a:r>
              <a:rPr lang="en-US" sz="1600" dirty="0"/>
              <a:t>LCD monitors and LCD displays use liquid crystal to present information on the screen. </a:t>
            </a:r>
          </a:p>
          <a:p>
            <a:pPr>
              <a:lnSpc>
                <a:spcPct val="80000"/>
              </a:lnSpc>
            </a:pPr>
            <a:r>
              <a:rPr lang="en-US" sz="1600" dirty="0">
                <a:solidFill>
                  <a:srgbClr val="FF0000"/>
                </a:solidFill>
              </a:rPr>
              <a:t>A liquid crystal display (LCD) has liquid crystals between two sheets of material. When an electric current passes through the crystals, they twist, causing some light waves to be blocked and allowing others to pass through, which creates the images.</a:t>
            </a:r>
          </a:p>
          <a:p>
            <a:pPr eaLnBrk="1" hangingPunct="1">
              <a:lnSpc>
                <a:spcPct val="80000"/>
              </a:lnSpc>
            </a:pPr>
            <a:r>
              <a:rPr lang="en-US" sz="1600" dirty="0">
                <a:solidFill>
                  <a:srgbClr val="FF0000"/>
                </a:solidFill>
              </a:rPr>
              <a:t>Similar to an LCD display, a gas plasma monitor is a flat-panel display. </a:t>
            </a:r>
          </a:p>
          <a:p>
            <a:pPr eaLnBrk="1" hangingPunct="1">
              <a:lnSpc>
                <a:spcPct val="80000"/>
              </a:lnSpc>
            </a:pPr>
            <a:r>
              <a:rPr lang="en-US" sz="1600" dirty="0">
                <a:solidFill>
                  <a:srgbClr val="FF0000"/>
                </a:solidFill>
              </a:rPr>
              <a:t>A gas plasma monitor, however, substitutes a layer of gas for the liquid crystal material. </a:t>
            </a:r>
          </a:p>
          <a:p>
            <a:pPr eaLnBrk="1" hangingPunct="1">
              <a:lnSpc>
                <a:spcPct val="80000"/>
              </a:lnSpc>
            </a:pPr>
            <a:r>
              <a:rPr lang="en-US" sz="1600" dirty="0">
                <a:solidFill>
                  <a:srgbClr val="FF0000"/>
                </a:solidFill>
              </a:rPr>
              <a:t>When voltage is applied, the gas releases ultraviolet light that causes pixels on the screen to glow and form an image.</a:t>
            </a:r>
          </a:p>
          <a:p>
            <a:pPr eaLnBrk="1" hangingPunct="1">
              <a:lnSpc>
                <a:spcPct val="80000"/>
              </a:lnSpc>
            </a:pPr>
            <a:r>
              <a:rPr lang="en-US" sz="1600" dirty="0">
                <a:solidFill>
                  <a:srgbClr val="FF0000"/>
                </a:solidFill>
              </a:rPr>
              <a:t> An NTSC converter converts a computer’s digital signal into an analog signal that a standard television set can display. </a:t>
            </a:r>
          </a:p>
          <a:p>
            <a:pPr eaLnBrk="1" hangingPunct="1">
              <a:lnSpc>
                <a:spcPct val="80000"/>
              </a:lnSpc>
            </a:pPr>
            <a:r>
              <a:rPr lang="en-US" sz="1600" dirty="0">
                <a:solidFill>
                  <a:srgbClr val="FF0000"/>
                </a:solidFill>
              </a:rPr>
              <a:t>High-definition television (HDTV) is a type of television set that works with digital broadcasting signals and supports a wider screen and higher resolution than a standard television set.</a:t>
            </a:r>
          </a:p>
        </p:txBody>
      </p:sp>
    </p:spTree>
    <p:extLst>
      <p:ext uri="{BB962C8B-B14F-4D97-AF65-F5344CB8AC3E}">
        <p14:creationId xmlns:p14="http://schemas.microsoft.com/office/powerpoint/2010/main" val="28209262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838200" y="365125"/>
            <a:ext cx="10515600" cy="897005"/>
          </a:xfrm>
        </p:spPr>
        <p:txBody>
          <a:bodyPr>
            <a:normAutofit fontScale="90000"/>
          </a:bodyPr>
          <a:lstStyle/>
          <a:p>
            <a:pPr algn="ctr">
              <a:lnSpc>
                <a:spcPct val="80000"/>
              </a:lnSpc>
            </a:pPr>
            <a:r>
              <a:rPr lang="en-US" dirty="0"/>
              <a:t>DIFFERENTIATE BETWEEN </a:t>
            </a:r>
            <a:r>
              <a:rPr lang="en-US" dirty="0">
                <a:solidFill>
                  <a:srgbClr val="FF0000"/>
                </a:solidFill>
              </a:rPr>
              <a:t>STORAGE</a:t>
            </a:r>
            <a:r>
              <a:rPr lang="en-US" dirty="0"/>
              <a:t> AND MEMORY</a:t>
            </a:r>
            <a:br>
              <a:rPr lang="en-US" dirty="0"/>
            </a:br>
            <a:br>
              <a:rPr lang="en-US" dirty="0"/>
            </a:br>
            <a:endParaRPr lang="en-US" dirty="0"/>
          </a:p>
        </p:txBody>
      </p:sp>
      <p:sp>
        <p:nvSpPr>
          <p:cNvPr id="45059" name="Rectangle 3"/>
          <p:cNvSpPr>
            <a:spLocks noGrp="1" noChangeArrowheads="1"/>
          </p:cNvSpPr>
          <p:nvPr>
            <p:ph type="body" idx="1"/>
          </p:nvPr>
        </p:nvSpPr>
        <p:spPr>
          <a:xfrm>
            <a:off x="838200" y="927280"/>
            <a:ext cx="10515600" cy="5249684"/>
          </a:xfrm>
        </p:spPr>
        <p:txBody>
          <a:bodyPr>
            <a:normAutofit/>
          </a:bodyPr>
          <a:lstStyle/>
          <a:p>
            <a:pPr eaLnBrk="1" hangingPunct="1">
              <a:lnSpc>
                <a:spcPct val="80000"/>
              </a:lnSpc>
            </a:pPr>
            <a:r>
              <a:rPr lang="en-US" sz="2400" dirty="0"/>
              <a:t>Memory, which is composed of one or more chips on the motherboard, is a temporary holding place for data and instructions during processing. </a:t>
            </a:r>
          </a:p>
          <a:p>
            <a:pPr eaLnBrk="1" hangingPunct="1">
              <a:lnSpc>
                <a:spcPct val="80000"/>
              </a:lnSpc>
            </a:pPr>
            <a:r>
              <a:rPr lang="en-US" sz="2400" dirty="0"/>
              <a:t>The contents of volatile memory, such as RAM, are lost when the power to the computer is turned off. </a:t>
            </a:r>
          </a:p>
          <a:p>
            <a:pPr eaLnBrk="1" hangingPunct="1">
              <a:lnSpc>
                <a:spcPct val="80000"/>
              </a:lnSpc>
            </a:pPr>
            <a:r>
              <a:rPr lang="en-US" sz="2400" dirty="0"/>
              <a:t>The contents of nonvolatile memory, such as ROM, are not lost when power is removed from the computer. </a:t>
            </a:r>
          </a:p>
          <a:p>
            <a:pPr eaLnBrk="1" hangingPunct="1">
              <a:lnSpc>
                <a:spcPct val="80000"/>
              </a:lnSpc>
            </a:pPr>
            <a:r>
              <a:rPr lang="en-US" sz="2400" dirty="0"/>
              <a:t>Storage holds items such as data, instructions, and information for future use; </a:t>
            </a:r>
          </a:p>
          <a:p>
            <a:pPr eaLnBrk="1" hangingPunct="1">
              <a:lnSpc>
                <a:spcPct val="80000"/>
              </a:lnSpc>
            </a:pPr>
            <a:r>
              <a:rPr lang="en-US" sz="2400" dirty="0"/>
              <a:t>that is, storage holds these items while they are not being processed. </a:t>
            </a:r>
          </a:p>
          <a:p>
            <a:pPr eaLnBrk="1" hangingPunct="1">
              <a:lnSpc>
                <a:spcPct val="80000"/>
              </a:lnSpc>
            </a:pPr>
            <a:r>
              <a:rPr lang="en-US" sz="2400" dirty="0"/>
              <a:t>Storage is nonvolatile, which means the items in storage are retained even when power is removed from the computer. </a:t>
            </a:r>
          </a:p>
          <a:p>
            <a:pPr eaLnBrk="1" hangingPunct="1">
              <a:lnSpc>
                <a:spcPct val="80000"/>
              </a:lnSpc>
            </a:pPr>
            <a:r>
              <a:rPr lang="en-US" sz="2400" dirty="0"/>
              <a:t>Compared to memory, the access time (the time it takes to locate a single item) for storage is slow.</a:t>
            </a:r>
          </a:p>
        </p:txBody>
      </p:sp>
    </p:spTree>
    <p:extLst>
      <p:ext uri="{BB962C8B-B14F-4D97-AF65-F5344CB8AC3E}">
        <p14:creationId xmlns:p14="http://schemas.microsoft.com/office/powerpoint/2010/main" val="13453098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838200" y="365125"/>
            <a:ext cx="10515600" cy="961399"/>
          </a:xfrm>
        </p:spPr>
        <p:txBody>
          <a:bodyPr>
            <a:normAutofit fontScale="90000"/>
          </a:bodyPr>
          <a:lstStyle/>
          <a:p>
            <a:pPr algn="ctr"/>
            <a:r>
              <a:rPr lang="en-US" dirty="0"/>
              <a:t> IDENTIFY VARIOUS TYPES OF STORAGE MEDIA AND STORAGE DEVICES</a:t>
            </a:r>
            <a:br>
              <a:rPr lang="en-US" dirty="0"/>
            </a:br>
            <a:endParaRPr lang="en-US" dirty="0"/>
          </a:p>
        </p:txBody>
      </p:sp>
      <p:sp>
        <p:nvSpPr>
          <p:cNvPr id="46083" name="Rectangle 3"/>
          <p:cNvSpPr>
            <a:spLocks noGrp="1" noChangeArrowheads="1"/>
          </p:cNvSpPr>
          <p:nvPr>
            <p:ph type="body" idx="1"/>
          </p:nvPr>
        </p:nvSpPr>
        <p:spPr>
          <a:xfrm>
            <a:off x="838200" y="1146220"/>
            <a:ext cx="10515600" cy="5030743"/>
          </a:xfrm>
        </p:spPr>
        <p:txBody>
          <a:bodyPr>
            <a:normAutofit lnSpcReduction="10000"/>
          </a:bodyPr>
          <a:lstStyle/>
          <a:p>
            <a:pPr eaLnBrk="1" hangingPunct="1">
              <a:lnSpc>
                <a:spcPct val="80000"/>
              </a:lnSpc>
            </a:pPr>
            <a:r>
              <a:rPr lang="en-US" sz="2400" dirty="0"/>
              <a:t>A storage medium (media is the plural) is the physical material on which items are kept. </a:t>
            </a:r>
          </a:p>
          <a:p>
            <a:pPr eaLnBrk="1" hangingPunct="1">
              <a:lnSpc>
                <a:spcPct val="80000"/>
              </a:lnSpc>
            </a:pPr>
            <a:r>
              <a:rPr lang="en-US" sz="2400" dirty="0"/>
              <a:t>A storage device is the computer hardware that records and retrieves items to and from a storage medium. </a:t>
            </a:r>
          </a:p>
          <a:p>
            <a:pPr eaLnBrk="1" hangingPunct="1">
              <a:lnSpc>
                <a:spcPct val="80000"/>
              </a:lnSpc>
            </a:pPr>
            <a:r>
              <a:rPr lang="en-US" sz="2400" dirty="0"/>
              <a:t>Storage devices can function as sources of input and output. </a:t>
            </a:r>
          </a:p>
          <a:p>
            <a:pPr eaLnBrk="1" hangingPunct="1">
              <a:lnSpc>
                <a:spcPct val="80000"/>
              </a:lnSpc>
            </a:pPr>
            <a:r>
              <a:rPr lang="en-US" sz="2400" dirty="0"/>
              <a:t>When storage devices transfer items from a storage medium into memory – a process called reading – they function as sources of input. </a:t>
            </a:r>
          </a:p>
          <a:p>
            <a:pPr eaLnBrk="1" hangingPunct="1">
              <a:lnSpc>
                <a:spcPct val="80000"/>
              </a:lnSpc>
            </a:pPr>
            <a:r>
              <a:rPr lang="en-US" sz="2400" dirty="0"/>
              <a:t>When storage devices transfer items from memory to a storage medium – a process called writing – they function as sources of output. </a:t>
            </a:r>
          </a:p>
          <a:p>
            <a:pPr eaLnBrk="1" hangingPunct="1">
              <a:lnSpc>
                <a:spcPct val="80000"/>
              </a:lnSpc>
            </a:pPr>
            <a:r>
              <a:rPr lang="en-US" sz="2400" dirty="0"/>
              <a:t>Types of storage media include </a:t>
            </a:r>
          </a:p>
          <a:p>
            <a:pPr lvl="1">
              <a:lnSpc>
                <a:spcPct val="80000"/>
              </a:lnSpc>
            </a:pPr>
            <a:r>
              <a:rPr lang="en-US" sz="1800" dirty="0"/>
              <a:t>floppy disks, </a:t>
            </a:r>
          </a:p>
          <a:p>
            <a:pPr lvl="1">
              <a:lnSpc>
                <a:spcPct val="80000"/>
              </a:lnSpc>
            </a:pPr>
            <a:r>
              <a:rPr lang="en-US" sz="1800" dirty="0"/>
              <a:t>hard disks, </a:t>
            </a:r>
          </a:p>
          <a:p>
            <a:pPr lvl="1">
              <a:lnSpc>
                <a:spcPct val="80000"/>
              </a:lnSpc>
            </a:pPr>
            <a:r>
              <a:rPr lang="en-US" sz="1800" dirty="0"/>
              <a:t>compact discs, </a:t>
            </a:r>
          </a:p>
          <a:p>
            <a:pPr lvl="1">
              <a:lnSpc>
                <a:spcPct val="80000"/>
              </a:lnSpc>
            </a:pPr>
            <a:r>
              <a:rPr lang="en-US" sz="1800" dirty="0"/>
              <a:t>tape, </a:t>
            </a:r>
          </a:p>
          <a:p>
            <a:pPr lvl="1">
              <a:lnSpc>
                <a:spcPct val="80000"/>
              </a:lnSpc>
            </a:pPr>
            <a:r>
              <a:rPr lang="en-US" sz="1800" dirty="0"/>
              <a:t>PC Cards, </a:t>
            </a:r>
          </a:p>
          <a:p>
            <a:pPr lvl="1">
              <a:lnSpc>
                <a:spcPct val="80000"/>
              </a:lnSpc>
            </a:pPr>
            <a:r>
              <a:rPr lang="en-US" sz="1800" dirty="0"/>
              <a:t>microfilm, and microfiche</a:t>
            </a:r>
            <a:r>
              <a:rPr lang="en-US" sz="1600" dirty="0"/>
              <a:t>.</a:t>
            </a:r>
          </a:p>
        </p:txBody>
      </p:sp>
    </p:spTree>
    <p:extLst>
      <p:ext uri="{BB962C8B-B14F-4D97-AF65-F5344CB8AC3E}">
        <p14:creationId xmlns:p14="http://schemas.microsoft.com/office/powerpoint/2010/main" val="27677699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838200" y="365126"/>
            <a:ext cx="10515600" cy="897004"/>
          </a:xfrm>
        </p:spPr>
        <p:txBody>
          <a:bodyPr>
            <a:normAutofit fontScale="90000"/>
          </a:bodyPr>
          <a:lstStyle/>
          <a:p>
            <a:pPr algn="ctr" eaLnBrk="1" hangingPunct="1"/>
            <a:r>
              <a:rPr lang="en-US" dirty="0"/>
              <a:t>THE CATEGORIES OF COMPUTERS AND THEIR USES</a:t>
            </a:r>
          </a:p>
        </p:txBody>
      </p:sp>
      <p:sp>
        <p:nvSpPr>
          <p:cNvPr id="11267" name="Rectangle 3"/>
          <p:cNvSpPr>
            <a:spLocks noGrp="1" noChangeArrowheads="1"/>
          </p:cNvSpPr>
          <p:nvPr>
            <p:ph type="body" idx="1"/>
          </p:nvPr>
        </p:nvSpPr>
        <p:spPr>
          <a:xfrm>
            <a:off x="838200" y="1262130"/>
            <a:ext cx="10515600" cy="4914833"/>
          </a:xfrm>
        </p:spPr>
        <p:txBody>
          <a:bodyPr>
            <a:normAutofit/>
          </a:bodyPr>
          <a:lstStyle/>
          <a:p>
            <a:pPr eaLnBrk="1" hangingPunct="1">
              <a:lnSpc>
                <a:spcPct val="80000"/>
              </a:lnSpc>
            </a:pPr>
            <a:r>
              <a:rPr lang="en-US" dirty="0"/>
              <a:t>The six major categories of computers are </a:t>
            </a:r>
          </a:p>
          <a:p>
            <a:pPr lvl="1" eaLnBrk="1" hangingPunct="1">
              <a:lnSpc>
                <a:spcPct val="80000"/>
              </a:lnSpc>
            </a:pPr>
            <a:r>
              <a:rPr lang="en-US" dirty="0"/>
              <a:t>personal computers</a:t>
            </a:r>
          </a:p>
          <a:p>
            <a:pPr lvl="1" eaLnBrk="1" hangingPunct="1">
              <a:lnSpc>
                <a:spcPct val="80000"/>
              </a:lnSpc>
            </a:pPr>
            <a:r>
              <a:rPr lang="en-US" dirty="0"/>
              <a:t>handheld computers</a:t>
            </a:r>
          </a:p>
          <a:p>
            <a:pPr lvl="1" eaLnBrk="1" hangingPunct="1">
              <a:lnSpc>
                <a:spcPct val="80000"/>
              </a:lnSpc>
            </a:pPr>
            <a:r>
              <a:rPr lang="en-US" dirty="0"/>
              <a:t>Internet appliances</a:t>
            </a:r>
          </a:p>
          <a:p>
            <a:pPr lvl="1" eaLnBrk="1" hangingPunct="1">
              <a:lnSpc>
                <a:spcPct val="80000"/>
              </a:lnSpc>
            </a:pPr>
            <a:r>
              <a:rPr lang="en-US" dirty="0"/>
              <a:t>mid-range servers</a:t>
            </a:r>
          </a:p>
          <a:p>
            <a:pPr lvl="1" eaLnBrk="1" hangingPunct="1">
              <a:lnSpc>
                <a:spcPct val="80000"/>
              </a:lnSpc>
            </a:pPr>
            <a:r>
              <a:rPr lang="en-US" dirty="0"/>
              <a:t>mainframes</a:t>
            </a:r>
          </a:p>
          <a:p>
            <a:pPr lvl="1" eaLnBrk="1" hangingPunct="1">
              <a:lnSpc>
                <a:spcPct val="80000"/>
              </a:lnSpc>
            </a:pPr>
            <a:r>
              <a:rPr lang="en-US" dirty="0"/>
              <a:t>supercomputers. </a:t>
            </a:r>
          </a:p>
          <a:p>
            <a:pPr eaLnBrk="1" hangingPunct="1">
              <a:lnSpc>
                <a:spcPct val="80000"/>
              </a:lnSpc>
            </a:pPr>
            <a:r>
              <a:rPr lang="en-US" dirty="0"/>
              <a:t>These categories are based on differences in size, speed, processing capabilities, and price. </a:t>
            </a:r>
          </a:p>
          <a:p>
            <a:pPr eaLnBrk="1" hangingPunct="1">
              <a:lnSpc>
                <a:spcPct val="80000"/>
              </a:lnSpc>
            </a:pPr>
            <a:endParaRPr lang="en-US" sz="1400" dirty="0"/>
          </a:p>
        </p:txBody>
      </p:sp>
    </p:spTree>
    <p:extLst>
      <p:ext uri="{BB962C8B-B14F-4D97-AF65-F5344CB8AC3E}">
        <p14:creationId xmlns:p14="http://schemas.microsoft.com/office/powerpoint/2010/main" val="18274175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89397"/>
            <a:ext cx="10515600" cy="5687566"/>
          </a:xfrm>
        </p:spPr>
        <p:txBody>
          <a:bodyPr>
            <a:noAutofit/>
          </a:bodyPr>
          <a:lstStyle/>
          <a:p>
            <a:pPr>
              <a:lnSpc>
                <a:spcPct val="80000"/>
              </a:lnSpc>
            </a:pPr>
            <a:r>
              <a:rPr lang="en-US" dirty="0"/>
              <a:t>A personal computer can perform all of its input, processing, output, and storage activities by itself. </a:t>
            </a:r>
          </a:p>
          <a:p>
            <a:pPr lvl="1">
              <a:lnSpc>
                <a:spcPct val="80000"/>
              </a:lnSpc>
            </a:pPr>
            <a:r>
              <a:rPr lang="en-US" dirty="0"/>
              <a:t>Personal computers include desktop computers and notebook computers. </a:t>
            </a:r>
          </a:p>
          <a:p>
            <a:pPr lvl="1">
              <a:lnSpc>
                <a:spcPct val="80000"/>
              </a:lnSpc>
            </a:pPr>
            <a:r>
              <a:rPr lang="en-US" dirty="0"/>
              <a:t>A desktop computer is designed so the system unit, input devices, output devices, and any other devices fit entirely on or under a desk or table. </a:t>
            </a:r>
          </a:p>
          <a:p>
            <a:pPr lvl="1">
              <a:lnSpc>
                <a:spcPct val="80000"/>
              </a:lnSpc>
            </a:pPr>
            <a:r>
              <a:rPr lang="en-US" dirty="0"/>
              <a:t>Variations of desktop computers include </a:t>
            </a:r>
          </a:p>
          <a:p>
            <a:pPr lvl="2">
              <a:lnSpc>
                <a:spcPct val="80000"/>
              </a:lnSpc>
            </a:pPr>
            <a:r>
              <a:rPr lang="en-US" sz="2200" dirty="0"/>
              <a:t>tower models (computers with tall and narrow system units that can sit vertically on the floor), </a:t>
            </a:r>
          </a:p>
          <a:p>
            <a:pPr lvl="2">
              <a:lnSpc>
                <a:spcPct val="80000"/>
              </a:lnSpc>
            </a:pPr>
            <a:r>
              <a:rPr lang="en-US" sz="2200" dirty="0"/>
              <a:t>all-in-one computers (less expensive computers that combine the monitor and system unit into a single device), and </a:t>
            </a:r>
          </a:p>
          <a:p>
            <a:pPr lvl="2">
              <a:lnSpc>
                <a:spcPct val="80000"/>
              </a:lnSpc>
            </a:pPr>
            <a:r>
              <a:rPr lang="en-US" sz="2200" dirty="0"/>
              <a:t>workstations (more expensive and powerful computers designed for work that requires intense calculation and graphics capabilities).</a:t>
            </a:r>
          </a:p>
        </p:txBody>
      </p:sp>
    </p:spTree>
    <p:extLst>
      <p:ext uri="{BB962C8B-B14F-4D97-AF65-F5344CB8AC3E}">
        <p14:creationId xmlns:p14="http://schemas.microsoft.com/office/powerpoint/2010/main" val="36128985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nSpc>
                <a:spcPct val="80000"/>
              </a:lnSpc>
            </a:pPr>
            <a:r>
              <a:rPr lang="en-US" dirty="0"/>
              <a:t>A notebook computer is a portable personal computer small enough fit on your lap. </a:t>
            </a:r>
          </a:p>
          <a:p>
            <a:pPr>
              <a:lnSpc>
                <a:spcPct val="80000"/>
              </a:lnSpc>
            </a:pPr>
            <a:r>
              <a:rPr lang="en-US" dirty="0"/>
              <a:t>Notebook and desktop computers are used at home or in the office to perform application software-related tasks or to access the Internet. </a:t>
            </a:r>
          </a:p>
          <a:p>
            <a:pPr>
              <a:lnSpc>
                <a:spcPct val="80000"/>
              </a:lnSpc>
            </a:pPr>
            <a:r>
              <a:rPr lang="en-US" dirty="0"/>
              <a:t>A handheld computer is a small computer that fits in your hand. Handheld computers can perform specific, industry-related functions, or can be general-purpose.</a:t>
            </a:r>
          </a:p>
          <a:p>
            <a:endParaRPr lang="en-US" dirty="0"/>
          </a:p>
        </p:txBody>
      </p:sp>
    </p:spTree>
    <p:extLst>
      <p:ext uri="{BB962C8B-B14F-4D97-AF65-F5344CB8AC3E}">
        <p14:creationId xmlns:p14="http://schemas.microsoft.com/office/powerpoint/2010/main" val="15858768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endParaRPr lang="en-US"/>
          </a:p>
        </p:txBody>
      </p:sp>
      <p:sp>
        <p:nvSpPr>
          <p:cNvPr id="12291" name="Rectangle 3"/>
          <p:cNvSpPr>
            <a:spLocks noGrp="1" noChangeArrowheads="1"/>
          </p:cNvSpPr>
          <p:nvPr>
            <p:ph type="body" idx="1"/>
          </p:nvPr>
        </p:nvSpPr>
        <p:spPr/>
        <p:txBody>
          <a:bodyPr/>
          <a:lstStyle/>
          <a:p>
            <a:pPr eaLnBrk="1" hangingPunct="1">
              <a:lnSpc>
                <a:spcPct val="80000"/>
              </a:lnSpc>
            </a:pPr>
            <a:r>
              <a:rPr lang="en-US" sz="2400" dirty="0"/>
              <a:t>A PDA (personal digital assistant) is a handheld computer that provides personal organizer functions, such as a calendar, appointment book, and notepad. </a:t>
            </a:r>
          </a:p>
          <a:p>
            <a:pPr eaLnBrk="1" hangingPunct="1">
              <a:lnSpc>
                <a:spcPct val="80000"/>
              </a:lnSpc>
            </a:pPr>
            <a:r>
              <a:rPr lang="en-US" sz="2400" dirty="0"/>
              <a:t>An Internet appliance is a computer with limited functionality whose main purpose is to connect to the Internet from home. </a:t>
            </a:r>
          </a:p>
          <a:p>
            <a:pPr eaLnBrk="1" hangingPunct="1">
              <a:lnSpc>
                <a:spcPct val="80000"/>
              </a:lnSpc>
            </a:pPr>
            <a:r>
              <a:rPr lang="en-US" sz="2400" dirty="0"/>
              <a:t>A mid-range server is more powerful and larger than a workstation computer. Users typically access a mid-range server through a personal computer or a terminal, which is a device with a monitor and a keyboard that usually has no stand-alone processing power.</a:t>
            </a:r>
          </a:p>
          <a:p>
            <a:pPr eaLnBrk="1" hangingPunct="1">
              <a:lnSpc>
                <a:spcPct val="80000"/>
              </a:lnSpc>
            </a:pPr>
            <a:r>
              <a:rPr lang="en-US" sz="2400" dirty="0"/>
              <a:t>A mainframe is a large, expensive, very powerful computer that can handle hundreds or thousands of connected users simultaneously. </a:t>
            </a:r>
          </a:p>
          <a:p>
            <a:pPr eaLnBrk="1" hangingPunct="1">
              <a:lnSpc>
                <a:spcPct val="80000"/>
              </a:lnSpc>
            </a:pPr>
            <a:r>
              <a:rPr lang="en-US" sz="2400" dirty="0"/>
              <a:t>A supercomputer is the fastest, most powerful, and most expensive category of computer.</a:t>
            </a:r>
          </a:p>
          <a:p>
            <a:pPr eaLnBrk="1" hangingPunct="1"/>
            <a:endParaRPr lang="en-US" dirty="0"/>
          </a:p>
        </p:txBody>
      </p:sp>
    </p:spTree>
    <p:extLst>
      <p:ext uri="{BB962C8B-B14F-4D97-AF65-F5344CB8AC3E}">
        <p14:creationId xmlns:p14="http://schemas.microsoft.com/office/powerpoint/2010/main" val="7830967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981200" y="276226"/>
            <a:ext cx="8229600" cy="911225"/>
          </a:xfrm>
        </p:spPr>
        <p:txBody>
          <a:bodyPr/>
          <a:lstStyle/>
          <a:p>
            <a:pPr algn="ctr" eaLnBrk="1" hangingPunct="1"/>
            <a:r>
              <a:rPr lang="en-US" sz="3200" dirty="0"/>
              <a:t>THE VARIOUS TYPES OF COMPUTER USERS</a:t>
            </a:r>
          </a:p>
        </p:txBody>
      </p:sp>
      <p:sp>
        <p:nvSpPr>
          <p:cNvPr id="13315" name="Rectangle 3"/>
          <p:cNvSpPr>
            <a:spLocks noGrp="1" noChangeArrowheads="1"/>
          </p:cNvSpPr>
          <p:nvPr>
            <p:ph type="body" idx="1"/>
          </p:nvPr>
        </p:nvSpPr>
        <p:spPr>
          <a:xfrm>
            <a:off x="838200" y="1094704"/>
            <a:ext cx="10515600" cy="5082259"/>
          </a:xfrm>
        </p:spPr>
        <p:txBody>
          <a:bodyPr>
            <a:noAutofit/>
          </a:bodyPr>
          <a:lstStyle/>
          <a:p>
            <a:pPr eaLnBrk="1" hangingPunct="1">
              <a:lnSpc>
                <a:spcPct val="80000"/>
              </a:lnSpc>
            </a:pPr>
            <a:r>
              <a:rPr lang="en-US" sz="2400" dirty="0"/>
              <a:t>Computer users can be divided into five categories: </a:t>
            </a:r>
          </a:p>
          <a:p>
            <a:pPr lvl="1" eaLnBrk="1" hangingPunct="1">
              <a:lnSpc>
                <a:spcPct val="80000"/>
              </a:lnSpc>
            </a:pPr>
            <a:r>
              <a:rPr lang="en-US" sz="1800" dirty="0"/>
              <a:t>home user, </a:t>
            </a:r>
          </a:p>
          <a:p>
            <a:pPr lvl="1" eaLnBrk="1" hangingPunct="1">
              <a:lnSpc>
                <a:spcPct val="80000"/>
              </a:lnSpc>
            </a:pPr>
            <a:r>
              <a:rPr lang="en-US" sz="1800" dirty="0"/>
              <a:t>small office/home office users, </a:t>
            </a:r>
          </a:p>
          <a:p>
            <a:pPr lvl="1" eaLnBrk="1" hangingPunct="1">
              <a:lnSpc>
                <a:spcPct val="80000"/>
              </a:lnSpc>
            </a:pPr>
            <a:r>
              <a:rPr lang="en-US" sz="1800" dirty="0"/>
              <a:t>mobile users, </a:t>
            </a:r>
          </a:p>
          <a:p>
            <a:pPr lvl="1" eaLnBrk="1" hangingPunct="1">
              <a:lnSpc>
                <a:spcPct val="80000"/>
              </a:lnSpc>
            </a:pPr>
            <a:r>
              <a:rPr lang="en-US" sz="1800" dirty="0"/>
              <a:t>large business users, </a:t>
            </a:r>
          </a:p>
          <a:p>
            <a:pPr lvl="1" eaLnBrk="1" hangingPunct="1">
              <a:lnSpc>
                <a:spcPct val="80000"/>
              </a:lnSpc>
            </a:pPr>
            <a:r>
              <a:rPr lang="en-US" sz="1800" dirty="0"/>
              <a:t>and power users. </a:t>
            </a:r>
          </a:p>
          <a:p>
            <a:pPr eaLnBrk="1" hangingPunct="1">
              <a:lnSpc>
                <a:spcPct val="80000"/>
              </a:lnSpc>
            </a:pPr>
            <a:r>
              <a:rPr lang="en-US" sz="2000" dirty="0"/>
              <a:t>A home user spends time on the computer for personal and business communications, budgeting and personal financial management, entertainment, and Web access. </a:t>
            </a:r>
          </a:p>
          <a:p>
            <a:pPr eaLnBrk="1" hangingPunct="1">
              <a:lnSpc>
                <a:spcPct val="80000"/>
              </a:lnSpc>
            </a:pPr>
            <a:r>
              <a:rPr lang="en-US" sz="2000" dirty="0"/>
              <a:t>A small office/home office (SOHO) user includes any company with fewer than 50 employees, as well as self-employed people that work out of their home. </a:t>
            </a:r>
          </a:p>
          <a:p>
            <a:pPr eaLnBrk="1" hangingPunct="1">
              <a:lnSpc>
                <a:spcPct val="80000"/>
              </a:lnSpc>
            </a:pPr>
            <a:r>
              <a:rPr lang="en-US" sz="2000" dirty="0"/>
              <a:t>A mobile user travels to and from a main office or school to conduct business, communicate, or do homework. </a:t>
            </a:r>
          </a:p>
          <a:p>
            <a:pPr eaLnBrk="1" hangingPunct="1">
              <a:lnSpc>
                <a:spcPct val="80000"/>
              </a:lnSpc>
            </a:pPr>
            <a:r>
              <a:rPr lang="en-US" sz="2000" dirty="0"/>
              <a:t>A large business user works for a company that has a large number of employees and computers usually connected to a network. </a:t>
            </a:r>
          </a:p>
          <a:p>
            <a:pPr eaLnBrk="1" hangingPunct="1">
              <a:lnSpc>
                <a:spcPct val="80000"/>
              </a:lnSpc>
            </a:pPr>
            <a:r>
              <a:rPr lang="en-US" sz="2000" dirty="0"/>
              <a:t>The power user – such as an engineer, architect, or desktop publisher – typically works with multimedia, which combines several media elements into one application, and requires the capabilities of a workstation or other powerful computer.</a:t>
            </a:r>
          </a:p>
        </p:txBody>
      </p:sp>
    </p:spTree>
    <p:extLst>
      <p:ext uri="{BB962C8B-B14F-4D97-AF65-F5344CB8AC3E}">
        <p14:creationId xmlns:p14="http://schemas.microsoft.com/office/powerpoint/2010/main" val="1124953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798490" y="274638"/>
            <a:ext cx="10161431" cy="1143000"/>
          </a:xfrm>
        </p:spPr>
        <p:txBody>
          <a:bodyPr/>
          <a:lstStyle/>
          <a:p>
            <a:pPr algn="l" eaLnBrk="1" hangingPunct="1"/>
            <a:r>
              <a:rPr lang="en-US" sz="3200" dirty="0"/>
              <a:t>DIFFERENTIATE AMONG THE VARIOUS TYPES OF SOFTWARE</a:t>
            </a:r>
          </a:p>
        </p:txBody>
      </p:sp>
      <p:sp>
        <p:nvSpPr>
          <p:cNvPr id="8195" name="Rectangle 3"/>
          <p:cNvSpPr>
            <a:spLocks noGrp="1" noChangeArrowheads="1"/>
          </p:cNvSpPr>
          <p:nvPr>
            <p:ph type="body" idx="1"/>
          </p:nvPr>
        </p:nvSpPr>
        <p:spPr>
          <a:xfrm>
            <a:off x="798489" y="1184857"/>
            <a:ext cx="10161431" cy="5288970"/>
          </a:xfrm>
        </p:spPr>
        <p:txBody>
          <a:bodyPr>
            <a:normAutofit lnSpcReduction="10000"/>
          </a:bodyPr>
          <a:lstStyle/>
          <a:p>
            <a:pPr eaLnBrk="1" hangingPunct="1">
              <a:lnSpc>
                <a:spcPct val="80000"/>
              </a:lnSpc>
            </a:pPr>
            <a:r>
              <a:rPr lang="en-US" dirty="0"/>
              <a:t>There are two categories of computer software: </a:t>
            </a:r>
          </a:p>
          <a:p>
            <a:pPr lvl="1" eaLnBrk="1" hangingPunct="1">
              <a:lnSpc>
                <a:spcPct val="80000"/>
              </a:lnSpc>
            </a:pPr>
            <a:r>
              <a:rPr lang="en-US" dirty="0"/>
              <a:t>system software and application software. </a:t>
            </a:r>
          </a:p>
          <a:p>
            <a:pPr lvl="2" eaLnBrk="1" hangingPunct="1">
              <a:lnSpc>
                <a:spcPct val="80000"/>
              </a:lnSpc>
            </a:pPr>
            <a:r>
              <a:rPr lang="en-US" dirty="0"/>
              <a:t>System software consists of the programs that control the operations of a computer and its devices. </a:t>
            </a:r>
          </a:p>
          <a:p>
            <a:pPr lvl="2" eaLnBrk="1" hangingPunct="1">
              <a:lnSpc>
                <a:spcPct val="80000"/>
              </a:lnSpc>
            </a:pPr>
            <a:r>
              <a:rPr lang="en-US" dirty="0"/>
              <a:t>System software serves as the interface between a user, the application software, and the computer’s hardware. </a:t>
            </a:r>
          </a:p>
          <a:p>
            <a:pPr lvl="2" eaLnBrk="1" hangingPunct="1">
              <a:lnSpc>
                <a:spcPct val="80000"/>
              </a:lnSpc>
            </a:pPr>
            <a:r>
              <a:rPr lang="en-US" dirty="0"/>
              <a:t>One type of system software is the operating system. Before application software can be run, the operating system, which contains instructions that coordinate the activities among computer hardware devices, must be loaded from the hard disk into the computer’s memory.</a:t>
            </a:r>
          </a:p>
          <a:p>
            <a:pPr lvl="2" eaLnBrk="1" hangingPunct="1">
              <a:lnSpc>
                <a:spcPct val="80000"/>
              </a:lnSpc>
            </a:pPr>
            <a:endParaRPr lang="en-US" dirty="0"/>
          </a:p>
          <a:p>
            <a:pPr lvl="2" eaLnBrk="1" hangingPunct="1">
              <a:lnSpc>
                <a:spcPct val="80000"/>
              </a:lnSpc>
            </a:pPr>
            <a:r>
              <a:rPr lang="en-US" sz="2400" dirty="0"/>
              <a:t>Two types of system software are</a:t>
            </a:r>
          </a:p>
          <a:p>
            <a:pPr lvl="3" eaLnBrk="1" hangingPunct="1">
              <a:lnSpc>
                <a:spcPct val="80000"/>
              </a:lnSpc>
            </a:pPr>
            <a:r>
              <a:rPr lang="en-US" sz="2000" dirty="0"/>
              <a:t>the operating system and utility programs. </a:t>
            </a:r>
          </a:p>
          <a:p>
            <a:pPr lvl="3" eaLnBrk="1" hangingPunct="1">
              <a:lnSpc>
                <a:spcPct val="80000"/>
              </a:lnSpc>
            </a:pPr>
            <a:r>
              <a:rPr lang="en-US" sz="2000" dirty="0"/>
              <a:t>An operating system (OS) coordinates all activities among hardware devices and contains instructions that allow you to run application software. </a:t>
            </a:r>
          </a:p>
          <a:p>
            <a:pPr lvl="3" eaLnBrk="1" hangingPunct="1">
              <a:lnSpc>
                <a:spcPct val="80000"/>
              </a:lnSpc>
            </a:pPr>
            <a:r>
              <a:rPr lang="en-US" sz="2000" dirty="0"/>
              <a:t>A utility program performs specific tasks, usually related to managing a computer, its devices, or its programs. </a:t>
            </a:r>
          </a:p>
          <a:p>
            <a:pPr lvl="3" eaLnBrk="1" hangingPunct="1">
              <a:lnSpc>
                <a:spcPct val="80000"/>
              </a:lnSpc>
            </a:pPr>
            <a:r>
              <a:rPr lang="en-US" sz="2000" dirty="0"/>
              <a:t>You interact with software through its user interface.</a:t>
            </a:r>
          </a:p>
          <a:p>
            <a:pPr lvl="3" eaLnBrk="1" hangingPunct="1">
              <a:lnSpc>
                <a:spcPct val="80000"/>
              </a:lnSpc>
            </a:pPr>
            <a:endParaRPr lang="en-US" dirty="0"/>
          </a:p>
          <a:p>
            <a:pPr eaLnBrk="1" hangingPunct="1">
              <a:lnSpc>
                <a:spcPct val="80000"/>
              </a:lnSpc>
            </a:pPr>
            <a:endParaRPr lang="en-US" sz="2000" dirty="0"/>
          </a:p>
        </p:txBody>
      </p:sp>
    </p:spTree>
    <p:extLst>
      <p:ext uri="{BB962C8B-B14F-4D97-AF65-F5344CB8AC3E}">
        <p14:creationId xmlns:p14="http://schemas.microsoft.com/office/powerpoint/2010/main" val="27856070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idx="1"/>
          </p:nvPr>
        </p:nvSpPr>
        <p:spPr>
          <a:xfrm>
            <a:off x="838200" y="579549"/>
            <a:ext cx="10515600" cy="5597414"/>
          </a:xfrm>
        </p:spPr>
        <p:txBody>
          <a:bodyPr>
            <a:normAutofit lnSpcReduction="10000"/>
          </a:bodyPr>
          <a:lstStyle/>
          <a:p>
            <a:pPr lvl="1">
              <a:lnSpc>
                <a:spcPct val="80000"/>
              </a:lnSpc>
            </a:pPr>
            <a:r>
              <a:rPr lang="en-US" sz="3200" dirty="0"/>
              <a:t>Application software consists of programs that perform specific tasks for users. </a:t>
            </a:r>
          </a:p>
          <a:p>
            <a:pPr lvl="1">
              <a:lnSpc>
                <a:spcPct val="80000"/>
              </a:lnSpc>
            </a:pPr>
            <a:r>
              <a:rPr lang="en-US" sz="3200" dirty="0"/>
              <a:t>Popular application software includes </a:t>
            </a:r>
          </a:p>
          <a:p>
            <a:pPr lvl="2">
              <a:lnSpc>
                <a:spcPct val="80000"/>
              </a:lnSpc>
            </a:pPr>
            <a:r>
              <a:rPr lang="en-US" sz="2600" dirty="0"/>
              <a:t>word processing software, </a:t>
            </a:r>
          </a:p>
          <a:p>
            <a:pPr lvl="2">
              <a:lnSpc>
                <a:spcPct val="80000"/>
              </a:lnSpc>
            </a:pPr>
            <a:r>
              <a:rPr lang="en-US" sz="2600" dirty="0"/>
              <a:t>spreadsheet software, </a:t>
            </a:r>
          </a:p>
          <a:p>
            <a:pPr lvl="2">
              <a:lnSpc>
                <a:spcPct val="80000"/>
              </a:lnSpc>
            </a:pPr>
            <a:r>
              <a:rPr lang="en-US" sz="2600" dirty="0"/>
              <a:t>database software, and </a:t>
            </a:r>
          </a:p>
          <a:p>
            <a:pPr lvl="2">
              <a:lnSpc>
                <a:spcPct val="80000"/>
              </a:lnSpc>
            </a:pPr>
            <a:r>
              <a:rPr lang="en-US" sz="2600" dirty="0"/>
              <a:t>presentation graphics software. </a:t>
            </a:r>
          </a:p>
          <a:p>
            <a:pPr lvl="1">
              <a:lnSpc>
                <a:spcPct val="80000"/>
              </a:lnSpc>
            </a:pPr>
            <a:r>
              <a:rPr lang="en-US" sz="3000" dirty="0"/>
              <a:t>Application software can be </a:t>
            </a:r>
          </a:p>
          <a:p>
            <a:pPr lvl="2">
              <a:lnSpc>
                <a:spcPct val="80000"/>
              </a:lnSpc>
            </a:pPr>
            <a:r>
              <a:rPr lang="en-US" sz="2600" dirty="0"/>
              <a:t>packaged software (copyrighted software that meets the needs of a variety of users), </a:t>
            </a:r>
          </a:p>
          <a:p>
            <a:pPr lvl="2">
              <a:lnSpc>
                <a:spcPct val="80000"/>
              </a:lnSpc>
            </a:pPr>
            <a:r>
              <a:rPr lang="en-US" sz="2600" dirty="0"/>
              <a:t>custom software (tailor-made software developed at a user’s request), </a:t>
            </a:r>
          </a:p>
          <a:p>
            <a:pPr lvl="2">
              <a:lnSpc>
                <a:spcPct val="80000"/>
              </a:lnSpc>
            </a:pPr>
            <a:r>
              <a:rPr lang="en-US" sz="2600" dirty="0"/>
              <a:t>freeware (copyrighted software provided at no cost), </a:t>
            </a:r>
          </a:p>
          <a:p>
            <a:pPr lvl="2">
              <a:lnSpc>
                <a:spcPct val="80000"/>
              </a:lnSpc>
            </a:pPr>
            <a:r>
              <a:rPr lang="en-US" sz="2600" dirty="0"/>
              <a:t>public-domain software (software donated for public use with no copyright restrictions), or </a:t>
            </a:r>
          </a:p>
          <a:p>
            <a:pPr lvl="2">
              <a:lnSpc>
                <a:spcPct val="80000"/>
              </a:lnSpc>
            </a:pPr>
            <a:r>
              <a:rPr lang="en-US" sz="2600" dirty="0"/>
              <a:t>shareware (copyrighted software distributed free for a trial period).</a:t>
            </a:r>
          </a:p>
          <a:p>
            <a:pPr eaLnBrk="1" hangingPunct="1"/>
            <a:endParaRPr lang="en-US" sz="1800" dirty="0"/>
          </a:p>
        </p:txBody>
      </p:sp>
    </p:spTree>
    <p:extLst>
      <p:ext uri="{BB962C8B-B14F-4D97-AF65-F5344CB8AC3E}">
        <p14:creationId xmlns:p14="http://schemas.microsoft.com/office/powerpoint/2010/main" val="19425565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838200" y="365126"/>
            <a:ext cx="10515600" cy="845110"/>
          </a:xfrm>
        </p:spPr>
        <p:txBody>
          <a:bodyPr/>
          <a:lstStyle/>
          <a:p>
            <a:pPr algn="ctr" eaLnBrk="1" hangingPunct="1"/>
            <a:r>
              <a:rPr lang="en-US" dirty="0"/>
              <a:t>THE ROLE OF THE USER INTERFACE</a:t>
            </a:r>
          </a:p>
        </p:txBody>
      </p:sp>
      <p:sp>
        <p:nvSpPr>
          <p:cNvPr id="21507" name="Rectangle 3"/>
          <p:cNvSpPr>
            <a:spLocks noGrp="1" noChangeArrowheads="1"/>
          </p:cNvSpPr>
          <p:nvPr>
            <p:ph type="body" idx="1"/>
          </p:nvPr>
        </p:nvSpPr>
        <p:spPr>
          <a:xfrm>
            <a:off x="838200" y="1210236"/>
            <a:ext cx="10515600" cy="4966727"/>
          </a:xfrm>
        </p:spPr>
        <p:txBody>
          <a:bodyPr/>
          <a:lstStyle/>
          <a:p>
            <a:pPr eaLnBrk="1" hangingPunct="1">
              <a:lnSpc>
                <a:spcPct val="80000"/>
              </a:lnSpc>
            </a:pPr>
            <a:r>
              <a:rPr lang="en-US" dirty="0"/>
              <a:t>The user interface controls how you enter data or instructions and how information displays on the computer screen. </a:t>
            </a:r>
          </a:p>
          <a:p>
            <a:pPr eaLnBrk="1" hangingPunct="1">
              <a:lnSpc>
                <a:spcPct val="80000"/>
              </a:lnSpc>
            </a:pPr>
            <a:r>
              <a:rPr lang="en-US" dirty="0"/>
              <a:t>Many of today’s software programs have a graphical user interface. </a:t>
            </a:r>
          </a:p>
          <a:p>
            <a:pPr eaLnBrk="1" hangingPunct="1">
              <a:lnSpc>
                <a:spcPct val="80000"/>
              </a:lnSpc>
            </a:pPr>
            <a:r>
              <a:rPr lang="en-US" dirty="0"/>
              <a:t>A graphical user interface (GUI) combines </a:t>
            </a:r>
          </a:p>
          <a:p>
            <a:pPr lvl="1">
              <a:lnSpc>
                <a:spcPct val="80000"/>
              </a:lnSpc>
            </a:pPr>
            <a:r>
              <a:rPr lang="en-US" dirty="0"/>
              <a:t>text, </a:t>
            </a:r>
          </a:p>
          <a:p>
            <a:pPr lvl="1">
              <a:lnSpc>
                <a:spcPct val="80000"/>
              </a:lnSpc>
            </a:pPr>
            <a:r>
              <a:rPr lang="en-US" dirty="0"/>
              <a:t>graphics, and </a:t>
            </a:r>
          </a:p>
          <a:p>
            <a:pPr lvl="1">
              <a:lnSpc>
                <a:spcPct val="80000"/>
              </a:lnSpc>
            </a:pPr>
            <a:r>
              <a:rPr lang="en-US" dirty="0"/>
              <a:t>other visual images to make software easier to use.</a:t>
            </a:r>
          </a:p>
        </p:txBody>
      </p:sp>
    </p:spTree>
    <p:extLst>
      <p:ext uri="{BB962C8B-B14F-4D97-AF65-F5344CB8AC3E}">
        <p14:creationId xmlns:p14="http://schemas.microsoft.com/office/powerpoint/2010/main" val="27524104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838200" y="365125"/>
            <a:ext cx="10515600" cy="858557"/>
          </a:xfrm>
        </p:spPr>
        <p:txBody>
          <a:bodyPr/>
          <a:lstStyle/>
          <a:p>
            <a:pPr algn="ctr" eaLnBrk="1" hangingPunct="1"/>
            <a:r>
              <a:rPr lang="en-US" sz="3200" dirty="0">
                <a:solidFill>
                  <a:srgbClr val="FF0000"/>
                </a:solidFill>
              </a:rPr>
              <a:t>HOW TO START A SOFTWARE APPLICATION</a:t>
            </a:r>
          </a:p>
        </p:txBody>
      </p:sp>
      <p:sp>
        <p:nvSpPr>
          <p:cNvPr id="22531" name="Rectangle 3"/>
          <p:cNvSpPr>
            <a:spLocks noGrp="1" noChangeArrowheads="1"/>
          </p:cNvSpPr>
          <p:nvPr>
            <p:ph type="body" idx="1"/>
          </p:nvPr>
        </p:nvSpPr>
        <p:spPr>
          <a:xfrm>
            <a:off x="838200" y="1089212"/>
            <a:ext cx="10515600" cy="5087751"/>
          </a:xfrm>
        </p:spPr>
        <p:txBody>
          <a:bodyPr/>
          <a:lstStyle/>
          <a:p>
            <a:pPr eaLnBrk="1" hangingPunct="1">
              <a:lnSpc>
                <a:spcPct val="80000"/>
              </a:lnSpc>
            </a:pPr>
            <a:r>
              <a:rPr lang="en-US" sz="2000" dirty="0"/>
              <a:t>Both the Microsoft Windows and the Apple Macintosh operating systems use the concept of a desktop. </a:t>
            </a:r>
          </a:p>
          <a:p>
            <a:pPr eaLnBrk="1" hangingPunct="1">
              <a:lnSpc>
                <a:spcPct val="80000"/>
              </a:lnSpc>
            </a:pPr>
            <a:r>
              <a:rPr lang="en-US" sz="2000" dirty="0"/>
              <a:t>The desktop is an on-screen work area with common graphical elements such as icons, buttons, menus, links, windows, and dialog boxes. </a:t>
            </a:r>
          </a:p>
          <a:p>
            <a:pPr eaLnBrk="1" hangingPunct="1">
              <a:lnSpc>
                <a:spcPct val="80000"/>
              </a:lnSpc>
            </a:pPr>
            <a:r>
              <a:rPr lang="en-US" sz="2000" dirty="0"/>
              <a:t>A software application can be started by clicking its program name on a menu, or list of commands. </a:t>
            </a:r>
          </a:p>
          <a:p>
            <a:pPr eaLnBrk="1" hangingPunct="1">
              <a:lnSpc>
                <a:spcPct val="80000"/>
              </a:lnSpc>
            </a:pPr>
            <a:r>
              <a:rPr lang="en-US" sz="2000" dirty="0"/>
              <a:t>Clicking the program name instructs the operating system to transfer the program’s instructions from a storage medium into memory. </a:t>
            </a:r>
          </a:p>
          <a:p>
            <a:pPr eaLnBrk="1" hangingPunct="1">
              <a:lnSpc>
                <a:spcPct val="80000"/>
              </a:lnSpc>
            </a:pPr>
            <a:r>
              <a:rPr lang="en-US" sz="2000" dirty="0"/>
              <a:t>Once started, the application displays in a window on the desktop. </a:t>
            </a:r>
          </a:p>
          <a:p>
            <a:pPr eaLnBrk="1" hangingPunct="1">
              <a:lnSpc>
                <a:spcPct val="80000"/>
              </a:lnSpc>
            </a:pPr>
            <a:r>
              <a:rPr lang="en-US" sz="2000" dirty="0"/>
              <a:t>A window is a rectangular area of the screen that is used to show the program, data, and/or information. </a:t>
            </a:r>
          </a:p>
          <a:p>
            <a:pPr eaLnBrk="1" hangingPunct="1">
              <a:lnSpc>
                <a:spcPct val="80000"/>
              </a:lnSpc>
            </a:pPr>
            <a:r>
              <a:rPr lang="en-US" sz="2000" dirty="0"/>
              <a:t>At the top of the window is a title bar that contains the window’s name.</a:t>
            </a:r>
          </a:p>
        </p:txBody>
      </p:sp>
    </p:spTree>
    <p:extLst>
      <p:ext uri="{BB962C8B-B14F-4D97-AF65-F5344CB8AC3E}">
        <p14:creationId xmlns:p14="http://schemas.microsoft.com/office/powerpoint/2010/main" val="10316287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49274"/>
          </a:xfrm>
        </p:spPr>
        <p:txBody>
          <a:bodyPr>
            <a:normAutofit fontScale="90000"/>
          </a:bodyPr>
          <a:lstStyle/>
          <a:p>
            <a:pPr algn="ctr"/>
            <a:r>
              <a:rPr lang="en-US" dirty="0"/>
              <a:t>SUMMARY</a:t>
            </a:r>
          </a:p>
        </p:txBody>
      </p:sp>
      <p:sp>
        <p:nvSpPr>
          <p:cNvPr id="3" name="Content Placeholder 2"/>
          <p:cNvSpPr>
            <a:spLocks noGrp="1"/>
          </p:cNvSpPr>
          <p:nvPr>
            <p:ph idx="1"/>
          </p:nvPr>
        </p:nvSpPr>
        <p:spPr>
          <a:xfrm>
            <a:off x="838200" y="914400"/>
            <a:ext cx="10515600" cy="5262563"/>
          </a:xfrm>
        </p:spPr>
        <p:txBody>
          <a:bodyPr>
            <a:normAutofit fontScale="77500" lnSpcReduction="20000"/>
          </a:bodyPr>
          <a:lstStyle/>
          <a:p>
            <a:r>
              <a:rPr lang="en-US" b="1" dirty="0"/>
              <a:t>Five Primary Computer Operations</a:t>
            </a:r>
            <a:r>
              <a:rPr lang="en-US" dirty="0"/>
              <a:t>:</a:t>
            </a:r>
          </a:p>
          <a:p>
            <a:pPr lvl="1"/>
            <a:r>
              <a:rPr lang="en-US" b="1" dirty="0"/>
              <a:t>Input</a:t>
            </a:r>
          </a:p>
          <a:p>
            <a:pPr lvl="1"/>
            <a:r>
              <a:rPr lang="en-US" dirty="0"/>
              <a:t>Whatever goes into the computer.</a:t>
            </a:r>
          </a:p>
          <a:p>
            <a:pPr lvl="1"/>
            <a:r>
              <a:rPr lang="en-US" dirty="0"/>
              <a:t>Input can take a variety of forms, </a:t>
            </a:r>
          </a:p>
          <a:p>
            <a:pPr lvl="2"/>
            <a:r>
              <a:rPr lang="en-US" dirty="0"/>
              <a:t>commands you enter by keyboard</a:t>
            </a:r>
          </a:p>
          <a:p>
            <a:pPr lvl="2"/>
            <a:r>
              <a:rPr lang="en-US" dirty="0"/>
              <a:t>data from another computer (via a network connection) or device (via direct or network connection). </a:t>
            </a:r>
          </a:p>
          <a:p>
            <a:pPr lvl="1"/>
            <a:r>
              <a:rPr lang="en-US" dirty="0"/>
              <a:t>A device that feeds data into a computer, such as a keyboard or mouse, is called an </a:t>
            </a:r>
            <a:r>
              <a:rPr lang="en-US" i="1" dirty="0"/>
              <a:t>input device</a:t>
            </a:r>
            <a:r>
              <a:rPr lang="en-US" dirty="0"/>
              <a:t>.</a:t>
            </a:r>
            <a:endParaRPr lang="en-US" b="1" dirty="0"/>
          </a:p>
          <a:p>
            <a:pPr lvl="1"/>
            <a:r>
              <a:rPr lang="en-US" b="1" dirty="0"/>
              <a:t>Process</a:t>
            </a:r>
          </a:p>
          <a:p>
            <a:pPr lvl="1"/>
            <a:r>
              <a:rPr lang="en-US" dirty="0"/>
              <a:t>Manipulation a computer does to transform data into information. </a:t>
            </a:r>
          </a:p>
          <a:p>
            <a:pPr lvl="1"/>
            <a:r>
              <a:rPr lang="en-US" dirty="0"/>
              <a:t>Devices </a:t>
            </a:r>
          </a:p>
          <a:p>
            <a:pPr lvl="2"/>
            <a:r>
              <a:rPr lang="en-US" dirty="0"/>
              <a:t>Motherboard</a:t>
            </a:r>
          </a:p>
          <a:p>
            <a:pPr lvl="2"/>
            <a:r>
              <a:rPr lang="en-US" dirty="0"/>
              <a:t>CPU</a:t>
            </a:r>
            <a:br>
              <a:rPr lang="en-US" dirty="0"/>
            </a:br>
            <a:r>
              <a:rPr lang="en-US" dirty="0"/>
              <a:t>RAM (Main Memory)</a:t>
            </a:r>
          </a:p>
          <a:p>
            <a:pPr lvl="1"/>
            <a:r>
              <a:rPr lang="en-US" b="1" dirty="0"/>
              <a:t>Storage</a:t>
            </a:r>
          </a:p>
          <a:p>
            <a:pPr lvl="1"/>
            <a:r>
              <a:rPr lang="en-US" dirty="0"/>
              <a:t>Temporary or primary storage is the computer circuitry that temporarily holds data waiting to be processed. </a:t>
            </a:r>
          </a:p>
          <a:p>
            <a:pPr lvl="1"/>
            <a:r>
              <a:rPr lang="en-US" dirty="0"/>
              <a:t>Permanent or secondary storage is the area in the computer where data or information is held permanently.</a:t>
            </a:r>
          </a:p>
          <a:p>
            <a:pPr lvl="1"/>
            <a:r>
              <a:rPr lang="en-US" dirty="0"/>
              <a:t>Primary Storage:</a:t>
            </a:r>
          </a:p>
          <a:p>
            <a:pPr lvl="2"/>
            <a:r>
              <a:rPr lang="en-US" dirty="0"/>
              <a:t>RAM (Main Memory)</a:t>
            </a:r>
          </a:p>
        </p:txBody>
      </p:sp>
    </p:spTree>
    <p:extLst>
      <p:ext uri="{BB962C8B-B14F-4D97-AF65-F5344CB8AC3E}">
        <p14:creationId xmlns:p14="http://schemas.microsoft.com/office/powerpoint/2010/main" val="10471970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5459"/>
            <a:ext cx="10515600" cy="5531504"/>
          </a:xfrm>
        </p:spPr>
        <p:txBody>
          <a:bodyPr>
            <a:normAutofit/>
          </a:bodyPr>
          <a:lstStyle/>
          <a:p>
            <a:pPr lvl="1"/>
            <a:r>
              <a:rPr lang="en-US" b="1" dirty="0"/>
              <a:t>Output</a:t>
            </a:r>
            <a:endParaRPr lang="en-US" dirty="0"/>
          </a:p>
          <a:p>
            <a:pPr lvl="1"/>
            <a:r>
              <a:rPr lang="en-US" dirty="0"/>
              <a:t>Anything that is output from the computer system, </a:t>
            </a:r>
          </a:p>
          <a:p>
            <a:pPr lvl="1"/>
            <a:r>
              <a:rPr lang="en-US" dirty="0"/>
              <a:t>the results of processing.</a:t>
            </a:r>
          </a:p>
          <a:p>
            <a:pPr lvl="1"/>
            <a:endParaRPr lang="en-US" b="1" dirty="0"/>
          </a:p>
          <a:p>
            <a:pPr lvl="1"/>
            <a:r>
              <a:rPr lang="en-US" b="1" dirty="0"/>
              <a:t>Communication</a:t>
            </a:r>
            <a:endParaRPr lang="en-US" dirty="0"/>
          </a:p>
          <a:p>
            <a:pPr lvl="1"/>
            <a:r>
              <a:rPr lang="en-US" dirty="0"/>
              <a:t>Allows for extension capability: </a:t>
            </a:r>
          </a:p>
          <a:p>
            <a:pPr lvl="2"/>
            <a:r>
              <a:rPr lang="en-US" dirty="0"/>
              <a:t>Data maybe input from afar, processed in a remote area, stored in different locations, or output in other places.</a:t>
            </a:r>
          </a:p>
          <a:p>
            <a:pPr lvl="1"/>
            <a:r>
              <a:rPr lang="en-US" dirty="0"/>
              <a:t>Devices Modem</a:t>
            </a:r>
          </a:p>
          <a:p>
            <a:pPr lvl="2"/>
            <a:r>
              <a:rPr lang="en-US" dirty="0"/>
              <a:t>Network Card</a:t>
            </a:r>
          </a:p>
          <a:p>
            <a:pPr lvl="2"/>
            <a:r>
              <a:rPr lang="en-US" dirty="0"/>
              <a:t>Infrared devices</a:t>
            </a:r>
          </a:p>
          <a:p>
            <a:endParaRPr lang="en-US" dirty="0"/>
          </a:p>
        </p:txBody>
      </p:sp>
    </p:spTree>
    <p:extLst>
      <p:ext uri="{BB962C8B-B14F-4D97-AF65-F5344CB8AC3E}">
        <p14:creationId xmlns:p14="http://schemas.microsoft.com/office/powerpoint/2010/main" val="7308912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03412"/>
            <a:ext cx="10515600" cy="5773551"/>
          </a:xfrm>
        </p:spPr>
        <p:txBody>
          <a:bodyPr>
            <a:normAutofit/>
          </a:bodyPr>
          <a:lstStyle/>
          <a:p>
            <a:pPr marL="228600" lvl="1">
              <a:spcBef>
                <a:spcPts val="1000"/>
              </a:spcBef>
            </a:pPr>
            <a:r>
              <a:rPr lang="en-US" sz="3400" b="1" dirty="0"/>
              <a:t>Software</a:t>
            </a:r>
            <a:r>
              <a:rPr lang="en-US" sz="3400" dirty="0"/>
              <a:t> </a:t>
            </a:r>
          </a:p>
          <a:p>
            <a:r>
              <a:rPr lang="en-US" dirty="0"/>
              <a:t>Broadly, computer software can be classified into three categories. </a:t>
            </a:r>
          </a:p>
          <a:p>
            <a:r>
              <a:rPr lang="en-US" dirty="0"/>
              <a:t>System software </a:t>
            </a:r>
          </a:p>
          <a:p>
            <a:pPr lvl="1"/>
            <a:r>
              <a:rPr lang="en-US" dirty="0"/>
              <a:t>is the most important component for running a system or computer. </a:t>
            </a:r>
          </a:p>
          <a:p>
            <a:pPr lvl="1"/>
            <a:r>
              <a:rPr lang="en-US" dirty="0"/>
              <a:t>Also known as operating system which helps start a computer and works as a main platform in order to run any application.</a:t>
            </a:r>
          </a:p>
          <a:p>
            <a:pPr lvl="1"/>
            <a:r>
              <a:rPr lang="en-US" dirty="0"/>
              <a:t>One of the most popular operating systems, of course, is Microsoft's Windows OS. </a:t>
            </a:r>
          </a:p>
          <a:p>
            <a:pPr lvl="1"/>
            <a:r>
              <a:rPr lang="en-US" dirty="0"/>
              <a:t>Other known names are Linux, iMac, UNIX and DOS, among others. </a:t>
            </a:r>
          </a:p>
        </p:txBody>
      </p:sp>
    </p:spTree>
    <p:extLst>
      <p:ext uri="{BB962C8B-B14F-4D97-AF65-F5344CB8AC3E}">
        <p14:creationId xmlns:p14="http://schemas.microsoft.com/office/powerpoint/2010/main" val="26922475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03412"/>
            <a:ext cx="10515600" cy="5773551"/>
          </a:xfrm>
        </p:spPr>
        <p:txBody>
          <a:bodyPr>
            <a:normAutofit/>
          </a:bodyPr>
          <a:lstStyle/>
          <a:p>
            <a:pPr marL="228600" lvl="1">
              <a:spcBef>
                <a:spcPts val="1000"/>
              </a:spcBef>
            </a:pPr>
            <a:r>
              <a:rPr lang="en-US" dirty="0"/>
              <a:t>Application software </a:t>
            </a:r>
          </a:p>
          <a:p>
            <a:pPr marL="685800" lvl="2">
              <a:spcBef>
                <a:spcPts val="1000"/>
              </a:spcBef>
            </a:pPr>
            <a:r>
              <a:rPr lang="en-US" dirty="0"/>
              <a:t>plays an important part in helping users execute different tasks using computer. </a:t>
            </a:r>
          </a:p>
          <a:p>
            <a:pPr marL="685800" lvl="2">
              <a:spcBef>
                <a:spcPts val="1000"/>
              </a:spcBef>
            </a:pPr>
            <a:r>
              <a:rPr lang="en-US" dirty="0"/>
              <a:t>is designed to be used by end-users. </a:t>
            </a:r>
          </a:p>
          <a:p>
            <a:pPr marL="685800" lvl="2">
              <a:spcBef>
                <a:spcPts val="1000"/>
              </a:spcBef>
            </a:pPr>
            <a:r>
              <a:rPr lang="en-US" dirty="0"/>
              <a:t>in essence, sits on top of system software, as it is unable to run without the operating system and other utilities. </a:t>
            </a:r>
          </a:p>
          <a:p>
            <a:pPr marL="685800" lvl="2">
              <a:spcBef>
                <a:spcPts val="1000"/>
              </a:spcBef>
            </a:pPr>
            <a:r>
              <a:rPr lang="en-US" dirty="0"/>
              <a:t>includes things like </a:t>
            </a:r>
          </a:p>
          <a:p>
            <a:pPr marL="1143000" lvl="3">
              <a:spcBef>
                <a:spcPts val="1000"/>
              </a:spcBef>
            </a:pPr>
            <a:r>
              <a:rPr lang="en-US" dirty="0"/>
              <a:t>database programs, word processors and spreadsheets, e-mail applications, computer games, graphics programs and such. </a:t>
            </a:r>
          </a:p>
          <a:p>
            <a:pPr marL="685800" lvl="2">
              <a:spcBef>
                <a:spcPts val="1000"/>
              </a:spcBef>
            </a:pPr>
            <a:r>
              <a:rPr lang="en-US" dirty="0"/>
              <a:t>Generally, people will refer to applications software as software.</a:t>
            </a:r>
          </a:p>
          <a:p>
            <a:pPr marL="685800" lvl="2">
              <a:spcBef>
                <a:spcPts val="1000"/>
              </a:spcBef>
            </a:pPr>
            <a:r>
              <a:rPr lang="en-US" dirty="0"/>
              <a:t>Among the word processors, while all of us have certainly seen or used Microsoft Word or Open Office, </a:t>
            </a:r>
            <a:r>
              <a:rPr lang="en-US" dirty="0" err="1"/>
              <a:t>etc</a:t>
            </a:r>
            <a:r>
              <a:rPr lang="en-US" dirty="0"/>
              <a:t>, web browsers such as Internet Explorer, Firefox, Safari and Chrome, are among others are types of widely used tools that help users to access the Internet. </a:t>
            </a:r>
          </a:p>
          <a:p>
            <a:pPr marL="685800" lvl="2">
              <a:spcBef>
                <a:spcPts val="1000"/>
              </a:spcBef>
            </a:pPr>
            <a:r>
              <a:rPr lang="en-US" dirty="0"/>
              <a:t>But application software goes a little further with industry specific applications and design tools that help in designing documents or sometimes products with computer-aided design tools. </a:t>
            </a:r>
            <a:br>
              <a:rPr lang="en-US" dirty="0"/>
            </a:br>
            <a:endParaRPr lang="en-US" dirty="0"/>
          </a:p>
        </p:txBody>
      </p:sp>
    </p:spTree>
    <p:extLst>
      <p:ext uri="{BB962C8B-B14F-4D97-AF65-F5344CB8AC3E}">
        <p14:creationId xmlns:p14="http://schemas.microsoft.com/office/powerpoint/2010/main" val="41278326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78224"/>
            <a:ext cx="10515600" cy="5598739"/>
          </a:xfrm>
        </p:spPr>
        <p:txBody>
          <a:bodyPr/>
          <a:lstStyle/>
          <a:p>
            <a:pPr marL="685800" lvl="2">
              <a:spcBef>
                <a:spcPts val="1000"/>
              </a:spcBef>
            </a:pPr>
            <a:r>
              <a:rPr lang="en-US" dirty="0"/>
              <a:t>Computer programming tools </a:t>
            </a:r>
          </a:p>
          <a:p>
            <a:pPr marL="1143000" lvl="3">
              <a:spcBef>
                <a:spcPts val="1000"/>
              </a:spcBef>
            </a:pPr>
            <a:r>
              <a:rPr lang="en-US" dirty="0"/>
              <a:t>for instance, compilers and linkers. </a:t>
            </a:r>
          </a:p>
          <a:p>
            <a:pPr marL="1143000" lvl="3">
              <a:spcBef>
                <a:spcPts val="1000"/>
              </a:spcBef>
            </a:pPr>
            <a:r>
              <a:rPr lang="en-US" dirty="0"/>
              <a:t>These tools are used to translate and combine computer program source code. </a:t>
            </a:r>
          </a:p>
          <a:p>
            <a:pPr marL="1143000" lvl="3">
              <a:spcBef>
                <a:spcPts val="1000"/>
              </a:spcBef>
            </a:pPr>
            <a:r>
              <a:rPr lang="en-US" dirty="0"/>
              <a:t>This category is at the core of vastly changing software development field.</a:t>
            </a:r>
          </a:p>
          <a:p>
            <a:pPr marL="685800" lvl="2">
              <a:spcBef>
                <a:spcPts val="1000"/>
              </a:spcBef>
            </a:pPr>
            <a:r>
              <a:rPr lang="en-US" dirty="0"/>
              <a:t>The introduction should be taught and completed within the first one week of teaching!</a:t>
            </a:r>
          </a:p>
          <a:p>
            <a:pPr marL="685800" lvl="2">
              <a:spcBef>
                <a:spcPts val="1000"/>
              </a:spcBef>
            </a:pPr>
            <a:endParaRPr lang="en-US" dirty="0"/>
          </a:p>
          <a:p>
            <a:endParaRPr lang="en-US" dirty="0"/>
          </a:p>
        </p:txBody>
      </p:sp>
    </p:spTree>
    <p:extLst>
      <p:ext uri="{BB962C8B-B14F-4D97-AF65-F5344CB8AC3E}">
        <p14:creationId xmlns:p14="http://schemas.microsoft.com/office/powerpoint/2010/main" val="3788081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332</TotalTime>
  <Words>4761</Words>
  <Application>Microsoft Office PowerPoint</Application>
  <PresentationFormat>Widescreen</PresentationFormat>
  <Paragraphs>389</Paragraphs>
  <Slides>39</Slides>
  <Notes>0</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ICT1101</vt:lpstr>
      <vt:lpstr>Main Objectives</vt:lpstr>
      <vt:lpstr>EXPLAIN THE IMPORTANCE OF COMPUTER LITERACY</vt:lpstr>
      <vt:lpstr>Understand the startup process for a personal computer </vt:lpstr>
      <vt:lpstr>PowerPoint Presentation</vt:lpstr>
      <vt:lpstr>WHY A COMPUTER IS A POWERFUL TOOL</vt:lpstr>
      <vt:lpstr>IDENTIFY THE COMPONENTS OF A COMPUTER</vt:lpstr>
      <vt:lpstr>PowerPoint Presentation</vt:lpstr>
      <vt:lpstr>PowerPoint Presentation</vt:lpstr>
      <vt:lpstr>THE COMPONENTS IN THE SYSTEM UNIT </vt:lpstr>
      <vt:lpstr>HOW THE CPU USES THE FOUR STEPS OF A MACHINE CYCLE TO PROCESS DATA </vt:lpstr>
      <vt:lpstr> A BIT AND DESCRIBE HOW A SERIES OF BITS REPRESENTS DATA(hw to communicate with a pc)</vt:lpstr>
      <vt:lpstr>DIFFERENTIATE BETWEEN THE VARIOUS TYPES OF MEMORY</vt:lpstr>
      <vt:lpstr>PowerPoint Presentation</vt:lpstr>
      <vt:lpstr>DESCRIBE THE TWO TYPES OF INPUT </vt:lpstr>
      <vt:lpstr>LIST THE CHARACTERISTICS OF A KEYBOARD </vt:lpstr>
      <vt:lpstr>IDENTIFY VARIOUS TYPES OF KEYBOARDS </vt:lpstr>
      <vt:lpstr>IDENTIFY VARIOUS TYPES OF POINTING DEVICES </vt:lpstr>
      <vt:lpstr>PowerPoint Presentation</vt:lpstr>
      <vt:lpstr>EXPLAIN HOW A MOUSE WORKS </vt:lpstr>
      <vt:lpstr>DESCRIBE DIFFERENT MOUSE TYPES</vt:lpstr>
      <vt:lpstr>DEFINE THE FOUR CATEGORIES OF OUTPUT</vt:lpstr>
      <vt:lpstr>IDENTIFY THE DIFFERENT TYPES OF DISPLAY DEVICES </vt:lpstr>
      <vt:lpstr>DIFFERENTIATE BETWEEN STORAGE AND MEMORY  </vt:lpstr>
      <vt:lpstr> IDENTIFY VARIOUS TYPES OF STORAGE MEDIA AND STORAGE DEVICES </vt:lpstr>
      <vt:lpstr>THE CATEGORIES OF COMPUTERS AND THEIR USES</vt:lpstr>
      <vt:lpstr>PowerPoint Presentation</vt:lpstr>
      <vt:lpstr>PowerPoint Presentation</vt:lpstr>
      <vt:lpstr>PowerPoint Presentation</vt:lpstr>
      <vt:lpstr>THE VARIOUS TYPES OF COMPUTER USERS</vt:lpstr>
      <vt:lpstr>DIFFERENTIATE AMONG THE VARIOUS TYPES OF SOFTWARE</vt:lpstr>
      <vt:lpstr>PowerPoint Presentation</vt:lpstr>
      <vt:lpstr>THE ROLE OF THE USER INTERFACE</vt:lpstr>
      <vt:lpstr>HOW TO START A SOFTWARE APPLICATION</vt:lpstr>
      <vt:lpstr>SUMMARY</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ICT1101</dc:title>
  <dc:creator>MPIDO-NOMSA</dc:creator>
  <cp:lastModifiedBy>Jamien Seva</cp:lastModifiedBy>
  <cp:revision>25</cp:revision>
  <dcterms:created xsi:type="dcterms:W3CDTF">2015-09-04T19:33:25Z</dcterms:created>
  <dcterms:modified xsi:type="dcterms:W3CDTF">2020-09-11T14:18:37Z</dcterms:modified>
</cp:coreProperties>
</file>