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Override1.xml" ContentType="application/vnd.openxmlformats-officedocument.themeOverride+xml"/>
  <Override PartName="/ppt/theme/themeOverride2.xml" ContentType="application/vnd.openxmlformats-officedocument.themeOverr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4"/>
  </p:sldMasterIdLst>
  <p:sldIdLst>
    <p:sldId id="298" r:id="rId5"/>
    <p:sldId id="300" r:id="rId6"/>
    <p:sldId id="301" r:id="rId7"/>
    <p:sldId id="302" r:id="rId8"/>
    <p:sldId id="303" r:id="rId9"/>
    <p:sldId id="304" r:id="rId10"/>
    <p:sldId id="305" r:id="rId11"/>
    <p:sldId id="306" r:id="rId12"/>
    <p:sldId id="307" r:id="rId13"/>
    <p:sldId id="308" r:id="rId14"/>
    <p:sldId id="309" r:id="rId15"/>
    <p:sldId id="310" r:id="rId16"/>
    <p:sldId id="311" r:id="rId17"/>
    <p:sldId id="312" r:id="rId18"/>
    <p:sldId id="313" r:id="rId19"/>
    <p:sldId id="314" r:id="rId20"/>
    <p:sldId id="315" r:id="rId21"/>
    <p:sldId id="316" r:id="rId22"/>
    <p:sldId id="318" r:id="rId23"/>
    <p:sldId id="319" r:id="rId24"/>
    <p:sldId id="320" r:id="rId2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000" autoAdjust="0"/>
    <p:restoredTop sz="94619" autoAdjust="0"/>
  </p:normalViewPr>
  <p:slideViewPr>
    <p:cSldViewPr snapToGrid="0">
      <p:cViewPr varScale="1">
        <p:scale>
          <a:sx n="84" d="100"/>
          <a:sy n="84" d="100"/>
        </p:scale>
        <p:origin x="211" y="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39E3965E-AC41-4711-9D10-E25ABB132D86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90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645152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1"/>
                </a:solidFill>
                <a:latin typeface="+mn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F5DC8C3-BA5F-4EED-BB9A-A14272BD82A1}"/>
              </a:ext>
            </a:extLst>
          </p:cNvPr>
          <p:cNvCxnSpPr/>
          <p:nvPr/>
        </p:nvCxnSpPr>
        <p:spPr>
          <a:xfrm>
            <a:off x="1207658" y="4474741"/>
            <a:ext cx="987552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25CCF1-92C0-4AF3-BFAF-4921631915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84DA70-C731-4C70-880D-CCD4705E623C}" type="datetime1">
              <a:rPr lang="en-US" smtClean="0"/>
              <a:t>5/28/2023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1A78A9-3DFF-4937-A9F2-5D8CF495F3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AEB271-5CC0-4759-BC6E-8BE53AB227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2343750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54D8B55-9EA8-4B81-8E84-9B93B0A275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E1D723-8F53-4F53-90B0-1982A396982E}" type="datetime1">
              <a:rPr lang="en-US" smtClean="0"/>
              <a:t>5/28/2023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62CA021-2578-47CB-822C-BDDFF7223B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4AAB51D-4141-4682-9375-DAFD5FB9DD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404659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585C21A-8B93-4657-B5DF-7EAEAD3BE127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90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663440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459DE2C1-4C52-40A3-8959-27B2C1BEBFF6}"/>
              </a:ext>
            </a:extLst>
          </p:cNvPr>
          <p:cNvCxnSpPr/>
          <p:nvPr/>
        </p:nvCxnSpPr>
        <p:spPr>
          <a:xfrm>
            <a:off x="1207658" y="4485132"/>
            <a:ext cx="987552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AF2E137-EC28-48F8-9198-1F02539029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669AF7-7BEB-44E4-9852-375E34362B5B}" type="datetime1">
              <a:rPr lang="en-US" smtClean="0"/>
              <a:t>5/28/2023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89422CD-6F62-4DD6-89EF-07A60B42D2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69C6AFF8-42B4-4D05-969B-9F5FB33555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627835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80" y="2120900"/>
            <a:ext cx="4639736" cy="374819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15944" y="2120900"/>
            <a:ext cx="4639736" cy="374819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782D47D-B0DC-4C40-BCC6-BBBA32584A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AAC38D-0552-4C82-B593-E6124DFADBE2}" type="datetime1">
              <a:rPr lang="en-US" smtClean="0"/>
              <a:t>5/28/2023</a:t>
            </a:fld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4690D34E-7EBD-44B2-83CA-4C126A18D7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2AC511A1-9BBD-42DE-92FB-2AF44F8E97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883595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2057400"/>
            <a:ext cx="4639736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958274"/>
            <a:ext cx="4639736" cy="291082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15944" y="2057400"/>
            <a:ext cx="4639736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515944" y="2958273"/>
            <a:ext cx="4639736" cy="291082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AF8A515-AA94-45D1-9223-5C2272618D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DF0F1C-5577-4ACB-BB62-DF8F3C494C7E}" type="datetime1">
              <a:rPr lang="en-US" smtClean="0"/>
              <a:t>5/28/2023</a:t>
            </a:fld>
            <a:endParaRPr lang="en-US" dirty="0"/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D052F5BC-98E0-4D60-AD67-9547738B7D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A38552DC-952E-41EA-AAAF-C2187523C0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639257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7392073F-158F-44A3-8913-917AFFC1BC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75B394-D9F9-4F0C-B15D-605F45CB9E9F}" type="datetime1">
              <a:rPr lang="en-US" smtClean="0"/>
              <a:t>5/28/2023</a:t>
            </a:fld>
            <a:endParaRPr lang="en-US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EED72207-24CA-42B7-A975-2F8E41CBA9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D01080F2-251A-4B88-9A62-16F46D724F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685433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8E9C91B-7EAD-4562-AB0E-DFB9663AECE3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4E9223F-721F-47BF-9FD5-0F8D12FF0D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667345-2558-425A-8533-9BFDBCE15005}" type="datetime1">
              <a:rPr lang="en-US" smtClean="0"/>
              <a:t>5/28/2023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5915714-6BBA-4593-8591-4E26F7D58D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E06F857-D2E1-44DD-ABDD-EBB739645B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33937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16D90D66-BCB9-4229-A829-628874352AC0}"/>
              </a:ext>
            </a:extLst>
          </p:cNvPr>
          <p:cNvSpPr/>
          <p:nvPr/>
        </p:nvSpPr>
        <p:spPr>
          <a:xfrm>
            <a:off x="16" y="0"/>
            <a:ext cx="4654296" cy="68580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3466" y="786383"/>
            <a:ext cx="3517567" cy="2093975"/>
          </a:xfrm>
        </p:spPr>
        <p:txBody>
          <a:bodyPr anchor="b">
            <a:normAutofit/>
          </a:bodyPr>
          <a:lstStyle>
            <a:lvl1pPr>
              <a:lnSpc>
                <a:spcPct val="90000"/>
              </a:lnSpc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58984" y="812799"/>
            <a:ext cx="5928344" cy="52947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43465" y="3043050"/>
            <a:ext cx="3517567" cy="3064505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8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43464" y="6446520"/>
            <a:ext cx="3517568" cy="365125"/>
          </a:xfrm>
        </p:spPr>
        <p:txBody>
          <a:bodyPr/>
          <a:lstStyle>
            <a:lvl1pPr algn="l">
              <a:defRPr/>
            </a:lvl1pPr>
          </a:lstStyle>
          <a:p>
            <a:fld id="{92BEA474-078D-4E9B-9B14-09A87B19DC46}" type="datetime1">
              <a:rPr lang="en-US" smtClean="0"/>
              <a:t>5/28/2023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458983" y="6446520"/>
            <a:ext cx="5334019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711844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DA134939-39C0-4522-A125-A13DFDA66490}"/>
              </a:ext>
            </a:extLst>
          </p:cNvPr>
          <p:cNvSpPr/>
          <p:nvPr/>
        </p:nvSpPr>
        <p:spPr>
          <a:xfrm>
            <a:off x="0" y="4578350"/>
            <a:ext cx="12188825" cy="227965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578350"/>
          </a:xfrm>
          <a:solidFill>
            <a:schemeClr val="bg1">
              <a:lumMod val="85000"/>
            </a:schemeClr>
          </a:solidFill>
        </p:spPr>
        <p:txBody>
          <a:bodyPr lIns="457200" tIns="45720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79" y="4799362"/>
            <a:ext cx="10113645" cy="743682"/>
          </a:xfrm>
        </p:spPr>
        <p:txBody>
          <a:bodyPr tIns="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79" y="5715000"/>
            <a:ext cx="10113264" cy="60960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8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4907D986-8816-4272-A432-0437A28A9828}" type="datetime1">
              <a:rPr lang="en-US" smtClean="0"/>
              <a:t>5/28/2023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097279" y="6446838"/>
            <a:ext cx="6818262" cy="365125"/>
          </a:xfrm>
        </p:spPr>
        <p:txBody>
          <a:bodyPr/>
          <a:lstStyle/>
          <a:p>
            <a:pPr algn="l"/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016137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416A0E3C-60E6-4F39-BC55-5F7C224E1F7C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2108201"/>
            <a:ext cx="10058400" cy="3760891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218426" y="6446838"/>
            <a:ext cx="2584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rgbClr val="FFFFFF"/>
                </a:solidFill>
              </a:defRPr>
            </a:lvl1pPr>
          </a:lstStyle>
          <a:p>
            <a:fld id="{62D6E202-B606-4609-B914-27C9371A1F6D}" type="datetime1">
              <a:rPr lang="en-US" smtClean="0"/>
              <a:t>5/28/2023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97279" y="6446838"/>
            <a:ext cx="681826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cap="all" baseline="0">
                <a:solidFill>
                  <a:srgbClr val="FFFFFF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993582" y="6446838"/>
            <a:ext cx="7800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>
                <a:solidFill>
                  <a:srgbClr val="FFFFFF"/>
                </a:solidFill>
              </a:defRPr>
            </a:lvl1pPr>
          </a:lstStyle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C5025DAC-8B93-4160-B017-3A274A5828C0}"/>
              </a:ext>
            </a:extLst>
          </p:cNvPr>
          <p:cNvCxnSpPr/>
          <p:nvPr/>
        </p:nvCxnSpPr>
        <p:spPr>
          <a:xfrm>
            <a:off x="1193532" y="1897380"/>
            <a:ext cx="996696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46030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700" i="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11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1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7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3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3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3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slideLayout" Target="../slideLayouts/slideLayout1.xml"/><Relationship Id="rId1" Type="http://schemas.openxmlformats.org/officeDocument/2006/relationships/themeOverride" Target="../theme/themeOverride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Rectangle 32">
            <a:extLst>
              <a:ext uri="{FF2B5EF4-FFF2-40B4-BE49-F238E27FC236}">
                <a16:creationId xmlns:a16="http://schemas.microsoft.com/office/drawing/2014/main" id="{2FDF0794-1B86-42B2-B8C7-F60123E638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12188726" cy="685897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Franklin Gothic Book" panose="020F0502020204030204"/>
              <a:ea typeface="+mn-ea"/>
              <a:cs typeface="+mn-cs"/>
            </a:endParaRPr>
          </a:p>
        </p:txBody>
      </p:sp>
      <p:pic>
        <p:nvPicPr>
          <p:cNvPr id="4" name="Picture 3" descr="A close up of a piece of paper with a pencil laying on top">
            <a:extLst>
              <a:ext uri="{FF2B5EF4-FFF2-40B4-BE49-F238E27FC236}">
                <a16:creationId xmlns:a16="http://schemas.microsoft.com/office/drawing/2014/main" id="{65810330-F0B5-43C9-BC34-094FFB5C0529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0" y="975"/>
            <a:ext cx="12191980" cy="6858000"/>
          </a:xfrm>
          <a:prstGeom prst="rect">
            <a:avLst/>
          </a:prstGeom>
        </p:spPr>
      </p:pic>
      <p:sp>
        <p:nvSpPr>
          <p:cNvPr id="35" name="Rectangle 34">
            <a:extLst>
              <a:ext uri="{FF2B5EF4-FFF2-40B4-BE49-F238E27FC236}">
                <a16:creationId xmlns:a16="http://schemas.microsoft.com/office/drawing/2014/main" id="{C5373426-E26E-431D-959C-5DB96C0B62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912607" y="1238442"/>
            <a:ext cx="3635926" cy="4355751"/>
          </a:xfrm>
          <a:prstGeom prst="rect">
            <a:avLst/>
          </a:prstGeom>
          <a:solidFill>
            <a:schemeClr val="bg1">
              <a:alpha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Franklin Gothic Book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AB2EA78-AEB3-469B-9025-3B17201A457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123416" y="1475234"/>
            <a:ext cx="3214307" cy="2901694"/>
          </a:xfrm>
        </p:spPr>
        <p:txBody>
          <a:bodyPr anchor="b">
            <a:normAutofit/>
          </a:bodyPr>
          <a:lstStyle/>
          <a:p>
            <a:r>
              <a:rPr lang="en-US" sz="4400" dirty="0">
                <a:solidFill>
                  <a:schemeClr val="tx1"/>
                </a:solidFill>
              </a:rPr>
              <a:t>Program Loops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55E1F2F-E259-4EA8-9FFD-3A10AF54185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127750" y="4608576"/>
            <a:ext cx="3205640" cy="774186"/>
          </a:xfrm>
        </p:spPr>
        <p:txBody>
          <a:bodyPr anchor="t">
            <a:normAutofit/>
          </a:bodyPr>
          <a:lstStyle/>
          <a:p>
            <a:pPr>
              <a:lnSpc>
                <a:spcPct val="100000"/>
              </a:lnSpc>
            </a:pPr>
            <a:r>
              <a:rPr lang="en-US" sz="1600" dirty="0"/>
              <a:t>LLOYD CHUNGA</a:t>
            </a:r>
          </a:p>
        </p:txBody>
      </p: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96D07482-83A3-4451-943C-B469610829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176090" y="4508519"/>
            <a:ext cx="3108960" cy="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Rectangle 38">
            <a:extLst>
              <a:ext uri="{FF2B5EF4-FFF2-40B4-BE49-F238E27FC236}">
                <a16:creationId xmlns:a16="http://schemas.microsoft.com/office/drawing/2014/main" id="{EDC90921-9082-491B-940E-827D679F347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rgbClr val="262626">
              <a:alpha val="9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19314396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AC86D3-8FD1-4F47-A319-7D0542E48B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 dirty="0"/>
              <a:t>Iteration Essentials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BC991C47-5DC7-1E10-0D6A-EA5C3FEDDE3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1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400" dirty="0"/>
              <a:t>A loop is a group of instructions the computer repeatedly executes while some </a:t>
            </a:r>
            <a:r>
              <a:rPr lang="en-US" sz="2400" b="1" dirty="0"/>
              <a:t>loop-continuation condition </a:t>
            </a:r>
            <a:r>
              <a:rPr lang="en-US" sz="2400" dirty="0"/>
              <a:t>remains true.</a:t>
            </a: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400" dirty="0"/>
              <a:t>The are two means of Iteration:</a:t>
            </a:r>
          </a:p>
          <a:p>
            <a:pPr lvl="2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1800" dirty="0"/>
              <a:t>Counter-controlled iteration. </a:t>
            </a:r>
          </a:p>
          <a:p>
            <a:pPr lvl="2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1800" dirty="0"/>
              <a:t>Sentinel-controlled iteration. </a:t>
            </a: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§"/>
            </a:pPr>
            <a:endParaRPr lang="en-MW" sz="2400" dirty="0"/>
          </a:p>
        </p:txBody>
      </p:sp>
    </p:spTree>
    <p:extLst>
      <p:ext uri="{BB962C8B-B14F-4D97-AF65-F5344CB8AC3E}">
        <p14:creationId xmlns:p14="http://schemas.microsoft.com/office/powerpoint/2010/main" val="293351433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AAA6B1-DA83-5A1B-27BE-21D0EC1204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Counter-controlled iteration</a:t>
            </a:r>
            <a:endParaRPr lang="en-MW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FA77D4-DDCA-77E4-6AD5-A37E0CC87F7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>
              <a:buFont typeface="Wingdings" panose="05000000000000000000" pitchFamily="2" charset="2"/>
              <a:buChar char="§"/>
            </a:pPr>
            <a:r>
              <a:rPr lang="en-US" dirty="0"/>
              <a:t>Counter-controlled iteration, also known as definite iteration, is a loop that repeats a block of code for a specific number of times. It uses a counter variable to keep track of the number of iterations. The loop continues until the counter reaches a predetermined value.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dirty="0"/>
              <a:t>Here's an example of counter-controlled iteration using a for loop in C:</a:t>
            </a:r>
          </a:p>
          <a:p>
            <a:pPr marL="1471400" lvl="8" indent="0">
              <a:buNone/>
            </a:pPr>
            <a:r>
              <a:rPr lang="en-US" sz="2000" b="1" i="1" dirty="0">
                <a:latin typeface="Candara" panose="020E0502030303020204" pitchFamily="34" charset="0"/>
              </a:rPr>
              <a:t>for (int </a:t>
            </a:r>
            <a:r>
              <a:rPr lang="en-US" sz="2000" b="1" i="1" dirty="0" err="1">
                <a:latin typeface="Candara" panose="020E0502030303020204" pitchFamily="34" charset="0"/>
              </a:rPr>
              <a:t>i</a:t>
            </a:r>
            <a:r>
              <a:rPr lang="en-US" sz="2000" b="1" i="1" dirty="0">
                <a:latin typeface="Candara" panose="020E0502030303020204" pitchFamily="34" charset="0"/>
              </a:rPr>
              <a:t> = 0; </a:t>
            </a:r>
            <a:r>
              <a:rPr lang="en-US" sz="2000" b="1" i="1" dirty="0" err="1">
                <a:latin typeface="Candara" panose="020E0502030303020204" pitchFamily="34" charset="0"/>
              </a:rPr>
              <a:t>i</a:t>
            </a:r>
            <a:r>
              <a:rPr lang="en-US" sz="2000" b="1" i="1" dirty="0">
                <a:latin typeface="Candara" panose="020E0502030303020204" pitchFamily="34" charset="0"/>
              </a:rPr>
              <a:t> &lt; 5; </a:t>
            </a:r>
            <a:r>
              <a:rPr lang="en-US" sz="2000" b="1" i="1" dirty="0" err="1">
                <a:latin typeface="Candara" panose="020E0502030303020204" pitchFamily="34" charset="0"/>
              </a:rPr>
              <a:t>i</a:t>
            </a:r>
            <a:r>
              <a:rPr lang="en-US" sz="2000" b="1" i="1" dirty="0">
                <a:latin typeface="Candara" panose="020E0502030303020204" pitchFamily="34" charset="0"/>
              </a:rPr>
              <a:t>++) {</a:t>
            </a:r>
          </a:p>
          <a:p>
            <a:pPr marL="1471400" lvl="8" indent="0">
              <a:buNone/>
            </a:pPr>
            <a:r>
              <a:rPr lang="en-US" sz="2000" b="1" i="1" dirty="0">
                <a:latin typeface="Candara" panose="020E0502030303020204" pitchFamily="34" charset="0"/>
              </a:rPr>
              <a:t>    // Code to be repeated</a:t>
            </a:r>
          </a:p>
          <a:p>
            <a:pPr marL="1471400" lvl="8" indent="0">
              <a:buNone/>
            </a:pPr>
            <a:r>
              <a:rPr lang="en-US" sz="2000" b="1" i="1" dirty="0">
                <a:latin typeface="Candara" panose="020E0502030303020204" pitchFamily="34" charset="0"/>
              </a:rPr>
              <a:t>}</a:t>
            </a:r>
          </a:p>
          <a:p>
            <a:pPr marL="498348" lvl="1" indent="-342900">
              <a:buFont typeface="Wingdings" panose="05000000000000000000" pitchFamily="2" charset="2"/>
              <a:buChar char="§"/>
            </a:pPr>
            <a:r>
              <a:rPr lang="en-US" dirty="0"/>
              <a:t>Counter-controlled iteration is useful when you know in advance how many times you want the loop to run.</a:t>
            </a:r>
          </a:p>
          <a:p>
            <a:pPr marL="1471400" lvl="8" indent="0">
              <a:buNone/>
            </a:pPr>
            <a:endParaRPr lang="en-US" sz="2000" b="1" i="1" dirty="0">
              <a:latin typeface="Candara" panose="020E0502030303020204" pitchFamily="34" charset="0"/>
            </a:endParaRPr>
          </a:p>
          <a:p>
            <a:endParaRPr lang="en-MW" dirty="0"/>
          </a:p>
        </p:txBody>
      </p:sp>
    </p:spTree>
    <p:extLst>
      <p:ext uri="{BB962C8B-B14F-4D97-AF65-F5344CB8AC3E}">
        <p14:creationId xmlns:p14="http://schemas.microsoft.com/office/powerpoint/2010/main" val="296594077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28DCAD-DA0A-DA0A-8A93-258DA9F43A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Sentinel-Controlled iteration</a:t>
            </a:r>
            <a:endParaRPr lang="en-MW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1A2C0C-22EE-CD93-A68C-4B47625D9AB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1">
              <a:buFont typeface="Wingdings" panose="05000000000000000000" pitchFamily="2" charset="2"/>
              <a:buChar char="§"/>
            </a:pPr>
            <a:r>
              <a:rPr lang="en-US" dirty="0"/>
              <a:t>Sentinel-controlled iteration, also known as indefinite iteration, is a loop that repeats a block of code until a specific condition is met. 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dirty="0"/>
              <a:t>It uses a sentinel value as a condition to control the loop's execution.</a:t>
            </a:r>
          </a:p>
          <a:p>
            <a:pPr marL="1517120" lvl="8" indent="0">
              <a:buNone/>
            </a:pPr>
            <a:r>
              <a:rPr lang="en-US" b="1" i="1" dirty="0">
                <a:latin typeface="Candara" panose="020E0502030303020204" pitchFamily="34" charset="0"/>
              </a:rPr>
              <a:t>int number;</a:t>
            </a:r>
          </a:p>
          <a:p>
            <a:pPr marL="1517120" lvl="8" indent="0">
              <a:buNone/>
            </a:pPr>
            <a:r>
              <a:rPr lang="en-US" b="1" i="1" dirty="0">
                <a:latin typeface="Candara" panose="020E0502030303020204" pitchFamily="34" charset="0"/>
              </a:rPr>
              <a:t>while (number != -1) {</a:t>
            </a:r>
          </a:p>
          <a:p>
            <a:pPr marL="1517120" lvl="8" indent="0">
              <a:buNone/>
            </a:pPr>
            <a:r>
              <a:rPr lang="en-US" b="1" i="1" dirty="0">
                <a:latin typeface="Candara" panose="020E0502030303020204" pitchFamily="34" charset="0"/>
              </a:rPr>
              <a:t>    // Code to be repeated</a:t>
            </a:r>
          </a:p>
          <a:p>
            <a:pPr marL="1517120" lvl="8" indent="0">
              <a:buNone/>
            </a:pPr>
            <a:r>
              <a:rPr lang="en-US" b="1" i="1" dirty="0">
                <a:latin typeface="Candara" panose="020E0502030303020204" pitchFamily="34" charset="0"/>
              </a:rPr>
              <a:t>}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dirty="0"/>
              <a:t>Sentinel-controlled iteration is useful when you don't know in advance how many times the loop needs to run, and you want to continue the loop until a specific condition is met. 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dirty="0"/>
              <a:t>It is often used when reading input from a user until a specific value or signal is encountered.</a:t>
            </a:r>
            <a:endParaRPr lang="en-MW" dirty="0"/>
          </a:p>
        </p:txBody>
      </p:sp>
    </p:spTree>
    <p:extLst>
      <p:ext uri="{BB962C8B-B14F-4D97-AF65-F5344CB8AC3E}">
        <p14:creationId xmlns:p14="http://schemas.microsoft.com/office/powerpoint/2010/main" val="342016067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1CC10A-561B-3F2D-749F-E4A0AE1D70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Types of Iterations (Loops)</a:t>
            </a:r>
            <a:endParaRPr lang="en-MW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E8F005-C2AE-3361-635F-670B04AA41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800" b="0" i="0" dirty="0">
                <a:effectLst/>
                <a:latin typeface="euclid_circular_a"/>
              </a:rPr>
              <a:t> C programming has three types of loops:</a:t>
            </a:r>
          </a:p>
          <a:p>
            <a:pPr marL="726948" lvl="2" indent="-342900">
              <a:lnSpc>
                <a:spcPct val="150000"/>
              </a:lnSpc>
              <a:buFont typeface="+mj-lt"/>
              <a:buAutoNum type="arabicPeriod"/>
            </a:pPr>
            <a:r>
              <a:rPr lang="en-US" sz="2000" b="0" i="0" dirty="0">
                <a:effectLst/>
                <a:latin typeface="euclid_circular_a"/>
              </a:rPr>
              <a:t>for loop</a:t>
            </a:r>
          </a:p>
          <a:p>
            <a:pPr marL="726948" lvl="2" indent="-342900">
              <a:lnSpc>
                <a:spcPct val="150000"/>
              </a:lnSpc>
              <a:buFont typeface="+mj-lt"/>
              <a:buAutoNum type="arabicPeriod"/>
            </a:pPr>
            <a:r>
              <a:rPr lang="en-US" sz="2000" b="0" i="0" dirty="0">
                <a:effectLst/>
                <a:latin typeface="euclid_circular_a"/>
              </a:rPr>
              <a:t>while loop</a:t>
            </a:r>
          </a:p>
          <a:p>
            <a:pPr marL="726948" lvl="2" indent="-342900">
              <a:lnSpc>
                <a:spcPct val="150000"/>
              </a:lnSpc>
              <a:buFont typeface="+mj-lt"/>
              <a:buAutoNum type="arabicPeriod"/>
            </a:pPr>
            <a:r>
              <a:rPr lang="en-US" sz="2000" b="0" i="0" dirty="0">
                <a:effectLst/>
                <a:latin typeface="euclid_circular_a"/>
              </a:rPr>
              <a:t>do...while loop</a:t>
            </a:r>
          </a:p>
          <a:p>
            <a:pPr>
              <a:lnSpc>
                <a:spcPct val="150000"/>
              </a:lnSpc>
            </a:pPr>
            <a:endParaRPr lang="en-MW" dirty="0"/>
          </a:p>
        </p:txBody>
      </p:sp>
    </p:spTree>
    <p:extLst>
      <p:ext uri="{BB962C8B-B14F-4D97-AF65-F5344CB8AC3E}">
        <p14:creationId xmlns:p14="http://schemas.microsoft.com/office/powerpoint/2010/main" val="18547963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63B6CB-B50C-2944-6C11-03F6D6D31E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For Iteration Statement (for loop)</a:t>
            </a:r>
            <a:endParaRPr lang="en-MW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50F2B4-32CD-0BB7-811A-CC63652669B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>
              <a:buFont typeface="Wingdings" panose="05000000000000000000" pitchFamily="2" charset="2"/>
              <a:buChar char="§"/>
            </a:pPr>
            <a:r>
              <a:rPr lang="en-US" dirty="0"/>
              <a:t>The for iteration statement handles all the details of counter-controlled iteration.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b="1" i="0" dirty="0">
                <a:solidFill>
                  <a:schemeClr val="tx1"/>
                </a:solidFill>
                <a:effectLst/>
                <a:latin typeface="euclid_circular_a"/>
              </a:rPr>
              <a:t>How for loop works?</a:t>
            </a:r>
            <a:endParaRPr lang="en-US" dirty="0">
              <a:solidFill>
                <a:schemeClr val="tx1"/>
              </a:solidFill>
            </a:endParaRPr>
          </a:p>
          <a:p>
            <a:pPr lvl="2">
              <a:buFont typeface="Wingdings" panose="05000000000000000000" pitchFamily="2" charset="2"/>
              <a:buChar char="§"/>
            </a:pPr>
            <a:r>
              <a:rPr lang="en-US" dirty="0"/>
              <a:t>The initialization statement is executed only once. </a:t>
            </a:r>
          </a:p>
          <a:p>
            <a:pPr lvl="2">
              <a:buFont typeface="Wingdings" panose="05000000000000000000" pitchFamily="2" charset="2"/>
              <a:buChar char="§"/>
            </a:pPr>
            <a:r>
              <a:rPr lang="en-US" dirty="0"/>
              <a:t>Then, the test expression is evaluated. If the test expression is evaluated to false, the for loop is terminated. </a:t>
            </a:r>
          </a:p>
          <a:p>
            <a:pPr lvl="2">
              <a:buFont typeface="Wingdings" panose="05000000000000000000" pitchFamily="2" charset="2"/>
              <a:buChar char="§"/>
            </a:pPr>
            <a:r>
              <a:rPr lang="en-US" dirty="0"/>
              <a:t>However, if the test expression is evaluated to true, statements inside the body of the for loop are executed, and the update expression is updated. </a:t>
            </a:r>
          </a:p>
          <a:p>
            <a:pPr lvl="2">
              <a:buFont typeface="Wingdings" panose="05000000000000000000" pitchFamily="2" charset="2"/>
              <a:buChar char="§"/>
            </a:pPr>
            <a:r>
              <a:rPr lang="en-US" dirty="0"/>
              <a:t>Again the test expression is evaluated. This process goes on until the test expression is false. When the test expression is false, the loop terminates.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b="0" i="0" dirty="0">
                <a:effectLst/>
                <a:latin typeface="euclid_circular_a"/>
              </a:rPr>
              <a:t>This process goes on until the test expression is false. When the test expression is false, the loop terminates.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8731924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DBEB17-B069-86C9-4661-B454B0754C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General Format of a for Statement</a:t>
            </a:r>
            <a:endParaRPr lang="en-MW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56D9D5-2762-EB83-A618-FFE86946BB0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lvl="1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000" dirty="0"/>
              <a:t>The general format of the for statement is </a:t>
            </a:r>
          </a:p>
          <a:p>
            <a:pPr marL="917120" lvl="5" indent="0">
              <a:lnSpc>
                <a:spcPct val="150000"/>
              </a:lnSpc>
              <a:buNone/>
            </a:pPr>
            <a:r>
              <a:rPr lang="en-US" sz="1800" b="1" dirty="0">
                <a:latin typeface="Candara" panose="020E0502030303020204" pitchFamily="34" charset="0"/>
              </a:rPr>
              <a:t>for</a:t>
            </a:r>
            <a:r>
              <a:rPr lang="en-US" sz="1800" b="1" i="1" dirty="0">
                <a:latin typeface="Candara" panose="020E0502030303020204" pitchFamily="34" charset="0"/>
              </a:rPr>
              <a:t> (initialization; </a:t>
            </a:r>
            <a:r>
              <a:rPr lang="en-US" sz="1800" b="1" i="1" dirty="0" err="1">
                <a:latin typeface="Candara" panose="020E0502030303020204" pitchFamily="34" charset="0"/>
              </a:rPr>
              <a:t>loopContinuationCondition</a:t>
            </a:r>
            <a:r>
              <a:rPr lang="en-US" sz="1800" b="1" i="1" dirty="0">
                <a:latin typeface="Candara" panose="020E0502030303020204" pitchFamily="34" charset="0"/>
              </a:rPr>
              <a:t>; increment) { </a:t>
            </a:r>
          </a:p>
          <a:p>
            <a:pPr marL="917120" lvl="5" indent="0">
              <a:lnSpc>
                <a:spcPct val="150000"/>
              </a:lnSpc>
              <a:buNone/>
            </a:pPr>
            <a:r>
              <a:rPr lang="en-US" sz="1800" b="1" i="1" dirty="0">
                <a:latin typeface="Candara" panose="020E0502030303020204" pitchFamily="34" charset="0"/>
              </a:rPr>
              <a:t>        statement </a:t>
            </a:r>
          </a:p>
          <a:p>
            <a:pPr marL="917120" lvl="5" indent="0">
              <a:lnSpc>
                <a:spcPct val="150000"/>
              </a:lnSpc>
              <a:buNone/>
            </a:pPr>
            <a:r>
              <a:rPr lang="en-US" sz="1800" b="1" i="1" dirty="0">
                <a:latin typeface="Candara" panose="020E0502030303020204" pitchFamily="34" charset="0"/>
              </a:rPr>
              <a:t>} </a:t>
            </a: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000" dirty="0"/>
              <a:t>where </a:t>
            </a:r>
          </a:p>
          <a:p>
            <a:pPr lvl="2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1600" dirty="0"/>
              <a:t> initialization names the loop’s control variable and provides its initial value, </a:t>
            </a:r>
          </a:p>
          <a:p>
            <a:pPr lvl="2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1600" dirty="0" err="1"/>
              <a:t>loopContinuationCondition</a:t>
            </a:r>
            <a:r>
              <a:rPr lang="en-US" sz="1600" dirty="0"/>
              <a:t> determines whether the loop should continue executing, and </a:t>
            </a:r>
          </a:p>
          <a:p>
            <a:pPr lvl="2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1600" dirty="0"/>
              <a:t> increment modifies the control variable’s value after executing the statement so that the loop-continuation condition eventually becomes false.</a:t>
            </a:r>
            <a:endParaRPr lang="en-MW" sz="1600" dirty="0"/>
          </a:p>
        </p:txBody>
      </p:sp>
    </p:spTree>
    <p:extLst>
      <p:ext uri="{BB962C8B-B14F-4D97-AF65-F5344CB8AC3E}">
        <p14:creationId xmlns:p14="http://schemas.microsoft.com/office/powerpoint/2010/main" val="7771734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BFA405-2706-B47A-D581-BB6C6EB866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400" dirty="0"/>
              <a:t>for Statement Header Components</a:t>
            </a:r>
            <a:endParaRPr lang="en-MW" sz="4400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C6A6BCBD-27E8-7643-44B8-032529C763F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529361" y="2106305"/>
            <a:ext cx="9133278" cy="3565229"/>
          </a:xfrm>
        </p:spPr>
      </p:pic>
    </p:spTree>
    <p:extLst>
      <p:ext uri="{BB962C8B-B14F-4D97-AF65-F5344CB8AC3E}">
        <p14:creationId xmlns:p14="http://schemas.microsoft.com/office/powerpoint/2010/main" val="161679722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AE97BC-2FCE-CABC-5885-3D14DAD90D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For statement flow chart</a:t>
            </a:r>
            <a:endParaRPr lang="en-MW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A4D67989-C90C-23CA-6533-DBAFD571A73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501254" y="2108199"/>
            <a:ext cx="8814780" cy="3956031"/>
          </a:xfrm>
        </p:spPr>
      </p:pic>
    </p:spTree>
    <p:extLst>
      <p:ext uri="{BB962C8B-B14F-4D97-AF65-F5344CB8AC3E}">
        <p14:creationId xmlns:p14="http://schemas.microsoft.com/office/powerpoint/2010/main" val="74843163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8D6206-66C7-2856-C032-5764F3F137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For statement: example 1</a:t>
            </a:r>
            <a:endParaRPr lang="en-MW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06C47E-B212-FA2F-E44E-16F5A45C73E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566928" lvl="3" indent="0">
              <a:buNone/>
            </a:pPr>
            <a:r>
              <a:rPr lang="en-US" sz="3200" dirty="0">
                <a:latin typeface="Candara" panose="020E0502030303020204" pitchFamily="34" charset="0"/>
              </a:rPr>
              <a:t>#include &lt;</a:t>
            </a:r>
            <a:r>
              <a:rPr lang="en-US" sz="3200" dirty="0" err="1">
                <a:latin typeface="Candara" panose="020E0502030303020204" pitchFamily="34" charset="0"/>
              </a:rPr>
              <a:t>stdio.h</a:t>
            </a:r>
            <a:r>
              <a:rPr lang="en-US" sz="3200" dirty="0">
                <a:latin typeface="Candara" panose="020E0502030303020204" pitchFamily="34" charset="0"/>
              </a:rPr>
              <a:t>&gt;</a:t>
            </a:r>
          </a:p>
          <a:p>
            <a:pPr marL="566928" lvl="3" indent="0">
              <a:buNone/>
            </a:pPr>
            <a:r>
              <a:rPr lang="en-US" sz="3200" dirty="0">
                <a:latin typeface="Candara" panose="020E0502030303020204" pitchFamily="34" charset="0"/>
              </a:rPr>
              <a:t>int main() {</a:t>
            </a:r>
          </a:p>
          <a:p>
            <a:pPr marL="566928" lvl="3" indent="0">
              <a:buNone/>
            </a:pPr>
            <a:r>
              <a:rPr lang="en-US" sz="3200" dirty="0">
                <a:latin typeface="Candara" panose="020E0502030303020204" pitchFamily="34" charset="0"/>
              </a:rPr>
              <a:t>    for (int </a:t>
            </a:r>
            <a:r>
              <a:rPr lang="en-US" sz="3200" dirty="0" err="1">
                <a:latin typeface="Candara" panose="020E0502030303020204" pitchFamily="34" charset="0"/>
              </a:rPr>
              <a:t>i</a:t>
            </a:r>
            <a:r>
              <a:rPr lang="en-US" sz="3200" dirty="0">
                <a:latin typeface="Candara" panose="020E0502030303020204" pitchFamily="34" charset="0"/>
              </a:rPr>
              <a:t> = 0; </a:t>
            </a:r>
            <a:r>
              <a:rPr lang="en-US" sz="3200" dirty="0" err="1">
                <a:latin typeface="Candara" panose="020E0502030303020204" pitchFamily="34" charset="0"/>
              </a:rPr>
              <a:t>i</a:t>
            </a:r>
            <a:r>
              <a:rPr lang="en-US" sz="3200" dirty="0">
                <a:latin typeface="Candara" panose="020E0502030303020204" pitchFamily="34" charset="0"/>
              </a:rPr>
              <a:t> &lt; 5; </a:t>
            </a:r>
            <a:r>
              <a:rPr lang="en-US" sz="3200" dirty="0" err="1">
                <a:latin typeface="Candara" panose="020E0502030303020204" pitchFamily="34" charset="0"/>
              </a:rPr>
              <a:t>i</a:t>
            </a:r>
            <a:r>
              <a:rPr lang="en-US" sz="3200" dirty="0">
                <a:latin typeface="Candara" panose="020E0502030303020204" pitchFamily="34" charset="0"/>
              </a:rPr>
              <a:t>++) {</a:t>
            </a:r>
          </a:p>
          <a:p>
            <a:pPr marL="566928" lvl="3" indent="0">
              <a:buNone/>
            </a:pPr>
            <a:r>
              <a:rPr lang="en-US" sz="3200" dirty="0">
                <a:latin typeface="Candara" panose="020E0502030303020204" pitchFamily="34" charset="0"/>
              </a:rPr>
              <a:t>        </a:t>
            </a:r>
            <a:r>
              <a:rPr lang="en-US" sz="3200" dirty="0" err="1">
                <a:latin typeface="Candara" panose="020E0502030303020204" pitchFamily="34" charset="0"/>
              </a:rPr>
              <a:t>printf</a:t>
            </a:r>
            <a:r>
              <a:rPr lang="en-US" sz="3200" dirty="0">
                <a:latin typeface="Candara" panose="020E0502030303020204" pitchFamily="34" charset="0"/>
              </a:rPr>
              <a:t>("%d\n", </a:t>
            </a:r>
            <a:r>
              <a:rPr lang="en-US" sz="3200" dirty="0" err="1">
                <a:latin typeface="Candara" panose="020E0502030303020204" pitchFamily="34" charset="0"/>
              </a:rPr>
              <a:t>i</a:t>
            </a:r>
            <a:r>
              <a:rPr lang="en-US" sz="3200" dirty="0">
                <a:latin typeface="Candara" panose="020E0502030303020204" pitchFamily="34" charset="0"/>
              </a:rPr>
              <a:t>);</a:t>
            </a:r>
          </a:p>
          <a:p>
            <a:pPr marL="566928" lvl="3" indent="0">
              <a:buNone/>
            </a:pPr>
            <a:r>
              <a:rPr lang="en-US" sz="3200" dirty="0">
                <a:latin typeface="Candara" panose="020E0502030303020204" pitchFamily="34" charset="0"/>
              </a:rPr>
              <a:t>    }</a:t>
            </a:r>
          </a:p>
          <a:p>
            <a:pPr marL="566928" lvl="3" indent="0">
              <a:buNone/>
            </a:pPr>
            <a:r>
              <a:rPr lang="en-US" sz="3200" dirty="0">
                <a:latin typeface="Candara" panose="020E0502030303020204" pitchFamily="34" charset="0"/>
              </a:rPr>
              <a:t>    return 0;</a:t>
            </a:r>
          </a:p>
          <a:p>
            <a:pPr marL="566928" lvl="3" indent="0">
              <a:buNone/>
            </a:pPr>
            <a:r>
              <a:rPr lang="en-US" sz="3200" dirty="0">
                <a:latin typeface="Candara" panose="020E0502030303020204" pitchFamily="34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89417450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676A7B-F236-0719-B579-217F20AECD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while iteration Statement</a:t>
            </a:r>
            <a:endParaRPr lang="en-MW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CB3985-5A85-BAE2-9053-E9E43901C1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1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1800" dirty="0"/>
              <a:t>The </a:t>
            </a:r>
            <a:r>
              <a:rPr lang="en-US" sz="1800" b="1" dirty="0"/>
              <a:t>while iteration statement  </a:t>
            </a:r>
            <a:r>
              <a:rPr lang="en-US" sz="1800" dirty="0"/>
              <a:t>specifies that an action repeats while a condition is true.</a:t>
            </a: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1800" dirty="0"/>
              <a:t> Eventually, the condition will become false. At this point, the iteration terminates, and the first statement after the iteration statement executes.</a:t>
            </a: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kumimoji="0" lang="en-MW" altLang="en-MW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The syntax of the while loop is: </a:t>
            </a:r>
            <a:endParaRPr kumimoji="0" lang="en-US" altLang="en-MW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1517120" lvl="8" indent="0">
              <a:lnSpc>
                <a:spcPct val="150000"/>
              </a:lnSpc>
              <a:buNone/>
            </a:pPr>
            <a:r>
              <a:rPr kumimoji="0" lang="en-MW" altLang="en-MW" sz="1500" b="1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ndara" panose="020E0502030303020204" pitchFamily="34" charset="0"/>
              </a:rPr>
              <a:t>while (</a:t>
            </a:r>
            <a:r>
              <a:rPr kumimoji="0" lang="en-MW" altLang="en-MW" sz="1500" b="1" i="1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ndara" panose="020E0502030303020204" pitchFamily="34" charset="0"/>
              </a:rPr>
              <a:t>testExpression</a:t>
            </a:r>
            <a:r>
              <a:rPr kumimoji="0" lang="en-MW" altLang="en-MW" sz="1500" b="1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ndara" panose="020E0502030303020204" pitchFamily="34" charset="0"/>
              </a:rPr>
              <a:t>) {</a:t>
            </a:r>
            <a:endParaRPr kumimoji="0" lang="en-US" altLang="en-MW" sz="1500" b="1" i="1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ndara" panose="020E0502030303020204" pitchFamily="34" charset="0"/>
            </a:endParaRPr>
          </a:p>
          <a:p>
            <a:pPr marL="1517120" lvl="8" indent="0">
              <a:lnSpc>
                <a:spcPct val="150000"/>
              </a:lnSpc>
              <a:buNone/>
            </a:pPr>
            <a:r>
              <a:rPr kumimoji="0" lang="en-MW" altLang="en-MW" sz="1500" b="1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ndara" panose="020E0502030303020204" pitchFamily="34" charset="0"/>
              </a:rPr>
              <a:t> </a:t>
            </a:r>
            <a:r>
              <a:rPr kumimoji="0" lang="en-US" altLang="en-MW" sz="1500" b="1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ndara" panose="020E0502030303020204" pitchFamily="34" charset="0"/>
              </a:rPr>
              <a:t>        </a:t>
            </a:r>
            <a:r>
              <a:rPr kumimoji="0" lang="en-MW" altLang="en-MW" sz="1500" b="1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ndara" panose="020E0502030303020204" pitchFamily="34" charset="0"/>
              </a:rPr>
              <a:t>// the body of the loop </a:t>
            </a:r>
            <a:endParaRPr kumimoji="0" lang="en-US" altLang="en-MW" sz="1500" b="1" i="1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ndara" panose="020E0502030303020204" pitchFamily="34" charset="0"/>
            </a:endParaRPr>
          </a:p>
          <a:p>
            <a:pPr marL="1517120" lvl="8" indent="0">
              <a:lnSpc>
                <a:spcPct val="150000"/>
              </a:lnSpc>
              <a:buNone/>
            </a:pPr>
            <a:r>
              <a:rPr kumimoji="0" lang="en-MW" altLang="en-MW" sz="1500" b="1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ndara" panose="020E0502030303020204" pitchFamily="34" charset="0"/>
              </a:rPr>
              <a:t>}</a:t>
            </a:r>
            <a:r>
              <a:rPr kumimoji="0" lang="en-MW" altLang="en-MW" sz="500" b="1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ndara" panose="020E0502030303020204" pitchFamily="34" charset="0"/>
              </a:rPr>
              <a:t> </a:t>
            </a:r>
            <a:endParaRPr kumimoji="0" lang="en-MW" altLang="en-MW" sz="3700" b="1" i="1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ndara" panose="020E0502030303020204" pitchFamily="34" charset="0"/>
            </a:endParaRPr>
          </a:p>
          <a:p>
            <a:pPr lvl="1">
              <a:lnSpc>
                <a:spcPct val="150000"/>
              </a:lnSpc>
            </a:pPr>
            <a:endParaRPr kumimoji="0" lang="en-MW" altLang="en-MW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§"/>
            </a:pPr>
            <a:endParaRPr lang="en-MW" sz="1800" dirty="0"/>
          </a:p>
        </p:txBody>
      </p:sp>
    </p:spTree>
    <p:extLst>
      <p:ext uri="{BB962C8B-B14F-4D97-AF65-F5344CB8AC3E}">
        <p14:creationId xmlns:p14="http://schemas.microsoft.com/office/powerpoint/2010/main" val="198879487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CB0F6F-E91F-566A-F548-DC735B5340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i="0" dirty="0">
                <a:effectLst/>
              </a:rPr>
              <a:t>How while loop works?</a:t>
            </a:r>
            <a:endParaRPr lang="en-MW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00F9A7-999D-1835-B23B-089C517B956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1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§"/>
            </a:pPr>
            <a:r>
              <a:rPr kumimoji="0" lang="en-MW" altLang="en-MW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The while loop evaluates the </a:t>
            </a:r>
            <a:r>
              <a:rPr kumimoji="0" lang="en-MW" altLang="en-MW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testExpression</a:t>
            </a:r>
            <a:r>
              <a:rPr kumimoji="0" lang="en-MW" altLang="en-MW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 inside the parentheses ().</a:t>
            </a:r>
            <a:endParaRPr kumimoji="0" lang="en-US" altLang="en-MW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1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§"/>
            </a:pPr>
            <a:r>
              <a:rPr kumimoji="0" lang="en-MW" altLang="en-MW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If </a:t>
            </a:r>
            <a:r>
              <a:rPr kumimoji="0" lang="en-MW" altLang="en-MW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testExpression</a:t>
            </a:r>
            <a:r>
              <a:rPr kumimoji="0" lang="en-MW" altLang="en-MW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 is </a:t>
            </a:r>
            <a:r>
              <a:rPr kumimoji="0" lang="en-MW" altLang="en-MW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true</a:t>
            </a:r>
            <a:r>
              <a:rPr kumimoji="0" lang="en-MW" altLang="en-MW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, statements inside the body of while loop are executed. Then, </a:t>
            </a:r>
            <a:r>
              <a:rPr kumimoji="0" lang="en-MW" altLang="en-MW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testExpression</a:t>
            </a:r>
            <a:r>
              <a:rPr kumimoji="0" lang="en-MW" altLang="en-MW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 is evaluated again.</a:t>
            </a:r>
            <a:endParaRPr kumimoji="0" lang="en-US" altLang="en-MW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1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§"/>
            </a:pPr>
            <a:r>
              <a:rPr kumimoji="0" lang="en-MW" altLang="en-MW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The process goes on until </a:t>
            </a:r>
            <a:r>
              <a:rPr kumimoji="0" lang="en-MW" altLang="en-MW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testExpression</a:t>
            </a:r>
            <a:r>
              <a:rPr kumimoji="0" lang="en-MW" altLang="en-MW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 is evaluated to </a:t>
            </a:r>
            <a:r>
              <a:rPr kumimoji="0" lang="en-MW" altLang="en-MW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false</a:t>
            </a:r>
            <a:r>
              <a:rPr kumimoji="0" lang="en-MW" altLang="en-MW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.</a:t>
            </a:r>
            <a:endParaRPr kumimoji="0" lang="en-US" altLang="en-MW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1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§"/>
            </a:pPr>
            <a:r>
              <a:rPr kumimoji="0" lang="en-MW" altLang="en-MW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If </a:t>
            </a:r>
            <a:r>
              <a:rPr kumimoji="0" lang="en-MW" altLang="en-MW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testExpression</a:t>
            </a:r>
            <a:r>
              <a:rPr kumimoji="0" lang="en-MW" altLang="en-MW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 is </a:t>
            </a:r>
            <a:r>
              <a:rPr kumimoji="0" lang="en-MW" altLang="en-MW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false</a:t>
            </a:r>
            <a:r>
              <a:rPr kumimoji="0" lang="en-MW" altLang="en-MW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, the loop terminates (ends).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MW" altLang="en-MW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>
              <a:lnSpc>
                <a:spcPct val="150000"/>
              </a:lnSpc>
            </a:pPr>
            <a:endParaRPr lang="en-MW" sz="1800" dirty="0"/>
          </a:p>
        </p:txBody>
      </p:sp>
    </p:spTree>
    <p:extLst>
      <p:ext uri="{BB962C8B-B14F-4D97-AF65-F5344CB8AC3E}">
        <p14:creationId xmlns:p14="http://schemas.microsoft.com/office/powerpoint/2010/main" val="37846059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36BE7C-9408-5717-CE2A-1BD7F079BD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while Statement Flowchart</a:t>
            </a:r>
            <a:endParaRPr lang="en-MW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34C4B7-61E7-FEFE-F6FC-A1EAD7C47E8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>
              <a:buFont typeface="Wingdings" panose="05000000000000000000" pitchFamily="2" charset="2"/>
              <a:buChar char="§"/>
            </a:pPr>
            <a:r>
              <a:rPr lang="en-US" dirty="0"/>
              <a:t>The following flowchart segment illustrates the preceding while iteration statement: </a:t>
            </a:r>
          </a:p>
          <a:p>
            <a:pPr lvl="1">
              <a:buFont typeface="Wingdings" panose="05000000000000000000" pitchFamily="2" charset="2"/>
              <a:buChar char="§"/>
            </a:pPr>
            <a:endParaRPr lang="en-US" dirty="0"/>
          </a:p>
          <a:p>
            <a:endParaRPr lang="en-MW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D02C5D9-46E1-C056-5DA2-105C15D483B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2900892"/>
            <a:ext cx="4495161" cy="2060496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84D2C594-C935-2EC9-7D67-B1E78492401D}"/>
              </a:ext>
            </a:extLst>
          </p:cNvPr>
          <p:cNvSpPr txBox="1"/>
          <p:nvPr/>
        </p:nvSpPr>
        <p:spPr>
          <a:xfrm>
            <a:off x="6364406" y="2993409"/>
            <a:ext cx="4162567" cy="17113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dirty="0">
                <a:latin typeface="Candara" panose="020E0502030303020204" pitchFamily="34" charset="0"/>
              </a:rPr>
              <a:t>int product = 3; </a:t>
            </a:r>
          </a:p>
          <a:p>
            <a:pPr>
              <a:lnSpc>
                <a:spcPct val="150000"/>
              </a:lnSpc>
            </a:pPr>
            <a:r>
              <a:rPr lang="en-US" dirty="0">
                <a:latin typeface="Candara" panose="020E0502030303020204" pitchFamily="34" charset="0"/>
              </a:rPr>
              <a:t>while (product &lt;= 100) {</a:t>
            </a:r>
          </a:p>
          <a:p>
            <a:pPr>
              <a:lnSpc>
                <a:spcPct val="150000"/>
              </a:lnSpc>
            </a:pPr>
            <a:r>
              <a:rPr lang="en-US" i="1" dirty="0">
                <a:latin typeface="Candara" panose="020E0502030303020204" pitchFamily="34" charset="0"/>
              </a:rPr>
              <a:t>        product = 3 * product;</a:t>
            </a:r>
          </a:p>
          <a:p>
            <a:pPr>
              <a:lnSpc>
                <a:spcPct val="150000"/>
              </a:lnSpc>
            </a:pPr>
            <a:r>
              <a:rPr lang="en-US" dirty="0">
                <a:latin typeface="Candara" panose="020E0502030303020204" pitchFamily="34" charset="0"/>
              </a:rPr>
              <a:t> }</a:t>
            </a:r>
            <a:endParaRPr lang="en-MW" dirty="0">
              <a:latin typeface="Candara" panose="020E05020303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2727782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DED173-2038-5237-BACC-C6A891E6CA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do…while Iteration statement </a:t>
            </a:r>
            <a:endParaRPr lang="en-MW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93E0E5-A545-60D8-2C29-2F661A0954A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1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1800" dirty="0"/>
              <a:t>The do…while iteration statement is similar to the while statement. </a:t>
            </a: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1800" dirty="0"/>
              <a:t>The while statement tests its loop-continuation condition before executing the loop body. </a:t>
            </a: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1800" dirty="0"/>
              <a:t>The do…while statement tests its loop-continuation condition after executing the loop body, so the loop body always executes at least once. </a:t>
            </a: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1800" dirty="0"/>
              <a:t>When a do…while terminates, execution continues with the statement after the while clause. </a:t>
            </a:r>
          </a:p>
          <a:p>
            <a:pPr marL="1517120" lvl="8" indent="0">
              <a:lnSpc>
                <a:spcPct val="150000"/>
              </a:lnSpc>
              <a:buNone/>
            </a:pPr>
            <a:r>
              <a:rPr lang="en-US" sz="1700" i="1" dirty="0">
                <a:latin typeface="Candara" panose="020E0502030303020204" pitchFamily="34" charset="0"/>
              </a:rPr>
              <a:t>do { </a:t>
            </a:r>
          </a:p>
          <a:p>
            <a:pPr marL="1517120" lvl="8" indent="0">
              <a:lnSpc>
                <a:spcPct val="150000"/>
              </a:lnSpc>
              <a:buNone/>
            </a:pPr>
            <a:r>
              <a:rPr lang="en-US" sz="1700" b="1" i="1" dirty="0">
                <a:latin typeface="Candara" panose="020E0502030303020204" pitchFamily="34" charset="0"/>
              </a:rPr>
              <a:t>     // Code to be executed and repeated</a:t>
            </a:r>
          </a:p>
          <a:p>
            <a:pPr marL="1517120" lvl="8" indent="0">
              <a:lnSpc>
                <a:spcPct val="150000"/>
              </a:lnSpc>
              <a:buNone/>
            </a:pPr>
            <a:r>
              <a:rPr lang="en-US" sz="1700" i="1" dirty="0">
                <a:latin typeface="Candara" panose="020E0502030303020204" pitchFamily="34" charset="0"/>
              </a:rPr>
              <a:t>} while (</a:t>
            </a:r>
            <a:r>
              <a:rPr lang="en-US" sz="1700" i="1" dirty="0" err="1">
                <a:latin typeface="Candara" panose="020E0502030303020204" pitchFamily="34" charset="0"/>
              </a:rPr>
              <a:t>testExpression</a:t>
            </a:r>
            <a:r>
              <a:rPr lang="en-US" sz="1700" i="1" dirty="0">
                <a:latin typeface="Candara" panose="020E0502030303020204" pitchFamily="34" charset="0"/>
              </a:rPr>
              <a:t>); </a:t>
            </a:r>
            <a:endParaRPr lang="en-MW" sz="1500" i="1" dirty="0">
              <a:latin typeface="Candara" panose="020E05020303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5148027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B5A609-99E8-F18C-F73A-D087DDCAC4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do…while Statement Flowchart</a:t>
            </a:r>
            <a:endParaRPr lang="en-MW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E9293C-DF78-3A89-D925-C22521C6F98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>
              <a:buFont typeface="Wingdings" panose="05000000000000000000" pitchFamily="2" charset="2"/>
              <a:buChar char="§"/>
            </a:pPr>
            <a:r>
              <a:rPr lang="en-US" dirty="0"/>
              <a:t>The </a:t>
            </a:r>
            <a:r>
              <a:rPr lang="en-US" b="1" dirty="0"/>
              <a:t>following do…while statement </a:t>
            </a:r>
            <a:r>
              <a:rPr lang="en-US" dirty="0"/>
              <a:t>flowchart makes it clear that the </a:t>
            </a:r>
            <a:r>
              <a:rPr lang="en-US" b="1" dirty="0"/>
              <a:t>loop-continuation</a:t>
            </a:r>
            <a:r>
              <a:rPr lang="en-US" dirty="0"/>
              <a:t> condition does not execute until after the loop’s action is performed the first time:</a:t>
            </a:r>
          </a:p>
          <a:p>
            <a:pPr marL="201168" lvl="1" indent="0">
              <a:buNone/>
            </a:pPr>
            <a:endParaRPr lang="en-MW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AE1149A-BDB6-449C-05EC-BBED92488A9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71841" y="3030824"/>
            <a:ext cx="4448317" cy="29064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095928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32ED50-390B-0D71-17F2-E05747EE86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break and continue Statements </a:t>
            </a:r>
            <a:endParaRPr lang="en-MW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0C58DD-0A0B-790F-31BF-CCDFBB2D4D8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>
              <a:buFont typeface="Wingdings" panose="05000000000000000000" pitchFamily="2" charset="2"/>
              <a:buChar char="§"/>
            </a:pPr>
            <a:r>
              <a:rPr lang="en-US" dirty="0"/>
              <a:t>The break and continue statements are used to alter the flow of control.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dirty="0"/>
              <a:t>The </a:t>
            </a:r>
            <a:r>
              <a:rPr lang="en-US" b="1" dirty="0"/>
              <a:t>break Statement:</a:t>
            </a:r>
          </a:p>
          <a:p>
            <a:pPr lvl="2">
              <a:buFont typeface="Wingdings" panose="05000000000000000000" pitchFamily="2" charset="2"/>
              <a:buChar char="§"/>
            </a:pPr>
            <a:r>
              <a:rPr lang="en-US" dirty="0"/>
              <a:t>The break statement, when executed in a while, for, do…while or switch statement, causes an immediate exit from that statement.</a:t>
            </a:r>
          </a:p>
          <a:p>
            <a:pPr lvl="2">
              <a:buFont typeface="Wingdings" panose="05000000000000000000" pitchFamily="2" charset="2"/>
              <a:buChar char="§"/>
            </a:pPr>
            <a:r>
              <a:rPr lang="en-US" dirty="0"/>
              <a:t>Program execution continues with the next statement after that while, for, do…while or switch. </a:t>
            </a:r>
          </a:p>
          <a:p>
            <a:pPr lvl="2">
              <a:buFont typeface="Wingdings" panose="05000000000000000000" pitchFamily="2" charset="2"/>
              <a:buChar char="§"/>
            </a:pPr>
            <a:r>
              <a:rPr lang="en-US" dirty="0"/>
              <a:t>Common uses of break are to escape early from a loop or skip the remainder of a switch </a:t>
            </a:r>
          </a:p>
          <a:p>
            <a:pPr marL="384048" lvl="2" indent="0">
              <a:buNone/>
            </a:pPr>
            <a:r>
              <a:rPr lang="en-US" dirty="0"/>
              <a:t>	</a:t>
            </a:r>
            <a:r>
              <a:rPr lang="en-US" dirty="0">
                <a:latin typeface="Candara" panose="020E0502030303020204" pitchFamily="34" charset="0"/>
              </a:rPr>
              <a:t>for (int x = 1; x &lt;= 10; ++x) { </a:t>
            </a:r>
          </a:p>
          <a:p>
            <a:pPr marL="384048" lvl="2" indent="0">
              <a:buNone/>
            </a:pPr>
            <a:r>
              <a:rPr lang="en-US" dirty="0">
                <a:latin typeface="Candara" panose="020E0502030303020204" pitchFamily="34" charset="0"/>
              </a:rPr>
              <a:t>                  if (x == 5) { </a:t>
            </a:r>
          </a:p>
          <a:p>
            <a:pPr marL="384048" lvl="2" indent="0">
              <a:buNone/>
            </a:pPr>
            <a:r>
              <a:rPr lang="en-US" dirty="0">
                <a:latin typeface="Candara" panose="020E0502030303020204" pitchFamily="34" charset="0"/>
              </a:rPr>
              <a:t>                      </a:t>
            </a:r>
            <a:r>
              <a:rPr lang="en-US" b="1" dirty="0">
                <a:latin typeface="Candara" panose="020E0502030303020204" pitchFamily="34" charset="0"/>
              </a:rPr>
              <a:t>break;</a:t>
            </a:r>
            <a:r>
              <a:rPr lang="en-US" dirty="0">
                <a:latin typeface="Candara" panose="020E0502030303020204" pitchFamily="34" charset="0"/>
              </a:rPr>
              <a:t> </a:t>
            </a:r>
          </a:p>
          <a:p>
            <a:pPr marL="384048" lvl="2" indent="0">
              <a:buNone/>
            </a:pPr>
            <a:r>
              <a:rPr lang="en-US" dirty="0">
                <a:latin typeface="Candara" panose="020E0502030303020204" pitchFamily="34" charset="0"/>
              </a:rPr>
              <a:t>                  }</a:t>
            </a:r>
          </a:p>
          <a:p>
            <a:pPr marL="384048" lvl="2" indent="0">
              <a:buNone/>
            </a:pPr>
            <a:r>
              <a:rPr lang="en-US" dirty="0">
                <a:latin typeface="Candara" panose="020E0502030303020204" pitchFamily="34" charset="0"/>
              </a:rPr>
              <a:t>                 </a:t>
            </a:r>
            <a:r>
              <a:rPr lang="en-US" dirty="0" err="1">
                <a:latin typeface="Candara" panose="020E0502030303020204" pitchFamily="34" charset="0"/>
              </a:rPr>
              <a:t>printf</a:t>
            </a:r>
            <a:r>
              <a:rPr lang="en-US" dirty="0">
                <a:latin typeface="Candara" panose="020E0502030303020204" pitchFamily="34" charset="0"/>
              </a:rPr>
              <a:t>("%d ", x); </a:t>
            </a:r>
          </a:p>
          <a:p>
            <a:pPr marL="384048" lvl="2" indent="0">
              <a:buNone/>
            </a:pPr>
            <a:r>
              <a:rPr lang="en-US" dirty="0">
                <a:latin typeface="Candara" panose="020E0502030303020204" pitchFamily="34" charset="0"/>
              </a:rPr>
              <a:t>               }</a:t>
            </a:r>
          </a:p>
          <a:p>
            <a:pPr marL="384048" lvl="2" indent="0">
              <a:buNone/>
            </a:pPr>
            <a:r>
              <a:rPr lang="en-US" dirty="0">
                <a:latin typeface="Candara" panose="020E0502030303020204" pitchFamily="34" charset="0"/>
              </a:rPr>
              <a:t>            </a:t>
            </a:r>
            <a:r>
              <a:rPr lang="en-US" dirty="0" err="1">
                <a:latin typeface="Candara" panose="020E0502030303020204" pitchFamily="34" charset="0"/>
              </a:rPr>
              <a:t>printf</a:t>
            </a:r>
            <a:r>
              <a:rPr lang="en-US" dirty="0">
                <a:latin typeface="Candara" panose="020E0502030303020204" pitchFamily="34" charset="0"/>
              </a:rPr>
              <a:t>("\</a:t>
            </a:r>
            <a:r>
              <a:rPr lang="en-US" dirty="0" err="1">
                <a:latin typeface="Candara" panose="020E0502030303020204" pitchFamily="34" charset="0"/>
              </a:rPr>
              <a:t>nBroke</a:t>
            </a:r>
            <a:r>
              <a:rPr lang="en-US" dirty="0">
                <a:latin typeface="Candara" panose="020E0502030303020204" pitchFamily="34" charset="0"/>
              </a:rPr>
              <a:t> out of loop at x == %d\n", x);</a:t>
            </a:r>
            <a:endParaRPr lang="en-MW" dirty="0">
              <a:latin typeface="Candara" panose="020E05020303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9342522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32ED50-390B-0D71-17F2-E05747EE86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break and continue Statements </a:t>
            </a:r>
            <a:endParaRPr lang="en-MW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0C58DD-0A0B-790F-31BF-CCDFBB2D4D8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>
              <a:buFont typeface="Wingdings" panose="05000000000000000000" pitchFamily="2" charset="2"/>
              <a:buChar char="§"/>
            </a:pPr>
            <a:r>
              <a:rPr lang="en-US" dirty="0"/>
              <a:t>he </a:t>
            </a:r>
            <a:r>
              <a:rPr lang="en-US" b="1" dirty="0"/>
              <a:t>continue Statement:</a:t>
            </a:r>
          </a:p>
          <a:p>
            <a:pPr lvl="2">
              <a:buFont typeface="Wingdings" panose="05000000000000000000" pitchFamily="2" charset="2"/>
              <a:buChar char="§"/>
            </a:pPr>
            <a:r>
              <a:rPr lang="en-US" dirty="0"/>
              <a:t>The continue statement, when executed in a while, for or do…while statement, skips the remaining statements in that control statement’s body and performs the next iteration of the loop. </a:t>
            </a:r>
          </a:p>
          <a:p>
            <a:pPr lvl="2">
              <a:buFont typeface="Wingdings" panose="05000000000000000000" pitchFamily="2" charset="2"/>
              <a:buChar char="§"/>
            </a:pPr>
            <a:r>
              <a:rPr lang="en-US" dirty="0"/>
              <a:t>In while and do…while statements, the loop-continuation test is evaluated immediately after the continue statement executes. In the for statement, the increment expression executes, then the loop-continuation test is evaluated.	</a:t>
            </a:r>
          </a:p>
          <a:p>
            <a:pPr marL="384048" lvl="2" indent="0">
              <a:buNone/>
            </a:pPr>
            <a:r>
              <a:rPr lang="en-US" b="1" dirty="0">
                <a:latin typeface="Candara" panose="020E0502030303020204" pitchFamily="34" charset="0"/>
              </a:rPr>
              <a:t>          </a:t>
            </a:r>
            <a:r>
              <a:rPr lang="en-US" dirty="0">
                <a:latin typeface="Candara" panose="020E0502030303020204" pitchFamily="34" charset="0"/>
              </a:rPr>
              <a:t>for (int x = 1; x &lt;= 10; ++x) { </a:t>
            </a:r>
          </a:p>
          <a:p>
            <a:pPr marL="384048" lvl="2" indent="0">
              <a:buNone/>
            </a:pPr>
            <a:r>
              <a:rPr lang="en-US" dirty="0">
                <a:latin typeface="Candara" panose="020E0502030303020204" pitchFamily="34" charset="0"/>
              </a:rPr>
              <a:t>                  if (x == 5) { </a:t>
            </a:r>
          </a:p>
          <a:p>
            <a:pPr marL="384048" lvl="2" indent="0">
              <a:buNone/>
            </a:pPr>
            <a:r>
              <a:rPr lang="en-US" b="1" dirty="0">
                <a:latin typeface="Candara" panose="020E0502030303020204" pitchFamily="34" charset="0"/>
              </a:rPr>
              <a:t>                      continue; </a:t>
            </a:r>
          </a:p>
          <a:p>
            <a:pPr marL="384048" lvl="2" indent="0">
              <a:buNone/>
            </a:pPr>
            <a:r>
              <a:rPr lang="en-US" dirty="0">
                <a:latin typeface="Candara" panose="020E0502030303020204" pitchFamily="34" charset="0"/>
              </a:rPr>
              <a:t>                  }</a:t>
            </a:r>
          </a:p>
          <a:p>
            <a:pPr marL="384048" lvl="2" indent="0">
              <a:buNone/>
            </a:pPr>
            <a:r>
              <a:rPr lang="en-US" dirty="0">
                <a:latin typeface="Candara" panose="020E0502030303020204" pitchFamily="34" charset="0"/>
              </a:rPr>
              <a:t>                 </a:t>
            </a:r>
            <a:r>
              <a:rPr lang="en-US" dirty="0" err="1">
                <a:latin typeface="Candara" panose="020E0502030303020204" pitchFamily="34" charset="0"/>
              </a:rPr>
              <a:t>printf</a:t>
            </a:r>
            <a:r>
              <a:rPr lang="en-US" dirty="0">
                <a:latin typeface="Candara" panose="020E0502030303020204" pitchFamily="34" charset="0"/>
              </a:rPr>
              <a:t>("%d ", x); </a:t>
            </a:r>
          </a:p>
          <a:p>
            <a:pPr marL="384048" lvl="2" indent="0">
              <a:buNone/>
            </a:pPr>
            <a:r>
              <a:rPr lang="en-US" dirty="0">
                <a:latin typeface="Candara" panose="020E0502030303020204" pitchFamily="34" charset="0"/>
              </a:rPr>
              <a:t>               }</a:t>
            </a:r>
          </a:p>
          <a:p>
            <a:pPr marL="384048" lvl="2" indent="0">
              <a:buNone/>
            </a:pPr>
            <a:r>
              <a:rPr lang="en-US" b="1" dirty="0">
                <a:latin typeface="Candara" panose="020E0502030303020204" pitchFamily="34" charset="0"/>
              </a:rPr>
              <a:t>            </a:t>
            </a:r>
            <a:r>
              <a:rPr lang="en-US" dirty="0" err="1">
                <a:latin typeface="Candara" panose="020E0502030303020204" pitchFamily="34" charset="0"/>
              </a:rPr>
              <a:t>printf</a:t>
            </a:r>
            <a:r>
              <a:rPr lang="en-US" dirty="0"/>
              <a:t>("\</a:t>
            </a:r>
            <a:r>
              <a:rPr lang="en-US" dirty="0" err="1"/>
              <a:t>nUsed</a:t>
            </a:r>
            <a:r>
              <a:rPr lang="en-US" dirty="0"/>
              <a:t> continue to skip printing the value 5");</a:t>
            </a:r>
            <a:endParaRPr lang="en-MW" dirty="0">
              <a:latin typeface="Candara" panose="020E05020303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304409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4EE472-B792-639B-DB72-F21C7DC365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Switch Statement</a:t>
            </a:r>
            <a:endParaRPr lang="en-MW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62C722-EDD9-FC62-7A33-573EFC25409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lvl="1">
              <a:buFont typeface="Wingdings" panose="05000000000000000000" pitchFamily="2" charset="2"/>
              <a:buChar char="§"/>
            </a:pPr>
            <a:r>
              <a:rPr lang="en-US" dirty="0"/>
              <a:t>Occasionally, an algorithm will contain a series of decisions that test a variable or expression separately for each of the integer values it may assume, then perform different actions. This is called multiple selection.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dirty="0"/>
              <a:t>C provides the switch multiple-selection statement to handle such decision making.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dirty="0"/>
              <a:t>The switch statement consists of a series of case labels, an optional default case and statements to execute for each case. 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dirty="0"/>
              <a:t>Switch statement uses the following syntax:</a:t>
            </a:r>
          </a:p>
          <a:p>
            <a:pPr marL="1517120" lvl="8" indent="0">
              <a:buNone/>
            </a:pPr>
            <a:r>
              <a:rPr lang="en-US" b="1" i="0" dirty="0">
                <a:effectLst/>
                <a:latin typeface="Consolas" panose="020B0609020204030204" pitchFamily="49" charset="0"/>
              </a:rPr>
              <a:t>switch</a:t>
            </a:r>
            <a:r>
              <a:rPr lang="en-US" b="0" i="0" dirty="0">
                <a:effectLst/>
                <a:latin typeface="Consolas" panose="020B0609020204030204" pitchFamily="49" charset="0"/>
              </a:rPr>
              <a:t>(</a:t>
            </a:r>
            <a:r>
              <a:rPr lang="en-US" b="0" i="1" dirty="0">
                <a:effectLst/>
                <a:latin typeface="Consolas" panose="020B0609020204030204" pitchFamily="49" charset="0"/>
              </a:rPr>
              <a:t>expression</a:t>
            </a:r>
            <a:r>
              <a:rPr lang="en-US" b="0" i="0" dirty="0">
                <a:effectLst/>
                <a:latin typeface="Consolas" panose="020B0609020204030204" pitchFamily="49" charset="0"/>
              </a:rPr>
              <a:t>) {</a:t>
            </a:r>
            <a:br>
              <a:rPr lang="en-US" b="0" i="0" dirty="0">
                <a:effectLst/>
                <a:latin typeface="Consolas" panose="020B0609020204030204" pitchFamily="49" charset="0"/>
              </a:rPr>
            </a:br>
            <a:r>
              <a:rPr lang="en-US" b="0" i="0" dirty="0">
                <a:effectLst/>
                <a:latin typeface="Consolas" panose="020B0609020204030204" pitchFamily="49" charset="0"/>
              </a:rPr>
              <a:t>  </a:t>
            </a:r>
            <a:r>
              <a:rPr lang="en-US" b="1" i="0" dirty="0">
                <a:effectLst/>
                <a:latin typeface="Consolas" panose="020B0609020204030204" pitchFamily="49" charset="0"/>
              </a:rPr>
              <a:t>case x:</a:t>
            </a:r>
            <a:br>
              <a:rPr lang="en-US" b="0" i="0" dirty="0">
                <a:effectLst/>
                <a:latin typeface="Consolas" panose="020B0609020204030204" pitchFamily="49" charset="0"/>
              </a:rPr>
            </a:br>
            <a:r>
              <a:rPr lang="en-US" b="0" i="0" dirty="0">
                <a:effectLst/>
                <a:latin typeface="Consolas" panose="020B0609020204030204" pitchFamily="49" charset="0"/>
              </a:rPr>
              <a:t>    </a:t>
            </a:r>
            <a:r>
              <a:rPr lang="en-US" b="0" i="1" dirty="0">
                <a:effectLst/>
                <a:latin typeface="Consolas" panose="020B0609020204030204" pitchFamily="49" charset="0"/>
              </a:rPr>
              <a:t>// code block</a:t>
            </a:r>
            <a:br>
              <a:rPr lang="en-US" b="0" i="0" dirty="0">
                <a:effectLst/>
                <a:latin typeface="Consolas" panose="020B0609020204030204" pitchFamily="49" charset="0"/>
              </a:rPr>
            </a:br>
            <a:r>
              <a:rPr lang="en-US" b="0" i="0" dirty="0">
                <a:effectLst/>
                <a:latin typeface="Consolas" panose="020B0609020204030204" pitchFamily="49" charset="0"/>
              </a:rPr>
              <a:t>    break;</a:t>
            </a:r>
            <a:br>
              <a:rPr lang="en-US" dirty="0"/>
            </a:br>
            <a:r>
              <a:rPr lang="en-US" b="0" i="0" dirty="0">
                <a:effectLst/>
                <a:latin typeface="Consolas" panose="020B0609020204030204" pitchFamily="49" charset="0"/>
              </a:rPr>
              <a:t>  </a:t>
            </a:r>
            <a:r>
              <a:rPr lang="en-US" b="1" i="0" dirty="0">
                <a:effectLst/>
                <a:latin typeface="Consolas" panose="020B0609020204030204" pitchFamily="49" charset="0"/>
              </a:rPr>
              <a:t>case y:</a:t>
            </a:r>
            <a:br>
              <a:rPr lang="en-US" dirty="0"/>
            </a:br>
            <a:r>
              <a:rPr lang="en-US" b="0" i="0" dirty="0">
                <a:effectLst/>
                <a:latin typeface="Consolas" panose="020B0609020204030204" pitchFamily="49" charset="0"/>
              </a:rPr>
              <a:t>    </a:t>
            </a:r>
            <a:r>
              <a:rPr lang="en-US" b="0" i="1" dirty="0">
                <a:effectLst/>
                <a:latin typeface="Consolas" panose="020B0609020204030204" pitchFamily="49" charset="0"/>
              </a:rPr>
              <a:t>// code block</a:t>
            </a:r>
            <a:br>
              <a:rPr lang="en-US" dirty="0"/>
            </a:br>
            <a:r>
              <a:rPr lang="en-US" b="0" i="0" dirty="0">
                <a:effectLst/>
                <a:latin typeface="Consolas" panose="020B0609020204030204" pitchFamily="49" charset="0"/>
              </a:rPr>
              <a:t>    break;</a:t>
            </a:r>
            <a:br>
              <a:rPr lang="en-US" dirty="0"/>
            </a:br>
            <a:r>
              <a:rPr lang="en-US" b="0" i="0" dirty="0">
                <a:effectLst/>
                <a:latin typeface="Consolas" panose="020B0609020204030204" pitchFamily="49" charset="0"/>
              </a:rPr>
              <a:t>  </a:t>
            </a:r>
            <a:r>
              <a:rPr lang="en-US" b="1" i="0" dirty="0">
                <a:effectLst/>
                <a:latin typeface="Consolas" panose="020B0609020204030204" pitchFamily="49" charset="0"/>
              </a:rPr>
              <a:t>default:</a:t>
            </a:r>
            <a:br>
              <a:rPr lang="en-US" dirty="0"/>
            </a:br>
            <a:r>
              <a:rPr lang="en-US" b="0" i="0" dirty="0">
                <a:effectLst/>
                <a:latin typeface="Consolas" panose="020B0609020204030204" pitchFamily="49" charset="0"/>
              </a:rPr>
              <a:t>    </a:t>
            </a:r>
            <a:r>
              <a:rPr lang="en-US" b="0" i="1" dirty="0">
                <a:effectLst/>
                <a:latin typeface="Consolas" panose="020B0609020204030204" pitchFamily="49" charset="0"/>
              </a:rPr>
              <a:t>// code block</a:t>
            </a:r>
            <a:br>
              <a:rPr lang="en-US" dirty="0"/>
            </a:br>
            <a:r>
              <a:rPr lang="en-US" b="0" i="0" dirty="0">
                <a:effectLst/>
                <a:latin typeface="Consolas" panose="020B0609020204030204" pitchFamily="49" charset="0"/>
              </a:rPr>
              <a:t>}</a:t>
            </a:r>
            <a:r>
              <a:rPr lang="en-US" dirty="0"/>
              <a:t> </a:t>
            </a:r>
            <a:endParaRPr lang="en-MW" dirty="0"/>
          </a:p>
        </p:txBody>
      </p:sp>
    </p:spTree>
    <p:extLst>
      <p:ext uri="{BB962C8B-B14F-4D97-AF65-F5344CB8AC3E}">
        <p14:creationId xmlns:p14="http://schemas.microsoft.com/office/powerpoint/2010/main" val="316300026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9EC3D9-045B-7C95-279D-6E47AE2BA5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Switch Statement Flowchart</a:t>
            </a:r>
            <a:endParaRPr lang="en-MW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7AA025-9998-5945-9FB8-A561D0AC0D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>
              <a:buFont typeface="Wingdings" panose="05000000000000000000" pitchFamily="2" charset="2"/>
              <a:buChar char="§"/>
            </a:pPr>
            <a:r>
              <a:rPr lang="en-US" dirty="0"/>
              <a:t>The following switch multiple-selection-statement flowchart makes it clear that each case’s break statement immediately exits the switch statement.</a:t>
            </a:r>
          </a:p>
          <a:p>
            <a:pPr lvl="1">
              <a:buFont typeface="Wingdings" panose="05000000000000000000" pitchFamily="2" charset="2"/>
              <a:buChar char="§"/>
            </a:pPr>
            <a:endParaRPr lang="en-MW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5BCF0A5-F81E-ECA3-5DAA-73F7A992977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56319" y="2756848"/>
            <a:ext cx="4740322" cy="36086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468344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9EC3D9-045B-7C95-279D-6E47AE2BA5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 </a:t>
            </a:r>
            <a:r>
              <a:rPr lang="en-US" dirty="0" err="1"/>
              <a:t>goto</a:t>
            </a:r>
            <a:r>
              <a:rPr lang="en-US" dirty="0"/>
              <a:t> statement</a:t>
            </a:r>
            <a:endParaRPr lang="en-MW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7AA025-9998-5945-9FB8-A561D0AC0D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1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§"/>
            </a:pPr>
            <a:r>
              <a:rPr kumimoji="0" lang="en-MW" altLang="en-MW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The </a:t>
            </a:r>
            <a:r>
              <a:rPr kumimoji="0" lang="en-MW" altLang="en-MW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goto</a:t>
            </a:r>
            <a:r>
              <a:rPr kumimoji="0" lang="en-MW" altLang="en-MW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 statement allows us to transfer control of the program to the specified label. </a:t>
            </a:r>
            <a:endParaRPr kumimoji="0" lang="en-US" altLang="en-MW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1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§"/>
            </a:pPr>
            <a:r>
              <a:rPr lang="en-US" altLang="en-MW" sz="1800" dirty="0">
                <a:solidFill>
                  <a:schemeClr val="tx1"/>
                </a:solidFill>
              </a:rPr>
              <a:t>Syntax of </a:t>
            </a:r>
            <a:r>
              <a:rPr lang="en-US" altLang="en-MW" sz="1800" b="1" dirty="0" err="1">
                <a:solidFill>
                  <a:schemeClr val="tx1"/>
                </a:solidFill>
              </a:rPr>
              <a:t>goto</a:t>
            </a:r>
            <a:r>
              <a:rPr lang="en-US" altLang="en-MW" sz="1800" dirty="0">
                <a:solidFill>
                  <a:schemeClr val="tx1"/>
                </a:solidFill>
              </a:rPr>
              <a:t> statement:</a:t>
            </a:r>
          </a:p>
          <a:p>
            <a:pPr marL="201168" lvl="1" indent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kumimoji="0" lang="en-US" altLang="en-MW" sz="1800" b="0" i="0" u="none" strike="noStrike" cap="none" normalizeH="0" baseline="0" dirty="0">
                <a:ln>
                  <a:noFill/>
                </a:ln>
                <a:effectLst/>
                <a:latin typeface="Droid Sans Mono"/>
              </a:rPr>
              <a:t>	</a:t>
            </a:r>
            <a:r>
              <a:rPr kumimoji="0" lang="en-MW" altLang="en-MW" sz="1800" b="1" i="0" u="none" strike="noStrike" cap="none" normalizeH="0" baseline="0" dirty="0" err="1">
                <a:ln>
                  <a:noFill/>
                </a:ln>
                <a:effectLst/>
                <a:latin typeface="Candara" panose="020E0502030303020204" pitchFamily="34" charset="0"/>
              </a:rPr>
              <a:t>goto</a:t>
            </a:r>
            <a:r>
              <a:rPr kumimoji="0" lang="en-MW" altLang="en-MW" sz="1800" i="0" u="none" strike="noStrike" cap="none" normalizeH="0" baseline="0" dirty="0">
                <a:ln>
                  <a:noFill/>
                </a:ln>
                <a:effectLst/>
                <a:latin typeface="Candara" panose="020E0502030303020204" pitchFamily="34" charset="0"/>
              </a:rPr>
              <a:t> label;</a:t>
            </a:r>
            <a:endParaRPr kumimoji="0" lang="en-US" altLang="en-MW" sz="1800" i="0" u="none" strike="noStrike" cap="none" normalizeH="0" baseline="0" dirty="0">
              <a:ln>
                <a:noFill/>
              </a:ln>
              <a:effectLst/>
              <a:latin typeface="Candara" panose="020E0502030303020204" pitchFamily="34" charset="0"/>
            </a:endParaRPr>
          </a:p>
          <a:p>
            <a:pPr marL="201168" lvl="1" indent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MW" sz="1800" dirty="0">
                <a:latin typeface="Candara" panose="020E0502030303020204" pitchFamily="34" charset="0"/>
              </a:rPr>
              <a:t>	</a:t>
            </a:r>
            <a:r>
              <a:rPr kumimoji="0" lang="en-MW" altLang="en-MW" sz="1800" i="0" u="none" strike="noStrike" cap="none" normalizeH="0" baseline="0" dirty="0">
                <a:ln>
                  <a:noFill/>
                </a:ln>
                <a:effectLst/>
                <a:latin typeface="Candara" panose="020E0502030303020204" pitchFamily="34" charset="0"/>
              </a:rPr>
              <a:t> ... .. ...</a:t>
            </a:r>
            <a:endParaRPr kumimoji="0" lang="en-US" altLang="en-MW" sz="1800" i="0" u="none" strike="noStrike" cap="none" normalizeH="0" baseline="0" dirty="0">
              <a:ln>
                <a:noFill/>
              </a:ln>
              <a:effectLst/>
              <a:latin typeface="Candara" panose="020E0502030303020204" pitchFamily="34" charset="0"/>
            </a:endParaRPr>
          </a:p>
          <a:p>
            <a:pPr marL="201168" lvl="1" indent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MW" sz="1800" dirty="0">
                <a:latin typeface="Candara" panose="020E0502030303020204" pitchFamily="34" charset="0"/>
              </a:rPr>
              <a:t>	</a:t>
            </a:r>
            <a:r>
              <a:rPr kumimoji="0" lang="en-MW" altLang="en-MW" sz="1800" i="0" u="none" strike="noStrike" cap="none" normalizeH="0" baseline="0" dirty="0">
                <a:ln>
                  <a:noFill/>
                </a:ln>
                <a:effectLst/>
                <a:latin typeface="Candara" panose="020E0502030303020204" pitchFamily="34" charset="0"/>
              </a:rPr>
              <a:t> ... .. ...</a:t>
            </a:r>
            <a:endParaRPr kumimoji="0" lang="en-US" altLang="en-MW" sz="1800" i="0" u="none" strike="noStrike" cap="none" normalizeH="0" baseline="0" dirty="0">
              <a:ln>
                <a:noFill/>
              </a:ln>
              <a:effectLst/>
              <a:latin typeface="Candara" panose="020E0502030303020204" pitchFamily="34" charset="0"/>
            </a:endParaRPr>
          </a:p>
          <a:p>
            <a:pPr marL="201168" lvl="1" indent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MW" sz="1800" dirty="0">
                <a:latin typeface="Candara" panose="020E0502030303020204" pitchFamily="34" charset="0"/>
              </a:rPr>
              <a:t>	</a:t>
            </a:r>
            <a:r>
              <a:rPr kumimoji="0" lang="en-MW" altLang="en-MW" sz="1800" i="0" u="none" strike="noStrike" cap="none" normalizeH="0" baseline="0" dirty="0">
                <a:ln>
                  <a:noFill/>
                </a:ln>
                <a:effectLst/>
                <a:latin typeface="Candara" panose="020E0502030303020204" pitchFamily="34" charset="0"/>
              </a:rPr>
              <a:t> </a:t>
            </a:r>
            <a:r>
              <a:rPr kumimoji="0" lang="en-MW" altLang="en-MW" sz="1800" b="1" i="0" u="none" strike="noStrike" cap="none" normalizeH="0" baseline="0" dirty="0">
                <a:ln>
                  <a:noFill/>
                </a:ln>
                <a:effectLst/>
                <a:latin typeface="Candara" panose="020E0502030303020204" pitchFamily="34" charset="0"/>
              </a:rPr>
              <a:t>label:</a:t>
            </a:r>
            <a:r>
              <a:rPr kumimoji="0" lang="en-MW" altLang="en-MW" sz="1800" i="0" u="none" strike="noStrike" cap="none" normalizeH="0" baseline="0" dirty="0">
                <a:ln>
                  <a:noFill/>
                </a:ln>
                <a:effectLst/>
                <a:latin typeface="Candara" panose="020E0502030303020204" pitchFamily="34" charset="0"/>
              </a:rPr>
              <a:t> </a:t>
            </a:r>
            <a:endParaRPr kumimoji="0" lang="en-US" altLang="en-MW" sz="1800" i="0" u="none" strike="noStrike" cap="none" normalizeH="0" baseline="0" dirty="0">
              <a:ln>
                <a:noFill/>
              </a:ln>
              <a:effectLst/>
              <a:latin typeface="Candara" panose="020E0502030303020204" pitchFamily="34" charset="0"/>
            </a:endParaRPr>
          </a:p>
          <a:p>
            <a:pPr marL="201168" lvl="1" indent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MW" sz="1800" dirty="0">
                <a:latin typeface="Candara" panose="020E0502030303020204" pitchFamily="34" charset="0"/>
              </a:rPr>
              <a:t>	 </a:t>
            </a:r>
            <a:r>
              <a:rPr kumimoji="0" lang="en-MW" altLang="en-MW" sz="1800" i="0" u="none" strike="noStrike" cap="none" normalizeH="0" baseline="0" dirty="0">
                <a:ln>
                  <a:noFill/>
                </a:ln>
                <a:effectLst/>
                <a:latin typeface="Candara" panose="020E0502030303020204" pitchFamily="34" charset="0"/>
              </a:rPr>
              <a:t>statement;</a:t>
            </a:r>
            <a:r>
              <a:rPr kumimoji="0" lang="en-MW" altLang="en-MW" sz="800" i="0" u="none" strike="noStrike" cap="none" normalizeH="0" baseline="0" dirty="0">
                <a:ln>
                  <a:noFill/>
                </a:ln>
                <a:effectLst/>
                <a:latin typeface="Candara" panose="020E0502030303020204" pitchFamily="34" charset="0"/>
              </a:rPr>
              <a:t> </a:t>
            </a:r>
            <a:endParaRPr kumimoji="0" lang="en-MW" altLang="en-MW" sz="4000" i="0" u="none" strike="noStrike" cap="none" normalizeH="0" baseline="0" dirty="0">
              <a:ln>
                <a:noFill/>
              </a:ln>
              <a:effectLst/>
              <a:latin typeface="Candara" panose="020E0502030303020204" pitchFamily="34" charset="0"/>
            </a:endParaRPr>
          </a:p>
          <a:p>
            <a:pPr lvl="1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§"/>
            </a:pPr>
            <a:r>
              <a:rPr kumimoji="0" lang="en-US" altLang="en-MW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The label is an identifier. When the </a:t>
            </a:r>
            <a:r>
              <a:rPr kumimoji="0" lang="en-US" altLang="en-MW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goto</a:t>
            </a:r>
            <a:r>
              <a:rPr kumimoji="0" lang="en-US" altLang="en-MW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statement is encountered, the control of the program jumps to label: and starts executing the code.</a:t>
            </a:r>
            <a:endParaRPr kumimoji="0" lang="en-MW" altLang="en-MW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238460153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45DFBD-0CFB-8972-26C6-5A787A912B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Practical Sessions</a:t>
            </a:r>
            <a:endParaRPr lang="en-MW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F2DDD2-87CF-F694-B5DF-3534108B1F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MW"/>
          </a:p>
        </p:txBody>
      </p:sp>
    </p:spTree>
    <p:extLst>
      <p:ext uri="{BB962C8B-B14F-4D97-AF65-F5344CB8AC3E}">
        <p14:creationId xmlns:p14="http://schemas.microsoft.com/office/powerpoint/2010/main" val="3437142666"/>
      </p:ext>
    </p:extLst>
  </p:cSld>
  <p:clrMapOvr>
    <a:masterClrMapping/>
  </p:clrMapOvr>
</p:sld>
</file>

<file path=ppt/theme/theme1.xml><?xml version="1.0" encoding="utf-8"?>
<a:theme xmlns:a="http://schemas.openxmlformats.org/drawingml/2006/main" name="1_RetrospectVTI">
  <a:themeElements>
    <a:clrScheme name="Custom 34">
      <a:dk1>
        <a:sysClr val="windowText" lastClr="000000"/>
      </a:dk1>
      <a:lt1>
        <a:sysClr val="window" lastClr="FFFFFF"/>
      </a:lt1>
      <a:dk2>
        <a:srgbClr val="39302A"/>
      </a:dk2>
      <a:lt2>
        <a:srgbClr val="E5DEDB"/>
      </a:lt2>
      <a:accent1>
        <a:srgbClr val="EC7016"/>
      </a:accent1>
      <a:accent2>
        <a:srgbClr val="F8931D"/>
      </a:accent2>
      <a:accent3>
        <a:srgbClr val="CE8D3E"/>
      </a:accent3>
      <a:accent4>
        <a:srgbClr val="E64823"/>
      </a:accent4>
      <a:accent5>
        <a:srgbClr val="FFCA08"/>
      </a:accent5>
      <a:accent6>
        <a:srgbClr val="9C6A6A"/>
      </a:accent6>
      <a:hlink>
        <a:srgbClr val="2998E3"/>
      </a:hlink>
      <a:folHlink>
        <a:srgbClr val="7F723D"/>
      </a:folHlink>
    </a:clrScheme>
    <a:fontScheme name="Retrospect">
      <a:majorFont>
        <a:latin typeface="Bookman Old Style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Franklin Gothic Book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VTI" id="{ABE3C30C-0FC0-4450-828E-52DE70F1BCCB}" vid="{A6E2497D-935A-4CFD-B9FD-6DCB15FA68BF}"/>
    </a:ext>
  </a:extLst>
</a:theme>
</file>

<file path=ppt/theme/themeOverride1.xml><?xml version="1.0" encoding="utf-8"?>
<a:themeOverride xmlns:a="http://schemas.openxmlformats.org/drawingml/2006/main">
  <a:clrScheme name="Parcel">
    <a:dk1>
      <a:srgbClr val="000000"/>
    </a:dk1>
    <a:lt1>
      <a:srgbClr val="FFFFFF"/>
    </a:lt1>
    <a:dk2>
      <a:srgbClr val="4A5356"/>
    </a:dk2>
    <a:lt2>
      <a:srgbClr val="E8E3CE"/>
    </a:lt2>
    <a:accent1>
      <a:srgbClr val="F6A21D"/>
    </a:accent1>
    <a:accent2>
      <a:srgbClr val="9BAFB5"/>
    </a:accent2>
    <a:accent3>
      <a:srgbClr val="C96731"/>
    </a:accent3>
    <a:accent4>
      <a:srgbClr val="9CA383"/>
    </a:accent4>
    <a:accent5>
      <a:srgbClr val="87795D"/>
    </a:accent5>
    <a:accent6>
      <a:srgbClr val="A0988C"/>
    </a:accent6>
    <a:hlink>
      <a:srgbClr val="00B0F0"/>
    </a:hlink>
    <a:folHlink>
      <a:srgbClr val="738F97"/>
    </a:folHlink>
  </a:clrScheme>
</a:themeOverride>
</file>

<file path=ppt/theme/themeOverride2.xml><?xml version="1.0" encoding="utf-8"?>
<a:themeOverride xmlns:a="http://schemas.openxmlformats.org/drawingml/2006/main">
  <a:clrScheme name="Parcel">
    <a:dk1>
      <a:srgbClr val="000000"/>
    </a:dk1>
    <a:lt1>
      <a:srgbClr val="FFFFFF"/>
    </a:lt1>
    <a:dk2>
      <a:srgbClr val="4A5356"/>
    </a:dk2>
    <a:lt2>
      <a:srgbClr val="E8E3CE"/>
    </a:lt2>
    <a:accent1>
      <a:srgbClr val="F6A21D"/>
    </a:accent1>
    <a:accent2>
      <a:srgbClr val="9BAFB5"/>
    </a:accent2>
    <a:accent3>
      <a:srgbClr val="C96731"/>
    </a:accent3>
    <a:accent4>
      <a:srgbClr val="9CA383"/>
    </a:accent4>
    <a:accent5>
      <a:srgbClr val="87795D"/>
    </a:accent5>
    <a:accent6>
      <a:srgbClr val="A0988C"/>
    </a:accent6>
    <a:hlink>
      <a:srgbClr val="00B0F0"/>
    </a:hlink>
    <a:folHlink>
      <a:srgbClr val="738F97"/>
    </a:folHlink>
  </a:clrScheme>
</a:themeOverrid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2" ma:contentTypeDescription="Create a new document." ma:contentTypeScope="" ma:versionID="a410dd7f93c95333ffa1b60ed6adedd1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a936d9baba76aa3866493feff160faab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Statu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Status" ma:index="19" nillable="true" ma:displayName="Status" ma:default="Not started" ma:format="Dropdown" ma:internalName="Status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tatus xmlns="71af3243-3dd4-4a8d-8c0d-dd76da1f02a5">Not started</Status>
    <MediaServiceKeyPoints xmlns="71af3243-3dd4-4a8d-8c0d-dd76da1f02a5" xsi:nil="true"/>
  </documentManagement>
</p:properties>
</file>

<file path=customXml/itemProps1.xml><?xml version="1.0" encoding="utf-8"?>
<ds:datastoreItem xmlns:ds="http://schemas.openxmlformats.org/officeDocument/2006/customXml" ds:itemID="{AA3F7EDC-E5B4-4BBC-9D2A-CBE6D46C37AD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93932EF5-314F-409E-8020-FEE5FA0795B9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A03EEFF0-FB57-4CB4-8BFC-DF397689E2ED}">
  <ds:schemaRefs>
    <ds:schemaRef ds:uri="http://schemas.microsoft.com/office/2006/metadata/properties"/>
    <ds:schemaRef ds:uri="http://schemas.microsoft.com/office/infopath/2007/PartnerControls"/>
    <ds:schemaRef ds:uri="71af3243-3dd4-4a8d-8c0d-dd76da1f02a5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{29C5310B-C7CD-425C-93A3-100AE378DD6A}tf22712842_win32</Template>
  <TotalTime>297</TotalTime>
  <Words>1315</Words>
  <Application>Microsoft Office PowerPoint</Application>
  <PresentationFormat>Widescreen</PresentationFormat>
  <Paragraphs>125</Paragraphs>
  <Slides>21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31" baseType="lpstr">
      <vt:lpstr>Arial</vt:lpstr>
      <vt:lpstr>Bookman Old Style</vt:lpstr>
      <vt:lpstr>Calibri</vt:lpstr>
      <vt:lpstr>Candara</vt:lpstr>
      <vt:lpstr>Consolas</vt:lpstr>
      <vt:lpstr>Droid Sans Mono</vt:lpstr>
      <vt:lpstr>euclid_circular_a</vt:lpstr>
      <vt:lpstr>Franklin Gothic Book</vt:lpstr>
      <vt:lpstr>Wingdings</vt:lpstr>
      <vt:lpstr>1_RetrospectVTI</vt:lpstr>
      <vt:lpstr>Program Loops</vt:lpstr>
      <vt:lpstr>Iteration Essentials</vt:lpstr>
      <vt:lpstr>Counter-controlled iteration</vt:lpstr>
      <vt:lpstr>Sentinel-Controlled iteration</vt:lpstr>
      <vt:lpstr>Types of Iterations (Loops)</vt:lpstr>
      <vt:lpstr>For Iteration Statement (for loop)</vt:lpstr>
      <vt:lpstr>General Format of a for Statement</vt:lpstr>
      <vt:lpstr>for Statement Header Components</vt:lpstr>
      <vt:lpstr>For statement flow chart</vt:lpstr>
      <vt:lpstr>For statement: example 1</vt:lpstr>
      <vt:lpstr>The while iteration Statement</vt:lpstr>
      <vt:lpstr>How while loop works?</vt:lpstr>
      <vt:lpstr>while Statement Flowchart</vt:lpstr>
      <vt:lpstr>The do…while Iteration statement </vt:lpstr>
      <vt:lpstr>do…while Statement Flowchart</vt:lpstr>
      <vt:lpstr>break and continue Statements </vt:lpstr>
      <vt:lpstr>break and continue Statements </vt:lpstr>
      <vt:lpstr>Switch Statement</vt:lpstr>
      <vt:lpstr>Switch Statement Flowchart</vt:lpstr>
      <vt:lpstr>C goto statement</vt:lpstr>
      <vt:lpstr>Practical Sessions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Program Loops</dc:title>
  <dc:creator>Lloyd Chunga</dc:creator>
  <cp:lastModifiedBy>Lloyd Chunga</cp:lastModifiedBy>
  <cp:revision>6</cp:revision>
  <dcterms:created xsi:type="dcterms:W3CDTF">2023-05-24T16:01:02Z</dcterms:created>
  <dcterms:modified xsi:type="dcterms:W3CDTF">2023-05-28T11:13:56Z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