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75" r:id="rId4"/>
    <p:sldId id="258" r:id="rId5"/>
    <p:sldId id="260" r:id="rId6"/>
    <p:sldId id="259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17BCEED-7CD9-426B-8AE2-04A29FC858E1}" type="datetimeFigureOut">
              <a:rPr lang="en-US" smtClean="0"/>
              <a:t>9/2/2013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32B57D9-C7B4-4E70-B8C5-2DF4FE39236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962400"/>
            <a:ext cx="5637010" cy="882119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/>
              <a:t>By Humphrey </a:t>
            </a:r>
            <a:r>
              <a:rPr lang="en-US" sz="3600" dirty="0" err="1" smtClean="0"/>
              <a:t>Kumwembe</a:t>
            </a:r>
            <a:endParaRPr lang="en-US" sz="36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600200"/>
            <a:ext cx="8915400" cy="1219200"/>
          </a:xfrm>
        </p:spPr>
        <p:txBody>
          <a:bodyPr/>
          <a:lstStyle/>
          <a:p>
            <a:pPr marL="182880" indent="0">
              <a:buNone/>
            </a:pPr>
            <a:r>
              <a:rPr lang="en-US" dirty="0" smtClean="0"/>
              <a:t>INTRODUCTION TO ICT</a:t>
            </a:r>
            <a:br>
              <a:rPr lang="en-US" dirty="0" smtClean="0"/>
            </a:br>
            <a:r>
              <a:rPr lang="en-US" dirty="0" smtClean="0"/>
              <a:t>AND GENERAL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0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6969711" cy="8382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" y="1066800"/>
            <a:ext cx="8686800" cy="54102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800" dirty="0" smtClean="0"/>
              <a:t>At the end of this lesson you should be able to: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sz="2800" dirty="0" smtClean="0"/>
              <a:t>Define the term ICT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sz="2800" dirty="0" smtClean="0"/>
              <a:t>Differentiate the terms data and information.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sz="2800" dirty="0" smtClean="0"/>
              <a:t>Identify system stages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sz="2800" dirty="0" smtClean="0"/>
              <a:t>Define a computer as a system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sz="2800" dirty="0" smtClean="0"/>
              <a:t>Identify the main components of a computer.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6969711" cy="8382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What is ICT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" y="1066800"/>
            <a:ext cx="8686800" cy="5410200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 </a:t>
            </a:r>
            <a:r>
              <a:rPr lang="en-US" sz="2400" b="1" dirty="0" smtClean="0"/>
              <a:t>ICT</a:t>
            </a:r>
            <a:r>
              <a:rPr lang="en-US" sz="2400" dirty="0" smtClean="0"/>
              <a:t> Stands for</a:t>
            </a:r>
            <a:r>
              <a:rPr lang="en-US" sz="2400" dirty="0"/>
              <a:t> </a:t>
            </a:r>
            <a:r>
              <a:rPr lang="en-US" sz="2400" b="1" i="1" dirty="0"/>
              <a:t>I</a:t>
            </a:r>
            <a:r>
              <a:rPr lang="en-US" sz="2400" i="1" dirty="0"/>
              <a:t>nformation and </a:t>
            </a:r>
            <a:r>
              <a:rPr lang="en-US" sz="2400" b="1" i="1" dirty="0"/>
              <a:t>C</a:t>
            </a:r>
            <a:r>
              <a:rPr lang="en-US" sz="2400" i="1" dirty="0"/>
              <a:t>ommunications </a:t>
            </a:r>
            <a:r>
              <a:rPr lang="en-US" sz="2400" b="1" i="1" dirty="0"/>
              <a:t>T</a:t>
            </a:r>
            <a:r>
              <a:rPr lang="en-US" sz="2400" i="1" dirty="0"/>
              <a:t>echnology</a:t>
            </a:r>
            <a:r>
              <a:rPr lang="en-US" sz="2400" dirty="0"/>
              <a:t>, it is the study or business of developing and using technology to process </a:t>
            </a:r>
            <a:r>
              <a:rPr lang="en-US" sz="2400" b="1" dirty="0" smtClean="0"/>
              <a:t>data</a:t>
            </a:r>
            <a:r>
              <a:rPr lang="en-US" sz="2400" dirty="0" smtClean="0"/>
              <a:t> and </a:t>
            </a:r>
            <a:r>
              <a:rPr lang="en-US" sz="2400" dirty="0"/>
              <a:t>aid communications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 </a:t>
            </a:r>
            <a:r>
              <a:rPr lang="en-US" sz="2400" dirty="0"/>
              <a:t>The subject of ICT encompasses any technology that allows us to </a:t>
            </a:r>
            <a:r>
              <a:rPr lang="en-US" sz="2400" b="1" dirty="0" smtClean="0"/>
              <a:t>process </a:t>
            </a:r>
            <a:r>
              <a:rPr lang="en-US" sz="2400" b="1" dirty="0"/>
              <a:t>data</a:t>
            </a:r>
            <a:r>
              <a:rPr lang="en-US" sz="2400" dirty="0"/>
              <a:t> and to </a:t>
            </a:r>
            <a:r>
              <a:rPr lang="en-US" sz="2400" b="1" dirty="0"/>
              <a:t>communicate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 Technology encompasses communication devices and applications i.e. Cellular phone, Satellite systems, Computers and network hardware and software.  </a:t>
            </a:r>
            <a:r>
              <a:rPr lang="en-US" sz="2400" dirty="0"/>
              <a:t> 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It is used in almost all sectors i.e. Health, Education, Military, finance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50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1983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066800"/>
            <a:ext cx="8686800" cy="49530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Data </a:t>
            </a:r>
            <a:r>
              <a:rPr lang="en-US" sz="3200" dirty="0"/>
              <a:t>is a collection of unprocessed items</a:t>
            </a:r>
            <a:r>
              <a:rPr lang="en-US" sz="3200" dirty="0" smtClean="0"/>
              <a:t>, which </a:t>
            </a:r>
            <a:r>
              <a:rPr lang="en-US" sz="3200" dirty="0"/>
              <a:t>can include text, numbers, images, </a:t>
            </a:r>
            <a:r>
              <a:rPr lang="en-US" sz="3200" dirty="0" smtClean="0"/>
              <a:t>audio, and video.</a:t>
            </a:r>
          </a:p>
          <a:p>
            <a:r>
              <a:rPr lang="en-US" sz="3200" dirty="0" smtClean="0"/>
              <a:t>Examples: M, 201350047823, 20, </a:t>
            </a:r>
            <a:r>
              <a:rPr lang="en-US" sz="3200" b="1" dirty="0" smtClean="0"/>
              <a:t>3.1415927, +++,@.</a:t>
            </a:r>
          </a:p>
          <a:p>
            <a:r>
              <a:rPr lang="en-US" sz="3200" dirty="0" smtClean="0"/>
              <a:t>Data values do not have any meaning unless they are put in a context(Setting or circumstance).</a:t>
            </a:r>
          </a:p>
          <a:p>
            <a:r>
              <a:rPr lang="en-US" sz="3200" b="1" dirty="0" smtClean="0"/>
              <a:t> </a:t>
            </a:r>
            <a:r>
              <a:rPr lang="en-US" sz="3200" dirty="0" err="1" smtClean="0"/>
              <a:t>I.e</a:t>
            </a:r>
            <a:r>
              <a:rPr lang="en-US" sz="3200" dirty="0" smtClean="0"/>
              <a:t> 20 above does not have any meaning.</a:t>
            </a:r>
            <a:endParaRPr lang="en-US" sz="3200" b="1" dirty="0" smtClean="0"/>
          </a:p>
          <a:p>
            <a:endParaRPr lang="en-US" dirty="0"/>
          </a:p>
        </p:txBody>
      </p:sp>
      <p:sp>
        <p:nvSpPr>
          <p:cNvPr id="4" name="AutoShape 2" descr="stacks_image_62BDB135-9A20-4E0D-95B6-DDF5F156820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stacks_image_62BDB135-9A20-4E0D-95B6-DDF5F156820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37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1983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066800"/>
            <a:ext cx="8686800" cy="55626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Data that </a:t>
            </a:r>
            <a:r>
              <a:rPr lang="en-US" sz="3200" dirty="0"/>
              <a:t>is </a:t>
            </a:r>
            <a:r>
              <a:rPr lang="en-US" sz="3200" dirty="0" smtClean="0"/>
              <a:t>accurate</a:t>
            </a:r>
            <a:r>
              <a:rPr lang="en-US" sz="3200" dirty="0"/>
              <a:t> and timely, </a:t>
            </a:r>
            <a:r>
              <a:rPr lang="en-US" sz="3200" dirty="0" smtClean="0"/>
              <a:t>specific and organized</a:t>
            </a:r>
            <a:r>
              <a:rPr lang="en-US" sz="3200" dirty="0"/>
              <a:t> for a purpose, </a:t>
            </a:r>
            <a:r>
              <a:rPr lang="en-US" sz="3200" dirty="0" smtClean="0"/>
              <a:t>presented </a:t>
            </a:r>
            <a:r>
              <a:rPr lang="en-US" sz="3200" dirty="0"/>
              <a:t>within a </a:t>
            </a:r>
            <a:r>
              <a:rPr lang="en-US" sz="3200" dirty="0" smtClean="0"/>
              <a:t>context</a:t>
            </a:r>
            <a:r>
              <a:rPr lang="en-US" sz="3200" dirty="0"/>
              <a:t> that gives it meaning and relevance, and </a:t>
            </a:r>
            <a:r>
              <a:rPr lang="en-US" sz="3200" dirty="0" smtClean="0"/>
              <a:t>can</a:t>
            </a:r>
            <a:r>
              <a:rPr lang="en-US" sz="3200" dirty="0"/>
              <a:t> </a:t>
            </a:r>
            <a:r>
              <a:rPr lang="en-US" sz="3200" dirty="0" smtClean="0"/>
              <a:t>lead</a:t>
            </a:r>
            <a:r>
              <a:rPr lang="en-US" sz="3200" dirty="0"/>
              <a:t> to an increase in understanding and decrease in </a:t>
            </a:r>
            <a:r>
              <a:rPr lang="en-US" sz="3200" dirty="0" smtClean="0"/>
              <a:t>uncertainty.</a:t>
            </a:r>
          </a:p>
          <a:p>
            <a:pPr marL="45720" indent="0">
              <a:buNone/>
            </a:pPr>
            <a:endParaRPr lang="en-US" sz="3200" dirty="0" smtClean="0"/>
          </a:p>
          <a:p>
            <a:r>
              <a:rPr lang="en-US" sz="3200" dirty="0" smtClean="0"/>
              <a:t> Example: 201350047823 if applied at College of Medicine will be a registration number.</a:t>
            </a:r>
          </a:p>
        </p:txBody>
      </p:sp>
    </p:spTree>
    <p:extLst>
      <p:ext uri="{BB962C8B-B14F-4D97-AF65-F5344CB8AC3E}">
        <p14:creationId xmlns:p14="http://schemas.microsoft.com/office/powerpoint/2010/main" val="1907316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143000"/>
            <a:ext cx="8686800" cy="51816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3200" dirty="0" smtClean="0"/>
              <a:t>For one to understand ICT, there is need to understand what a system.</a:t>
            </a:r>
          </a:p>
          <a:p>
            <a:r>
              <a:rPr lang="en-US" sz="3200" dirty="0" smtClean="0"/>
              <a:t> Comprised of 3 stages:</a:t>
            </a:r>
          </a:p>
          <a:p>
            <a:pPr lvl="1"/>
            <a:r>
              <a:rPr lang="en-US" sz="3000" dirty="0"/>
              <a:t> </a:t>
            </a:r>
            <a:r>
              <a:rPr lang="en-US" sz="3000" dirty="0" smtClean="0"/>
              <a:t>Input – Data fed into a system</a:t>
            </a:r>
          </a:p>
          <a:p>
            <a:pPr lvl="1"/>
            <a:r>
              <a:rPr lang="en-US" sz="3000" dirty="0"/>
              <a:t> </a:t>
            </a:r>
            <a:r>
              <a:rPr lang="en-US" sz="3000" dirty="0" smtClean="0"/>
              <a:t>Process – System process data and convert it to a product.</a:t>
            </a:r>
          </a:p>
          <a:p>
            <a:pPr lvl="1"/>
            <a:r>
              <a:rPr lang="en-US" sz="3000" dirty="0"/>
              <a:t> </a:t>
            </a:r>
            <a:r>
              <a:rPr lang="en-US" sz="3000" dirty="0" smtClean="0"/>
              <a:t>Output – Product is then shown through different forms</a:t>
            </a:r>
          </a:p>
          <a:p>
            <a:r>
              <a:rPr lang="en-US" dirty="0" smtClean="0"/>
              <a:t> Examples: Digestive system, Inspiratory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8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Systems </a:t>
            </a:r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00"/>
            <a:ext cx="451485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09800"/>
            <a:ext cx="2381250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924300"/>
            <a:ext cx="43338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88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Computer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143000"/>
            <a:ext cx="8686800" cy="5181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 </a:t>
            </a:r>
            <a:r>
              <a:rPr lang="en-US" sz="3200" dirty="0"/>
              <a:t>A </a:t>
            </a:r>
            <a:r>
              <a:rPr lang="en-US" sz="3200" b="1" dirty="0"/>
              <a:t>computer </a:t>
            </a:r>
            <a:r>
              <a:rPr lang="en-US" sz="3200" dirty="0"/>
              <a:t>is an electronic device, </a:t>
            </a:r>
            <a:r>
              <a:rPr lang="en-US" sz="3200" dirty="0" smtClean="0"/>
              <a:t>operating under </a:t>
            </a:r>
            <a:r>
              <a:rPr lang="en-US" sz="3200" dirty="0"/>
              <a:t>the control of instructions stored in </a:t>
            </a:r>
            <a:r>
              <a:rPr lang="en-US" sz="3200" dirty="0" smtClean="0"/>
              <a:t>its own </a:t>
            </a:r>
            <a:r>
              <a:rPr lang="en-US" sz="3200" dirty="0"/>
              <a:t>memory, that can accept data, </a:t>
            </a:r>
            <a:r>
              <a:rPr lang="en-US" sz="3200" dirty="0" smtClean="0"/>
              <a:t>process the </a:t>
            </a:r>
            <a:r>
              <a:rPr lang="en-US" sz="3200" dirty="0"/>
              <a:t>data according to specified rules, produce</a:t>
            </a:r>
          </a:p>
          <a:p>
            <a:pPr marL="45720" indent="0">
              <a:buNone/>
            </a:pPr>
            <a:r>
              <a:rPr lang="en-US" sz="3200" dirty="0" smtClean="0"/>
              <a:t>  results</a:t>
            </a:r>
            <a:r>
              <a:rPr lang="en-US" sz="3200" dirty="0"/>
              <a:t>, and store the results for future use.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 Comprised of 4 stages:</a:t>
            </a:r>
          </a:p>
          <a:p>
            <a:pPr lvl="1"/>
            <a:r>
              <a:rPr lang="en-US" sz="3000" dirty="0"/>
              <a:t> </a:t>
            </a:r>
            <a:r>
              <a:rPr lang="en-US" sz="3000" b="1" dirty="0" smtClean="0"/>
              <a:t>INPUT</a:t>
            </a:r>
            <a:r>
              <a:rPr lang="en-US" sz="3000" dirty="0" smtClean="0"/>
              <a:t>– Data fed into a computer system</a:t>
            </a:r>
          </a:p>
          <a:p>
            <a:pPr lvl="1"/>
            <a:r>
              <a:rPr lang="en-US" sz="3000" dirty="0"/>
              <a:t> </a:t>
            </a:r>
            <a:r>
              <a:rPr lang="en-US" sz="3000" b="1" dirty="0" smtClean="0"/>
              <a:t>INSTRUCTIONS</a:t>
            </a:r>
            <a:r>
              <a:rPr lang="en-US" sz="3000" dirty="0" smtClean="0"/>
              <a:t>: Steps that tells a computer how to    perform a particular task. A collection of related instructions organized for a particular purpose is referred to as SOFTWARE</a:t>
            </a:r>
          </a:p>
          <a:p>
            <a:pPr lvl="1"/>
            <a:r>
              <a:rPr lang="en-US" sz="3000" dirty="0"/>
              <a:t> </a:t>
            </a:r>
            <a:r>
              <a:rPr lang="en-US" sz="3000" b="1" dirty="0" smtClean="0"/>
              <a:t>OUTPUT</a:t>
            </a:r>
            <a:r>
              <a:rPr lang="en-US" sz="3000" dirty="0" smtClean="0"/>
              <a:t>: The processed data is the converted into a product called information.</a:t>
            </a:r>
          </a:p>
          <a:p>
            <a:pPr lvl="1"/>
            <a:r>
              <a:rPr lang="en-US" sz="3000" dirty="0" smtClean="0"/>
              <a:t> </a:t>
            </a:r>
            <a:r>
              <a:rPr lang="en-US" sz="3000" b="1" dirty="0" smtClean="0"/>
              <a:t>STORAGE</a:t>
            </a:r>
            <a:r>
              <a:rPr lang="en-US" sz="3000" dirty="0" smtClean="0"/>
              <a:t>: Data or information or instructions can later be stored within or outside of the computer for future use.</a:t>
            </a:r>
          </a:p>
          <a:p>
            <a:pPr lvl="1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055097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Computer System 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143000"/>
            <a:ext cx="86868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sz="3200" dirty="0" smtClean="0"/>
              <a:t>The series of input, process, output and storage activities is referred to Information </a:t>
            </a:r>
            <a:r>
              <a:rPr lang="en-US" sz="3200" dirty="0"/>
              <a:t>P</a:t>
            </a:r>
            <a:r>
              <a:rPr lang="en-US" sz="3200" dirty="0" smtClean="0"/>
              <a:t>rocessing Cycle. </a:t>
            </a:r>
            <a:endParaRPr lang="en-US" sz="3000" dirty="0" smtClean="0"/>
          </a:p>
          <a:p>
            <a:pPr lvl="1"/>
            <a:endParaRPr lang="en-US" sz="3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93881"/>
            <a:ext cx="7162800" cy="127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8035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Components of a Computer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143000"/>
            <a:ext cx="86868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sz="3200" dirty="0"/>
              <a:t>A computer contains many electric, electronic</a:t>
            </a:r>
            <a:r>
              <a:rPr lang="en-US" sz="3200" dirty="0" smtClean="0"/>
              <a:t>, and </a:t>
            </a:r>
            <a:r>
              <a:rPr lang="en-US" sz="3200" dirty="0"/>
              <a:t>mechanical components known as </a:t>
            </a:r>
            <a:r>
              <a:rPr lang="en-US" sz="3200" b="1" dirty="0"/>
              <a:t>hardware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 The components include:</a:t>
            </a:r>
          </a:p>
          <a:p>
            <a:pPr lvl="1"/>
            <a:r>
              <a:rPr lang="en-US" sz="2800" dirty="0" smtClean="0"/>
              <a:t>Input devices</a:t>
            </a:r>
          </a:p>
          <a:p>
            <a:pPr lvl="1"/>
            <a:r>
              <a:rPr lang="en-US" sz="2800" dirty="0" smtClean="0"/>
              <a:t>Output devices</a:t>
            </a:r>
          </a:p>
          <a:p>
            <a:pPr lvl="1"/>
            <a:r>
              <a:rPr lang="en-US" sz="2800" dirty="0" smtClean="0"/>
              <a:t>System unit</a:t>
            </a:r>
          </a:p>
          <a:p>
            <a:pPr lvl="1"/>
            <a:r>
              <a:rPr lang="en-US" sz="2800" dirty="0" smtClean="0"/>
              <a:t>Storage devices</a:t>
            </a:r>
          </a:p>
          <a:p>
            <a:pPr lvl="1"/>
            <a:r>
              <a:rPr lang="en-US" sz="2800" dirty="0" smtClean="0"/>
              <a:t>Communication devices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3207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Components of a Computer(Conti..)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914400"/>
            <a:ext cx="8686800" cy="57912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An </a:t>
            </a:r>
            <a:r>
              <a:rPr lang="en-US" sz="2800" b="1" dirty="0"/>
              <a:t>input device </a:t>
            </a:r>
            <a:r>
              <a:rPr lang="en-US" sz="2800" dirty="0"/>
              <a:t>is any hardware </a:t>
            </a:r>
            <a:r>
              <a:rPr lang="en-US" sz="2800" dirty="0" smtClean="0"/>
              <a:t>component that </a:t>
            </a:r>
            <a:r>
              <a:rPr lang="en-US" sz="2800" dirty="0"/>
              <a:t>allows you to enter data and </a:t>
            </a:r>
            <a:r>
              <a:rPr lang="en-US" sz="2800" dirty="0" smtClean="0"/>
              <a:t>instructions into a computer.</a:t>
            </a:r>
          </a:p>
          <a:p>
            <a:r>
              <a:rPr lang="en-US" sz="2800" dirty="0" smtClean="0"/>
              <a:t>Examples include: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600" dirty="0" smtClean="0"/>
              <a:t>Keyboard: Contains </a:t>
            </a:r>
            <a:r>
              <a:rPr lang="en-US" sz="2600" dirty="0"/>
              <a:t>keys you </a:t>
            </a:r>
            <a:r>
              <a:rPr lang="en-US" sz="2600" dirty="0" smtClean="0"/>
              <a:t>press to </a:t>
            </a:r>
            <a:r>
              <a:rPr lang="en-US" sz="2600" dirty="0"/>
              <a:t>enter data into the computer</a:t>
            </a:r>
            <a:endParaRPr lang="en-US" sz="2600" dirty="0" smtClean="0"/>
          </a:p>
          <a:p>
            <a:pPr marL="880110" lvl="1" indent="-514350">
              <a:buFont typeface="+mj-lt"/>
              <a:buAutoNum type="arabicPeriod"/>
            </a:pPr>
            <a:r>
              <a:rPr lang="en-US" sz="2600" dirty="0" smtClean="0"/>
              <a:t>Mouse: </a:t>
            </a:r>
            <a:r>
              <a:rPr lang="en-US" sz="2800" dirty="0"/>
              <a:t>A</a:t>
            </a:r>
            <a:r>
              <a:rPr lang="en-US" sz="2800" dirty="0" smtClean="0"/>
              <a:t> </a:t>
            </a:r>
            <a:r>
              <a:rPr lang="en-US" sz="2800" dirty="0"/>
              <a:t>small handheld </a:t>
            </a:r>
            <a:r>
              <a:rPr lang="en-US" sz="2800" dirty="0" smtClean="0"/>
              <a:t>device, that controls the movement of small symbol called pointer and you make selections from the screen.</a:t>
            </a:r>
            <a:endParaRPr lang="en-US" sz="2600" dirty="0" smtClean="0"/>
          </a:p>
          <a:p>
            <a:pPr marL="880110" lvl="1" indent="-514350">
              <a:buFont typeface="+mj-lt"/>
              <a:buAutoNum type="arabicPeriod"/>
            </a:pPr>
            <a:r>
              <a:rPr lang="en-US" sz="2600" dirty="0" smtClean="0"/>
              <a:t>Scanner: Converts printed material into a form a computer can use. 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sz="2600" dirty="0" smtClean="0"/>
              <a:t>Webcam: A digital camera that allows you to create movies or take pictures and store them on the computer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sz="2600" dirty="0" smtClean="0"/>
              <a:t>Microphone: Allows you to speak into the computer.</a:t>
            </a:r>
          </a:p>
          <a:p>
            <a:pPr marL="880110" lvl="1" indent="-514350">
              <a:buFont typeface="+mj-lt"/>
              <a:buAutoNum type="arabicPeriod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954304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Components of a Computer(Conti..)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914400"/>
            <a:ext cx="8686800" cy="5791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Input Devices</a:t>
            </a:r>
            <a:endParaRPr lang="en-US" sz="2600" dirty="0" smtClean="0"/>
          </a:p>
          <a:p>
            <a:pPr marL="880110" lvl="1" indent="-514350">
              <a:buFont typeface="+mj-lt"/>
              <a:buAutoNum type="arabicPeriod"/>
            </a:pPr>
            <a:endParaRPr lang="en-US" sz="2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29718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081" y="4267200"/>
            <a:ext cx="1693719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3962400"/>
            <a:ext cx="3314700" cy="1239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73469"/>
            <a:ext cx="5524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495800" y="2678668"/>
            <a:ext cx="1054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Webcam</a:t>
            </a:r>
            <a:endParaRPr lang="en-US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055" y="1520309"/>
            <a:ext cx="885825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00800" y="2895600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Microphone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453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Components of a Computer(Conti..)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914400"/>
            <a:ext cx="8686800" cy="5791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An </a:t>
            </a:r>
            <a:r>
              <a:rPr lang="en-US" sz="2800" b="1" dirty="0" smtClean="0"/>
              <a:t>output </a:t>
            </a:r>
            <a:r>
              <a:rPr lang="en-US" sz="2800" b="1" dirty="0"/>
              <a:t>device </a:t>
            </a:r>
            <a:r>
              <a:rPr lang="en-US" sz="2800" dirty="0"/>
              <a:t>is any hardware </a:t>
            </a:r>
            <a:r>
              <a:rPr lang="en-US" sz="2800" dirty="0" smtClean="0"/>
              <a:t>component that conveys information to one or more people.</a:t>
            </a:r>
          </a:p>
          <a:p>
            <a:r>
              <a:rPr lang="en-US" sz="2800" dirty="0" smtClean="0"/>
              <a:t>Examples include: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600" dirty="0" smtClean="0"/>
              <a:t>Printer: Produces text and graphics on the physical medium i.e. paper.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sz="2600" dirty="0" smtClean="0"/>
              <a:t>Monitor: </a:t>
            </a:r>
            <a:r>
              <a:rPr lang="en-US" sz="2800" dirty="0" smtClean="0"/>
              <a:t>Displays text, graphics and videos on a screen.</a:t>
            </a:r>
            <a:endParaRPr lang="en-US" sz="2600" dirty="0" smtClean="0"/>
          </a:p>
          <a:p>
            <a:pPr marL="880110" lvl="1" indent="-514350">
              <a:buFont typeface="+mj-lt"/>
              <a:buAutoNum type="arabicPeriod"/>
            </a:pPr>
            <a:r>
              <a:rPr lang="en-US" sz="2600" dirty="0" smtClean="0"/>
              <a:t>Speakers: Allows you to hear music, voice and other audios. </a:t>
            </a:r>
          </a:p>
        </p:txBody>
      </p:sp>
    </p:spTree>
    <p:extLst>
      <p:ext uri="{BB962C8B-B14F-4D97-AF65-F5344CB8AC3E}">
        <p14:creationId xmlns:p14="http://schemas.microsoft.com/office/powerpoint/2010/main" val="220342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Components of a Computer(Conti..)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914400"/>
            <a:ext cx="8686800" cy="5791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Output Devices</a:t>
            </a:r>
            <a:endParaRPr lang="en-US" sz="2600" dirty="0" smtClean="0"/>
          </a:p>
          <a:p>
            <a:pPr marL="880110" lvl="1" indent="-514350">
              <a:buFont typeface="+mj-lt"/>
              <a:buAutoNum type="arabicPeriod"/>
            </a:pPr>
            <a:endParaRPr lang="en-US" sz="2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68171"/>
            <a:ext cx="2190750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611045"/>
            <a:ext cx="196215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62400"/>
            <a:ext cx="871538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2000" y="5334000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Speaker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00600" y="3288268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Monitor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787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Components of a Computer(Cont..)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914400"/>
            <a:ext cx="8686800" cy="5791200"/>
          </a:xfrm>
        </p:spPr>
        <p:txBody>
          <a:bodyPr>
            <a:normAutofit fontScale="92500"/>
          </a:bodyPr>
          <a:lstStyle/>
          <a:p>
            <a:r>
              <a:rPr lang="en-US" sz="2800" b="1" dirty="0" smtClean="0"/>
              <a:t>System unit </a:t>
            </a:r>
            <a:r>
              <a:rPr lang="en-US" sz="2800" dirty="0" smtClean="0"/>
              <a:t>case containing the electronic components of a computer that is used to process data.</a:t>
            </a:r>
          </a:p>
          <a:p>
            <a:r>
              <a:rPr lang="en-US" sz="2800" dirty="0"/>
              <a:t>The circuitry of the system unit usually is </a:t>
            </a:r>
            <a:r>
              <a:rPr lang="en-US" sz="2800" dirty="0" smtClean="0"/>
              <a:t>part of </a:t>
            </a:r>
            <a:r>
              <a:rPr lang="en-US" sz="2800" dirty="0"/>
              <a:t>or is connected to a circuit board called </a:t>
            </a:r>
            <a:r>
              <a:rPr lang="en-US" sz="2800" dirty="0" smtClean="0"/>
              <a:t>the motherboard</a:t>
            </a:r>
            <a:r>
              <a:rPr lang="en-US" sz="2800" dirty="0"/>
              <a:t>.</a:t>
            </a:r>
            <a:r>
              <a:rPr lang="en-US" sz="2800" dirty="0" smtClean="0"/>
              <a:t> </a:t>
            </a:r>
          </a:p>
          <a:p>
            <a:r>
              <a:rPr lang="en-US" sz="2800" dirty="0" smtClean="0"/>
              <a:t>Motherboard has two main components: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600" dirty="0" smtClean="0"/>
              <a:t>Central processing unit(CPU)/Processor: Electronic component that interprets and caries out basic instructions that operate the computer. It is also called the brain of the computer.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sz="2600" dirty="0" smtClean="0"/>
              <a:t>Memory: </a:t>
            </a:r>
            <a:r>
              <a:rPr lang="en-US" sz="2800" dirty="0" smtClean="0"/>
              <a:t>Electronic components that store instructions waiting to be executed and data needed by those instructions.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740698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Components of a Computer(Conti..)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914400"/>
            <a:ext cx="8686800" cy="5791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System Unit</a:t>
            </a:r>
            <a:endParaRPr lang="en-US" sz="2600" dirty="0" smtClean="0"/>
          </a:p>
          <a:p>
            <a:pPr marL="880110" lvl="1" indent="-514350">
              <a:buFont typeface="+mj-lt"/>
              <a:buAutoNum type="arabicPeriod"/>
            </a:pPr>
            <a:endParaRPr lang="en-US" sz="2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962025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399309"/>
            <a:ext cx="42862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419225"/>
            <a:ext cx="211455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4042496"/>
            <a:ext cx="2381250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3549134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System unit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0" y="5105400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Motherboard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77000" y="3429000"/>
            <a:ext cx="2581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Central Processing Unit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235417" y="601980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Memory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178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Components of a Computer(Cont..)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914400"/>
            <a:ext cx="8686800" cy="57912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Storage Devices: </a:t>
            </a:r>
            <a:r>
              <a:rPr lang="en-US" sz="2800" dirty="0" smtClean="0"/>
              <a:t>Storage holds data, instructions and information for future use.</a:t>
            </a:r>
          </a:p>
          <a:p>
            <a:r>
              <a:rPr lang="en-US" sz="2800" dirty="0" smtClean="0"/>
              <a:t>Example computer can hold millions of student information. 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Storage holds the items permanently.</a:t>
            </a:r>
          </a:p>
          <a:p>
            <a:r>
              <a:rPr lang="en-US" sz="2800" dirty="0" smtClean="0"/>
              <a:t> The items are stored on a </a:t>
            </a:r>
            <a:r>
              <a:rPr lang="en-US" sz="2800" b="1" dirty="0" smtClean="0"/>
              <a:t>Storage Media. </a:t>
            </a:r>
          </a:p>
          <a:p>
            <a:r>
              <a:rPr lang="en-US" sz="2800" b="1" dirty="0"/>
              <a:t> </a:t>
            </a:r>
            <a:r>
              <a:rPr lang="en-US" sz="2800" dirty="0" smtClean="0"/>
              <a:t>Storage media examples include; </a:t>
            </a:r>
            <a:r>
              <a:rPr lang="en-US" sz="2600" dirty="0" smtClean="0"/>
              <a:t>USB flash drives,  Hard drives, optical discs and memory cards.</a:t>
            </a:r>
          </a:p>
          <a:p>
            <a:r>
              <a:rPr lang="en-US" sz="2600" dirty="0"/>
              <a:t> </a:t>
            </a:r>
            <a:r>
              <a:rPr lang="en-US" sz="2600" dirty="0" smtClean="0"/>
              <a:t>Storage device records items to and from storage media.</a:t>
            </a:r>
          </a:p>
        </p:txBody>
      </p:sp>
    </p:spTree>
    <p:extLst>
      <p:ext uri="{BB962C8B-B14F-4D97-AF65-F5344CB8AC3E}">
        <p14:creationId xmlns:p14="http://schemas.microsoft.com/office/powerpoint/2010/main" val="4152074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Components of a Computer(Conti..)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914400"/>
            <a:ext cx="8686800" cy="5791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Storage Devices</a:t>
            </a:r>
            <a:endParaRPr lang="en-US" sz="2600" dirty="0" smtClean="0"/>
          </a:p>
          <a:p>
            <a:pPr marL="880110" lvl="1" indent="-514350">
              <a:buFont typeface="+mj-lt"/>
              <a:buAutoNum type="arabicPeriod"/>
            </a:pPr>
            <a:endParaRPr lang="en-US" sz="2600" dirty="0"/>
          </a:p>
        </p:txBody>
      </p: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3965972" y="1295399"/>
            <a:ext cx="2705100" cy="1973499"/>
            <a:chOff x="3216" y="2031"/>
            <a:chExt cx="2640" cy="2193"/>
          </a:xfrm>
        </p:grpSpPr>
        <p:pic>
          <p:nvPicPr>
            <p:cNvPr id="8" name="Picture 27" descr="Fig07-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2031"/>
              <a:ext cx="2025" cy="2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Oval 36"/>
            <p:cNvSpPr>
              <a:spLocks noChangeArrowheads="1"/>
            </p:cNvSpPr>
            <p:nvPr/>
          </p:nvSpPr>
          <p:spPr bwMode="auto">
            <a:xfrm>
              <a:off x="4733" y="3374"/>
              <a:ext cx="1123" cy="289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000" b="1">
                  <a:solidFill>
                    <a:schemeClr val="bg2"/>
                  </a:solidFill>
                  <a:latin typeface="Arial" charset="0"/>
                </a:rPr>
                <a:t>hard disk</a:t>
              </a:r>
            </a:p>
          </p:txBody>
        </p:sp>
      </p:grpSp>
      <p:pic>
        <p:nvPicPr>
          <p:cNvPr id="10" name="Picture 49" descr="Fig07-28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4800" y="1675500"/>
            <a:ext cx="2909455" cy="1549709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pSp>
        <p:nvGrpSpPr>
          <p:cNvPr id="11" name="Group 28"/>
          <p:cNvGrpSpPr>
            <a:grpSpLocks/>
          </p:cNvGrpSpPr>
          <p:nvPr/>
        </p:nvGrpSpPr>
        <p:grpSpPr bwMode="auto">
          <a:xfrm>
            <a:off x="416476" y="4360766"/>
            <a:ext cx="3492766" cy="1818088"/>
            <a:chOff x="2544" y="1152"/>
            <a:chExt cx="3072" cy="2144"/>
          </a:xfrm>
        </p:grpSpPr>
        <p:pic>
          <p:nvPicPr>
            <p:cNvPr id="12" name="Picture 26" descr="Fig07-34_shadow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319"/>
              <a:ext cx="2688" cy="1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7" descr="Fig07-34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EFEFD"/>
                </a:clrFrom>
                <a:clrTo>
                  <a:srgbClr val="FEFEF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4" y="1152"/>
              <a:ext cx="2688" cy="2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AutoShape 2" descr="data:image/jpeg;base64,/9j/4AAQSkZJRgABAQAAAQABAAD/2wCEAAkGBhAQDxAPDxAUEA8QEg8SEhQQEBAQERAQFBQVFBQQFBIXHCYeGBkjGRIUHy8gIycpLCwsFh4xNTAqNSYrLCkBCQoKDgwOFA8PGCkYHBgpKSkpKSkpKSkpKSkpKSkpKSkpKSkpKSkpLCkpKSkpKSkpLCwpKSkpKSkpKSkpKSkpKf/AABEIAM8A8wMBIgACEQEDEQH/xAAbAAEAAgMBAQAAAAAAAAAAAAAAAwQBAgYFB//EAEIQAAIBAgEJBQQHBwMFAQAAAAABAgMRBAUGEhMhMUFRcSIyYYGRQlKhsQczYnLB0fAUFSNTY4KSQ1SDc4STsvE0/8QAGQEBAAMBAQAAAAAAAAAAAAAAAAECAwQF/8QAIREBAQACAgIDAQEBAAAAAAAAAAECEQMxEiEEQVEUEyL/2gAMAwEAAhEDEQA/APuIAAAAAAAAAAAAAAAAAAAAAAAAAAAAAAAAAAAAAAAAAAAAAAAAAAAAAAAAFxcADFwBkGBcDIAAAAAAAAAAAAAAAAAAAAAAAAAAAGsppbW7Lm9iAy2Y0jnMrZ+Yai3CDdeovZp7Un4y3HM4zO7HVu644eHKHan5y4PoUyzxx7TJa+jVcTCCvOSivtNL5nnYnOjC0+9VjfbsTuz5u8O5PSqTnUb3uU3tJqVGMd0UvIwy+RJ0vOOuqxf0hU1fVUalXp2UeVWz+xsvq8LTiuc6km/RHn6JroGP9GS/+cb1M8Mry3PDQ/slL8SN5zZZ/wBxh1/26/My4mdEr/RkeEYjnRllb6+Hl/wW/Es0s9cqR70aE+icfkyvqxoD+jM8I9Gl9I2Kj9Zg4yX9Ocl8z0MP9J2H3VaNWl/apr1Rzugaunz29UXnyb+I/wA477BZ34KtshiIX5Seg+nasetGomrp3XNbUfJKuTact8F1WxmcPCvQ24avOn4N3h6bjXH5ON7VvHX1y5k+fYDPzE0tmJpKrDZedPZK3itx1mTM5cPiEtXUWk/Ylsl6G8zmXSllj1QY0jJdAAAAAAAAAAAABhgZMMw5pK72JXb8FzOKy9nq5N0cG771KrviuahzfiRbJ2Pcy7nTRwnZk9ZWfdpw2yfi+SOGynlnFYt/xZ6ulwpU3ZW+1LiV4UNrlJ6U5d6Td3LqyZQOLPnt6a44IKOHjHupLpsJ4wN1EkUTmt20aKJuoG2ibKJVLRQGgTKBvqyNitoGVAsasaBGxBoGNAlv21HjZy6K9tpvqwINWYdMs6sasbFbVmNAs6sw4DYquBVxGBjLb3ZcJR2O/M9GUSNxLTKzpFmzJudeMwj0ajeJorg/rYrmnx8zucjZwUMXHSozu13ovZOPWJwMoFKeGlCaq0ZOlVjulHZ68zr4/kfVZ3D8fXjJyObWeiqtUMVanX3KW6FXo+D8DrdI7ZZZuMmQASAAAAAAaSlb8TZnK565WcYfs8HadTvNcIcvMi3Q8TOjOSWKnLD0G44eLtOSdta+SfunmUaCikkrL9XsjNCgoqyRYjE8/kzuVa4zUaxibqJskbpGK7RRN1E2UTZRIWYUDEppSjF75Xa5dneupLGJpVwylOm2rqm5TX3rWRAkjEljERh5kkkorSm1GK4ydl6kaGjpmNArV8t0Yq920uKilH/KTSKM87KS3Rb/ALk//VMmYWoemsKtZrLbXHRb4tXuibQPFjnfR4xkvNL5pF/C5wYap7bT6XXm1cXCz6NripjVE1NKa0oSUlzi7mZQKiu6ZDsltW1fpFqSKeApSUHpbW6lWSsrdmUrq/kBiUCOUC3KJFOISqyiRSiWZojkiw8/FYRSW3qrbGnzT4M6fNPOp3jhcVLt7qVR7qi3aLfvHhTRTxNHSXxT4prc0zo4uS4qZY7fXEzY5jM3OJ14ujVf8ekltf8AqQ3KXU6ZHoS79xgyACQAAEVasoRlJ7FFNvoj5rjMQ61WdWXtOy42R2edeJ0MO4rfUaj5b38ji4QOfny1NLYTdIxJFEJEigcTZqkbKJsoGyiBqkboyoESq/xXTutkFPxs27PpsIE6ZLRouTsty2vkvAicf14l7Ez1FDZsm9l+Te1vySY1sUcpZShRjKzjFQ7853cYvhGy2zn9lHK1MbWry07ypw4SnaWIkuaT7NNeFrm+Jnrqna206LtCPBye+T5vxN6jtv8A/rOnj4p3WOWf1EKwsU9K2k+c25vm3eV/gbSqW4+lkb4fDVKs406cHUqzvowWxJcZSlwjxudNh/o5qySdXF6D92hSTS/vntfodEn5FPdcoq/jbzNJUoS3xi3zXZl/lGz+J12I+jWau6WNk3bdWpQlHzcbNHNY/JtfDVFSxENXKV9XOD0qVW3uv3vsvbyHin3EFOdWk9OjKTdns0tGfRS3S6S9TpckZwRrRWstv0dJdlKp/LqRfcl12M5yMuD2NfIhrR0XrI77WmuFSHjz6mPJwyzcWx5P13tSnb9bupCyDN/GurDQfalFRtt3wexX52ZPVi4ycXvT+BxXHTaVHJkUiSSImRpKOZFIlmiKRbQimiGcSeRDMmQebja9ejavhWo16bjKN1dSimtKD6rSPr+CxKqU4VI7pJPZzau0fLaiOwzFx16cqLfcd10O3gy9aY5x1QCB0qAAA5XPGV3Sj95/I8GNM6HOuHbovmpL4o8eNI4vkX3GnH9olSN1TJo0jdUzmabQqmbasnUDOgDaFUyGODSqupbfBRfRNtL4l5QM6ANoI09qvzXzGeC0acGtznbdsV1+aJ9V+vEu4zALFYaVNu0rK3hNd1+pfHtXJ86oOykuKnK5is93gxi6MqU5aUbNO048briFNNXTTT4+HM745nXfR/Wp6ytF21slHRvvcFvivPad3Y+L0akoyUoStKO2LTakuh0OGz/xMFaUadS1trvGT6tby0qdvo54eeUKLwdTW22aLhz1qfZt5nOv6R6jTtQjGVtnbclf0Ww5rKuWq2InpVp6TT7MUrQj0Q2nas5bV02/kbOXxuRRkue1+hHOvd6KfV8itVdFmS3r4xW7Ql6HSZXp/wAXrFetynmFkhqMsRJWUlowv7vGRexs9ZUlJbtiXRLecXJ26MXnygyrTnJ1qsbWjBU0r27bl2nL8D0nTItQtJy4u1/IyXVZRIpRLkqRHOmSlTlEhnEuSpkM4AVJx2HqZo19DFJcJJplGUCzkNWxVH76RtxX/qKZ9Po6MmEZO9iAADw86aF6Uai305pv7r2M8aMDrsVh1UhKD3STT8Dk8ImtKnLZOm3B/g/Q5vkY+tr4VlUzdUyZUzdUziaINA21ZOqZtqyUbQKmbKmTqmbqmTpG1dU/A3wtWzvHdtT8bb0WFTKeR8Fq6Wru5aM6m2W1vSm5Xb8/gTIhnLGQaeLWlF6FZKyklfpGS4rxOCypkGvhpPTjoX9pdqlL04n0tQ8ifW3VpJST3pq680b48mvStx2+R04ylZXXW6tc1q4eS3r4p/E+l4rNbBVbt0tCT4024fBHn1Po+o+xXnH72jI2nJKpcK4OGEqS7sZPoiKpCUXaV7+u071fR9HjiZW8EkWsPmDhI7ZudTwclFekR5wmNfM1TnNqMb3fCO2Tb+J2ObP0fvZUxS0Yb1Tv2peM+XQ7LCYChQVqNKMXzSV/OT2mK05S3uy5LYjLLNaYo8Zi4qOhDZBJJtbElu0UUtTYY6MtZQhop05zesld3TjHShFc7yXwLLgYX20io6ZG6ZccDRwKaWU3TI5Uy66ZFKmEqE6RBUpnoypEFSmEvNnAt5u0NLE0fBuXkka1KZ6uadBOrVnwglBdXtfyZvwzeSmd9OsRkA7mIAAMWOezhwbpyWKgr2WjWS3yh79ua3nRGso3Islnsc9S7STW1OzTW5p7mSKmVq+G/Y58f2Sb2Pf+zzfsv7Dv5HpKK/Hns5nDlx+NaS7Q6s2VMm0TKiV0I1A2UCVQN1AaEKgbRp2JlA2UAIdAzoE2gZUQIdAqZTrSpQVSKctGUFKEUm5xk9Gyv4u/kelY0lSu4t+y7+YGurGrJNEzYkQypkbplqxhwAo1KKdr8Gmuq4/Ew6ZcdM0dMJVHA0dItuBq4CwUpUjSVIuumRyplLExQnTIKkP1xL86ZXxElFOUty5bXfhFLi29iRGr0nbza1OV4xgr1ZvRguGlxk+SXzsdZknJscPSjTj1k3vlJ75MqZEyW4N1qq/iyVorfqqfCCfPi2ewkd/Fh4xjld1kAGqAAAAABpUpqSakrpppp7U1yseFPDTwndUqmF2uy7VTD9F7UPivE6A1aK5YyilRnGcVKElKMrNNO6aJVAp1skyhJ1MM1Tk3eUH9VUfNx9mXihhsqxclTqp0a3uT3S8YT3SObLjuPS+15QMqJsCmksWFjNwNDAsZA0MAyBoAAAAAQxYw4mwGko3EjcSexq0NCvJEbRZcTza2UE5ulQWuqrek+xDxqTW7otomNtTaziqkYK8na+xcXJ8oriyXJ+TnpKrVVn7FPeqfi3xnb04E2ByXovWVHrK3vWtGC92EfZXxPQSOjDj8fdUt2WMgGyoAAAAAAAAAAMNEGKwUKsdCpBTjya3PmuRYAHjfu+vR+oqayH8uu27LlGrvXR3Mwy9CL0cRGWHl/VXYfSotnrY9exrOkmrNJrk9q9ClwlTtHGomk000+Kaa9Ta55883qSbdJzoSe90ZOKfWPd+BrqMXDu1adZcqsHTl/lG6+BnePRt6QPO/edaP1mFqdaThVXpdS+AWcFD2nOn/ANWlUhb1RXwqdvRBUp5XoS7taD/vRPHEwe6cX0lH8yPE2lMGNdH3l6o1eIj78f8AJDxNtwVa2WMPDvV6ces4/mUK+eeBhvxEZPlBTm/SKZPjTb2Rc5qWe6l/+bB4vEPnGhKEPOU7EMsZlmvspYehgo+9iKjrVLc9CGz4jwpt1M5pK7dl47DwcoZ64WnPVUnLE4jhSw0XUlf7TWyK8XYqLMOVZ6WUMdXxX9OD/ZqHTQg9Jrqzosl5HoYaGrw9GFGC4U4qHrbeXnEbeLRwONxe3Ey/ZKL/ANGk71pL+pV9npE9/BZPp0YKnSioQXBLf4t8WWFEyaySKsJGQCQAAAAAAAAAAAAAAAAAAAAAYsLGQBBUwdOXepxfWMWQyyPh3voU/wDxx/IugDz/ANxYb+RD/FD9wYX/AG9PzgmegCNClDI2HW6hSX/FD8ixSw8Y92Kj91JfIlBIxYWMgDCMgAAAAAAAAAAAAAAAAAAAAAAAAAAAAAAAAAAAAAAAAAAAAAAAAAAAAAAAAA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109" y="4198248"/>
            <a:ext cx="21336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619250"/>
            <a:ext cx="253365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53072" y="3124200"/>
            <a:ext cx="667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Tape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65972" y="3308866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Hard disk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162800" y="3505200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Floppy disk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186721" y="6172200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USB Drive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694654" y="632460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Optical disk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98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0"/>
                            </p:stCondLst>
                            <p:childTnLst>
                              <p:par>
                                <p:cTn id="16" presetID="54" presetClass="entr" presetSubtype="0" accel="10000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Components of a Computer(Cont..)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914400"/>
            <a:ext cx="8686800" cy="57912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Communications devices: </a:t>
            </a:r>
            <a:r>
              <a:rPr lang="en-US" sz="2800" dirty="0" smtClean="0"/>
              <a:t>Hardware component that enables a computer to send(transmit) and receive data, instructions and information to and from one or more computer or mobile devices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Occurs over cables, </a:t>
            </a:r>
            <a:r>
              <a:rPr lang="en-US" sz="2800" dirty="0" smtClean="0"/>
              <a:t>telephone lines</a:t>
            </a:r>
            <a:r>
              <a:rPr lang="en-US" sz="2800" dirty="0"/>
              <a:t>, cellular radio networks</a:t>
            </a:r>
            <a:r>
              <a:rPr lang="en-US" sz="2800" dirty="0" smtClean="0"/>
              <a:t>, satellites</a:t>
            </a:r>
            <a:r>
              <a:rPr lang="en-US" sz="2800" dirty="0"/>
              <a:t>, and other </a:t>
            </a:r>
            <a:r>
              <a:rPr lang="en-US" sz="2800" dirty="0" smtClean="0"/>
              <a:t>transmission media</a:t>
            </a:r>
            <a:endParaRPr lang="en-US" sz="2800" dirty="0" smtClean="0"/>
          </a:p>
          <a:p>
            <a:r>
              <a:rPr lang="en-US" sz="2800" dirty="0" smtClean="0"/>
              <a:t>Example include </a:t>
            </a:r>
            <a:r>
              <a:rPr lang="en-US" sz="2800" dirty="0" err="1" smtClean="0"/>
              <a:t>Modem,Router</a:t>
            </a:r>
            <a:r>
              <a:rPr lang="en-US" sz="2800" dirty="0" smtClean="0"/>
              <a:t>, </a:t>
            </a:r>
            <a:r>
              <a:rPr lang="en-US" sz="2800" dirty="0" err="1" smtClean="0"/>
              <a:t>wi-fi</a:t>
            </a:r>
            <a:r>
              <a:rPr lang="en-US" sz="2800" dirty="0" smtClean="0"/>
              <a:t> cards, and Network interface cards. 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867627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Components of a Computer(Conti..)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914400"/>
            <a:ext cx="8686800" cy="5791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Communications devices</a:t>
            </a:r>
            <a:endParaRPr lang="en-US" sz="2600" dirty="0" smtClean="0"/>
          </a:p>
          <a:p>
            <a:pPr marL="880110" lvl="1" indent="-514350">
              <a:buFont typeface="+mj-lt"/>
              <a:buAutoNum type="arabicPeriod"/>
            </a:pPr>
            <a:endParaRPr lang="en-US" sz="2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14513"/>
            <a:ext cx="100012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8600" y="3135868"/>
            <a:ext cx="2589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Network Interface card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812802"/>
            <a:ext cx="2133600" cy="1158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237494" y="3124200"/>
            <a:ext cx="1239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Wi-Fi card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7" y="3733800"/>
            <a:ext cx="2119313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38200" y="5486400"/>
            <a:ext cx="867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Router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312" y="3681845"/>
            <a:ext cx="277177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380598" y="541020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Modem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516680"/>
      </p:ext>
    </p:extLst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716</TotalTime>
  <Words>842</Words>
  <Application>Microsoft Office PowerPoint</Application>
  <PresentationFormat>On-screen Show (4:3)</PresentationFormat>
  <Paragraphs>111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Slipstream</vt:lpstr>
      <vt:lpstr>INTRODUCTION TO ICT AND GENERAL CONCEPTS</vt:lpstr>
      <vt:lpstr>OBJECTIVES</vt:lpstr>
      <vt:lpstr>What is ICT</vt:lpstr>
      <vt:lpstr>Data</vt:lpstr>
      <vt:lpstr>Information</vt:lpstr>
      <vt:lpstr>Systems</vt:lpstr>
      <vt:lpstr>Systems cont…</vt:lpstr>
      <vt:lpstr>Computer System</vt:lpstr>
      <vt:lpstr>Computer System cont..</vt:lpstr>
      <vt:lpstr>Components of a Computer</vt:lpstr>
      <vt:lpstr>Components of a Computer(Conti..)</vt:lpstr>
      <vt:lpstr>Components of a Computer(Conti..)</vt:lpstr>
      <vt:lpstr>Components of a Computer(Conti..)</vt:lpstr>
      <vt:lpstr>Components of a Computer(Conti..)</vt:lpstr>
      <vt:lpstr>Components of a Computer(Cont..)</vt:lpstr>
      <vt:lpstr>Components of a Computer(Conti..)</vt:lpstr>
      <vt:lpstr>Components of a Computer(Cont..)</vt:lpstr>
      <vt:lpstr>Components of a Computer(Conti..)</vt:lpstr>
      <vt:lpstr>Components of a Computer(Cont..)</vt:lpstr>
      <vt:lpstr>Components of a Computer(Conti..)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ICT AND GENERAL CONCEPTS</dc:title>
  <dc:creator>HKumwembe</dc:creator>
  <cp:lastModifiedBy>HKumwembe</cp:lastModifiedBy>
  <cp:revision>113</cp:revision>
  <dcterms:created xsi:type="dcterms:W3CDTF">2013-08-30T07:55:54Z</dcterms:created>
  <dcterms:modified xsi:type="dcterms:W3CDTF">2013-09-02T09:40:47Z</dcterms:modified>
</cp:coreProperties>
</file>