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99" r:id="rId7"/>
    <p:sldId id="260" r:id="rId8"/>
    <p:sldId id="261" r:id="rId9"/>
    <p:sldId id="284" r:id="rId10"/>
    <p:sldId id="263" r:id="rId11"/>
    <p:sldId id="268" r:id="rId12"/>
    <p:sldId id="266" r:id="rId13"/>
    <p:sldId id="267" r:id="rId14"/>
    <p:sldId id="264" r:id="rId15"/>
    <p:sldId id="265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5" r:id="rId32"/>
    <p:sldId id="286" r:id="rId33"/>
    <p:sldId id="287" r:id="rId34"/>
    <p:sldId id="288" r:id="rId35"/>
    <p:sldId id="295" r:id="rId36"/>
    <p:sldId id="296" r:id="rId37"/>
    <p:sldId id="297" r:id="rId38"/>
    <p:sldId id="298" r:id="rId39"/>
    <p:sldId id="289" r:id="rId40"/>
    <p:sldId id="290" r:id="rId41"/>
    <p:sldId id="291" r:id="rId42"/>
    <p:sldId id="292" r:id="rId43"/>
    <p:sldId id="294" r:id="rId44"/>
    <p:sldId id="29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57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86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34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04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4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41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06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6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96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23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1CEF2-034F-4313-B52C-779F43FAADDC}" type="datetimeFigureOut">
              <a:rPr lang="en-US" smtClean="0"/>
              <a:t>7/1/2023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08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COCOT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u="sng" dirty="0" smtClean="0">
                <a:solidFill>
                  <a:srgbClr val="FF0000"/>
                </a:solidFill>
              </a:rPr>
              <a:t>Data Representation</a:t>
            </a:r>
            <a:endParaRPr lang="en-US" sz="44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49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dirty="0"/>
              <a:t>Data </a:t>
            </a:r>
            <a:r>
              <a:rPr lang="en-US" dirty="0"/>
              <a:t>refers to the symbols that represent </a:t>
            </a:r>
            <a:r>
              <a:rPr lang="en-US" dirty="0" smtClean="0"/>
              <a:t>people, events</a:t>
            </a:r>
            <a:r>
              <a:rPr lang="en-US" dirty="0"/>
              <a:t>, things, and </a:t>
            </a:r>
            <a:r>
              <a:rPr lang="en-US" dirty="0" smtClean="0"/>
              <a:t>ideas.</a:t>
            </a:r>
          </a:p>
          <a:p>
            <a:r>
              <a:rPr lang="en-US" dirty="0" smtClean="0"/>
              <a:t>Data </a:t>
            </a:r>
            <a:r>
              <a:rPr lang="en-US" dirty="0"/>
              <a:t>can be a name, </a:t>
            </a:r>
            <a:r>
              <a:rPr lang="en-US" dirty="0" smtClean="0"/>
              <a:t>a number</a:t>
            </a:r>
            <a:r>
              <a:rPr lang="en-US" dirty="0"/>
              <a:t>, the colors in a photograph, or the notes </a:t>
            </a:r>
            <a:r>
              <a:rPr lang="en-US" dirty="0" smtClean="0"/>
              <a:t>in a </a:t>
            </a:r>
            <a:r>
              <a:rPr lang="en-US" dirty="0"/>
              <a:t>musical composition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i="1" dirty="0"/>
              <a:t>Data Representation </a:t>
            </a:r>
            <a:r>
              <a:rPr lang="en-US" dirty="0"/>
              <a:t>refers to the form in </a:t>
            </a:r>
            <a:r>
              <a:rPr lang="en-US" dirty="0" smtClean="0"/>
              <a:t>which data </a:t>
            </a:r>
            <a:r>
              <a:rPr lang="en-US" dirty="0"/>
              <a:t>is stored, processed, and transmitted</a:t>
            </a:r>
            <a:r>
              <a:rPr lang="en-US" dirty="0" smtClean="0"/>
              <a:t>.</a:t>
            </a:r>
          </a:p>
          <a:p>
            <a:r>
              <a:rPr lang="en-US" dirty="0"/>
              <a:t>Devices such as smartphones, iPods, </a:t>
            </a:r>
            <a:r>
              <a:rPr lang="en-US" dirty="0" smtClean="0"/>
              <a:t>and computers </a:t>
            </a:r>
            <a:r>
              <a:rPr lang="en-US" dirty="0"/>
              <a:t>store data in digital formats that can </a:t>
            </a:r>
            <a:r>
              <a:rPr lang="en-US" dirty="0" smtClean="0"/>
              <a:t>be handled </a:t>
            </a:r>
            <a:r>
              <a:rPr lang="en-US" dirty="0"/>
              <a:t>by electronic circuitry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8748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Number systems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Number Systems </a:t>
            </a:r>
            <a:r>
              <a:rPr lang="en-US" dirty="0" smtClean="0"/>
              <a:t>are techniques used to represent numbers in the computer system architecture.</a:t>
            </a:r>
          </a:p>
          <a:p>
            <a:r>
              <a:rPr lang="en-US" dirty="0" smtClean="0"/>
              <a:t>Every value that you are saving or getting into/from computer has a defined number system.</a:t>
            </a:r>
          </a:p>
          <a:p>
            <a:endParaRPr lang="en-US" dirty="0" smtClean="0"/>
          </a:p>
          <a:p>
            <a:r>
              <a:rPr lang="en-US" dirty="0" smtClean="0"/>
              <a:t>Computer architecture supports the following number systems.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 smtClean="0"/>
              <a:t>Decimal Number System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 smtClean="0"/>
              <a:t>Binary Number System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 smtClean="0"/>
              <a:t>Octal Number System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 smtClean="0"/>
              <a:t>Hexadecimal Number System</a:t>
            </a:r>
          </a:p>
        </p:txBody>
      </p:sp>
    </p:spTree>
    <p:extLst>
      <p:ext uri="{BB962C8B-B14F-4D97-AF65-F5344CB8AC3E}">
        <p14:creationId xmlns:p14="http://schemas.microsoft.com/office/powerpoint/2010/main" val="3938188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1. Decimal Number System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Decimal Number System </a:t>
            </a:r>
            <a:r>
              <a:rPr lang="en-US" dirty="0" smtClean="0"/>
              <a:t> has only ten (10) digits from </a:t>
            </a:r>
            <a:r>
              <a:rPr lang="en-US" b="1" dirty="0" smtClean="0"/>
              <a:t>0 </a:t>
            </a:r>
            <a:r>
              <a:rPr lang="en-US" dirty="0" smtClean="0"/>
              <a:t>to </a:t>
            </a:r>
            <a:r>
              <a:rPr lang="en-US" b="1" dirty="0" smtClean="0"/>
              <a:t>9.</a:t>
            </a:r>
          </a:p>
          <a:p>
            <a:r>
              <a:rPr lang="en-US" dirty="0" smtClean="0"/>
              <a:t>Every number represented with 0,1,2,3,4,5,6,7,8 and 9 is in this number system.</a:t>
            </a:r>
          </a:p>
          <a:p>
            <a:r>
              <a:rPr lang="en-US" dirty="0" smtClean="0"/>
              <a:t>The base of decimal number system is </a:t>
            </a:r>
            <a:r>
              <a:rPr lang="en-US" b="1" dirty="0" smtClean="0"/>
              <a:t>10 </a:t>
            </a:r>
            <a:r>
              <a:rPr lang="en-US" dirty="0" smtClean="0"/>
              <a:t>because it has only </a:t>
            </a:r>
            <a:r>
              <a:rPr lang="en-US" b="1" dirty="0" smtClean="0"/>
              <a:t>ten</a:t>
            </a:r>
            <a:r>
              <a:rPr lang="en-US" dirty="0" smtClean="0"/>
              <a:t> digits.</a:t>
            </a:r>
          </a:p>
          <a:p>
            <a:r>
              <a:rPr lang="en-US" dirty="0" smtClean="0"/>
              <a:t>This number system is also referred to as </a:t>
            </a:r>
            <a:r>
              <a:rPr lang="en-US" b="1" dirty="0" smtClean="0"/>
              <a:t>base-10</a:t>
            </a:r>
            <a:r>
              <a:rPr lang="en-US" dirty="0" smtClean="0"/>
              <a:t> Number System.</a:t>
            </a:r>
          </a:p>
          <a:p>
            <a:r>
              <a:rPr lang="en-US" dirty="0" smtClean="0"/>
              <a:t>This is the number system that humans normally use.</a:t>
            </a:r>
          </a:p>
          <a:p>
            <a:r>
              <a:rPr lang="en-US" dirty="0" smtClean="0"/>
              <a:t>The prefix </a:t>
            </a:r>
            <a:r>
              <a:rPr lang="en-US" b="1" dirty="0" err="1" smtClean="0"/>
              <a:t>deci</a:t>
            </a:r>
            <a:r>
              <a:rPr lang="en-US" b="1" dirty="0" smtClean="0"/>
              <a:t> </a:t>
            </a:r>
            <a:r>
              <a:rPr lang="en-US" dirty="0" smtClean="0"/>
              <a:t>means tenth, hence the name.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81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dirty="0" smtClean="0">
                <a:solidFill>
                  <a:srgbClr val="FF0000"/>
                </a:solidFill>
              </a:rPr>
              <a:t>. Binary Number System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Binary System has only two (2) digits:</a:t>
            </a:r>
            <a:r>
              <a:rPr lang="en-US" b="1" dirty="0" smtClean="0"/>
              <a:t> 0 </a:t>
            </a:r>
            <a:r>
              <a:rPr lang="en-US" dirty="0" smtClean="0"/>
              <a:t>and </a:t>
            </a:r>
            <a:r>
              <a:rPr lang="en-US" b="1" dirty="0" smtClean="0"/>
              <a:t>1.</a:t>
            </a:r>
          </a:p>
          <a:p>
            <a:r>
              <a:rPr lang="en-US" dirty="0" smtClean="0"/>
              <a:t>Every number (value) represented with 0 and 1 is this number system.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base</a:t>
            </a:r>
            <a:r>
              <a:rPr lang="en-US" dirty="0" smtClean="0"/>
              <a:t> of binary number system is </a:t>
            </a:r>
            <a:r>
              <a:rPr lang="en-US" b="1" dirty="0" smtClean="0"/>
              <a:t>2</a:t>
            </a:r>
            <a:r>
              <a:rPr lang="en-US" dirty="0" smtClean="0"/>
              <a:t> because it has only </a:t>
            </a:r>
            <a:r>
              <a:rPr lang="en-US" b="1" dirty="0" smtClean="0"/>
              <a:t>two </a:t>
            </a:r>
            <a:r>
              <a:rPr lang="en-US" dirty="0" smtClean="0"/>
              <a:t>digits.</a:t>
            </a:r>
          </a:p>
          <a:p>
            <a:r>
              <a:rPr lang="en-US" dirty="0" smtClean="0"/>
              <a:t>The 0s and 1s are referred to as </a:t>
            </a:r>
            <a:r>
              <a:rPr lang="en-US" b="1" i="1" dirty="0" smtClean="0"/>
              <a:t>bits</a:t>
            </a:r>
            <a:r>
              <a:rPr lang="en-US" dirty="0" smtClean="0"/>
              <a:t> (</a:t>
            </a:r>
            <a:r>
              <a:rPr lang="en-US" b="1" dirty="0" smtClean="0"/>
              <a:t>bi</a:t>
            </a:r>
            <a:r>
              <a:rPr lang="en-US" dirty="0" smtClean="0"/>
              <a:t>nary</a:t>
            </a:r>
            <a:r>
              <a:rPr lang="en-US" b="1" dirty="0" smtClean="0"/>
              <a:t> </a:t>
            </a:r>
            <a:r>
              <a:rPr lang="en-US" dirty="0" smtClean="0"/>
              <a:t>digi</a:t>
            </a:r>
            <a:r>
              <a:rPr lang="en-US" b="1" dirty="0" smtClean="0"/>
              <a:t>ts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This number system is also referred to as </a:t>
            </a:r>
            <a:r>
              <a:rPr lang="en-US" b="1" dirty="0" smtClean="0"/>
              <a:t>base-2</a:t>
            </a:r>
            <a:r>
              <a:rPr lang="en-US" dirty="0" smtClean="0"/>
              <a:t> Number System.</a:t>
            </a:r>
          </a:p>
          <a:p>
            <a:r>
              <a:rPr lang="en-US" dirty="0" smtClean="0"/>
              <a:t>For example, the number 2 is represented as 10 in binary number system.</a:t>
            </a:r>
          </a:p>
          <a:p>
            <a:r>
              <a:rPr lang="en-US" dirty="0" smtClean="0"/>
              <a:t>The prefix </a:t>
            </a:r>
            <a:r>
              <a:rPr lang="en-US" b="1" dirty="0" smtClean="0"/>
              <a:t>bi </a:t>
            </a:r>
            <a:r>
              <a:rPr lang="en-US" dirty="0" smtClean="0"/>
              <a:t>means two, hence the name.</a:t>
            </a:r>
          </a:p>
          <a:p>
            <a:r>
              <a:rPr lang="en-US" dirty="0"/>
              <a:t>It is fundamental to representing and manipulating data in computers and other digital </a:t>
            </a:r>
            <a:r>
              <a:rPr lang="en-US" dirty="0" smtClean="0"/>
              <a:t>systems.</a:t>
            </a:r>
          </a:p>
          <a:p>
            <a:r>
              <a:rPr lang="en-US" dirty="0" smtClean="0"/>
              <a:t>Binary </a:t>
            </a:r>
            <a:r>
              <a:rPr lang="en-US" dirty="0"/>
              <a:t>is used to store and process information at the lowest level in computing devices.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49633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group of </a:t>
            </a:r>
            <a:r>
              <a:rPr lang="en-US" b="1" dirty="0" smtClean="0"/>
              <a:t>eight</a:t>
            </a:r>
            <a:r>
              <a:rPr lang="en-US" dirty="0" smtClean="0"/>
              <a:t> bits is called </a:t>
            </a:r>
            <a:r>
              <a:rPr lang="en-US" b="1" i="1" dirty="0" smtClean="0"/>
              <a:t>a byte</a:t>
            </a:r>
            <a:r>
              <a:rPr lang="en-US" dirty="0" smtClean="0"/>
              <a:t>, and is usually abbreviated as uppercase </a:t>
            </a:r>
            <a:r>
              <a:rPr lang="en-US" b="1" dirty="0" smtClean="0"/>
              <a:t>B.</a:t>
            </a:r>
          </a:p>
          <a:p>
            <a:r>
              <a:rPr lang="en-US" dirty="0" smtClean="0"/>
              <a:t>A group of </a:t>
            </a:r>
            <a:r>
              <a:rPr lang="en-US" b="1" dirty="0" smtClean="0"/>
              <a:t>4</a:t>
            </a:r>
            <a:r>
              <a:rPr lang="en-US" dirty="0" smtClean="0"/>
              <a:t> bits is called a </a:t>
            </a:r>
            <a:r>
              <a:rPr lang="en-US" b="1" i="1" dirty="0" smtClean="0"/>
              <a:t>nibble..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98600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b="1" dirty="0" smtClean="0">
                <a:solidFill>
                  <a:srgbClr val="FF0000"/>
                </a:solidFill>
              </a:rPr>
              <a:t>. Octal Number System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Octal Number System has only eight (8) digits from </a:t>
            </a:r>
            <a:r>
              <a:rPr lang="en-US" b="1" dirty="0" smtClean="0"/>
              <a:t>0</a:t>
            </a:r>
            <a:r>
              <a:rPr lang="en-US" dirty="0" smtClean="0"/>
              <a:t> to </a:t>
            </a:r>
            <a:r>
              <a:rPr lang="en-US" b="1" dirty="0" smtClean="0"/>
              <a:t>7.</a:t>
            </a:r>
          </a:p>
          <a:p>
            <a:r>
              <a:rPr lang="en-US" dirty="0" smtClean="0"/>
              <a:t>Every number (value) represented with 0,1,2,3,4,5,6 and 7 is in this number system.</a:t>
            </a:r>
          </a:p>
          <a:p>
            <a:r>
              <a:rPr lang="en-US" dirty="0" smtClean="0"/>
              <a:t>The base of the Octal number system is </a:t>
            </a:r>
            <a:r>
              <a:rPr lang="en-US" b="1" dirty="0" smtClean="0"/>
              <a:t>8 </a:t>
            </a:r>
            <a:r>
              <a:rPr lang="en-US" dirty="0" smtClean="0"/>
              <a:t>because it has only </a:t>
            </a:r>
            <a:r>
              <a:rPr lang="en-US" b="1" dirty="0" smtClean="0"/>
              <a:t>eight </a:t>
            </a:r>
            <a:r>
              <a:rPr lang="en-US" dirty="0" smtClean="0"/>
              <a:t>digits</a:t>
            </a:r>
            <a:r>
              <a:rPr lang="en-US" b="1" dirty="0" smtClean="0"/>
              <a:t>.</a:t>
            </a:r>
          </a:p>
          <a:p>
            <a:r>
              <a:rPr lang="en-US" dirty="0" smtClean="0"/>
              <a:t>This number system is also referred to as </a:t>
            </a:r>
            <a:r>
              <a:rPr lang="en-US" b="1" dirty="0" smtClean="0"/>
              <a:t>base-8 </a:t>
            </a:r>
            <a:r>
              <a:rPr lang="en-US" dirty="0" smtClean="0"/>
              <a:t>Number System.</a:t>
            </a:r>
            <a:endParaRPr lang="en-US" b="1" dirty="0" smtClean="0"/>
          </a:p>
          <a:p>
            <a:r>
              <a:rPr lang="en-US" dirty="0" smtClean="0"/>
              <a:t>For Example, the number 10 is represented as 12 in Octal Number System.</a:t>
            </a:r>
          </a:p>
          <a:p>
            <a:r>
              <a:rPr lang="en-US" dirty="0" smtClean="0"/>
              <a:t>The word </a:t>
            </a:r>
            <a:r>
              <a:rPr lang="en-US" b="1" dirty="0" smtClean="0"/>
              <a:t>octal </a:t>
            </a:r>
            <a:r>
              <a:rPr lang="en-US" dirty="0" smtClean="0"/>
              <a:t>means eight, hence the name.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504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3. Hexadecimal Number System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Hexadecimal Number System has sixteen (16) alphanumeric values from </a:t>
            </a:r>
            <a:r>
              <a:rPr lang="en-US" b="1" dirty="0" smtClean="0"/>
              <a:t>0</a:t>
            </a:r>
            <a:r>
              <a:rPr lang="en-US" dirty="0" smtClean="0"/>
              <a:t> to </a:t>
            </a:r>
            <a:r>
              <a:rPr lang="en-US" b="1" dirty="0" smtClean="0"/>
              <a:t>9</a:t>
            </a:r>
            <a:r>
              <a:rPr lang="en-US" dirty="0" smtClean="0"/>
              <a:t> and </a:t>
            </a:r>
            <a:r>
              <a:rPr lang="en-US" b="1" dirty="0" smtClean="0"/>
              <a:t>A</a:t>
            </a:r>
            <a:r>
              <a:rPr lang="en-US" dirty="0" smtClean="0"/>
              <a:t> to </a:t>
            </a:r>
            <a:r>
              <a:rPr lang="en-US" b="1" dirty="0" smtClean="0"/>
              <a:t>F.</a:t>
            </a:r>
          </a:p>
          <a:p>
            <a:r>
              <a:rPr lang="en-US" dirty="0" smtClean="0"/>
              <a:t>Every number represented with </a:t>
            </a:r>
            <a:r>
              <a:rPr lang="en-US" b="1" dirty="0" smtClean="0"/>
              <a:t>0,1,2,3,4,5,6,7,8,9,A,B,C,D,E </a:t>
            </a:r>
            <a:r>
              <a:rPr lang="en-US" dirty="0" smtClean="0"/>
              <a:t>and</a:t>
            </a:r>
            <a:r>
              <a:rPr lang="en-US" b="1" dirty="0" smtClean="0"/>
              <a:t> F </a:t>
            </a:r>
            <a:r>
              <a:rPr lang="en-US" dirty="0" smtClean="0"/>
              <a:t>is in this number system.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base</a:t>
            </a:r>
            <a:r>
              <a:rPr lang="en-US" dirty="0" smtClean="0"/>
              <a:t> of hexadecimal number system is </a:t>
            </a:r>
            <a:r>
              <a:rPr lang="en-US" b="1" dirty="0" smtClean="0"/>
              <a:t>16 </a:t>
            </a:r>
            <a:r>
              <a:rPr lang="en-US" dirty="0" smtClean="0"/>
              <a:t>because it has sixteen alphanumeric values.</a:t>
            </a:r>
          </a:p>
          <a:p>
            <a:r>
              <a:rPr lang="en-US" dirty="0" smtClean="0"/>
              <a:t>Here </a:t>
            </a:r>
            <a:r>
              <a:rPr lang="en-US" b="1" dirty="0" smtClean="0"/>
              <a:t>A</a:t>
            </a:r>
            <a:r>
              <a:rPr lang="en-US" dirty="0" smtClean="0"/>
              <a:t> is </a:t>
            </a:r>
            <a:r>
              <a:rPr lang="en-US" b="1" dirty="0" smtClean="0"/>
              <a:t>10</a:t>
            </a:r>
            <a:r>
              <a:rPr lang="en-US" dirty="0" smtClean="0"/>
              <a:t>, </a:t>
            </a:r>
            <a:r>
              <a:rPr lang="en-US" b="1" dirty="0" smtClean="0"/>
              <a:t>B</a:t>
            </a:r>
            <a:r>
              <a:rPr lang="en-US" dirty="0" smtClean="0"/>
              <a:t> is </a:t>
            </a:r>
            <a:r>
              <a:rPr lang="en-US" b="1" dirty="0" smtClean="0"/>
              <a:t>11</a:t>
            </a:r>
            <a:r>
              <a:rPr lang="en-US" dirty="0" smtClean="0"/>
              <a:t>, </a:t>
            </a:r>
            <a:r>
              <a:rPr lang="en-US" b="1" dirty="0" smtClean="0"/>
              <a:t>C</a:t>
            </a:r>
            <a:r>
              <a:rPr lang="en-US" dirty="0" smtClean="0"/>
              <a:t> is </a:t>
            </a:r>
            <a:r>
              <a:rPr lang="en-US" b="1" dirty="0" smtClean="0"/>
              <a:t>12</a:t>
            </a:r>
            <a:r>
              <a:rPr lang="en-US" dirty="0" smtClean="0"/>
              <a:t>, </a:t>
            </a:r>
            <a:r>
              <a:rPr lang="en-US" b="1" dirty="0" smtClean="0"/>
              <a:t>D </a:t>
            </a:r>
            <a:r>
              <a:rPr lang="en-US" dirty="0" smtClean="0"/>
              <a:t>is </a:t>
            </a:r>
            <a:r>
              <a:rPr lang="en-US" b="1" dirty="0" smtClean="0"/>
              <a:t>13</a:t>
            </a:r>
            <a:r>
              <a:rPr lang="en-US" dirty="0" smtClean="0"/>
              <a:t>, </a:t>
            </a:r>
            <a:r>
              <a:rPr lang="en-US" b="1" dirty="0" smtClean="0"/>
              <a:t>E</a:t>
            </a:r>
            <a:r>
              <a:rPr lang="en-US" dirty="0" smtClean="0"/>
              <a:t> is </a:t>
            </a:r>
            <a:r>
              <a:rPr lang="en-US" b="1" dirty="0" smtClean="0"/>
              <a:t>14</a:t>
            </a:r>
            <a:r>
              <a:rPr lang="en-US" dirty="0" smtClean="0"/>
              <a:t>, and </a:t>
            </a:r>
            <a:r>
              <a:rPr lang="en-US" b="1" dirty="0" smtClean="0"/>
              <a:t>F</a:t>
            </a:r>
            <a:r>
              <a:rPr lang="en-US" dirty="0" smtClean="0"/>
              <a:t> is </a:t>
            </a:r>
            <a:r>
              <a:rPr lang="en-US" b="1" dirty="0" smtClean="0"/>
              <a:t>15.</a:t>
            </a:r>
          </a:p>
          <a:p>
            <a:r>
              <a:rPr lang="en-US" dirty="0" smtClean="0"/>
              <a:t>This number system is also referred to as </a:t>
            </a:r>
            <a:r>
              <a:rPr lang="en-US" b="1" dirty="0" smtClean="0"/>
              <a:t>base-16</a:t>
            </a:r>
            <a:r>
              <a:rPr lang="en-US" dirty="0" smtClean="0"/>
              <a:t> Number System.</a:t>
            </a:r>
          </a:p>
          <a:p>
            <a:r>
              <a:rPr lang="en-US" dirty="0"/>
              <a:t>Hexadecimal is extensively used in programming, especially for representing memory addresses, color codes, and </a:t>
            </a:r>
            <a:r>
              <a:rPr lang="en-US" dirty="0" smtClean="0"/>
              <a:t>others. </a:t>
            </a:r>
          </a:p>
          <a:p>
            <a:r>
              <a:rPr lang="en-US" dirty="0" smtClean="0"/>
              <a:t>It </a:t>
            </a:r>
            <a:r>
              <a:rPr lang="en-US" dirty="0"/>
              <a:t>is also used in various technical fields like networking, cryptography, and assembly language programming.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6318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Table showing decimal numbers and their equivalents in Binary, Octal and Hexadecimal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748" y="1507405"/>
            <a:ext cx="2875936" cy="4669558"/>
          </a:xfrm>
        </p:spPr>
      </p:pic>
    </p:spTree>
    <p:extLst>
      <p:ext uri="{BB962C8B-B14F-4D97-AF65-F5344CB8AC3E}">
        <p14:creationId xmlns:p14="http://schemas.microsoft.com/office/powerpoint/2010/main" val="214673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Number System Conversion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Number Systems can be converted from one system to another and vice versa.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b="1" u="sng" dirty="0" smtClean="0">
                <a:solidFill>
                  <a:srgbClr val="FF0000"/>
                </a:solidFill>
              </a:rPr>
              <a:t>CONVERTING FROM BASE-10 TO OTHER BASES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To convert Number System from </a:t>
            </a:r>
            <a:r>
              <a:rPr lang="en-US" b="1" dirty="0" smtClean="0"/>
              <a:t>Decimal Number System </a:t>
            </a:r>
            <a:r>
              <a:rPr lang="en-US" dirty="0" smtClean="0"/>
              <a:t>to </a:t>
            </a:r>
            <a:r>
              <a:rPr lang="en-US" b="1" dirty="0" smtClean="0"/>
              <a:t>Any Other Number System </a:t>
            </a:r>
            <a:r>
              <a:rPr lang="en-US" dirty="0" smtClean="0"/>
              <a:t>is quite easy.</a:t>
            </a:r>
          </a:p>
          <a:p>
            <a:endParaRPr lang="en-US" dirty="0" smtClean="0"/>
          </a:p>
          <a:p>
            <a:r>
              <a:rPr lang="en-US" dirty="0" smtClean="0"/>
              <a:t>The following two steps can be followed to do this conversion: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Divide the Number (</a:t>
            </a:r>
            <a:r>
              <a:rPr lang="en-US" b="1" dirty="0" smtClean="0"/>
              <a:t>Decimal Number</a:t>
            </a:r>
            <a:r>
              <a:rPr lang="en-US" dirty="0" smtClean="0"/>
              <a:t>) by the base of the target base system (in which you want to convert the number to : Binary (2), Octal (8), Hexadecimal (16)).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Write the remainder in step 1 as a Least Significant Bit (</a:t>
            </a:r>
            <a:r>
              <a:rPr lang="en-US" b="1" dirty="0" smtClean="0"/>
              <a:t>LSB</a:t>
            </a:r>
            <a:r>
              <a:rPr lang="en-US" dirty="0" smtClean="0"/>
              <a:t>) to Step last as a Most Significant Bit (</a:t>
            </a:r>
            <a:r>
              <a:rPr lang="en-US" b="1" dirty="0" smtClean="0"/>
              <a:t>MSB</a:t>
            </a:r>
            <a:r>
              <a:rPr lang="en-US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35254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26" name="Picture 2" descr="How to Convert Decimal to Binary and Binary to Decimal - Owlca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106" y="1825625"/>
            <a:ext cx="608578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476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1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Convert </a:t>
            </a:r>
            <a:r>
              <a:rPr lang="en-US" dirty="0"/>
              <a:t>8</a:t>
            </a:r>
            <a:r>
              <a:rPr lang="en-US" baseline="-25000" dirty="0" smtClean="0"/>
              <a:t>10</a:t>
            </a:r>
            <a:r>
              <a:rPr lang="en-US" dirty="0" smtClean="0"/>
              <a:t> to Binary number system</a:t>
            </a:r>
            <a:r>
              <a:rPr lang="en-US" baseline="-25000" dirty="0" smtClean="0"/>
              <a:t> </a:t>
            </a:r>
            <a:r>
              <a:rPr lang="en-US" dirty="0" smtClean="0"/>
              <a:t> (base 2).</a:t>
            </a:r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48558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 smtClean="0">
                <a:solidFill>
                  <a:srgbClr val="FF0000"/>
                </a:solidFill>
              </a:rPr>
              <a:t>d/b</a:t>
            </a:r>
            <a:r>
              <a:rPr lang="en-US" sz="2700" dirty="0" smtClean="0"/>
              <a:t> = divider/base</a:t>
            </a:r>
            <a:br>
              <a:rPr lang="en-US" sz="2700" dirty="0" smtClean="0"/>
            </a:br>
            <a:r>
              <a:rPr lang="en-US" sz="2700" dirty="0" smtClean="0">
                <a:solidFill>
                  <a:srgbClr val="FF0000"/>
                </a:solidFill>
              </a:rPr>
              <a:t>q</a:t>
            </a:r>
            <a:r>
              <a:rPr lang="en-US" sz="2700" dirty="0" smtClean="0"/>
              <a:t> = quotient</a:t>
            </a:r>
            <a:br>
              <a:rPr lang="en-US" sz="2700" dirty="0" smtClean="0"/>
            </a:br>
            <a:r>
              <a:rPr lang="en-US" sz="2700" dirty="0" smtClean="0">
                <a:solidFill>
                  <a:srgbClr val="FF0000"/>
                </a:solidFill>
              </a:rPr>
              <a:t>r</a:t>
            </a:r>
            <a:r>
              <a:rPr lang="en-US" sz="2700" dirty="0" smtClean="0"/>
              <a:t> = remainder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Therefore </a:t>
            </a:r>
            <a:r>
              <a:rPr lang="en-US" dirty="0"/>
              <a:t>8</a:t>
            </a:r>
            <a:r>
              <a:rPr lang="en-US" baseline="-25000" dirty="0" smtClean="0"/>
              <a:t>10</a:t>
            </a:r>
            <a:r>
              <a:rPr lang="en-US" dirty="0" smtClean="0"/>
              <a:t> = 1000</a:t>
            </a:r>
            <a:r>
              <a:rPr lang="en-US" baseline="-25000" dirty="0" smtClean="0"/>
              <a:t>2</a:t>
            </a:r>
            <a:endParaRPr lang="en-US" baseline="-25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564" y="2281416"/>
            <a:ext cx="2083213" cy="252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2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2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Convert (45)</a:t>
            </a:r>
            <a:r>
              <a:rPr lang="en-US" baseline="-25000" dirty="0" smtClean="0"/>
              <a:t>10</a:t>
            </a:r>
            <a:r>
              <a:rPr lang="en-US" dirty="0" smtClean="0"/>
              <a:t> to Binary Number System (base 2).</a:t>
            </a:r>
          </a:p>
          <a:p>
            <a:pPr marL="0" indent="0">
              <a:buNone/>
            </a:pP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17989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Therefore, </a:t>
            </a:r>
            <a:r>
              <a:rPr lang="en-US" b="1" dirty="0" smtClean="0"/>
              <a:t>45</a:t>
            </a:r>
            <a:r>
              <a:rPr lang="en-US" baseline="-25000" dirty="0" smtClean="0"/>
              <a:t>10</a:t>
            </a:r>
            <a:r>
              <a:rPr lang="en-US" dirty="0" smtClean="0"/>
              <a:t>  = 101101</a:t>
            </a:r>
            <a:r>
              <a:rPr lang="en-US" baseline="-25000" dirty="0" smtClean="0"/>
              <a:t>2</a:t>
            </a:r>
            <a:endParaRPr lang="en-US" baseline="-25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628" y="1203411"/>
            <a:ext cx="1951401" cy="329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8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Convert 804</a:t>
            </a:r>
            <a:r>
              <a:rPr lang="en-US" baseline="-25000" dirty="0" smtClean="0"/>
              <a:t>10 </a:t>
            </a:r>
            <a:r>
              <a:rPr lang="en-US" dirty="0" smtClean="0"/>
              <a:t> to Octal Number System (Base 8)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1517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Therefore, 804</a:t>
            </a:r>
            <a:r>
              <a:rPr lang="en-US" baseline="-25000" dirty="0" smtClean="0"/>
              <a:t>10</a:t>
            </a:r>
            <a:r>
              <a:rPr lang="en-US" dirty="0" smtClean="0"/>
              <a:t> = 1444</a:t>
            </a:r>
            <a:r>
              <a:rPr lang="en-US" baseline="-25000" dirty="0" smtClean="0"/>
              <a:t>8</a:t>
            </a:r>
            <a:endParaRPr lang="en-US" baseline="-25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846" y="2072775"/>
            <a:ext cx="2590800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Convert 1600</a:t>
            </a:r>
            <a:r>
              <a:rPr lang="en-US" baseline="-25000" dirty="0" smtClean="0"/>
              <a:t>10</a:t>
            </a:r>
            <a:r>
              <a:rPr lang="en-US" dirty="0" smtClean="0"/>
              <a:t> to base-16 Number system</a:t>
            </a:r>
          </a:p>
        </p:txBody>
      </p:sp>
    </p:spTree>
    <p:extLst>
      <p:ext uri="{BB962C8B-B14F-4D97-AF65-F5344CB8AC3E}">
        <p14:creationId xmlns:p14="http://schemas.microsoft.com/office/powerpoint/2010/main" val="176366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Therefore, 1600</a:t>
            </a:r>
            <a:r>
              <a:rPr lang="en-US" baseline="-25000" dirty="0" smtClean="0"/>
              <a:t>10</a:t>
            </a:r>
            <a:r>
              <a:rPr lang="en-US" dirty="0" smtClean="0"/>
              <a:t> = 640</a:t>
            </a:r>
            <a:r>
              <a:rPr lang="en-US" baseline="-25000" dirty="0" smtClean="0"/>
              <a:t>16</a:t>
            </a:r>
            <a:r>
              <a:rPr lang="en-US" dirty="0" smtClean="0"/>
              <a:t> </a:t>
            </a:r>
            <a:endParaRPr lang="en-US" baseline="-25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645" y="1943894"/>
            <a:ext cx="26479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2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Convert 30</a:t>
            </a:r>
            <a:r>
              <a:rPr lang="en-US" baseline="-25000" dirty="0" smtClean="0"/>
              <a:t>10</a:t>
            </a:r>
            <a:r>
              <a:rPr lang="en-US" dirty="0" smtClean="0"/>
              <a:t> to base-16 (Hexadecimal)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77016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On remainder, we have 1 and 14, so, since 14 in base-16 is represented with </a:t>
            </a:r>
            <a:r>
              <a:rPr lang="en-US" b="1" dirty="0" smtClean="0"/>
              <a:t>E 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r>
              <a:rPr lang="en-US" dirty="0" smtClean="0"/>
              <a:t> therefore, </a:t>
            </a:r>
            <a:r>
              <a:rPr lang="en-US" b="1" dirty="0" smtClean="0"/>
              <a:t>30</a:t>
            </a:r>
            <a:r>
              <a:rPr lang="en-US" b="1" baseline="-25000" dirty="0" smtClean="0"/>
              <a:t>10</a:t>
            </a:r>
            <a:r>
              <a:rPr lang="en-US" b="1" dirty="0" smtClean="0"/>
              <a:t> = 1E</a:t>
            </a:r>
            <a:r>
              <a:rPr lang="en-US" b="1" baseline="-25000" dirty="0" smtClean="0"/>
              <a:t>16</a:t>
            </a:r>
            <a:r>
              <a:rPr lang="en-US" b="1" dirty="0" smtClean="0"/>
              <a:t> .</a:t>
            </a:r>
            <a:endParaRPr lang="en-US" b="1" baseline="-25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670" y="2263412"/>
            <a:ext cx="232410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8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sz="2400" b="1" u="sng" dirty="0" smtClean="0">
                <a:solidFill>
                  <a:srgbClr val="FF0000"/>
                </a:solidFill>
              </a:rPr>
              <a:t>CONVERTING FROM OTHER BASES TO BASE-10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To convert Number System from </a:t>
            </a:r>
            <a:r>
              <a:rPr lang="en-US" b="1" dirty="0" smtClean="0"/>
              <a:t>Any Other Number System </a:t>
            </a:r>
            <a:r>
              <a:rPr lang="en-US" dirty="0" smtClean="0"/>
              <a:t>to </a:t>
            </a:r>
            <a:r>
              <a:rPr lang="en-US" b="1" dirty="0" smtClean="0"/>
              <a:t>Decimal Number System</a:t>
            </a:r>
            <a:r>
              <a:rPr lang="en-US" dirty="0" smtClean="0"/>
              <a:t> is quite easy.</a:t>
            </a:r>
          </a:p>
          <a:p>
            <a:r>
              <a:rPr lang="en-US" dirty="0" smtClean="0"/>
              <a:t>The following steps have to be followed: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Identify the base of the given number: Determine the </a:t>
            </a:r>
            <a:r>
              <a:rPr lang="en-US" b="1" dirty="0"/>
              <a:t>base</a:t>
            </a:r>
            <a:r>
              <a:rPr lang="en-US" dirty="0"/>
              <a:t> of the original number</a:t>
            </a:r>
            <a:r>
              <a:rPr lang="en-US" dirty="0" smtClean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Evaluate </a:t>
            </a:r>
            <a:r>
              <a:rPr lang="en-US" b="1" dirty="0"/>
              <a:t>the place value</a:t>
            </a:r>
            <a:r>
              <a:rPr lang="en-US" dirty="0"/>
              <a:t>: Starting from the </a:t>
            </a:r>
            <a:r>
              <a:rPr lang="en-US" b="1" dirty="0"/>
              <a:t>rightmost</a:t>
            </a:r>
            <a:r>
              <a:rPr lang="en-US" dirty="0"/>
              <a:t> digit of the given number, assign a place value to each digit based on its position. The rightmost digit represents the base raised to the power of 0 </a:t>
            </a:r>
            <a:r>
              <a:rPr lang="en-US" dirty="0" smtClean="0"/>
              <a:t>, </a:t>
            </a:r>
            <a:r>
              <a:rPr lang="en-US" dirty="0"/>
              <a:t>the next digit </a:t>
            </a:r>
            <a:r>
              <a:rPr lang="en-US" dirty="0" smtClean="0"/>
              <a:t>raised to power of 1 and so on.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Multiply each digit by its corresponding place value: Multiply each digit of the given number by its respective place value.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Sum up the results: Add up the products obtained from the previous step to get the decimal equivalent of the original number.</a:t>
            </a:r>
          </a:p>
          <a:p>
            <a:pPr marL="457200" lvl="1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137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b="1" dirty="0" smtClean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b="1" dirty="0" smtClean="0"/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Converting from base-2(decimal) to base-10 (decimal)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100100</a:t>
            </a:r>
            <a:r>
              <a:rPr lang="en-US" baseline="-25000" dirty="0" smtClean="0"/>
              <a:t>2 </a:t>
            </a:r>
            <a:r>
              <a:rPr lang="en-US" dirty="0" smtClean="0"/>
              <a:t> = (2</a:t>
            </a:r>
            <a:r>
              <a:rPr lang="en-US" baseline="30000" dirty="0" smtClean="0"/>
              <a:t>5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) +(2</a:t>
            </a:r>
            <a:r>
              <a:rPr lang="en-US" baseline="30000" dirty="0" smtClean="0"/>
              <a:t>4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)+(2</a:t>
            </a:r>
            <a:r>
              <a:rPr lang="en-US" baseline="30000" dirty="0" smtClean="0"/>
              <a:t>3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)+(2</a:t>
            </a:r>
            <a:r>
              <a:rPr lang="en-US" baseline="30000" dirty="0" smtClean="0"/>
              <a:t>2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)+(2</a:t>
            </a:r>
            <a:r>
              <a:rPr lang="en-US" baseline="30000" dirty="0" smtClean="0"/>
              <a:t>1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) + (2</a:t>
            </a:r>
            <a:r>
              <a:rPr lang="en-US" baseline="30000" dirty="0" smtClean="0"/>
              <a:t>0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)</a:t>
            </a:r>
          </a:p>
          <a:p>
            <a:pPr marL="1828800" lvl="4" indent="0">
              <a:buNone/>
            </a:pPr>
            <a:r>
              <a:rPr lang="en-US" baseline="-25000" dirty="0"/>
              <a:t> </a:t>
            </a:r>
            <a:r>
              <a:rPr lang="en-US" dirty="0" smtClean="0"/>
              <a:t> = 32 + 0 + 0 + 4 + 0 +0</a:t>
            </a:r>
          </a:p>
          <a:p>
            <a:pPr marL="1828800" lvl="4" indent="0">
              <a:buNone/>
            </a:pPr>
            <a:r>
              <a:rPr lang="en-US" baseline="-25000" dirty="0" smtClean="0"/>
              <a:t> </a:t>
            </a:r>
            <a:r>
              <a:rPr lang="en-US" dirty="0" smtClean="0"/>
              <a:t> = 36</a:t>
            </a:r>
            <a:r>
              <a:rPr lang="en-US" baseline="-25000" dirty="0" smtClean="0"/>
              <a:t>10</a:t>
            </a:r>
            <a:endParaRPr lang="en-US" baseline="-25000" dirty="0"/>
          </a:p>
          <a:p>
            <a:pPr marL="0" indent="0">
              <a:buNone/>
            </a:pPr>
            <a:endParaRPr lang="en-US" baseline="-25000" dirty="0" smtClean="0"/>
          </a:p>
        </p:txBody>
      </p:sp>
    </p:spTree>
    <p:extLst>
      <p:ext uri="{BB962C8B-B14F-4D97-AF65-F5344CB8AC3E}">
        <p14:creationId xmlns:p14="http://schemas.microsoft.com/office/powerpoint/2010/main" val="163264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 startAt="2"/>
            </a:pPr>
            <a:r>
              <a:rPr lang="en-US" dirty="0" smtClean="0"/>
              <a:t> </a:t>
            </a:r>
            <a:r>
              <a:rPr lang="en-US" b="1" dirty="0" smtClean="0"/>
              <a:t>Converting from base-8(octal) to base-10 (decimal)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2040</a:t>
            </a:r>
            <a:r>
              <a:rPr lang="en-US" baseline="-25000" dirty="0" smtClean="0"/>
              <a:t>8 </a:t>
            </a:r>
            <a:r>
              <a:rPr lang="en-US" dirty="0" smtClean="0"/>
              <a:t> = (8</a:t>
            </a:r>
            <a:r>
              <a:rPr lang="en-US" baseline="30000" dirty="0" smtClean="0"/>
              <a:t>3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)+(8</a:t>
            </a:r>
            <a:r>
              <a:rPr lang="en-US" baseline="30000" dirty="0" smtClean="0"/>
              <a:t>2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)+(8</a:t>
            </a:r>
            <a:r>
              <a:rPr lang="en-US" baseline="30000" dirty="0" smtClean="0"/>
              <a:t>1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)+(8</a:t>
            </a:r>
            <a:r>
              <a:rPr lang="en-US" baseline="30000" dirty="0" smtClean="0"/>
              <a:t>0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)</a:t>
            </a:r>
          </a:p>
          <a:p>
            <a:pPr marL="1371600" lvl="3" indent="0">
              <a:buNone/>
            </a:pPr>
            <a:r>
              <a:rPr lang="en-US" baseline="-25000" dirty="0" smtClean="0"/>
              <a:t> </a:t>
            </a:r>
            <a:r>
              <a:rPr lang="en-US" dirty="0" smtClean="0"/>
              <a:t>   = 1024+0+32+0  </a:t>
            </a:r>
          </a:p>
          <a:p>
            <a:pPr marL="1371600" lvl="3" indent="0">
              <a:buNone/>
            </a:pPr>
            <a:r>
              <a:rPr lang="en-US" baseline="-25000" dirty="0" smtClean="0"/>
              <a:t> </a:t>
            </a:r>
            <a:r>
              <a:rPr lang="en-US" dirty="0" smtClean="0"/>
              <a:t>   =1056</a:t>
            </a:r>
            <a:r>
              <a:rPr lang="en-US" baseline="-25000" dirty="0" smtClean="0"/>
              <a:t>10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62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endParaRPr lang="en-US" b="1" dirty="0" smtClean="0"/>
          </a:p>
          <a:p>
            <a:pPr marL="514350" indent="-514350">
              <a:buFont typeface="+mj-lt"/>
              <a:buAutoNum type="arabicPeriod" startAt="3"/>
            </a:pPr>
            <a:endParaRPr lang="en-US" b="1" dirty="0"/>
          </a:p>
          <a:p>
            <a:pPr marL="514350" indent="-514350">
              <a:buFont typeface="+mj-lt"/>
              <a:buAutoNum type="arabicPeriod" startAt="3"/>
            </a:pPr>
            <a:r>
              <a:rPr lang="en-US" b="1" dirty="0" smtClean="0"/>
              <a:t>Converting from base-16(hexadecimal) to base-10 (decimal)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Convert 1E0D</a:t>
            </a:r>
            <a:r>
              <a:rPr lang="en-US" b="1" baseline="-25000" dirty="0" smtClean="0"/>
              <a:t>16 </a:t>
            </a:r>
            <a:r>
              <a:rPr lang="en-US" b="1" dirty="0" smtClean="0"/>
              <a:t> to base-10</a:t>
            </a:r>
          </a:p>
          <a:p>
            <a:pPr marL="0" indent="0">
              <a:buNone/>
            </a:pPr>
            <a:endParaRPr lang="en-US" b="1" dirty="0" smtClean="0"/>
          </a:p>
          <a:p>
            <a:pPr marL="457200" lvl="1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1E0D</a:t>
            </a:r>
            <a:r>
              <a:rPr lang="en-US" baseline="-25000" dirty="0" smtClean="0"/>
              <a:t>16 </a:t>
            </a:r>
            <a:r>
              <a:rPr lang="en-US" dirty="0" smtClean="0"/>
              <a:t> = (16</a:t>
            </a:r>
            <a:r>
              <a:rPr lang="en-US" baseline="30000" dirty="0" smtClean="0"/>
              <a:t>3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) + (16</a:t>
            </a:r>
            <a:r>
              <a:rPr lang="en-US" baseline="30000" dirty="0" smtClean="0"/>
              <a:t>2</a:t>
            </a:r>
            <a:r>
              <a:rPr lang="en-US" dirty="0" smtClean="0"/>
              <a:t>x </a:t>
            </a:r>
            <a:r>
              <a:rPr lang="en-US" b="1" dirty="0" smtClean="0">
                <a:solidFill>
                  <a:srgbClr val="FF0000"/>
                </a:solidFill>
              </a:rPr>
              <a:t>E</a:t>
            </a:r>
            <a:r>
              <a:rPr lang="en-US" dirty="0" smtClean="0"/>
              <a:t>) + (16</a:t>
            </a:r>
            <a:r>
              <a:rPr lang="en-US" baseline="30000" dirty="0" smtClean="0"/>
              <a:t>1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) + (16</a:t>
            </a:r>
            <a:r>
              <a:rPr lang="en-US" baseline="30000" dirty="0" smtClean="0"/>
              <a:t>0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D</a:t>
            </a:r>
            <a:r>
              <a:rPr lang="en-US" dirty="0" smtClean="0"/>
              <a:t>)</a:t>
            </a:r>
            <a:endParaRPr lang="en-US" baseline="30000" dirty="0" smtClean="0"/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         = (4096 x 1 ) + (256 x 14) + (16 x 0) + (1 x 13)</a:t>
            </a:r>
          </a:p>
          <a:p>
            <a:pPr marL="914400" lvl="2" indent="0">
              <a:buNone/>
            </a:pPr>
            <a:r>
              <a:rPr lang="en-US" dirty="0" smtClean="0"/>
              <a:t>             = 4096 + 3584 + 13</a:t>
            </a:r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         = 7693</a:t>
            </a:r>
            <a:r>
              <a:rPr lang="en-US" baseline="-25000" dirty="0" smtClean="0"/>
              <a:t>10</a:t>
            </a:r>
            <a:r>
              <a:rPr lang="en-US" dirty="0" smtClean="0"/>
              <a:t> 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09202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Converting from base 2 to base 8 and vice versa.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convert from base-2 to base-8: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Group the binary digits: Starting from the rightmost digit of the binary number, group the digits into </a:t>
            </a:r>
            <a:r>
              <a:rPr lang="en-US" b="1" dirty="0"/>
              <a:t>sets of three</a:t>
            </a:r>
            <a:r>
              <a:rPr lang="en-US" dirty="0"/>
              <a:t>. If there are not enough digits to form a complete group of three, </a:t>
            </a:r>
            <a:r>
              <a:rPr lang="en-US" b="1" dirty="0"/>
              <a:t>add leading zeros to the left</a:t>
            </a:r>
            <a:r>
              <a:rPr lang="en-US" dirty="0"/>
              <a:t>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Assign octal digits to each group: Replace each group of three binary digits with the corresponding octal digit</a:t>
            </a:r>
            <a:r>
              <a:rPr lang="en-US" dirty="0" smtClean="0"/>
              <a:t>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Combine the octal digits: Write down the octal digits obtained from the previous step, left to right. This represents the equivalent base-8 number</a:t>
            </a:r>
            <a:r>
              <a:rPr lang="en-US" dirty="0" smtClean="0"/>
              <a:t>.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36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e.g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Convert 110111101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 to base-8 (octal)</a:t>
            </a:r>
          </a:p>
          <a:p>
            <a:r>
              <a:rPr lang="en-US" baseline="-25000" dirty="0" smtClean="0"/>
              <a:t> </a:t>
            </a:r>
            <a:r>
              <a:rPr lang="en-US" dirty="0" smtClean="0"/>
              <a:t> Answer:</a:t>
            </a:r>
            <a:r>
              <a:rPr lang="en-US" baseline="-25000" dirty="0" smtClean="0"/>
              <a:t> 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i="1" dirty="0" smtClean="0"/>
              <a:t>Group the binary digits from the rightmost into sets of 3</a:t>
            </a:r>
          </a:p>
          <a:p>
            <a:pPr marL="0" indent="0">
              <a:buNone/>
            </a:pPr>
            <a:r>
              <a:rPr lang="en-US" i="1" dirty="0"/>
              <a:t> </a:t>
            </a:r>
            <a:r>
              <a:rPr lang="en-US" i="1" dirty="0" smtClean="0"/>
              <a:t>         110       111      101</a:t>
            </a:r>
          </a:p>
          <a:p>
            <a:pPr marL="0" indent="0">
              <a:buNone/>
            </a:pPr>
            <a:r>
              <a:rPr lang="en-US" i="1" dirty="0" smtClean="0"/>
              <a:t> Replace </a:t>
            </a:r>
            <a:r>
              <a:rPr lang="en-US" i="1" dirty="0"/>
              <a:t>each group of three binary digits with the corresponding octal digit</a:t>
            </a:r>
            <a:endParaRPr lang="en-US" i="1" dirty="0" smtClean="0"/>
          </a:p>
          <a:p>
            <a:pPr marL="0" indent="0">
              <a:buNone/>
            </a:pPr>
            <a:r>
              <a:rPr lang="en-US" i="1" dirty="0" smtClean="0"/>
              <a:t>           110 -&gt; </a:t>
            </a:r>
            <a:r>
              <a:rPr lang="en-US" i="1" dirty="0" smtClean="0">
                <a:solidFill>
                  <a:srgbClr val="C00000"/>
                </a:solidFill>
              </a:rPr>
              <a:t>6</a:t>
            </a:r>
            <a:r>
              <a:rPr lang="en-US" i="1" dirty="0" smtClean="0"/>
              <a:t>, 111- &gt;</a:t>
            </a:r>
            <a:r>
              <a:rPr lang="en-US" i="1" dirty="0" smtClean="0">
                <a:solidFill>
                  <a:srgbClr val="C00000"/>
                </a:solidFill>
              </a:rPr>
              <a:t>7</a:t>
            </a:r>
            <a:r>
              <a:rPr lang="en-US" i="1" dirty="0" smtClean="0"/>
              <a:t>, 101-&gt;</a:t>
            </a:r>
            <a:r>
              <a:rPr lang="en-US" b="1" i="1" dirty="0" smtClean="0">
                <a:solidFill>
                  <a:srgbClr val="C00000"/>
                </a:solidFill>
              </a:rPr>
              <a:t>5</a:t>
            </a:r>
          </a:p>
          <a:p>
            <a:pPr marL="0" indent="0">
              <a:buNone/>
            </a:pPr>
            <a:r>
              <a:rPr lang="en-US" i="1" dirty="0" smtClean="0"/>
              <a:t>Combine the octal digits</a:t>
            </a:r>
          </a:p>
          <a:p>
            <a:pPr marL="0" indent="0">
              <a:buNone/>
            </a:pPr>
            <a:r>
              <a:rPr lang="en-US" i="1" dirty="0"/>
              <a:t> </a:t>
            </a:r>
            <a:r>
              <a:rPr lang="en-US" i="1" dirty="0" smtClean="0"/>
              <a:t>           675</a:t>
            </a:r>
          </a:p>
          <a:p>
            <a:pPr marL="0" indent="0">
              <a:buNone/>
            </a:pPr>
            <a:r>
              <a:rPr lang="en-US" i="1" dirty="0" smtClean="0"/>
              <a:t>Therefore, </a:t>
            </a:r>
            <a:r>
              <a:rPr lang="en-US" dirty="0" smtClean="0"/>
              <a:t>110111101</a:t>
            </a:r>
            <a:r>
              <a:rPr lang="en-US" baseline="-25000" dirty="0" smtClean="0"/>
              <a:t>2 </a:t>
            </a:r>
            <a:r>
              <a:rPr lang="en-US" dirty="0"/>
              <a:t> </a:t>
            </a:r>
            <a:r>
              <a:rPr lang="en-US" dirty="0" smtClean="0"/>
              <a:t>= 675</a:t>
            </a:r>
            <a:r>
              <a:rPr lang="en-US" baseline="-25000" dirty="0" smtClean="0"/>
              <a:t>8</a:t>
            </a:r>
          </a:p>
          <a:p>
            <a:pPr marL="0" indent="0">
              <a:buNone/>
            </a:pPr>
            <a:endParaRPr lang="en-US" baseline="-25000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 Try converting 10101010</a:t>
            </a:r>
            <a:r>
              <a:rPr lang="en-US" b="1" baseline="-25000" dirty="0" smtClean="0">
                <a:solidFill>
                  <a:srgbClr val="FF0000"/>
                </a:solidFill>
              </a:rPr>
              <a:t>2</a:t>
            </a:r>
            <a:r>
              <a:rPr lang="en-US" b="1" dirty="0" smtClean="0">
                <a:solidFill>
                  <a:srgbClr val="FF0000"/>
                </a:solidFill>
              </a:rPr>
              <a:t> to base-8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2263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Converting base-8 number system back to base-2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the digits: Starting from the leftmost digit of the base-8 number, identify each digit individually.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Convert each digit to binary: Convert each octal digit to its equivalent binary </a:t>
            </a:r>
            <a:r>
              <a:rPr lang="en-US" dirty="0" smtClean="0"/>
              <a:t>representation.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Combine the binary digits: Write down the binary digits obtained from the previous step, left to right. This represents the equivalent base-2 number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51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E.g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Convert 543</a:t>
            </a:r>
            <a:r>
              <a:rPr lang="en-US" baseline="-25000" dirty="0" smtClean="0">
                <a:solidFill>
                  <a:srgbClr val="FF0000"/>
                </a:solidFill>
              </a:rPr>
              <a:t>8</a:t>
            </a:r>
            <a:r>
              <a:rPr lang="en-US" dirty="0" smtClean="0">
                <a:solidFill>
                  <a:srgbClr val="FF0000"/>
                </a:solidFill>
              </a:rPr>
              <a:t> to </a:t>
            </a:r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dirty="0" smtClean="0">
                <a:solidFill>
                  <a:srgbClr val="FF0000"/>
                </a:solidFill>
              </a:rPr>
              <a:t>inary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 smtClean="0">
                <a:solidFill>
                  <a:srgbClr val="FF0000"/>
                </a:solidFill>
              </a:rPr>
              <a:t>umber System (base-2)</a:t>
            </a:r>
          </a:p>
          <a:p>
            <a:endParaRPr lang="en-US" baseline="-25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baseline="-25000" dirty="0" smtClean="0"/>
              <a:t> </a:t>
            </a:r>
            <a:r>
              <a:rPr lang="en-US" dirty="0" smtClean="0"/>
              <a:t> </a:t>
            </a:r>
            <a:r>
              <a:rPr lang="en-US" b="1" i="1" dirty="0" smtClean="0"/>
              <a:t>Identify the digits, </a:t>
            </a:r>
            <a:r>
              <a:rPr lang="en-US" b="1" i="1" dirty="0" err="1" smtClean="0"/>
              <a:t>i.e</a:t>
            </a:r>
            <a:r>
              <a:rPr lang="en-US" b="1" i="1" dirty="0" smtClean="0"/>
              <a:t> 5,4 and 3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1" baseline="-25000" dirty="0"/>
              <a:t> </a:t>
            </a:r>
            <a:r>
              <a:rPr lang="en-US" b="1" i="1" baseline="-25000" dirty="0" smtClean="0"/>
              <a:t> </a:t>
            </a:r>
            <a:r>
              <a:rPr lang="en-US" b="1" i="1" dirty="0" smtClean="0"/>
              <a:t> Convert each digit to binary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FF0000"/>
                </a:solidFill>
              </a:rPr>
              <a:t>5</a:t>
            </a:r>
            <a:r>
              <a:rPr lang="en-US" dirty="0" smtClean="0"/>
              <a:t> -&gt; 101,</a:t>
            </a:r>
            <a:r>
              <a:rPr lang="en-US" dirty="0" smtClean="0">
                <a:solidFill>
                  <a:srgbClr val="FF0000"/>
                </a:solidFill>
              </a:rPr>
              <a:t> 4 </a:t>
            </a:r>
            <a:r>
              <a:rPr lang="en-US" dirty="0" smtClean="0"/>
              <a:t>-&gt; 100,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-&gt; 011</a:t>
            </a:r>
          </a:p>
          <a:p>
            <a:pPr marL="0" indent="0">
              <a:buNone/>
            </a:pPr>
            <a:r>
              <a:rPr lang="en-US" baseline="-25000" dirty="0"/>
              <a:t> </a:t>
            </a:r>
            <a:r>
              <a:rPr lang="en-US" dirty="0"/>
              <a:t> </a:t>
            </a:r>
            <a:r>
              <a:rPr lang="en-US" dirty="0" smtClean="0"/>
              <a:t>3. </a:t>
            </a:r>
            <a:r>
              <a:rPr lang="en-US" b="1" i="1" dirty="0" smtClean="0"/>
              <a:t>Combine binary digits</a:t>
            </a:r>
          </a:p>
          <a:p>
            <a:pPr marL="0" indent="0">
              <a:buNone/>
            </a:pPr>
            <a:r>
              <a:rPr lang="en-US" i="1" dirty="0"/>
              <a:t> </a:t>
            </a:r>
            <a:r>
              <a:rPr lang="en-US" i="1" dirty="0" smtClean="0"/>
              <a:t>   101100011</a:t>
            </a:r>
            <a:r>
              <a:rPr lang="en-US" i="1" baseline="-25000" dirty="0" smtClean="0"/>
              <a:t>2</a:t>
            </a:r>
          </a:p>
          <a:p>
            <a:pPr marL="0" indent="0">
              <a:buNone/>
            </a:pPr>
            <a:r>
              <a:rPr lang="en-US" i="1" dirty="0" smtClean="0">
                <a:solidFill>
                  <a:srgbClr val="FF0000"/>
                </a:solidFill>
              </a:rPr>
              <a:t>Try: Convert 254</a:t>
            </a:r>
            <a:r>
              <a:rPr lang="en-US" i="1" baseline="-25000" dirty="0" smtClean="0">
                <a:solidFill>
                  <a:srgbClr val="FF0000"/>
                </a:solidFill>
              </a:rPr>
              <a:t>8 </a:t>
            </a:r>
            <a:r>
              <a:rPr lang="en-US" i="1" dirty="0" smtClean="0">
                <a:solidFill>
                  <a:srgbClr val="FF0000"/>
                </a:solidFill>
              </a:rPr>
              <a:t> to base-2</a:t>
            </a:r>
            <a:endParaRPr lang="en-US" i="1" baseline="-250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aseline="-25000" dirty="0" smtClean="0"/>
              <a:t>       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27015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Converting from base 2 to base </a:t>
            </a:r>
            <a:r>
              <a:rPr lang="en-US" sz="2400" dirty="0" smtClean="0">
                <a:solidFill>
                  <a:srgbClr val="FF0000"/>
                </a:solidFill>
              </a:rPr>
              <a:t>16 </a:t>
            </a:r>
            <a:r>
              <a:rPr lang="en-US" sz="2400" dirty="0">
                <a:solidFill>
                  <a:srgbClr val="FF0000"/>
                </a:solidFill>
              </a:rPr>
              <a:t>and vice versa.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Converting from base-2 to base-16:</a:t>
            </a:r>
          </a:p>
          <a:p>
            <a:pPr marL="0" indent="0">
              <a:buNone/>
            </a:pPr>
            <a:endParaRPr lang="en-US" b="1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Group </a:t>
            </a:r>
            <a:r>
              <a:rPr lang="en-US" dirty="0"/>
              <a:t>the binary digits: Starting from the rightmost digit of the binary number, group the digits into sets of </a:t>
            </a:r>
            <a:r>
              <a:rPr lang="en-US" b="1" dirty="0"/>
              <a:t>four</a:t>
            </a:r>
            <a:r>
              <a:rPr lang="en-US" dirty="0"/>
              <a:t>. If there are not enough digits to form a complete group of four, add leading zeros to the left.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Assign hexadecimal digits to each group: Replace each group of four binary digits with the corresponding hexadecimal </a:t>
            </a:r>
            <a:r>
              <a:rPr lang="en-US" dirty="0" smtClean="0"/>
              <a:t>digit.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Combine the hexadecimal digits: Write down the hexadecimal digits obtained from the previous step, left to right.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55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e.g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Convert </a:t>
            </a:r>
            <a:r>
              <a:rPr lang="en-US" b="1" dirty="0"/>
              <a:t>the binary number </a:t>
            </a:r>
            <a:r>
              <a:rPr lang="en-US" b="1" dirty="0" smtClean="0"/>
              <a:t>10101110</a:t>
            </a:r>
            <a:r>
              <a:rPr lang="en-US" b="1" baseline="-25000" dirty="0" smtClean="0"/>
              <a:t>2</a:t>
            </a:r>
            <a:r>
              <a:rPr lang="en-US" b="1" dirty="0" smtClean="0"/>
              <a:t> </a:t>
            </a:r>
            <a:r>
              <a:rPr lang="en-US" b="1" dirty="0"/>
              <a:t>to base-16 (hexadecimal</a:t>
            </a:r>
            <a:r>
              <a:rPr lang="en-US" b="1" dirty="0" smtClean="0"/>
              <a:t>)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Step 1: </a:t>
            </a:r>
            <a:r>
              <a:rPr lang="en-US" dirty="0"/>
              <a:t>Group the binary digits: 1010 </a:t>
            </a:r>
            <a:r>
              <a:rPr lang="en-US" dirty="0" smtClean="0"/>
              <a:t>1110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Step 2: </a:t>
            </a:r>
            <a:r>
              <a:rPr lang="en-US" dirty="0" smtClean="0"/>
              <a:t>Assign hexadecimal digits, 1010 -&gt;10-&gt;</a:t>
            </a:r>
            <a:r>
              <a:rPr lang="en-US" b="1" dirty="0" smtClean="0">
                <a:solidFill>
                  <a:srgbClr val="FF0000"/>
                </a:solidFill>
              </a:rPr>
              <a:t>A</a:t>
            </a:r>
            <a:r>
              <a:rPr lang="en-US" b="1" dirty="0" smtClean="0"/>
              <a:t>, </a:t>
            </a:r>
            <a:r>
              <a:rPr lang="en-US" dirty="0" smtClean="0"/>
              <a:t>1110 -&gt; 16 -&gt; </a:t>
            </a:r>
            <a:r>
              <a:rPr lang="en-US" b="1" dirty="0" smtClean="0">
                <a:solidFill>
                  <a:srgbClr val="FF0000"/>
                </a:solidFill>
              </a:rPr>
              <a:t>E</a:t>
            </a:r>
          </a:p>
          <a:p>
            <a:r>
              <a:rPr lang="en-US" dirty="0">
                <a:solidFill>
                  <a:srgbClr val="FF0000"/>
                </a:solidFill>
              </a:rPr>
              <a:t>Step 3: </a:t>
            </a:r>
            <a:r>
              <a:rPr lang="en-US" dirty="0"/>
              <a:t>Combine the hexadecimal </a:t>
            </a:r>
            <a:r>
              <a:rPr lang="en-US" dirty="0" smtClean="0"/>
              <a:t>digits = </a:t>
            </a:r>
            <a:r>
              <a:rPr lang="en-US" b="1" dirty="0" smtClean="0"/>
              <a:t>AE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Therefore, </a:t>
            </a:r>
            <a:r>
              <a:rPr lang="en-US" b="1" dirty="0" smtClean="0"/>
              <a:t>10101110</a:t>
            </a:r>
            <a:r>
              <a:rPr lang="en-US" baseline="-25000" dirty="0" smtClean="0"/>
              <a:t>2</a:t>
            </a:r>
            <a:r>
              <a:rPr lang="en-US" dirty="0" smtClean="0"/>
              <a:t> to base-16 is </a:t>
            </a:r>
            <a:r>
              <a:rPr lang="en-US" b="1" dirty="0" smtClean="0"/>
              <a:t>AE</a:t>
            </a:r>
            <a:r>
              <a:rPr lang="en-US" baseline="-25000" dirty="0" smtClean="0"/>
              <a:t>16</a:t>
            </a:r>
          </a:p>
          <a:p>
            <a:pPr marL="0" indent="0">
              <a:buNone/>
            </a:pPr>
            <a:endParaRPr lang="en-US" baseline="-25000" dirty="0" smtClean="0"/>
          </a:p>
          <a:p>
            <a:pPr marL="0" indent="0">
              <a:buNone/>
            </a:pPr>
            <a:r>
              <a:rPr lang="en-US" baseline="-25000" dirty="0"/>
              <a:t> </a:t>
            </a:r>
            <a:r>
              <a:rPr lang="en-US" i="1" dirty="0" smtClean="0"/>
              <a:t>Try converting 0101111</a:t>
            </a:r>
            <a:r>
              <a:rPr lang="en-US" i="1" baseline="-25000" dirty="0" smtClean="0"/>
              <a:t>2</a:t>
            </a:r>
            <a:r>
              <a:rPr lang="en-US" i="1" dirty="0" smtClean="0"/>
              <a:t> to base-16</a:t>
            </a:r>
            <a:endParaRPr lang="en-US" i="1" baseline="-25000" dirty="0"/>
          </a:p>
        </p:txBody>
      </p:sp>
    </p:spTree>
    <p:extLst>
      <p:ext uri="{BB962C8B-B14F-4D97-AF65-F5344CB8AC3E}">
        <p14:creationId xmlns:p14="http://schemas.microsoft.com/office/powerpoint/2010/main" val="3860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Converting from base-16 to base-2: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Identify </a:t>
            </a:r>
            <a:r>
              <a:rPr lang="en-US" dirty="0"/>
              <a:t>the hexadecimal digits: Starting from the leftmost digit of the base-16 number, identify each digit individually.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Convert each hexadecimal digit to binary: Convert each hexadecimal digit to its equivalent binary representation</a:t>
            </a:r>
            <a:r>
              <a:rPr lang="en-US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Combine the binary digits: Write down the binary digits obtained from the previous step, left to right. This represents the equivalent base-2 number</a:t>
            </a:r>
            <a:r>
              <a:rPr lang="en-US" dirty="0" smtClean="0"/>
              <a:t>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12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Convert 2F</a:t>
            </a:r>
            <a:r>
              <a:rPr lang="en-US" baseline="-25000" dirty="0" smtClean="0"/>
              <a:t>16 </a:t>
            </a:r>
            <a:r>
              <a:rPr lang="en-US" dirty="0" smtClean="0"/>
              <a:t> to base-2</a:t>
            </a:r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Step 1</a:t>
            </a:r>
            <a:r>
              <a:rPr lang="en-US" b="1" dirty="0" smtClean="0"/>
              <a:t>: Identify the digits: </a:t>
            </a:r>
            <a:r>
              <a:rPr lang="en-US" b="1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</a:p>
          <a:p>
            <a:r>
              <a:rPr lang="en-US" b="1" baseline="-25000" dirty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 Step 2: </a:t>
            </a:r>
            <a:r>
              <a:rPr lang="en-US" b="1" dirty="0" smtClean="0"/>
              <a:t>Convert each digital to binary, 2 -&gt; </a:t>
            </a:r>
            <a:r>
              <a:rPr lang="en-US" b="1" dirty="0" smtClean="0">
                <a:solidFill>
                  <a:srgbClr val="C00000"/>
                </a:solidFill>
              </a:rPr>
              <a:t>0010</a:t>
            </a:r>
            <a:r>
              <a:rPr lang="en-US" b="1" dirty="0" smtClean="0"/>
              <a:t>, F -&gt; </a:t>
            </a:r>
            <a:r>
              <a:rPr lang="en-US" b="1" dirty="0" smtClean="0">
                <a:solidFill>
                  <a:srgbClr val="C00000"/>
                </a:solidFill>
              </a:rPr>
              <a:t>1111</a:t>
            </a:r>
            <a:r>
              <a:rPr lang="en-US" b="1" dirty="0" smtClean="0"/>
              <a:t>;</a:t>
            </a:r>
          </a:p>
          <a:p>
            <a:r>
              <a:rPr lang="en-US" b="1" baseline="-25000" dirty="0"/>
              <a:t> 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Step 3</a:t>
            </a:r>
            <a:r>
              <a:rPr lang="en-US" b="1" dirty="0" smtClean="0"/>
              <a:t>: Combine binary digits</a:t>
            </a:r>
          </a:p>
          <a:p>
            <a:pPr marL="0" indent="0">
              <a:buNone/>
            </a:pPr>
            <a:r>
              <a:rPr lang="en-US" b="1" dirty="0" smtClean="0"/>
              <a:t>  		=00101111</a:t>
            </a:r>
            <a:r>
              <a:rPr lang="en-US" b="1" baseline="-25000" dirty="0" smtClean="0"/>
              <a:t>2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98757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TIP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To convert number system from binary to bases 8 and 16, you can first convert the binary digits to base-10 (decimal) and finally convert it further to base 8 or 16.</a:t>
            </a:r>
          </a:p>
          <a:p>
            <a:endParaRPr lang="en-US" i="1" dirty="0"/>
          </a:p>
          <a:p>
            <a:r>
              <a:rPr lang="en-US" i="1" dirty="0" smtClean="0"/>
              <a:t>Try to convert (using the tip)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10101110</a:t>
            </a:r>
            <a:r>
              <a:rPr lang="en-US" baseline="-25000" dirty="0" smtClean="0"/>
              <a:t>2 </a:t>
            </a:r>
            <a:r>
              <a:rPr lang="en-US" dirty="0" smtClean="0"/>
              <a:t> to base-16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110101010</a:t>
            </a:r>
            <a:r>
              <a:rPr lang="en-US" b="1" baseline="-25000" dirty="0" smtClean="0"/>
              <a:t>2</a:t>
            </a:r>
            <a:r>
              <a:rPr lang="en-US" baseline="-25000" dirty="0" smtClean="0"/>
              <a:t> </a:t>
            </a:r>
            <a:r>
              <a:rPr lang="en-US" dirty="0" smtClean="0"/>
              <a:t> to base-8</a:t>
            </a:r>
            <a:endParaRPr lang="en-US" i="1" baseline="-25000" dirty="0" smtClean="0"/>
          </a:p>
        </p:txBody>
      </p:sp>
    </p:spTree>
    <p:extLst>
      <p:ext uri="{BB962C8B-B14F-4D97-AF65-F5344CB8AC3E}">
        <p14:creationId xmlns:p14="http://schemas.microsoft.com/office/powerpoint/2010/main" val="295219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C00000"/>
                </a:solidFill>
              </a:rPr>
              <a:t>Converting to base-8 from base-16 and vice versa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Converting from base-16 to base-8</a:t>
            </a:r>
          </a:p>
          <a:p>
            <a:r>
              <a:rPr lang="en-US" b="1" dirty="0" smtClean="0"/>
              <a:t>To convert from base-16 to base-8: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First, convert each digit of base-16 number to base-2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Then convert base-2 to base-8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15228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Convert AC</a:t>
            </a:r>
            <a:r>
              <a:rPr lang="en-US" baseline="-25000" dirty="0" smtClean="0"/>
              <a:t>16</a:t>
            </a:r>
            <a:r>
              <a:rPr lang="en-US" dirty="0" smtClean="0"/>
              <a:t> to base-8</a:t>
            </a:r>
          </a:p>
          <a:p>
            <a:endParaRPr lang="en-US" baseline="-25000" dirty="0"/>
          </a:p>
          <a:p>
            <a:r>
              <a:rPr lang="en-US" baseline="-25000" dirty="0"/>
              <a:t> </a:t>
            </a:r>
            <a:r>
              <a:rPr lang="en-US" dirty="0" smtClean="0"/>
              <a:t> Since we have letters, we map them to their Hexadecimal equivalents</a:t>
            </a:r>
          </a:p>
          <a:p>
            <a:r>
              <a:rPr lang="en-US" b="1" dirty="0" smtClean="0"/>
              <a:t>A-</a:t>
            </a:r>
            <a:r>
              <a:rPr lang="en-US" dirty="0" smtClean="0"/>
              <a:t>&gt;10,</a:t>
            </a:r>
            <a:r>
              <a:rPr lang="en-US" b="1" dirty="0" smtClean="0"/>
              <a:t> C-</a:t>
            </a:r>
            <a:r>
              <a:rPr lang="en-US" dirty="0" smtClean="0"/>
              <a:t>&gt;12</a:t>
            </a:r>
          </a:p>
          <a:p>
            <a:r>
              <a:rPr lang="en-US" b="1" dirty="0" smtClean="0"/>
              <a:t>Converting numbers to bits(binary digits)</a:t>
            </a:r>
          </a:p>
          <a:p>
            <a:pPr marL="457200" lvl="1" indent="0">
              <a:buNone/>
            </a:pPr>
            <a:r>
              <a:rPr lang="en-US" dirty="0" smtClean="0"/>
              <a:t>A-&gt;10-&gt;</a:t>
            </a:r>
            <a:r>
              <a:rPr lang="en-US" b="1" dirty="0" smtClean="0"/>
              <a:t>1010, </a:t>
            </a:r>
            <a:r>
              <a:rPr lang="en-US" dirty="0" smtClean="0"/>
              <a:t>C-&gt;12-&gt;</a:t>
            </a:r>
            <a:r>
              <a:rPr lang="en-US" b="1" dirty="0" smtClean="0"/>
              <a:t>1100</a:t>
            </a:r>
          </a:p>
          <a:p>
            <a:pPr marL="457200" lvl="1" indent="0">
              <a:buNone/>
            </a:pPr>
            <a:r>
              <a:rPr lang="en-US" b="1" dirty="0" smtClean="0"/>
              <a:t>= 10101100</a:t>
            </a:r>
          </a:p>
          <a:p>
            <a:pPr marL="457200" lvl="1" indent="0">
              <a:buNone/>
            </a:pPr>
            <a:endParaRPr lang="en-US" b="1" dirty="0" smtClean="0"/>
          </a:p>
          <a:p>
            <a:r>
              <a:rPr lang="en-US" b="1" dirty="0" smtClean="0"/>
              <a:t>Convert the bits to base-8</a:t>
            </a:r>
          </a:p>
          <a:p>
            <a:pPr marL="457200" lvl="1" indent="0">
              <a:buNone/>
            </a:pPr>
            <a:r>
              <a:rPr lang="en-US" b="1" dirty="0" smtClean="0"/>
              <a:t>010 101 100 </a:t>
            </a:r>
            <a:r>
              <a:rPr lang="en-US" dirty="0" smtClean="0"/>
              <a:t>(Group the bits into three sets)</a:t>
            </a:r>
          </a:p>
          <a:p>
            <a:r>
              <a:rPr lang="en-US" b="1" dirty="0" smtClean="0"/>
              <a:t>Convert the bits to their Octal equivalents (or Decimal equivalents)</a:t>
            </a:r>
          </a:p>
          <a:p>
            <a:pPr marL="0" indent="0">
              <a:buNone/>
            </a:pPr>
            <a:r>
              <a:rPr lang="en-US" b="1" dirty="0" smtClean="0"/>
              <a:t>      010</a:t>
            </a:r>
            <a:r>
              <a:rPr lang="en-US" dirty="0" smtClean="0"/>
              <a:t> -&gt;2, </a:t>
            </a:r>
            <a:r>
              <a:rPr lang="en-US" b="1" dirty="0" smtClean="0"/>
              <a:t>101-</a:t>
            </a:r>
            <a:r>
              <a:rPr lang="en-US" dirty="0" smtClean="0"/>
              <a:t>&gt;5, </a:t>
            </a:r>
            <a:r>
              <a:rPr lang="en-US" b="1" dirty="0" smtClean="0"/>
              <a:t>100-</a:t>
            </a:r>
            <a:r>
              <a:rPr lang="en-US" dirty="0" smtClean="0"/>
              <a:t>&gt;4</a:t>
            </a:r>
          </a:p>
          <a:p>
            <a:r>
              <a:rPr lang="en-US" b="1" dirty="0" smtClean="0"/>
              <a:t>Group the digits </a:t>
            </a:r>
          </a:p>
          <a:p>
            <a:pPr marL="0" indent="0">
              <a:buNone/>
            </a:pPr>
            <a:r>
              <a:rPr lang="en-US" b="1" dirty="0" smtClean="0"/>
              <a:t>     254</a:t>
            </a:r>
          </a:p>
          <a:p>
            <a:pPr marL="0" indent="0">
              <a:buNone/>
            </a:pPr>
            <a:r>
              <a:rPr lang="en-US" b="1" dirty="0" smtClean="0"/>
              <a:t>Therefore, AC</a:t>
            </a:r>
            <a:r>
              <a:rPr lang="en-US" b="1" baseline="-25000" dirty="0" smtClean="0"/>
              <a:t>16 </a:t>
            </a:r>
            <a:r>
              <a:rPr lang="en-US" b="1" dirty="0" smtClean="0"/>
              <a:t> = 254</a:t>
            </a:r>
            <a:r>
              <a:rPr lang="en-US" b="1" baseline="-25000" dirty="0" smtClean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6066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Converting from </a:t>
            </a:r>
            <a:r>
              <a:rPr lang="en-US" b="1" dirty="0" smtClean="0"/>
              <a:t>base-8 </a:t>
            </a:r>
            <a:r>
              <a:rPr lang="en-US" b="1" dirty="0"/>
              <a:t>to </a:t>
            </a:r>
            <a:r>
              <a:rPr lang="en-US" b="1" dirty="0" smtClean="0"/>
              <a:t>base-16</a:t>
            </a:r>
            <a:endParaRPr lang="en-US" b="1" dirty="0"/>
          </a:p>
          <a:p>
            <a:r>
              <a:rPr lang="en-US" b="1" dirty="0"/>
              <a:t>To convert from </a:t>
            </a:r>
            <a:r>
              <a:rPr lang="en-US" b="1" dirty="0" smtClean="0"/>
              <a:t>base-8 </a:t>
            </a:r>
            <a:r>
              <a:rPr lang="en-US" b="1" dirty="0"/>
              <a:t>to </a:t>
            </a:r>
            <a:r>
              <a:rPr lang="en-US" b="1" dirty="0" smtClean="0"/>
              <a:t>base-16:</a:t>
            </a:r>
            <a:endParaRPr lang="en-US" b="1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First, </a:t>
            </a:r>
            <a:r>
              <a:rPr lang="en-US" b="1" dirty="0" smtClean="0"/>
              <a:t>convert each digit of base-8 number </a:t>
            </a:r>
            <a:r>
              <a:rPr lang="en-US" b="1" dirty="0"/>
              <a:t>to base-2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Then convert base-2 to </a:t>
            </a:r>
            <a:r>
              <a:rPr lang="en-US" b="1" dirty="0" smtClean="0"/>
              <a:t>base-16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4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Convert </a:t>
            </a:r>
            <a:r>
              <a:rPr lang="en-US" b="1" dirty="0"/>
              <a:t>7</a:t>
            </a:r>
            <a:r>
              <a:rPr lang="en-US" b="1" dirty="0" smtClean="0"/>
              <a:t>56</a:t>
            </a:r>
            <a:r>
              <a:rPr lang="en-US" baseline="-25000" dirty="0" smtClean="0"/>
              <a:t>8</a:t>
            </a:r>
            <a:r>
              <a:rPr lang="en-US" dirty="0" smtClean="0"/>
              <a:t> to Hexadecimal number system(base-16)</a:t>
            </a:r>
          </a:p>
          <a:p>
            <a:endParaRPr lang="en-US" dirty="0"/>
          </a:p>
          <a:p>
            <a:r>
              <a:rPr lang="en-US" b="1" dirty="0" smtClean="0"/>
              <a:t>Identify and convert each digit to their binary equivalents.</a:t>
            </a:r>
          </a:p>
          <a:p>
            <a:pPr marL="457200" lvl="1" indent="0">
              <a:buNone/>
            </a:pPr>
            <a:r>
              <a:rPr lang="en-US" dirty="0"/>
              <a:t>7</a:t>
            </a:r>
            <a:r>
              <a:rPr lang="en-US" dirty="0" smtClean="0"/>
              <a:t> -&gt; </a:t>
            </a:r>
            <a:r>
              <a:rPr lang="en-US" b="1" dirty="0" smtClean="0"/>
              <a:t>111</a:t>
            </a:r>
            <a:r>
              <a:rPr lang="en-US" dirty="0" smtClean="0"/>
              <a:t>, 5 -&gt; </a:t>
            </a:r>
            <a:r>
              <a:rPr lang="en-US" b="1" dirty="0" smtClean="0"/>
              <a:t>101</a:t>
            </a:r>
            <a:r>
              <a:rPr lang="en-US" dirty="0" smtClean="0"/>
              <a:t>, 6 -&gt; </a:t>
            </a:r>
            <a:r>
              <a:rPr lang="en-US" b="1" dirty="0" smtClean="0"/>
              <a:t>110</a:t>
            </a:r>
          </a:p>
          <a:p>
            <a:r>
              <a:rPr lang="en-US" b="1" dirty="0" smtClean="0"/>
              <a:t>Group the bits into set of four (nibble) starting from the right.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 smtClean="0"/>
              <a:t>0001  1110  1110 (add preceding 0(s) if the set is not complete)</a:t>
            </a:r>
          </a:p>
          <a:p>
            <a:r>
              <a:rPr lang="en-US" b="1" dirty="0" smtClean="0"/>
              <a:t>Convert the bits to their Hexadecimal equivalents</a:t>
            </a:r>
          </a:p>
          <a:p>
            <a:pPr marL="0" indent="0">
              <a:buNone/>
            </a:pPr>
            <a:r>
              <a:rPr lang="en-US" dirty="0" smtClean="0"/>
              <a:t>  	0001 -&gt; </a:t>
            </a:r>
            <a:r>
              <a:rPr lang="en-US" b="1" dirty="0" smtClean="0"/>
              <a:t>1</a:t>
            </a:r>
            <a:r>
              <a:rPr lang="en-US" dirty="0" smtClean="0"/>
              <a:t>, 1110 -&gt; </a:t>
            </a:r>
            <a:r>
              <a:rPr lang="en-US" b="1" dirty="0" smtClean="0"/>
              <a:t>14 -&gt; E</a:t>
            </a:r>
            <a:r>
              <a:rPr lang="en-US" dirty="0" smtClean="0"/>
              <a:t>, 1110 -&gt; </a:t>
            </a:r>
            <a:r>
              <a:rPr lang="en-US" b="1" dirty="0" smtClean="0"/>
              <a:t>14 -&gt; E</a:t>
            </a:r>
          </a:p>
          <a:p>
            <a:r>
              <a:rPr lang="en-US" b="1" dirty="0" smtClean="0"/>
              <a:t>Group the numbers</a:t>
            </a:r>
          </a:p>
          <a:p>
            <a:pPr marL="0" indent="0">
              <a:buNone/>
            </a:pPr>
            <a:r>
              <a:rPr lang="en-US" b="1" dirty="0" smtClean="0"/>
              <a:t>	1EE</a:t>
            </a:r>
          </a:p>
          <a:p>
            <a:r>
              <a:rPr lang="en-US" b="1" dirty="0" smtClean="0"/>
              <a:t>Therefore, 756</a:t>
            </a:r>
            <a:r>
              <a:rPr lang="en-US" b="1" baseline="-25000" dirty="0" smtClean="0"/>
              <a:t>8 </a:t>
            </a:r>
            <a:r>
              <a:rPr lang="en-US" b="1" dirty="0" smtClean="0"/>
              <a:t> = 1EE</a:t>
            </a:r>
            <a:r>
              <a:rPr lang="en-US" b="1" baseline="-25000" dirty="0" smtClean="0"/>
              <a:t>16 </a:t>
            </a:r>
            <a:r>
              <a:rPr lang="en-US" b="1" dirty="0" smtClean="0"/>
              <a:t> </a:t>
            </a:r>
            <a:endParaRPr lang="en-US" b="1" baseline="-25000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b="1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baseline="-25000" dirty="0"/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423554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Representing texts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Each computer has a set of characters that it </a:t>
            </a:r>
            <a:r>
              <a:rPr lang="en-US" dirty="0" smtClean="0"/>
              <a:t>uses.</a:t>
            </a:r>
          </a:p>
          <a:p>
            <a:r>
              <a:rPr lang="en-US" dirty="0" smtClean="0"/>
              <a:t>As </a:t>
            </a:r>
            <a:r>
              <a:rPr lang="en-US" dirty="0"/>
              <a:t>a bare minimum, this set includes the </a:t>
            </a:r>
            <a:r>
              <a:rPr lang="en-US" b="1" dirty="0"/>
              <a:t>26</a:t>
            </a:r>
            <a:r>
              <a:rPr lang="en-US" dirty="0"/>
              <a:t> </a:t>
            </a:r>
            <a:r>
              <a:rPr lang="en-US" b="1" dirty="0"/>
              <a:t>uppercase</a:t>
            </a:r>
            <a:r>
              <a:rPr lang="en-US" dirty="0"/>
              <a:t> letters, the </a:t>
            </a:r>
            <a:r>
              <a:rPr lang="en-US" b="1" dirty="0"/>
              <a:t>26</a:t>
            </a:r>
            <a:r>
              <a:rPr lang="en-US" dirty="0"/>
              <a:t> </a:t>
            </a:r>
            <a:r>
              <a:rPr lang="en-US" b="1" dirty="0"/>
              <a:t>lowercase</a:t>
            </a:r>
            <a:r>
              <a:rPr lang="en-US" dirty="0"/>
              <a:t> letters, the digits </a:t>
            </a:r>
            <a:r>
              <a:rPr lang="en-US" b="1" dirty="0"/>
              <a:t>0</a:t>
            </a:r>
            <a:r>
              <a:rPr lang="en-US" dirty="0"/>
              <a:t> through </a:t>
            </a:r>
            <a:r>
              <a:rPr lang="en-US" b="1" dirty="0"/>
              <a:t>9</a:t>
            </a:r>
            <a:r>
              <a:rPr lang="en-US" dirty="0"/>
              <a:t>, and a set of special symbols, such as space, period, minus sign, comma, and carriage </a:t>
            </a:r>
            <a:r>
              <a:rPr lang="en-US" dirty="0" smtClean="0"/>
              <a:t>return.</a:t>
            </a:r>
          </a:p>
          <a:p>
            <a:r>
              <a:rPr lang="en-US" dirty="0" smtClean="0"/>
              <a:t>Each character has to be signed a number when being transferred to another computer.</a:t>
            </a:r>
          </a:p>
          <a:p>
            <a:r>
              <a:rPr lang="en-US" dirty="0"/>
              <a:t>The mapping of characters onto integers is called a </a:t>
            </a:r>
            <a:r>
              <a:rPr lang="en-US" b="1" dirty="0"/>
              <a:t>character </a:t>
            </a:r>
            <a:r>
              <a:rPr lang="en-US" b="1" dirty="0" smtClean="0"/>
              <a:t>encoding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It is essential that communicating computers use the same code or they will not be able to understand one </a:t>
            </a:r>
            <a:r>
              <a:rPr lang="en-US" dirty="0" smtClean="0"/>
              <a:t>another.</a:t>
            </a:r>
          </a:p>
          <a:p>
            <a:r>
              <a:rPr lang="en-US" dirty="0"/>
              <a:t>For this reason</a:t>
            </a:r>
            <a:r>
              <a:rPr lang="en-US" dirty="0" smtClean="0"/>
              <a:t>, character encoding </a:t>
            </a:r>
            <a:r>
              <a:rPr lang="en-US" dirty="0"/>
              <a:t>standards have been </a:t>
            </a:r>
            <a:r>
              <a:rPr lang="en-US" dirty="0" smtClean="0"/>
              <a:t>developed</a:t>
            </a:r>
            <a:r>
              <a:rPr lang="en-US" dirty="0"/>
              <a:t>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64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Some of these standards include:</a:t>
            </a:r>
          </a:p>
          <a:p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ASCII</a:t>
            </a:r>
            <a:r>
              <a:rPr lang="en-US" dirty="0"/>
              <a:t> (American Standard Code for Information Interchange</a:t>
            </a:r>
            <a:r>
              <a:rPr lang="en-US" dirty="0" smtClean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EBCDIC</a:t>
            </a:r>
            <a:r>
              <a:rPr lang="en-US" dirty="0" smtClean="0"/>
              <a:t> </a:t>
            </a:r>
            <a:r>
              <a:rPr lang="en-US" dirty="0"/>
              <a:t>(Extended Binary Coded Decimal Interchange Code</a:t>
            </a:r>
            <a:r>
              <a:rPr lang="en-US" dirty="0" smtClean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Unicode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36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1. ASCII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ASCII is a character encoding scheme that represents text in computers </a:t>
            </a:r>
            <a:r>
              <a:rPr lang="en-US" dirty="0" smtClean="0"/>
              <a:t>and other </a:t>
            </a:r>
            <a:r>
              <a:rPr lang="en-US" dirty="0"/>
              <a:t>communication devices</a:t>
            </a:r>
            <a:r>
              <a:rPr lang="en-US" dirty="0" smtClean="0"/>
              <a:t>.</a:t>
            </a:r>
          </a:p>
          <a:p>
            <a:r>
              <a:rPr lang="en-US" dirty="0"/>
              <a:t>It was developed in the </a:t>
            </a:r>
            <a:r>
              <a:rPr lang="en-US" dirty="0" smtClean="0"/>
              <a:t>1960s by American Standards Association (ASA) </a:t>
            </a:r>
            <a:r>
              <a:rPr lang="en-US" dirty="0"/>
              <a:t>and became the most widely used character encoding in the early days of computing</a:t>
            </a:r>
            <a:r>
              <a:rPr lang="en-US" dirty="0" smtClean="0"/>
              <a:t>.</a:t>
            </a:r>
          </a:p>
          <a:p>
            <a:r>
              <a:rPr lang="en-US" dirty="0"/>
              <a:t>ASCII uses </a:t>
            </a:r>
            <a:r>
              <a:rPr lang="en-US" b="1" dirty="0"/>
              <a:t>7</a:t>
            </a:r>
            <a:r>
              <a:rPr lang="en-US" dirty="0"/>
              <a:t> bits to represent </a:t>
            </a:r>
            <a:r>
              <a:rPr lang="en-US" b="1" dirty="0"/>
              <a:t>128</a:t>
            </a:r>
            <a:r>
              <a:rPr lang="en-US" dirty="0"/>
              <a:t> different characters, including alphabets (both uppercase and lowercase</a:t>
            </a:r>
            <a:r>
              <a:rPr lang="en-US" dirty="0" smtClean="0"/>
              <a:t>).</a:t>
            </a:r>
          </a:p>
          <a:p>
            <a:r>
              <a:rPr lang="en-US" dirty="0" smtClean="0"/>
              <a:t> It was meant for </a:t>
            </a:r>
            <a:r>
              <a:rPr lang="en-US" b="1" dirty="0" smtClean="0"/>
              <a:t>English alphabet only</a:t>
            </a:r>
            <a:r>
              <a:rPr lang="en-US" dirty="0" smtClean="0"/>
              <a:t>, punctuation marks, and some special characters.</a:t>
            </a:r>
          </a:p>
          <a:p>
            <a:r>
              <a:rPr lang="en-US" dirty="0"/>
              <a:t>The ASCII code for an uppercase </a:t>
            </a:r>
            <a:r>
              <a:rPr lang="en-US" b="1" dirty="0"/>
              <a:t>A </a:t>
            </a:r>
            <a:r>
              <a:rPr lang="en-US" dirty="0" smtClean="0"/>
              <a:t>is </a:t>
            </a:r>
            <a:r>
              <a:rPr lang="en-US" b="1" dirty="0" smtClean="0"/>
              <a:t>1000001</a:t>
            </a:r>
            <a:r>
              <a:rPr lang="en-US" dirty="0"/>
              <a:t>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63155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of the ASCII control characters are intended for data transmission.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a message might consist of an </a:t>
            </a:r>
            <a:r>
              <a:rPr lang="en-US" b="1" dirty="0"/>
              <a:t>SOH</a:t>
            </a:r>
            <a:r>
              <a:rPr lang="en-US" dirty="0"/>
              <a:t> (Start of Header) character, a header, an </a:t>
            </a:r>
            <a:r>
              <a:rPr lang="en-US" b="1" dirty="0"/>
              <a:t>STX</a:t>
            </a:r>
            <a:r>
              <a:rPr lang="en-US" dirty="0"/>
              <a:t> (Start of Text) character, the text itself, an </a:t>
            </a:r>
            <a:r>
              <a:rPr lang="en-US" b="1" dirty="0"/>
              <a:t>ETX</a:t>
            </a:r>
            <a:r>
              <a:rPr lang="en-US" dirty="0"/>
              <a:t> (End of Text) character, and then an </a:t>
            </a:r>
            <a:r>
              <a:rPr lang="en-US" b="1" dirty="0"/>
              <a:t>EOT</a:t>
            </a:r>
            <a:r>
              <a:rPr lang="en-US" dirty="0"/>
              <a:t> (End of Transmission) </a:t>
            </a:r>
            <a:r>
              <a:rPr lang="en-US" dirty="0" smtClean="0"/>
              <a:t>character.</a:t>
            </a:r>
          </a:p>
          <a:p>
            <a:r>
              <a:rPr lang="en-US" dirty="0" smtClean="0"/>
              <a:t>In </a:t>
            </a:r>
            <a:r>
              <a:rPr lang="en-US" dirty="0"/>
              <a:t>practice, however, the messages sent over telephone lines and networks are formatted quite differently, so the ASCII transmission control characters are not used much any more.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4134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. EBCDIC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EBCDIC is a character encoding scheme primarily used on IBM mainframe computers and some legacy systems.</a:t>
            </a:r>
          </a:p>
          <a:p>
            <a:r>
              <a:rPr lang="en-US" dirty="0"/>
              <a:t>Developed by IBM in the 1960s, EBCDIC uses 8 bits to represent characters, allowing for a larger character set compared to ASCII.</a:t>
            </a:r>
          </a:p>
          <a:p>
            <a:r>
              <a:rPr lang="en-US" dirty="0"/>
              <a:t>EBCDIC supports a wide range of characters, including alphabets (uppercase and lowercase), numbers, symbols, and control characters.</a:t>
            </a:r>
          </a:p>
          <a:p>
            <a:r>
              <a:rPr lang="en-US" dirty="0"/>
              <a:t>EBCDIC encoding differs significantly from ASCII, making it incompatible with ASCII-based systems without conversion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15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. UNICODE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Unicode </a:t>
            </a:r>
            <a:r>
              <a:rPr lang="en-US" dirty="0"/>
              <a:t>is a universal character encoding standard that aims to represent all characters from all writing systems used worldwide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was introduced in 1991 and maintained by Unicode Consortium.</a:t>
            </a:r>
          </a:p>
          <a:p>
            <a:r>
              <a:rPr lang="en-US" dirty="0"/>
              <a:t>It provides a consistent way to encode and exchange text data across different platforms, languages, and devices</a:t>
            </a:r>
            <a:r>
              <a:rPr lang="en-US" dirty="0" smtClean="0"/>
              <a:t>.</a:t>
            </a:r>
          </a:p>
          <a:p>
            <a:r>
              <a:rPr lang="en-US" dirty="0"/>
              <a:t>Unicode uses a variable-length encoding scheme, with different encoding formats like UTF-8, UTF-16, and UTF-32.</a:t>
            </a:r>
          </a:p>
          <a:p>
            <a:r>
              <a:rPr lang="en-US" dirty="0"/>
              <a:t>UTF-8 is the most commonly used encoding format, capable of representing the entire Unicode character set using 8-bit code units.</a:t>
            </a:r>
          </a:p>
          <a:p>
            <a:r>
              <a:rPr lang="en-US" dirty="0"/>
              <a:t>Unicode supports a vast range of characters, including characters from various languages, symbols, </a:t>
            </a:r>
            <a:r>
              <a:rPr lang="en-US" dirty="0" smtClean="0"/>
              <a:t>emoticons</a:t>
            </a:r>
            <a:r>
              <a:rPr lang="en-US" dirty="0"/>
              <a:t>, mathematical symbols, and special characters.</a:t>
            </a:r>
          </a:p>
          <a:p>
            <a:r>
              <a:rPr lang="en-US" dirty="0"/>
              <a:t>It enables multilingual text representation and allows for seamless communication and interoperability between different systems and languages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57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5365</TotalTime>
  <Words>2492</Words>
  <Application>Microsoft Office PowerPoint</Application>
  <PresentationFormat>Widescreen</PresentationFormat>
  <Paragraphs>315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Office Theme</vt:lpstr>
      <vt:lpstr>COCOT</vt:lpstr>
      <vt:lpstr> </vt:lpstr>
      <vt:lpstr>Number systems</vt:lpstr>
      <vt:lpstr>1. Decimal Number System</vt:lpstr>
      <vt:lpstr>2. Binary Number System</vt:lpstr>
      <vt:lpstr> </vt:lpstr>
      <vt:lpstr>3. Octal Number System</vt:lpstr>
      <vt:lpstr>3. Hexadecimal Number System</vt:lpstr>
      <vt:lpstr>Table showing decimal numbers and their equivalents in Binary, Octal and Hexadecimal</vt:lpstr>
      <vt:lpstr>Number System Conversion</vt:lpstr>
      <vt:lpstr> </vt:lpstr>
      <vt:lpstr>Example 1</vt:lpstr>
      <vt:lpstr>d/b = divider/base q = quotient r = remainder</vt:lpstr>
      <vt:lpstr>Example 2</vt:lpstr>
      <vt:lpstr> </vt:lpstr>
      <vt:lpstr>Example 3</vt:lpstr>
      <vt:lpstr> </vt:lpstr>
      <vt:lpstr>Example 4</vt:lpstr>
      <vt:lpstr> </vt:lpstr>
      <vt:lpstr>Example 5</vt:lpstr>
      <vt:lpstr> </vt:lpstr>
      <vt:lpstr> CONVERTING FROM OTHER BASES TO BASE-10</vt:lpstr>
      <vt:lpstr>Example</vt:lpstr>
      <vt:lpstr> </vt:lpstr>
      <vt:lpstr> </vt:lpstr>
      <vt:lpstr>Converting from base 2 to base 8 and vice versa.</vt:lpstr>
      <vt:lpstr>e.g</vt:lpstr>
      <vt:lpstr>Converting base-8 number system back to base-2</vt:lpstr>
      <vt:lpstr>E.g</vt:lpstr>
      <vt:lpstr>Converting from base 2 to base 16 and vice versa.</vt:lpstr>
      <vt:lpstr>e.g</vt:lpstr>
      <vt:lpstr>Converting from base-16 to base-2:</vt:lpstr>
      <vt:lpstr>example</vt:lpstr>
      <vt:lpstr>TIP</vt:lpstr>
      <vt:lpstr>Converting to base-8 from base-16 and vice versa</vt:lpstr>
      <vt:lpstr>Example:</vt:lpstr>
      <vt:lpstr> </vt:lpstr>
      <vt:lpstr>Example</vt:lpstr>
      <vt:lpstr>Representing texts</vt:lpstr>
      <vt:lpstr> </vt:lpstr>
      <vt:lpstr>1. ASCII</vt:lpstr>
      <vt:lpstr> </vt:lpstr>
      <vt:lpstr>2. EBCDIC </vt:lpstr>
      <vt:lpstr>3. UNICODE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COCOT</dc:title>
  <dc:creator>MiLab</dc:creator>
  <cp:lastModifiedBy>User</cp:lastModifiedBy>
  <cp:revision>64</cp:revision>
  <dcterms:created xsi:type="dcterms:W3CDTF">2023-05-19T18:39:04Z</dcterms:created>
  <dcterms:modified xsi:type="dcterms:W3CDTF">2023-07-01T08:47:19Z</dcterms:modified>
</cp:coreProperties>
</file>