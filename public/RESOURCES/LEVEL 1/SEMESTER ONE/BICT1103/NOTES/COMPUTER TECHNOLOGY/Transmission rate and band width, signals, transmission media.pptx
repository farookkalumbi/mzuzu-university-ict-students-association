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60" r:id="rId4"/>
    <p:sldId id="261" r:id="rId5"/>
    <p:sldId id="258" r:id="rId6"/>
    <p:sldId id="262" r:id="rId7"/>
    <p:sldId id="263" r:id="rId8"/>
    <p:sldId id="264" r:id="rId9"/>
    <p:sldId id="259" r:id="rId10"/>
    <p:sldId id="265" r:id="rId11"/>
    <p:sldId id="266" r:id="rId12"/>
    <p:sldId id="267" r:id="rId13"/>
    <p:sldId id="268" r:id="rId14"/>
    <p:sldId id="270" r:id="rId15"/>
    <p:sldId id="275" r:id="rId16"/>
    <p:sldId id="273" r:id="rId17"/>
    <p:sldId id="274" r:id="rId18"/>
    <p:sldId id="271" r:id="rId19"/>
    <p:sldId id="272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0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9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2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4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6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7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2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7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3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9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8EC42-923B-471E-9C5E-34E8EF962C5C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B3CC6-E57A-4812-9356-D213961F1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9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60612"/>
            <a:ext cx="9144000" cy="2801937"/>
          </a:xfrm>
          <a:solidFill>
            <a:schemeClr val="bg1">
              <a:alpha val="32000"/>
            </a:schemeClr>
          </a:solidFill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Transmission rate and band width</a:t>
            </a:r>
            <a:br>
              <a:rPr lang="en-US" sz="4400" b="1" dirty="0" smtClean="0">
                <a:solidFill>
                  <a:srgbClr val="C00000"/>
                </a:solidFill>
              </a:rPr>
            </a:br>
            <a:r>
              <a:rPr lang="en-US" sz="4400" b="1" dirty="0">
                <a:solidFill>
                  <a:srgbClr val="C00000"/>
                </a:solidFill>
              </a:rPr>
              <a:t/>
            </a:r>
            <a:br>
              <a:rPr lang="en-US" sz="4400" b="1" dirty="0">
                <a:solidFill>
                  <a:srgbClr val="C00000"/>
                </a:solidFill>
              </a:rPr>
            </a:b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52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Transmission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Transmission rate </a:t>
            </a:r>
            <a:r>
              <a:rPr lang="en-US" dirty="0"/>
              <a:t>refers to the speed at which data can be transmitted over a communication channel or medium.</a:t>
            </a:r>
          </a:p>
          <a:p>
            <a:r>
              <a:rPr lang="en-US" dirty="0"/>
              <a:t>It is usually measured in bits per second (bps) and represents the number of bits that can be transmitted in one second.</a:t>
            </a:r>
          </a:p>
          <a:p>
            <a:r>
              <a:rPr lang="en-US" dirty="0"/>
              <a:t>Transmission rates can vary widely depending </a:t>
            </a:r>
            <a:r>
              <a:rPr lang="en-US" dirty="0" smtClean="0"/>
              <a:t>on the technology used communication </a:t>
            </a:r>
            <a:r>
              <a:rPr lang="en-US" dirty="0"/>
              <a:t>medium being used.</a:t>
            </a:r>
          </a:p>
          <a:p>
            <a:r>
              <a:rPr lang="en-US" dirty="0"/>
              <a:t>Higher transmission rates allow for faster data transfer and better overall performance in communication systems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0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Transmission </a:t>
            </a:r>
            <a:r>
              <a:rPr lang="en-US" b="1" dirty="0" smtClean="0">
                <a:solidFill>
                  <a:srgbClr val="C00000"/>
                </a:solidFill>
              </a:rPr>
              <a:t>Rate (continue…/)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Factors affecting transmission rate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Quality of the Communication Channel:</a:t>
            </a:r>
          </a:p>
          <a:p>
            <a:pPr lvl="1"/>
            <a:r>
              <a:rPr lang="en-US" dirty="0"/>
              <a:t>The quality of the communication channel refers to the overall condition and reliability of the medium through which data is transmitted.</a:t>
            </a:r>
          </a:p>
          <a:p>
            <a:pPr lvl="1"/>
            <a:r>
              <a:rPr lang="en-US" dirty="0"/>
              <a:t>Factors such as signal attenuation, noise, and distortion can affect the quality of the channel.</a:t>
            </a:r>
          </a:p>
          <a:p>
            <a:pPr lvl="1"/>
            <a:r>
              <a:rPr lang="en-US" dirty="0"/>
              <a:t>Signal attenuation occurs when the strength of the signal diminishes as it travels through the channel, resulting in a decrease in transmission rate.</a:t>
            </a:r>
          </a:p>
          <a:p>
            <a:pPr lvl="1"/>
            <a:r>
              <a:rPr lang="en-US" dirty="0"/>
              <a:t>Noise refers to unwanted signals or disturbances that can interfere with the original signal, leading to errors and reducing the effective transmission rate.</a:t>
            </a:r>
          </a:p>
          <a:p>
            <a:pPr lvl="1"/>
            <a:r>
              <a:rPr lang="en-US" dirty="0"/>
              <a:t>Distortion occurs when the shape or characteristics of the transmitted signal are altered during transmission, which can degrade the data and impact the transmission rate.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Interference:</a:t>
            </a:r>
          </a:p>
          <a:p>
            <a:pPr lvl="1"/>
            <a:r>
              <a:rPr lang="en-US" dirty="0"/>
              <a:t>Interference refers to the presence of unwanted signals or electromagnetic radiation that can disrupt or degrade the original signal.</a:t>
            </a:r>
          </a:p>
          <a:p>
            <a:pPr lvl="1"/>
            <a:r>
              <a:rPr lang="en-US" dirty="0"/>
              <a:t>Interference can be caused by various sources, such as other electronic devices, power lines, or even natural phenomena like lightning.</a:t>
            </a:r>
          </a:p>
          <a:p>
            <a:pPr lvl="1"/>
            <a:r>
              <a:rPr lang="en-US" dirty="0"/>
              <a:t>When interference occurs, the quality of the received signal can be compromised, leading to errors and a decrease in the effective transmission rate.</a:t>
            </a:r>
          </a:p>
          <a:p>
            <a:pPr lvl="1"/>
            <a:r>
              <a:rPr lang="en-US" dirty="0"/>
              <a:t>To mitigate interference, techniques such as shielding, filtering, and error correction codes are employed to improve the transmission rate and maintain data integrity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4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Transmission </a:t>
            </a:r>
            <a:r>
              <a:rPr lang="en-US" b="1" dirty="0" smtClean="0">
                <a:solidFill>
                  <a:srgbClr val="C00000"/>
                </a:solidFill>
              </a:rPr>
              <a:t>Rate (continue…/)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Factors affecting transmission rate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 smtClean="0"/>
              <a:t>Distance between the Sender and Receiver:</a:t>
            </a:r>
          </a:p>
          <a:p>
            <a:pPr lvl="1"/>
            <a:r>
              <a:rPr lang="en-US" dirty="0" smtClean="0"/>
              <a:t>The distance between the sender and receiver can affect the transmission rate due to signal degradation over distance.</a:t>
            </a:r>
          </a:p>
          <a:p>
            <a:pPr lvl="1"/>
            <a:r>
              <a:rPr lang="en-US" dirty="0" smtClean="0"/>
              <a:t>As the distance increases, the strength of the signal diminishes, leading to signal attenuation and a decrease in the effective transmission rate.</a:t>
            </a:r>
          </a:p>
          <a:p>
            <a:pPr lvl="1"/>
            <a:r>
              <a:rPr lang="en-US" dirty="0" smtClean="0"/>
              <a:t>To overcome the limitations posed by distance, amplification and signal regeneration techniques may be used to boost the signal strength and maintain an acceptable transmission rate.</a:t>
            </a:r>
          </a:p>
          <a:p>
            <a:pPr lvl="1"/>
            <a:r>
              <a:rPr lang="en-US" dirty="0" smtClean="0"/>
              <a:t>In long-distance communication, the use of repeaters or signal amplifiers at regular intervals helps to extend the reach and maintain the desired transmission rate.</a:t>
            </a:r>
          </a:p>
        </p:txBody>
      </p:sp>
    </p:spTree>
    <p:extLst>
      <p:ext uri="{BB962C8B-B14F-4D97-AF65-F5344CB8AC3E}">
        <p14:creationId xmlns:p14="http://schemas.microsoft.com/office/powerpoint/2010/main" val="301617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Bandwidth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Bandwidth</a:t>
            </a:r>
            <a:r>
              <a:rPr lang="en-US" dirty="0"/>
              <a:t> refers to the maximum amount of data that can be transmitted over a communication channel in a given amount of time.</a:t>
            </a:r>
          </a:p>
          <a:p>
            <a:r>
              <a:rPr lang="en-US" dirty="0"/>
              <a:t>It is typically measured in bits per second (bps) or hertz (Hz) and represents the capacity of the channel to carry data.</a:t>
            </a:r>
          </a:p>
          <a:p>
            <a:r>
              <a:rPr lang="en-US" dirty="0" smtClean="0"/>
              <a:t>A </a:t>
            </a:r>
            <a:r>
              <a:rPr lang="en-US" dirty="0"/>
              <a:t>wider bandwidth allows for the transmission of more data simultaneously, resulting in higher data rates and better overall performance.</a:t>
            </a:r>
          </a:p>
          <a:p>
            <a:r>
              <a:rPr lang="en-US" dirty="0"/>
              <a:t>Bandwidth is not the same as transmission rate; the transmission rate represents the actual speed at which data is transmitted, while bandwidth refers to the channel's capacity to carry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416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Bandwidth (continue…/)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Factors affecting bandwidth</a:t>
            </a:r>
            <a:endParaRPr lang="en-US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Physical </a:t>
            </a:r>
            <a:r>
              <a:rPr lang="en-US" b="1" dirty="0"/>
              <a:t>Properties of the Communication Medium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The physical properties of the medium through which the communication signals are transmitted play a crucial role in determining the </a:t>
            </a:r>
            <a:r>
              <a:rPr lang="en-US" dirty="0" smtClean="0"/>
              <a:t>bandwidth.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in wired systems, the characteristics of the cables, such as their thickness, material, and resistance, affect the data-carrying </a:t>
            </a:r>
            <a:r>
              <a:rPr lang="en-US" dirty="0" smtClean="0"/>
              <a:t>capacity.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wireless systems, factors like frequency range, available spectrum, and environmental conditions (e.g., interference, obstacles) impact the achievable bandwidth.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Technology Being Used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Different communication technologies have varying bandwidth </a:t>
            </a:r>
            <a:r>
              <a:rPr lang="en-US" dirty="0" smtClean="0"/>
              <a:t>capabilities.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instance, older dial-up modems had limited bandwidth capacities, typically around 56 </a:t>
            </a:r>
            <a:r>
              <a:rPr lang="en-US" dirty="0" smtClean="0"/>
              <a:t>Kbps.</a:t>
            </a:r>
          </a:p>
          <a:p>
            <a:pPr lvl="1"/>
            <a:r>
              <a:rPr lang="en-US" dirty="0" smtClean="0"/>
              <a:t>On </a:t>
            </a:r>
            <a:r>
              <a:rPr lang="en-US" dirty="0"/>
              <a:t>the other hand, modern technologies like fiber optics, DSL (Digital Subscriber Line), cable, and wireless technologies such as 4G/5G provide much higher bandwidths, ranging from Mbps to </a:t>
            </a:r>
            <a:r>
              <a:rPr lang="en-US" dirty="0" err="1" smtClean="0"/>
              <a:t>Gbps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specific technology used determines the maximum data rates that can be achieved.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70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Bandwidth (continue…/)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Factors affecting bandwidth (continue../)</a:t>
            </a:r>
            <a:endParaRPr lang="en-US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Signal Processing </a:t>
            </a:r>
            <a:r>
              <a:rPr lang="en-US" b="1" dirty="0" smtClean="0"/>
              <a:t>Techniques:</a:t>
            </a:r>
          </a:p>
          <a:p>
            <a:pPr lvl="1"/>
            <a:r>
              <a:rPr lang="en-US" dirty="0" smtClean="0"/>
              <a:t>Signal </a:t>
            </a:r>
            <a:r>
              <a:rPr lang="en-US" dirty="0"/>
              <a:t>processing techniques can enhance the effective bandwidth by optimizing data </a:t>
            </a:r>
            <a:r>
              <a:rPr lang="en-US" dirty="0" smtClean="0"/>
              <a:t>transmission.</a:t>
            </a:r>
          </a:p>
          <a:p>
            <a:pPr lvl="1"/>
            <a:r>
              <a:rPr lang="en-US" dirty="0" smtClean="0"/>
              <a:t>Techniques </a:t>
            </a:r>
            <a:r>
              <a:rPr lang="en-US" dirty="0"/>
              <a:t>like modulation, coding, and compression are used to encode and compress data, allowing more information to be transmitted within the available </a:t>
            </a:r>
            <a:r>
              <a:rPr lang="en-US" dirty="0" smtClean="0"/>
              <a:t>bandwidth.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b="1" dirty="0" smtClean="0"/>
              <a:t>Network Congestion:</a:t>
            </a:r>
          </a:p>
          <a:p>
            <a:pPr lvl="1"/>
            <a:r>
              <a:rPr lang="en-US" dirty="0" smtClean="0"/>
              <a:t>Bandwidth </a:t>
            </a:r>
            <a:r>
              <a:rPr lang="en-US" dirty="0"/>
              <a:t>can also be influenced by network congestion, especially in shared </a:t>
            </a:r>
            <a:r>
              <a:rPr lang="en-US" dirty="0" smtClean="0"/>
              <a:t>networks.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multiple users or devices are accessing the same network simultaneously and generating high traffic, the available bandwidth is divided among them.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can lead to slower data transfer rates and reduced overall bandwidth for each user</a:t>
            </a:r>
          </a:p>
        </p:txBody>
      </p:sp>
    </p:spTree>
    <p:extLst>
      <p:ext uri="{BB962C8B-B14F-4D97-AF65-F5344CB8AC3E}">
        <p14:creationId xmlns:p14="http://schemas.microsoft.com/office/powerpoint/2010/main" val="2758737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Bandwidth (continue…/)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Factors affecting bandwidth (continue../)</a:t>
            </a:r>
            <a:endParaRPr lang="en-US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/>
              <a:t>Quality of Service (</a:t>
            </a:r>
            <a:r>
              <a:rPr lang="en-US" b="1" dirty="0" err="1"/>
              <a:t>QoS</a:t>
            </a:r>
            <a:r>
              <a:rPr lang="en-US" b="1" dirty="0"/>
              <a:t>) </a:t>
            </a:r>
            <a:r>
              <a:rPr lang="en-US" b="1" dirty="0" smtClean="0"/>
              <a:t>Requirements: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some cases, specific applications or services may require a certain level of bandwidth to function </a:t>
            </a:r>
            <a:r>
              <a:rPr lang="en-US" dirty="0" smtClean="0"/>
              <a:t>optimally.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real-time applications like video conferencing or online gaming demand higher bandwidth to ensure smooth and uninterrupted data </a:t>
            </a:r>
            <a:r>
              <a:rPr lang="en-US" dirty="0" smtClean="0"/>
              <a:t>transmission.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such cases, network administrators may allocate dedicated bandwidth or prioritize certain traffic to meet the </a:t>
            </a:r>
            <a:r>
              <a:rPr lang="en-US" dirty="0" err="1"/>
              <a:t>QoS</a:t>
            </a:r>
            <a:r>
              <a:rPr lang="en-US" dirty="0"/>
              <a:t> requirements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890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Relationship between Transmission Rate and </a:t>
            </a:r>
            <a:r>
              <a:rPr lang="en-US" b="1" dirty="0" smtClean="0">
                <a:solidFill>
                  <a:srgbClr val="C00000"/>
                </a:solidFill>
              </a:rPr>
              <a:t>Bandwidth.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transmission rate and bandwidth are related but not interchangeable terms.</a:t>
            </a:r>
          </a:p>
          <a:p>
            <a:r>
              <a:rPr lang="en-US" dirty="0"/>
              <a:t>The transmission rate is a measure of the actual speed at which data is transmitted, while bandwidth refers to the channel's capacity.</a:t>
            </a:r>
          </a:p>
          <a:p>
            <a:r>
              <a:rPr lang="en-US" dirty="0"/>
              <a:t>The transmission rate cannot exceed the bandwidth of the channel, as it is limited by the channel's capacity.</a:t>
            </a:r>
          </a:p>
          <a:p>
            <a:r>
              <a:rPr lang="en-US" dirty="0"/>
              <a:t>However, the transmission rate can be lower than the bandwidth if the channel is not fully utilized or if there are other limiting factors.</a:t>
            </a:r>
          </a:p>
          <a:p>
            <a:r>
              <a:rPr lang="en-US" dirty="0"/>
              <a:t>In practical terms, achieving higher transmission rates requires a communication medium with a wider bandwidth or the use of more advanced modulation techniques to increase the data-carrying capacity within the available bandwidth.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2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60612"/>
            <a:ext cx="9144000" cy="2801937"/>
          </a:xfrm>
          <a:solidFill>
            <a:schemeClr val="bg1">
              <a:alpha val="6000"/>
            </a:schemeClr>
          </a:solidFill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Signals, types </a:t>
            </a:r>
            <a:r>
              <a:rPr lang="en-US" sz="4400" b="1" dirty="0">
                <a:solidFill>
                  <a:srgbClr val="C00000"/>
                </a:solidFill>
              </a:rPr>
              <a:t>of signals and </a:t>
            </a:r>
            <a:r>
              <a:rPr lang="en-US" sz="4400" b="1" dirty="0" smtClean="0">
                <a:solidFill>
                  <a:srgbClr val="C00000"/>
                </a:solidFill>
              </a:rPr>
              <a:t>standards</a:t>
            </a:r>
            <a:br>
              <a:rPr lang="en-US" sz="4400" b="1" dirty="0" smtClean="0">
                <a:solidFill>
                  <a:srgbClr val="C00000"/>
                </a:solidFill>
              </a:rPr>
            </a:br>
            <a:r>
              <a:rPr lang="en-US" sz="4400" b="1" dirty="0">
                <a:solidFill>
                  <a:srgbClr val="C00000"/>
                </a:solidFill>
              </a:rPr>
              <a:t/>
            </a:r>
            <a:br>
              <a:rPr lang="en-US" sz="4400" b="1" dirty="0">
                <a:solidFill>
                  <a:srgbClr val="C00000"/>
                </a:solidFill>
              </a:rPr>
            </a:b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38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What are signals?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Signals</a:t>
            </a:r>
            <a:r>
              <a:rPr lang="en-US" dirty="0"/>
              <a:t> are electrical, electromagnetic, or optical representations of data or information.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are used to transmit, convey, or store information in various systems, including communication, electronics, and </a:t>
            </a:r>
            <a:r>
              <a:rPr lang="en-US" dirty="0" smtClean="0"/>
              <a:t>computing.</a:t>
            </a:r>
          </a:p>
          <a:p>
            <a:r>
              <a:rPr lang="en-US" dirty="0" smtClean="0"/>
              <a:t>Signals </a:t>
            </a:r>
            <a:r>
              <a:rPr lang="en-US" dirty="0"/>
              <a:t>can take different </a:t>
            </a:r>
            <a:r>
              <a:rPr lang="en-US" dirty="0" smtClean="0"/>
              <a:t>forms and </a:t>
            </a:r>
            <a:r>
              <a:rPr lang="en-US" dirty="0"/>
              <a:t>can be classified based on their characteristics and properties.</a:t>
            </a:r>
          </a:p>
        </p:txBody>
      </p:sp>
    </p:spTree>
    <p:extLst>
      <p:ext uri="{BB962C8B-B14F-4D97-AF65-F5344CB8AC3E}">
        <p14:creationId xmlns:p14="http://schemas.microsoft.com/office/powerpoint/2010/main" val="203217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Types of signals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1384"/>
            <a:ext cx="10515600" cy="5046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solidFill>
                  <a:srgbClr val="C00000"/>
                </a:solidFill>
              </a:rPr>
              <a:t>Analog Signals</a:t>
            </a:r>
          </a:p>
          <a:p>
            <a:pPr marL="514350" indent="-514350">
              <a:buFont typeface="+mj-lt"/>
              <a:buAutoNum type="arabicPeriod"/>
            </a:pPr>
            <a:endParaRPr lang="en-US" b="1" dirty="0" smtClean="0"/>
          </a:p>
          <a:p>
            <a:r>
              <a:rPr lang="en-US" dirty="0"/>
              <a:t>Analog signals are continuous signals that represent information using varying physical quantities such as voltage, current, or frequency.</a:t>
            </a:r>
          </a:p>
          <a:p>
            <a:r>
              <a:rPr lang="en-US" dirty="0"/>
              <a:t>They can take on any value within a specific range and are used to convey real-world phenomena, such as sound, temperature, or pressure.</a:t>
            </a:r>
          </a:p>
          <a:p>
            <a:r>
              <a:rPr lang="en-US" dirty="0"/>
              <a:t>Analog signals are susceptible to noise and distortion during transmission, which can degrade the quality of the signal</a:t>
            </a:r>
            <a:r>
              <a:rPr lang="en-US" dirty="0" smtClean="0"/>
              <a:t>.</a:t>
            </a: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1028" name="Picture 4" descr="Difference of Analog vs Digital Signal | CircuitBre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989" y="662113"/>
            <a:ext cx="4882152" cy="219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93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Types of signals …                          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1384"/>
            <a:ext cx="10515600" cy="5046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solidFill>
                  <a:srgbClr val="C00000"/>
                </a:solidFill>
              </a:rPr>
              <a:t>Digital Signals</a:t>
            </a:r>
          </a:p>
          <a:p>
            <a:pPr marL="514350" indent="-514350">
              <a:buFont typeface="+mj-lt"/>
              <a:buAutoNum type="arabicPeriod"/>
            </a:pPr>
            <a:endParaRPr lang="en-US" b="1" dirty="0" smtClean="0"/>
          </a:p>
          <a:p>
            <a:r>
              <a:rPr lang="en-US" dirty="0"/>
              <a:t>Digital signals are discrete signals that represent information using binary digits (bits), which can take on only two possible values: 0 and 1.</a:t>
            </a:r>
          </a:p>
          <a:p>
            <a:r>
              <a:rPr lang="en-US" dirty="0"/>
              <a:t>They are more resistant to noise and distortion compared to analog signals, as they can be accurately regenerated.</a:t>
            </a:r>
          </a:p>
          <a:p>
            <a:r>
              <a:rPr lang="en-US" dirty="0"/>
              <a:t>Digital signals are widely used in modern communication systems, computer networks, and digital devices</a:t>
            </a:r>
            <a:r>
              <a:rPr lang="en-US" dirty="0" smtClean="0"/>
              <a:t>.</a:t>
            </a:r>
            <a:endParaRPr lang="en-US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062" name="Picture 14" descr="Analog Communication Introduction – Physics and Radio-Electron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673" y="260169"/>
            <a:ext cx="4667250" cy="201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664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Types of signals …                          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1384"/>
            <a:ext cx="10515600" cy="504661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 smtClean="0">
                <a:solidFill>
                  <a:srgbClr val="C00000"/>
                </a:solidFill>
              </a:rPr>
              <a:t>Hybrid Signals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Hybrid </a:t>
            </a:r>
            <a:r>
              <a:rPr lang="en-US" dirty="0"/>
              <a:t>signals combine elements of both analog and digital signals.</a:t>
            </a:r>
          </a:p>
          <a:p>
            <a:r>
              <a:rPr lang="en-US" dirty="0"/>
              <a:t>They represent information using a combination of continuous and discrete values.</a:t>
            </a:r>
          </a:p>
          <a:p>
            <a:r>
              <a:rPr lang="en-US" dirty="0"/>
              <a:t>Hybrid signals are commonly used in telecommunications systems, where analog signals are converted to digital for transmission over digital networks.</a:t>
            </a:r>
          </a:p>
          <a:p>
            <a:r>
              <a:rPr lang="en-US" dirty="0"/>
              <a:t>Digital subscriber line (DSL) is an example of a hybrid signal, where voice signals are carried over telephone lines using digital modulation techniques</a:t>
            </a:r>
            <a:r>
              <a:rPr lang="en-US" dirty="0" smtClean="0"/>
              <a:t>.</a:t>
            </a:r>
            <a:endParaRPr lang="en-US" b="1" dirty="0" smtClean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3074" name="Picture 2" descr="Hybrid signal representation over light. Note: 1. The above diagrams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90667"/>
            <a:ext cx="6140450" cy="29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54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Signal Standards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Signal </a:t>
            </a:r>
            <a:r>
              <a:rPr lang="en-US" dirty="0"/>
              <a:t>standards, also known as communication standards or protocols, define the rules, specifications, and formats that govern the transmission, reception, and interpretation of signals in a specific system or application.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standards ensure interoperability, compatibility, and efficient communication between devices and </a:t>
            </a:r>
            <a:r>
              <a:rPr lang="en-US" dirty="0" smtClean="0"/>
              <a:t>systems.</a:t>
            </a:r>
          </a:p>
          <a:p>
            <a:r>
              <a:rPr lang="en-US" dirty="0" smtClean="0"/>
              <a:t>Some of these standards include: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05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Signal Standards…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Communication Standards:</a:t>
            </a:r>
          </a:p>
          <a:p>
            <a:pPr lvl="1"/>
            <a:r>
              <a:rPr lang="en-US" dirty="0"/>
              <a:t>Communication standards define the protocols, formats, and procedures required for devices to communicate with each other.</a:t>
            </a:r>
          </a:p>
          <a:p>
            <a:pPr lvl="1"/>
            <a:r>
              <a:rPr lang="en-US" dirty="0"/>
              <a:t>Standards ensure interoperability and compatibility between different devices and systems.</a:t>
            </a:r>
          </a:p>
          <a:p>
            <a:pPr lvl="1"/>
            <a:r>
              <a:rPr lang="en-US" dirty="0"/>
              <a:t>Examples of communication standards include Ethernet (IEEE 802.3), Wi-Fi (IEEE 802.11), Bluetooth (IEEE 802.15.1), and GSM (Global System for Mobile Communications).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Transmission Standards:</a:t>
            </a:r>
          </a:p>
          <a:p>
            <a:pPr lvl="1"/>
            <a:r>
              <a:rPr lang="en-US" dirty="0"/>
              <a:t>Data transmission standards specify the rules and specifications for transmitting data over various communication channels.</a:t>
            </a:r>
          </a:p>
          <a:p>
            <a:pPr lvl="1"/>
            <a:r>
              <a:rPr lang="en-US" dirty="0"/>
              <a:t>They define the physical and electrical characteristics of the transmission medium, modulation techniques, error detection and correction methods, and data framing.</a:t>
            </a:r>
          </a:p>
          <a:p>
            <a:pPr lvl="1"/>
            <a:r>
              <a:rPr lang="en-US" dirty="0"/>
              <a:t>Examples of data transmission standards include RS-232, USB (Universal Serial Bus), HDMI (High-Definition Multimedia Interface), and Ethernet (IEEE 802.3).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219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Signal Standards ….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Internet and Networking Standards:</a:t>
            </a:r>
          </a:p>
          <a:p>
            <a:pPr lvl="1"/>
            <a:r>
              <a:rPr lang="en-US" dirty="0"/>
              <a:t>Internet and networking standards govern the protocols and technologies used for communication and data exchange over computer networks.</a:t>
            </a:r>
          </a:p>
          <a:p>
            <a:pPr lvl="1"/>
            <a:r>
              <a:rPr lang="en-US" dirty="0"/>
              <a:t>These standards enable the seamless transfer of data between different networks and devices.</a:t>
            </a:r>
          </a:p>
          <a:p>
            <a:pPr lvl="1"/>
            <a:r>
              <a:rPr lang="en-US" dirty="0"/>
              <a:t>Examples of internet and networking standards include TCP/IP (Transmission Control Protocol/Internet Protocol), HTTP (Hypertext Transfer Protocol), DNS (Domain Name System), and Wi-Fi (IEEE 802.11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27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60612"/>
            <a:ext cx="9144000" cy="2801937"/>
          </a:xfrm>
          <a:solidFill>
            <a:schemeClr val="bg1">
              <a:alpha val="6000"/>
            </a:schemeClr>
          </a:solidFill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Transmission media</a:t>
            </a:r>
            <a:br>
              <a:rPr lang="en-US" sz="4400" b="1" dirty="0" smtClean="0">
                <a:solidFill>
                  <a:srgbClr val="C00000"/>
                </a:solidFill>
              </a:rPr>
            </a:br>
            <a:r>
              <a:rPr lang="en-US" sz="4400" b="1" dirty="0">
                <a:solidFill>
                  <a:srgbClr val="C00000"/>
                </a:solidFill>
              </a:rPr>
              <a:t/>
            </a:r>
            <a:br>
              <a:rPr lang="en-US" sz="4400" b="1" dirty="0">
                <a:solidFill>
                  <a:srgbClr val="C00000"/>
                </a:solidFill>
              </a:rPr>
            </a:b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35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What is transmission media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Transmission media</a:t>
            </a:r>
            <a:r>
              <a:rPr lang="en-US" dirty="0"/>
              <a:t>, also known as communication channels or communication media, refer to the </a:t>
            </a:r>
            <a:r>
              <a:rPr lang="en-US" dirty="0" smtClean="0"/>
              <a:t>pathways </a:t>
            </a:r>
            <a:r>
              <a:rPr lang="en-US" dirty="0"/>
              <a:t>or mediums through which signals are transmitted from one location to </a:t>
            </a:r>
            <a:r>
              <a:rPr lang="en-US" dirty="0" smtClean="0"/>
              <a:t>another.</a:t>
            </a:r>
          </a:p>
          <a:p>
            <a:r>
              <a:rPr lang="en-US" dirty="0"/>
              <a:t>Transmission media can be categorized into three main types based on their physical nature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 Guided media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Unguided media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Wireless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51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Guided transmission media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Guided media, also known as bounded or wired media, refer to transmission media that provide a physical pathway for signals to travel through</a:t>
            </a:r>
            <a:r>
              <a:rPr lang="en-US" dirty="0" smtClean="0"/>
              <a:t>.</a:t>
            </a:r>
          </a:p>
          <a:p>
            <a:r>
              <a:rPr lang="en-US" dirty="0"/>
              <a:t>Examples of guided media include</a:t>
            </a:r>
            <a:r>
              <a:rPr lang="en-US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Twisted </a:t>
            </a:r>
            <a:r>
              <a:rPr lang="en-US" b="1" dirty="0"/>
              <a:t>Pair Cable: </a:t>
            </a:r>
            <a:r>
              <a:rPr lang="en-US" dirty="0"/>
              <a:t>Consists of pairs of copper wires twisted together and is commonly used for telephone lines and Ethernet connections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2" descr="Twisted Pair Cable For Short Distance Transmi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4558506"/>
            <a:ext cx="6858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91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Guided transmission media…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 startAt="2"/>
            </a:pPr>
            <a:r>
              <a:rPr lang="en-US" b="1" dirty="0" smtClean="0"/>
              <a:t>Coaxial Cable</a:t>
            </a:r>
            <a:endParaRPr lang="en-US" dirty="0"/>
          </a:p>
          <a:p>
            <a:pPr lvl="2"/>
            <a:r>
              <a:rPr lang="en-US" dirty="0" smtClean="0"/>
              <a:t>Consists </a:t>
            </a:r>
            <a:r>
              <a:rPr lang="en-US" dirty="0"/>
              <a:t>of a central conductor, an insulating layer, a metal shield, and an outer insulating layer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It is used for cable television (CATV) and high-speed data transmission</a:t>
            </a:r>
            <a:r>
              <a:rPr lang="en-US" dirty="0" smtClean="0"/>
              <a:t>.</a:t>
            </a:r>
          </a:p>
          <a:p>
            <a:pPr marL="971550" lvl="1" indent="-514350">
              <a:buFont typeface="+mj-lt"/>
              <a:buAutoNum type="arabicPeriod" startAt="2"/>
            </a:pPr>
            <a:endParaRPr lang="en-US" dirty="0" smtClean="0"/>
          </a:p>
          <a:p>
            <a:pPr marL="971550" lvl="1" indent="-514350">
              <a:buFont typeface="+mj-lt"/>
              <a:buAutoNum type="arabicPeriod" startAt="2"/>
            </a:pPr>
            <a:endParaRPr lang="en-US" dirty="0"/>
          </a:p>
          <a:p>
            <a:pPr marL="971550" lvl="1" indent="-514350">
              <a:buFont typeface="+mj-lt"/>
              <a:buAutoNum type="arabicPeriod" startAt="2"/>
            </a:pP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3757613"/>
            <a:ext cx="82105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86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Guided transmission media…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71550" lvl="1" indent="-514350">
              <a:buFont typeface="+mj-lt"/>
              <a:buAutoNum type="arabicPeriod" startAt="3"/>
            </a:pPr>
            <a:r>
              <a:rPr lang="en-US" b="1" dirty="0"/>
              <a:t>Fiber Optic </a:t>
            </a:r>
            <a:r>
              <a:rPr lang="en-US" b="1" dirty="0" smtClean="0"/>
              <a:t>Cable</a:t>
            </a:r>
            <a:endParaRPr lang="en-US" dirty="0"/>
          </a:p>
          <a:p>
            <a:pPr lvl="2"/>
            <a:r>
              <a:rPr lang="en-US" dirty="0" smtClean="0"/>
              <a:t>A fiber optic cable is made up of glass or plastic and transmits signals in the  form of light.</a:t>
            </a:r>
          </a:p>
          <a:p>
            <a:pPr lvl="2"/>
            <a:r>
              <a:rPr lang="en-US" dirty="0" smtClean="0"/>
              <a:t>Light travels in a straight line as long a it is moving through a single uniform substance.</a:t>
            </a:r>
          </a:p>
          <a:p>
            <a:pPr lvl="2"/>
            <a:r>
              <a:rPr lang="en-US" dirty="0" smtClean="0"/>
              <a:t>Optical fiber use reflection to guide light through a channel.</a:t>
            </a:r>
          </a:p>
          <a:p>
            <a:pPr lvl="2"/>
            <a:r>
              <a:rPr lang="en-US" dirty="0" smtClean="0"/>
              <a:t>Fiber optics are used for long-haul transmission in network backbones, high speed LANs.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An Optical Transmission System has three key components: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b="1" dirty="0" smtClean="0"/>
              <a:t>The light source – </a:t>
            </a:r>
            <a:r>
              <a:rPr lang="en-US" dirty="0" smtClean="0"/>
              <a:t>it generates light signal that will be transmitted through the fiber optic cable.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b="1" dirty="0" smtClean="0"/>
              <a:t>Transmission medium – </a:t>
            </a:r>
            <a:r>
              <a:rPr lang="en-US" dirty="0" smtClean="0"/>
              <a:t>Ultra-thin fiber of glass or plastic, it is made up of a core (where light travels) and cladding (which reflects the light back)</a:t>
            </a:r>
            <a:endParaRPr lang="en-US" b="1" dirty="0" smtClean="0"/>
          </a:p>
          <a:p>
            <a:pPr marL="1828800" lvl="3" indent="-457200">
              <a:buFont typeface="+mj-lt"/>
              <a:buAutoNum type="arabicPeriod"/>
            </a:pPr>
            <a:r>
              <a:rPr lang="en-US" b="1" dirty="0" smtClean="0"/>
              <a:t>The detector – </a:t>
            </a:r>
            <a:r>
              <a:rPr lang="en-US" dirty="0" smtClean="0"/>
              <a:t>This is responsible for converting the light signal back into electrical signal that can be processed by electronic devices. The most common detector is </a:t>
            </a:r>
            <a:r>
              <a:rPr lang="en-US" b="1" dirty="0" smtClean="0"/>
              <a:t>photodiode.</a:t>
            </a:r>
          </a:p>
          <a:p>
            <a:pPr marL="971550" lvl="1" indent="-514350">
              <a:buFont typeface="+mj-lt"/>
              <a:buAutoNum type="arabicPeriod" startAt="3"/>
            </a:pPr>
            <a:endParaRPr lang="en-US" dirty="0"/>
          </a:p>
          <a:p>
            <a:pPr marL="971550" lvl="1" indent="-514350">
              <a:buFont typeface="+mj-lt"/>
              <a:buAutoNum type="arabi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847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438581"/>
            <a:ext cx="10515600" cy="98064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 startAt="3"/>
            </a:pP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/>
          <a:srcRect t="4728"/>
          <a:stretch/>
        </p:blipFill>
        <p:spPr>
          <a:xfrm>
            <a:off x="1058499" y="1249578"/>
            <a:ext cx="8315692" cy="1228294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2" y="3120231"/>
            <a:ext cx="862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07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Unguided transmission media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b="1" dirty="0" smtClean="0"/>
              <a:t>Unguided </a:t>
            </a:r>
            <a:r>
              <a:rPr lang="en-US" b="1" dirty="0"/>
              <a:t>media</a:t>
            </a:r>
            <a:r>
              <a:rPr lang="en-US" dirty="0"/>
              <a:t>, also known as unbounded or wireless media, are transmission media where signals propagate through the air or free space without a physical medium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1"/>
            <a:r>
              <a:rPr lang="en-US" dirty="0"/>
              <a:t>Examples of unguided media include: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Radio Waves</a:t>
            </a:r>
            <a:r>
              <a:rPr lang="en-US" dirty="0"/>
              <a:t>: Used in radio communication, wireless networking (Wi-Fi), and cellular networks.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Microwaves</a:t>
            </a:r>
            <a:r>
              <a:rPr lang="en-US" dirty="0"/>
              <a:t>: Used for point-to-point communication links and satellite communication.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Infrared Waves</a:t>
            </a:r>
            <a:r>
              <a:rPr lang="en-US" dirty="0"/>
              <a:t>: Used in short-range communication, such as infrared remote controls.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34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Wireless transmission media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smtClean="0"/>
              <a:t>Wireless </a:t>
            </a:r>
            <a:r>
              <a:rPr lang="en-US" dirty="0"/>
              <a:t>media is a specific subset of unguided media that refers to transmission media used for wireless communication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1"/>
            <a:r>
              <a:rPr lang="en-US" dirty="0" smtClean="0"/>
              <a:t>Examples includes:</a:t>
            </a:r>
            <a:endParaRPr lang="en-US" dirty="0"/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Wi-Fi (IEEE 802.11): </a:t>
            </a:r>
            <a:r>
              <a:rPr lang="en-US" dirty="0"/>
              <a:t>Enables wireless local area network (WLAN) communication within a limited range</a:t>
            </a:r>
            <a:r>
              <a:rPr lang="en-US" dirty="0" smtClean="0"/>
              <a:t>.</a:t>
            </a:r>
            <a:endParaRPr lang="en-US" dirty="0"/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Bluetooth (IEEE 802.15): </a:t>
            </a:r>
            <a:r>
              <a:rPr lang="en-US" dirty="0"/>
              <a:t>Used for short-range wireless communication between devices, such as smartphones, computers, and peripherals</a:t>
            </a:r>
            <a:r>
              <a:rPr lang="en-US" dirty="0" smtClean="0"/>
              <a:t>.</a:t>
            </a:r>
            <a:endParaRPr lang="en-US" dirty="0"/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Cellular Networks: </a:t>
            </a:r>
            <a:r>
              <a:rPr lang="en-US" dirty="0"/>
              <a:t>Enable wireless communication over large geographic areas using technologies like 2G, 3G, 4G LTE, and 5G</a:t>
            </a:r>
            <a:r>
              <a:rPr lang="en-US" dirty="0" smtClean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dirty="0"/>
              <a:t>Near Field Communication (NFC</a:t>
            </a:r>
            <a:r>
              <a:rPr lang="en-US" b="1" dirty="0" smtClean="0"/>
              <a:t>): </a:t>
            </a:r>
            <a:r>
              <a:rPr lang="en-US" dirty="0" smtClean="0"/>
              <a:t>NFC </a:t>
            </a:r>
            <a:r>
              <a:rPr lang="en-US" dirty="0"/>
              <a:t>enables wireless communication between devices over short distances, typically a few centimeters.</a:t>
            </a:r>
          </a:p>
          <a:p>
            <a:pPr lvl="3"/>
            <a:r>
              <a:rPr lang="en-US" dirty="0"/>
              <a:t>It is used for contactless payments, data exchange between devices by tapping them together, and accessing information from NFC tags.</a:t>
            </a:r>
          </a:p>
          <a:p>
            <a:pPr marL="1371600" lvl="2" indent="-45720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4807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122" name="Picture 2" descr="What is Bluetooth? The streaming technology explained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359" y="758825"/>
            <a:ext cx="1787155" cy="107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to improve wireless network signal range and strength | Comparite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337" y="3803275"/>
            <a:ext cx="4300855" cy="215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ellular Network - an overview | ScienceDirect Topic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05" y="221392"/>
            <a:ext cx="447675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age 2 | Nfc Icon Images - Free Download on Freep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03275"/>
            <a:ext cx="4113125" cy="276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207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2102</Words>
  <Application>Microsoft Office PowerPoint</Application>
  <PresentationFormat>Widescreen</PresentationFormat>
  <Paragraphs>160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Transmission rate and band width  </vt:lpstr>
      <vt:lpstr>Transmission Rate</vt:lpstr>
      <vt:lpstr>Transmission Rate (continue…/)</vt:lpstr>
      <vt:lpstr>Transmission Rate (continue…/)</vt:lpstr>
      <vt:lpstr>Bandwidth</vt:lpstr>
      <vt:lpstr>Bandwidth (continue…/)</vt:lpstr>
      <vt:lpstr>Bandwidth (continue…/)</vt:lpstr>
      <vt:lpstr>Bandwidth (continue…/)</vt:lpstr>
      <vt:lpstr>Relationship between Transmission Rate and Bandwidth.</vt:lpstr>
      <vt:lpstr>Signals, types of signals and standards  </vt:lpstr>
      <vt:lpstr>What are signals?</vt:lpstr>
      <vt:lpstr>Types of signals</vt:lpstr>
      <vt:lpstr>Types of signals …                           </vt:lpstr>
      <vt:lpstr>Types of signals …                           </vt:lpstr>
      <vt:lpstr>Signal Standards</vt:lpstr>
      <vt:lpstr>Signal Standards…</vt:lpstr>
      <vt:lpstr>Signal Standards ….</vt:lpstr>
      <vt:lpstr>Transmission media  </vt:lpstr>
      <vt:lpstr>What is transmission media</vt:lpstr>
      <vt:lpstr>Guided transmission media</vt:lpstr>
      <vt:lpstr>Guided transmission media…</vt:lpstr>
      <vt:lpstr>Guided transmission media…</vt:lpstr>
      <vt:lpstr> </vt:lpstr>
      <vt:lpstr>Unguided transmission media</vt:lpstr>
      <vt:lpstr>Wireless transmission media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MiLab</dc:creator>
  <cp:lastModifiedBy>MiLab</cp:lastModifiedBy>
  <cp:revision>21</cp:revision>
  <dcterms:created xsi:type="dcterms:W3CDTF">2023-06-12T08:52:47Z</dcterms:created>
  <dcterms:modified xsi:type="dcterms:W3CDTF">2023-06-12T12:00:02Z</dcterms:modified>
</cp:coreProperties>
</file>