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75" autoAdjust="0"/>
    <p:restoredTop sz="94660"/>
  </p:normalViewPr>
  <p:slideViewPr>
    <p:cSldViewPr snapToGrid="0">
      <p:cViewPr varScale="1">
        <p:scale>
          <a:sx n="78" d="100"/>
          <a:sy n="78" d="100"/>
        </p:scale>
        <p:origin x="56"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27EDE2E-20AE-4661-A938-5DF6475A1ECA}"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508175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7EDE2E-20AE-4661-A938-5DF6475A1ECA}"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3261876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7EDE2E-20AE-4661-A938-5DF6475A1ECA}"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746583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7EDE2E-20AE-4661-A938-5DF6475A1ECA}" type="datetimeFigureOut">
              <a:rPr lang="en-US" smtClean="0"/>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2433304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27EDE2E-20AE-4661-A938-5DF6475A1ECA}" type="datetimeFigureOut">
              <a:rPr lang="en-US" smtClean="0"/>
              <a:t>3/5/2024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2741417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27EDE2E-20AE-4661-A938-5DF6475A1ECA}" type="datetimeFigureOut">
              <a:rPr lang="en-US" smtClean="0"/>
              <a:t>3/5/2024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2152569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7EDE2E-20AE-4661-A938-5DF6475A1ECA}" type="datetimeFigureOut">
              <a:rPr lang="en-US" smtClean="0"/>
              <a:t>3/5/2024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210198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27EDE2E-20AE-4661-A938-5DF6475A1ECA}" type="datetimeFigureOut">
              <a:rPr lang="en-US" smtClean="0"/>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1939502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27EDE2E-20AE-4661-A938-5DF6475A1ECA}" type="datetimeFigureOut">
              <a:rPr lang="en-US" smtClean="0"/>
              <a:t>3/5/2024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2586617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7EDE2E-20AE-4661-A938-5DF6475A1ECA}"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2618586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27EDE2E-20AE-4661-A938-5DF6475A1ECA}" type="datetimeFigureOut">
              <a:rPr lang="en-US" smtClean="0"/>
              <a:t>3/5/2024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1714086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7EDE2E-20AE-4661-A938-5DF6475A1ECA}" type="datetimeFigureOut">
              <a:rPr lang="en-US" smtClean="0"/>
              <a:t>3/5/2024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F06457-3AD8-4259-9EB0-27F648E169E7}" type="slidenum">
              <a:rPr lang="en-US" smtClean="0"/>
              <a:t>‹#›</a:t>
            </a:fld>
            <a:endParaRPr lang="en-US"/>
          </a:p>
        </p:txBody>
      </p:sp>
    </p:spTree>
    <p:extLst>
      <p:ext uri="{BB962C8B-B14F-4D97-AF65-F5344CB8AC3E}">
        <p14:creationId xmlns:p14="http://schemas.microsoft.com/office/powerpoint/2010/main" val="4109598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t>Computer and Communication Technology (BICT1103)</a:t>
            </a:r>
          </a:p>
        </p:txBody>
      </p:sp>
      <p:sp>
        <p:nvSpPr>
          <p:cNvPr id="3" name="Subtitle 2"/>
          <p:cNvSpPr>
            <a:spLocks noGrp="1"/>
          </p:cNvSpPr>
          <p:nvPr>
            <p:ph type="subTitle" idx="1"/>
          </p:nvPr>
        </p:nvSpPr>
        <p:spPr/>
        <p:txBody>
          <a:bodyPr/>
          <a:lstStyle/>
          <a:p>
            <a:endParaRPr lang="en-US" b="1" dirty="0"/>
          </a:p>
        </p:txBody>
      </p:sp>
    </p:spTree>
    <p:extLst>
      <p:ext uri="{BB962C8B-B14F-4D97-AF65-F5344CB8AC3E}">
        <p14:creationId xmlns:p14="http://schemas.microsoft.com/office/powerpoint/2010/main" val="3455065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solidFill>
                  <a:srgbClr val="C00000"/>
                </a:solidFill>
              </a:rPr>
              <a:t>TOPIC 1: Introduction to Information and Communication Technology</a:t>
            </a:r>
            <a:r>
              <a:rPr lang="en-US" u="sng" dirty="0">
                <a:solidFill>
                  <a:srgbClr val="C00000"/>
                </a:solidFill>
              </a:rPr>
              <a:t> </a:t>
            </a:r>
            <a:br>
              <a:rPr lang="en-US" u="sng" dirty="0"/>
            </a:br>
            <a:endParaRPr lang="en-US" dirty="0"/>
          </a:p>
        </p:txBody>
      </p:sp>
      <p:sp>
        <p:nvSpPr>
          <p:cNvPr id="3" name="Content Placeholder 2"/>
          <p:cNvSpPr>
            <a:spLocks noGrp="1"/>
          </p:cNvSpPr>
          <p:nvPr>
            <p:ph idx="1"/>
          </p:nvPr>
        </p:nvSpPr>
        <p:spPr/>
        <p:txBody>
          <a:bodyPr>
            <a:normAutofit lnSpcReduction="10000"/>
          </a:bodyPr>
          <a:lstStyle/>
          <a:p>
            <a:r>
              <a:rPr lang="en-US" b="1" dirty="0"/>
              <a:t>What is a computer?</a:t>
            </a:r>
          </a:p>
          <a:p>
            <a:r>
              <a:rPr lang="en-US" b="1" dirty="0"/>
              <a:t>A Computer </a:t>
            </a:r>
            <a:r>
              <a:rPr lang="en-US" dirty="0"/>
              <a:t>is a machine that can do work for people by carrying out instructions given to it.</a:t>
            </a:r>
          </a:p>
          <a:p>
            <a:r>
              <a:rPr lang="en-US" dirty="0"/>
              <a:t>A sequence of instructions describing how to perform a task is called a </a:t>
            </a:r>
            <a:r>
              <a:rPr lang="en-US" b="1" dirty="0"/>
              <a:t>program.</a:t>
            </a:r>
          </a:p>
          <a:p>
            <a:r>
              <a:rPr lang="en-US" dirty="0"/>
              <a:t>The electronic set of each computer can recognize and directly execute a limited set of simple instruction into which all programs must be converted before they can be executed.</a:t>
            </a:r>
          </a:p>
          <a:p>
            <a:r>
              <a:rPr lang="en-US" b="1" dirty="0"/>
              <a:t>Machine language </a:t>
            </a:r>
            <a:r>
              <a:rPr lang="en-US" dirty="0"/>
              <a:t>is the computers’ primitive instructions that form a language in which people can communicate with the computer.</a:t>
            </a:r>
            <a:endParaRPr lang="en-US" b="1" dirty="0"/>
          </a:p>
          <a:p>
            <a:endParaRPr lang="en-US" b="1"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10514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Designers of a computer has to simplify the machine language as simple as possible while meeting the computer’s intended use and performance requirements.</a:t>
            </a:r>
          </a:p>
          <a:p>
            <a:r>
              <a:rPr lang="en-US" dirty="0"/>
              <a:t>They can achieve that by designing the computers with a sequence of abstractions, each building on one bellow it, to reduce complexity and make computer systems more systematic.</a:t>
            </a:r>
          </a:p>
          <a:p>
            <a:r>
              <a:rPr lang="en-US" dirty="0"/>
              <a:t>This is called </a:t>
            </a:r>
            <a:r>
              <a:rPr lang="en-US" b="1" dirty="0"/>
              <a:t>Structured Computer Organization</a:t>
            </a:r>
            <a:r>
              <a:rPr lang="en-US" dirty="0"/>
              <a:t>.</a:t>
            </a:r>
          </a:p>
          <a:p>
            <a:pPr marL="0" indent="0">
              <a:buNone/>
            </a:pPr>
            <a:endParaRPr lang="en-US" dirty="0"/>
          </a:p>
        </p:txBody>
      </p:sp>
    </p:spTree>
    <p:extLst>
      <p:ext uri="{BB962C8B-B14F-4D97-AF65-F5344CB8AC3E}">
        <p14:creationId xmlns:p14="http://schemas.microsoft.com/office/powerpoint/2010/main" val="3374815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Structured Computer Organization</a:t>
            </a:r>
            <a:endParaRPr lang="en-US" dirty="0"/>
          </a:p>
        </p:txBody>
      </p:sp>
      <p:sp>
        <p:nvSpPr>
          <p:cNvPr id="3" name="Content Placeholder 2"/>
          <p:cNvSpPr>
            <a:spLocks noGrp="1"/>
          </p:cNvSpPr>
          <p:nvPr>
            <p:ph idx="1"/>
          </p:nvPr>
        </p:nvSpPr>
        <p:spPr/>
        <p:txBody>
          <a:bodyPr/>
          <a:lstStyle/>
          <a:p>
            <a:r>
              <a:rPr lang="en-US" dirty="0"/>
              <a:t>There is always a gap between what is convenient for people and what is convenient for computers.</a:t>
            </a:r>
          </a:p>
          <a:p>
            <a:r>
              <a:rPr lang="en-US" dirty="0"/>
              <a:t>People want to do X while computers want to do Y.</a:t>
            </a:r>
          </a:p>
          <a:p>
            <a:r>
              <a:rPr lang="en-US" dirty="0"/>
              <a:t>This problem can be solved by having a set of instructions to use that are more convenient for people to use than the built-in instructions.</a:t>
            </a:r>
          </a:p>
          <a:p>
            <a:r>
              <a:rPr lang="en-US" b="1" dirty="0"/>
              <a:t>For example:</a:t>
            </a:r>
          </a:p>
          <a:p>
            <a:pPr marL="0" indent="0">
              <a:buNone/>
            </a:pPr>
            <a:r>
              <a:rPr lang="en-US" dirty="0"/>
              <a:t>	Lets say </a:t>
            </a:r>
            <a:r>
              <a:rPr lang="en-US" b="1" dirty="0"/>
              <a:t>L1 </a:t>
            </a:r>
            <a:r>
              <a:rPr lang="en-US" dirty="0"/>
              <a:t>is a set of instructions that humans can write and understand and </a:t>
            </a:r>
            <a:r>
              <a:rPr lang="en-US" b="1" dirty="0"/>
              <a:t>L0 </a:t>
            </a:r>
            <a:r>
              <a:rPr lang="en-US" dirty="0"/>
              <a:t>is  a built-in machine instructions that machines understand.</a:t>
            </a:r>
            <a:endParaRPr lang="en-US" b="1" dirty="0"/>
          </a:p>
        </p:txBody>
      </p:sp>
    </p:spTree>
    <p:extLst>
      <p:ext uri="{BB962C8B-B14F-4D97-AF65-F5344CB8AC3E}">
        <p14:creationId xmlns:p14="http://schemas.microsoft.com/office/powerpoint/2010/main" val="313600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t>So to execute a program written in </a:t>
            </a:r>
            <a:r>
              <a:rPr lang="en-US" b="1" dirty="0"/>
              <a:t>L1 , </a:t>
            </a:r>
            <a:r>
              <a:rPr lang="en-US" dirty="0"/>
              <a:t>the instructions in </a:t>
            </a:r>
            <a:r>
              <a:rPr lang="en-US" b="1" dirty="0"/>
              <a:t>L1</a:t>
            </a:r>
            <a:r>
              <a:rPr lang="en-US" dirty="0"/>
              <a:t> have to be replaced by its equivalent sequence of instructions  in </a:t>
            </a:r>
            <a:r>
              <a:rPr lang="en-US" b="1" dirty="0"/>
              <a:t>L0</a:t>
            </a:r>
            <a:r>
              <a:rPr lang="en-US" dirty="0"/>
              <a:t>.</a:t>
            </a:r>
          </a:p>
          <a:p>
            <a:r>
              <a:rPr lang="en-US" dirty="0"/>
              <a:t>The computer then executes the new </a:t>
            </a:r>
            <a:r>
              <a:rPr lang="en-US" b="1" dirty="0"/>
              <a:t>L0</a:t>
            </a:r>
            <a:r>
              <a:rPr lang="en-US" dirty="0"/>
              <a:t> program instead of the old </a:t>
            </a:r>
            <a:r>
              <a:rPr lang="en-US" b="1" dirty="0"/>
              <a:t>L1 </a:t>
            </a:r>
            <a:r>
              <a:rPr lang="en-US" dirty="0"/>
              <a:t>program.</a:t>
            </a:r>
          </a:p>
          <a:p>
            <a:r>
              <a:rPr lang="en-US" dirty="0"/>
              <a:t>This technique is called </a:t>
            </a:r>
            <a:r>
              <a:rPr lang="en-US" b="1" dirty="0"/>
              <a:t>translation</a:t>
            </a:r>
            <a:r>
              <a:rPr lang="en-US" dirty="0"/>
              <a:t>.</a:t>
            </a:r>
          </a:p>
          <a:p>
            <a:endParaRPr lang="en-US" b="1" dirty="0"/>
          </a:p>
          <a:p>
            <a:r>
              <a:rPr lang="en-US" dirty="0"/>
              <a:t>The other way of executing program written in </a:t>
            </a:r>
            <a:r>
              <a:rPr lang="en-US" b="1" dirty="0"/>
              <a:t>L1 </a:t>
            </a:r>
            <a:r>
              <a:rPr lang="en-US" dirty="0"/>
              <a:t>is by writing a program in </a:t>
            </a:r>
            <a:r>
              <a:rPr lang="en-US" b="1" dirty="0"/>
              <a:t>L0 </a:t>
            </a:r>
            <a:r>
              <a:rPr lang="en-US" dirty="0"/>
              <a:t>that takes programs in </a:t>
            </a:r>
            <a:r>
              <a:rPr lang="en-US" b="1" dirty="0"/>
              <a:t>L1 </a:t>
            </a:r>
            <a:r>
              <a:rPr lang="en-US" dirty="0"/>
              <a:t>as input data and carries them out by examining each instruction in turn and executing the equivalent sequence of </a:t>
            </a:r>
            <a:r>
              <a:rPr lang="en-US" b="1" dirty="0"/>
              <a:t>L0 </a:t>
            </a:r>
            <a:r>
              <a:rPr lang="en-US" dirty="0"/>
              <a:t>instructions directly.</a:t>
            </a:r>
          </a:p>
          <a:p>
            <a:r>
              <a:rPr lang="en-US" dirty="0"/>
              <a:t>This technique is called </a:t>
            </a:r>
            <a:r>
              <a:rPr lang="en-US" b="1" dirty="0"/>
              <a:t>interpretation. </a:t>
            </a:r>
            <a:endParaRPr lang="en-US" dirty="0"/>
          </a:p>
          <a:p>
            <a:r>
              <a:rPr lang="en-US" dirty="0"/>
              <a:t>The program that carries this out is called an </a:t>
            </a:r>
            <a:r>
              <a:rPr lang="en-US" b="1" dirty="0"/>
              <a:t>interpreter</a:t>
            </a:r>
            <a:r>
              <a:rPr lang="en-US" dirty="0"/>
              <a:t>.</a:t>
            </a:r>
          </a:p>
        </p:txBody>
      </p:sp>
    </p:spTree>
    <p:extLst>
      <p:ext uri="{BB962C8B-B14F-4D97-AF65-F5344CB8AC3E}">
        <p14:creationId xmlns:p14="http://schemas.microsoft.com/office/powerpoint/2010/main" val="531466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a:t>Translation</a:t>
            </a:r>
            <a:r>
              <a:rPr lang="en-US" dirty="0"/>
              <a:t> and </a:t>
            </a:r>
            <a:r>
              <a:rPr lang="en-US" b="1" dirty="0"/>
              <a:t>interpretation</a:t>
            </a:r>
            <a:r>
              <a:rPr lang="en-US" dirty="0"/>
              <a:t> are similar as in both the computer carries out instructions in </a:t>
            </a:r>
            <a:r>
              <a:rPr lang="en-US" b="1" dirty="0"/>
              <a:t>L1 </a:t>
            </a:r>
            <a:r>
              <a:rPr lang="en-US" dirty="0"/>
              <a:t>by executing equivalent sequences of instructions in </a:t>
            </a:r>
            <a:r>
              <a:rPr lang="en-US" b="1" dirty="0"/>
              <a:t>L0</a:t>
            </a:r>
            <a:r>
              <a:rPr lang="en-US" dirty="0"/>
              <a:t>.</a:t>
            </a:r>
          </a:p>
          <a:p>
            <a:r>
              <a:rPr lang="en-US" dirty="0"/>
              <a:t>The only difference is that, in </a:t>
            </a:r>
            <a:r>
              <a:rPr lang="en-US" b="1" dirty="0"/>
              <a:t>translation</a:t>
            </a:r>
            <a:r>
              <a:rPr lang="en-US" dirty="0"/>
              <a:t>, the entire </a:t>
            </a:r>
            <a:r>
              <a:rPr lang="en-US" b="1" dirty="0"/>
              <a:t>L1 </a:t>
            </a:r>
            <a:r>
              <a:rPr lang="en-US" dirty="0"/>
              <a:t>program is first converted to an </a:t>
            </a:r>
            <a:r>
              <a:rPr lang="en-US" b="1" dirty="0"/>
              <a:t>L0 </a:t>
            </a:r>
            <a:r>
              <a:rPr lang="en-US" dirty="0"/>
              <a:t>program, the </a:t>
            </a:r>
            <a:r>
              <a:rPr lang="en-US" b="1" dirty="0"/>
              <a:t>L1 </a:t>
            </a:r>
            <a:r>
              <a:rPr lang="en-US" dirty="0"/>
              <a:t>program is thrown away and then the new </a:t>
            </a:r>
            <a:r>
              <a:rPr lang="en-US" b="1" dirty="0"/>
              <a:t>L0 </a:t>
            </a:r>
            <a:r>
              <a:rPr lang="en-US" dirty="0"/>
              <a:t>program is loaded into the computer’s memory and executed.</a:t>
            </a:r>
          </a:p>
          <a:p>
            <a:r>
              <a:rPr lang="en-US" dirty="0"/>
              <a:t>In </a:t>
            </a:r>
            <a:r>
              <a:rPr lang="en-US" b="1" dirty="0"/>
              <a:t>interpretation</a:t>
            </a:r>
            <a:r>
              <a:rPr lang="en-US" dirty="0"/>
              <a:t>, after each </a:t>
            </a:r>
            <a:r>
              <a:rPr lang="en-US" b="1" dirty="0"/>
              <a:t>L1 </a:t>
            </a:r>
            <a:r>
              <a:rPr lang="en-US" dirty="0"/>
              <a:t>instruction is examined and decoded, it is carried out immediately.</a:t>
            </a:r>
          </a:p>
          <a:p>
            <a:r>
              <a:rPr lang="en-US" dirty="0"/>
              <a:t>No translated program is generated. Here, the interpreter is in control of the computer. To it, the</a:t>
            </a:r>
            <a:r>
              <a:rPr lang="en-US" b="1" dirty="0"/>
              <a:t> L1 </a:t>
            </a:r>
            <a:r>
              <a:rPr lang="en-US" dirty="0"/>
              <a:t>program is just data. Both methods, and increasingly, a combination of the two, are widely used. </a:t>
            </a:r>
          </a:p>
        </p:txBody>
      </p:sp>
    </p:spTree>
    <p:extLst>
      <p:ext uri="{BB962C8B-B14F-4D97-AF65-F5344CB8AC3E}">
        <p14:creationId xmlns:p14="http://schemas.microsoft.com/office/powerpoint/2010/main" val="3359705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Rather than thinking in terms of translation or interpretation, it is often simpler to imagine the existence of a hypothetical computer or </a:t>
            </a:r>
            <a:r>
              <a:rPr lang="en-US" b="1" dirty="0"/>
              <a:t>virtual machine </a:t>
            </a:r>
            <a:r>
              <a:rPr lang="en-US" dirty="0"/>
              <a:t>whose machine language is L1.</a:t>
            </a:r>
          </a:p>
          <a:p>
            <a:r>
              <a:rPr lang="en-US" dirty="0"/>
              <a:t>Let us call this virtual machine M1 (and let us call the machine corresponding to L0, M0).</a:t>
            </a:r>
          </a:p>
          <a:p>
            <a:r>
              <a:rPr lang="en-US" dirty="0"/>
              <a:t>If such a machine could be constructed cheaply enough, there would be no need for having language L0 or a machine that executed programs in L0 at all. </a:t>
            </a:r>
            <a:br>
              <a:rPr lang="en-US" dirty="0"/>
            </a:br>
            <a:endParaRPr lang="en-US" dirty="0"/>
          </a:p>
        </p:txBody>
      </p:sp>
    </p:spTree>
    <p:extLst>
      <p:ext uri="{BB962C8B-B14F-4D97-AF65-F5344CB8AC3E}">
        <p14:creationId xmlns:p14="http://schemas.microsoft.com/office/powerpoint/2010/main" val="1127880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To make translation or interpretation practical, the languages L0 and L1 must not be ‘‘too’’ different. This constraint often means that L1, although better than L0, will still be far from ideal for most applications. </a:t>
            </a:r>
          </a:p>
          <a:p>
            <a:r>
              <a:rPr lang="en-US" dirty="0"/>
              <a:t>This result is perhaps discouraging in light of the original purpose for creating L1—relieving the programmer of the burden of having to express algorithms in a language more suited to machines than people. However, the situation is not hopeless.</a:t>
            </a:r>
          </a:p>
          <a:p>
            <a:r>
              <a:rPr lang="en-US" dirty="0"/>
              <a:t>The obvious approach is to invent still another set of instructions that is more people-oriented and less machine-oriented than L1.</a:t>
            </a:r>
          </a:p>
          <a:p>
            <a:r>
              <a:rPr lang="en-US" dirty="0"/>
              <a:t> This third set also forms a language, which we will call L2 (and with virtual machine M2). People can write programs in L2 just as though a virtual machine with L2 as its machine language really existed. Such programs can be either translated to L1 or executed by an interpreter written in L1. </a:t>
            </a:r>
            <a:br>
              <a:rPr lang="en-US" dirty="0"/>
            </a:br>
            <a:endParaRPr lang="en-US" dirty="0"/>
          </a:p>
          <a:p>
            <a:r>
              <a:rPr lang="en-US" dirty="0"/>
              <a:t>The invention of a whole series of languages, each one more convenient than its predecessors, can go on indefinitely until a suitable one is finally achieved. Each language uses its predecessor as a basis, so we may view a computer using this technique as a series of </a:t>
            </a:r>
            <a:r>
              <a:rPr lang="en-US" b="1" dirty="0"/>
              <a:t>layers </a:t>
            </a:r>
            <a:r>
              <a:rPr lang="en-US" dirty="0"/>
              <a:t>or </a:t>
            </a:r>
            <a:r>
              <a:rPr lang="en-US" b="1" dirty="0"/>
              <a:t>levels</a:t>
            </a:r>
            <a:r>
              <a:rPr lang="en-US" dirty="0"/>
              <a:t>, one on top of another, as shown below.</a:t>
            </a:r>
            <a:br>
              <a:rPr lang="en-US" dirty="0"/>
            </a:br>
            <a:endParaRPr lang="en-US" dirty="0"/>
          </a:p>
        </p:txBody>
      </p:sp>
    </p:spTree>
    <p:extLst>
      <p:ext uri="{BB962C8B-B14F-4D97-AF65-F5344CB8AC3E}">
        <p14:creationId xmlns:p14="http://schemas.microsoft.com/office/powerpoint/2010/main" val="1356407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659988" y="379192"/>
            <a:ext cx="7286037" cy="6492875"/>
          </a:xfrm>
          <a:prstGeom prst="rect">
            <a:avLst/>
          </a:prstGeom>
        </p:spPr>
      </p:pic>
    </p:spTree>
    <p:extLst>
      <p:ext uri="{BB962C8B-B14F-4D97-AF65-F5344CB8AC3E}">
        <p14:creationId xmlns:p14="http://schemas.microsoft.com/office/powerpoint/2010/main" val="4134930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 person who writes programs for the level </a:t>
            </a:r>
            <a:r>
              <a:rPr lang="en-US" i="1" dirty="0"/>
              <a:t>n </a:t>
            </a:r>
            <a:r>
              <a:rPr lang="en-US" dirty="0"/>
              <a:t>virtual machine need not be aware of the underlying interpreters and translators.</a:t>
            </a:r>
          </a:p>
          <a:p>
            <a:r>
              <a:rPr lang="en-US" dirty="0"/>
              <a:t>The machine structure ensures that these programs will somehow be executed.</a:t>
            </a:r>
          </a:p>
        </p:txBody>
      </p:sp>
    </p:spTree>
    <p:extLst>
      <p:ext uri="{BB962C8B-B14F-4D97-AF65-F5344CB8AC3E}">
        <p14:creationId xmlns:p14="http://schemas.microsoft.com/office/powerpoint/2010/main" val="1642459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Law of Computers in ICT</a:t>
            </a:r>
          </a:p>
        </p:txBody>
      </p:sp>
      <p:sp>
        <p:nvSpPr>
          <p:cNvPr id="3" name="Content Placeholder 2"/>
          <p:cNvSpPr>
            <a:spLocks noGrp="1"/>
          </p:cNvSpPr>
          <p:nvPr>
            <p:ph idx="1"/>
          </p:nvPr>
        </p:nvSpPr>
        <p:spPr/>
        <p:txBody>
          <a:bodyPr/>
          <a:lstStyle/>
          <a:p>
            <a:r>
              <a:rPr lang="en-US" dirty="0"/>
              <a:t>Computers play a central role in information and communication technology (ICT) by providing the hardware and software necessary for the creation, storage, processing, and distribution of digital information.</a:t>
            </a:r>
          </a:p>
          <a:p>
            <a:r>
              <a:rPr lang="en-US" dirty="0"/>
              <a:t>They are essential tools for individuals, businesses, organizations, and governments to communicate, collaborate, and exchange information and data in real-time over local and global networks.</a:t>
            </a:r>
          </a:p>
          <a:p>
            <a:r>
              <a:rPr lang="en-US" dirty="0"/>
              <a:t>Some of the specific roles that computers play in ICT include:</a:t>
            </a:r>
          </a:p>
          <a:p>
            <a:endParaRPr lang="en-US" dirty="0"/>
          </a:p>
        </p:txBody>
      </p:sp>
    </p:spTree>
    <p:extLst>
      <p:ext uri="{BB962C8B-B14F-4D97-AF65-F5344CB8AC3E}">
        <p14:creationId xmlns:p14="http://schemas.microsoft.com/office/powerpoint/2010/main" val="153322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514350" indent="-514350">
              <a:buFont typeface="+mj-lt"/>
              <a:buAutoNum type="arabicPeriod"/>
            </a:pPr>
            <a:r>
              <a:rPr lang="en-US" b="1" dirty="0"/>
              <a:t>Communication</a:t>
            </a:r>
            <a:r>
              <a:rPr lang="en-US" dirty="0"/>
              <a:t>: Computers enable people to communicate with each other through email, instant messaging, video conferencing, and other online communication tools.</a:t>
            </a:r>
          </a:p>
          <a:p>
            <a:pPr marL="514350" indent="-514350">
              <a:buFont typeface="+mj-lt"/>
              <a:buAutoNum type="arabicPeriod"/>
            </a:pPr>
            <a:r>
              <a:rPr lang="en-US" b="1" dirty="0"/>
              <a:t>Storage and retrieval of information</a:t>
            </a:r>
            <a:r>
              <a:rPr lang="en-US" dirty="0"/>
              <a:t>: Computers are used to store, organize, and retrieve information and data, making it easier to manage large amounts of information and access it quickly.</a:t>
            </a:r>
          </a:p>
          <a:p>
            <a:pPr marL="514350" indent="-514350">
              <a:buFont typeface="+mj-lt"/>
              <a:buAutoNum type="arabicPeriod"/>
            </a:pPr>
            <a:r>
              <a:rPr lang="en-US" b="1" dirty="0"/>
              <a:t>Data analysis</a:t>
            </a:r>
            <a:r>
              <a:rPr lang="en-US" dirty="0"/>
              <a:t>: Computers can analyze large datasets, perform complex calculations, and generate reports that can help organizations make informed decisions.</a:t>
            </a:r>
          </a:p>
          <a:p>
            <a:pPr marL="514350" indent="-514350">
              <a:buFont typeface="+mj-lt"/>
              <a:buAutoNum type="arabicPeriod"/>
            </a:pPr>
            <a:endParaRPr lang="en-US" dirty="0"/>
          </a:p>
        </p:txBody>
      </p:sp>
    </p:spTree>
    <p:extLst>
      <p:ext uri="{BB962C8B-B14F-4D97-AF65-F5344CB8AC3E}">
        <p14:creationId xmlns:p14="http://schemas.microsoft.com/office/powerpoint/2010/main" val="3223141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514350" indent="-514350">
              <a:buFont typeface="+mj-lt"/>
              <a:buAutoNum type="arabicPeriod" startAt="4"/>
            </a:pPr>
            <a:r>
              <a:rPr lang="en-US" b="1" dirty="0"/>
              <a:t>Automation</a:t>
            </a:r>
            <a:r>
              <a:rPr lang="en-US" dirty="0"/>
              <a:t>: Computers are used to automate repetitive tasks and processes, increasing efficiency and reducing errors.</a:t>
            </a:r>
          </a:p>
          <a:p>
            <a:pPr marL="514350" indent="-514350">
              <a:buFont typeface="+mj-lt"/>
              <a:buAutoNum type="arabicPeriod" startAt="4"/>
            </a:pPr>
            <a:r>
              <a:rPr lang="en-US" b="1" dirty="0"/>
              <a:t>Education and training</a:t>
            </a:r>
            <a:r>
              <a:rPr lang="en-US" dirty="0"/>
              <a:t>: Computers are used in education and training to provide access to online resources, distance learning, and interactive educational materials.</a:t>
            </a:r>
          </a:p>
          <a:p>
            <a:pPr marL="514350" indent="-514350">
              <a:buFont typeface="+mj-lt"/>
              <a:buAutoNum type="arabicPeriod" startAt="4"/>
            </a:pPr>
            <a:r>
              <a:rPr lang="en-US" b="1" dirty="0"/>
              <a:t>Entertainment</a:t>
            </a:r>
            <a:r>
              <a:rPr lang="en-US" dirty="0"/>
              <a:t>: Computers are used for gaming, streaming videos and music, and other forms of digital entertainment.</a:t>
            </a:r>
          </a:p>
        </p:txBody>
      </p:sp>
    </p:spTree>
    <p:extLst>
      <p:ext uri="{BB962C8B-B14F-4D97-AF65-F5344CB8AC3E}">
        <p14:creationId xmlns:p14="http://schemas.microsoft.com/office/powerpoint/2010/main" val="2866089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History of Computers</a:t>
            </a:r>
          </a:p>
        </p:txBody>
      </p:sp>
      <p:sp>
        <p:nvSpPr>
          <p:cNvPr id="3" name="Content Placeholder 2"/>
          <p:cNvSpPr>
            <a:spLocks noGrp="1"/>
          </p:cNvSpPr>
          <p:nvPr>
            <p:ph idx="1"/>
          </p:nvPr>
        </p:nvSpPr>
        <p:spPr/>
        <p:txBody>
          <a:bodyPr/>
          <a:lstStyle/>
          <a:p>
            <a:r>
              <a:rPr lang="en-US" dirty="0"/>
              <a:t>Hundreds of different kinds of computers have been designed and built during the evolution of the modern digital computer.</a:t>
            </a:r>
          </a:p>
          <a:p>
            <a:r>
              <a:rPr lang="en-US" dirty="0"/>
              <a:t> Most have been long forgotten, but a few have had a significant impact on modern ideas.</a:t>
            </a:r>
          </a:p>
          <a:p>
            <a:r>
              <a:rPr lang="en-US" dirty="0"/>
              <a:t>In this section we will give a brief sketch of some of the key historical developments in order to get a better understanding of how we got where we are now.</a:t>
            </a:r>
          </a:p>
        </p:txBody>
      </p:sp>
    </p:spTree>
    <p:extLst>
      <p:ext uri="{BB962C8B-B14F-4D97-AF65-F5344CB8AC3E}">
        <p14:creationId xmlns:p14="http://schemas.microsoft.com/office/powerpoint/2010/main" val="1301566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The Zeroth Generation—Mechanical Computers (1642–1945)</a:t>
            </a:r>
            <a:r>
              <a:rPr lang="en-US" sz="2400" dirty="0">
                <a:solidFill>
                  <a:srgbClr val="C00000"/>
                </a:solidFill>
              </a:rPr>
              <a:t> </a:t>
            </a:r>
          </a:p>
        </p:txBody>
      </p:sp>
      <p:sp>
        <p:nvSpPr>
          <p:cNvPr id="3" name="Content Placeholder 2"/>
          <p:cNvSpPr>
            <a:spLocks noGrp="1"/>
          </p:cNvSpPr>
          <p:nvPr>
            <p:ph idx="1"/>
          </p:nvPr>
        </p:nvSpPr>
        <p:spPr/>
        <p:txBody>
          <a:bodyPr>
            <a:normAutofit fontScale="92500" lnSpcReduction="10000"/>
          </a:bodyPr>
          <a:lstStyle/>
          <a:p>
            <a:r>
              <a:rPr lang="en-US" dirty="0"/>
              <a:t>The first person to build a working calculating machine was the French scientist Blaise Pascal (1623–1662), in whose honor the programming language Pascal is named.</a:t>
            </a:r>
          </a:p>
          <a:p>
            <a:r>
              <a:rPr lang="en-US" dirty="0"/>
              <a:t>This device, built in 1642, when Pascal was only 19, was designed to help his father, a tax collector for the French government.</a:t>
            </a:r>
          </a:p>
          <a:p>
            <a:r>
              <a:rPr lang="en-US" dirty="0"/>
              <a:t>It was entirely mechanical, using gears, and powered by a hand-operated crank.</a:t>
            </a:r>
          </a:p>
          <a:p>
            <a:r>
              <a:rPr lang="en-US" dirty="0"/>
              <a:t>Pascal’s machine could do only addition and subtraction operations, but thirty years later the great German mathematician Baron Gottfried Wilhelm von Leibniz (1646–1716) built another mechanical machine that could multiply and divide as well.</a:t>
            </a:r>
            <a:br>
              <a:rPr lang="en-US" dirty="0"/>
            </a:br>
            <a:endParaRPr lang="en-US" dirty="0"/>
          </a:p>
        </p:txBody>
      </p:sp>
    </p:spTree>
    <p:extLst>
      <p:ext uri="{BB962C8B-B14F-4D97-AF65-F5344CB8AC3E}">
        <p14:creationId xmlns:p14="http://schemas.microsoft.com/office/powerpoint/2010/main" val="580640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The First Generation—Vacuum Tubes (1945–1955)</a:t>
            </a:r>
            <a:endParaRPr lang="en-US" sz="2400" dirty="0">
              <a:solidFill>
                <a:srgbClr val="C00000"/>
              </a:solidFill>
            </a:endParaRPr>
          </a:p>
        </p:txBody>
      </p:sp>
      <p:sp>
        <p:nvSpPr>
          <p:cNvPr id="3" name="Content Placeholder 2"/>
          <p:cNvSpPr>
            <a:spLocks noGrp="1"/>
          </p:cNvSpPr>
          <p:nvPr>
            <p:ph idx="1"/>
          </p:nvPr>
        </p:nvSpPr>
        <p:spPr/>
        <p:txBody>
          <a:bodyPr>
            <a:normAutofit fontScale="77500" lnSpcReduction="20000"/>
          </a:bodyPr>
          <a:lstStyle/>
          <a:p>
            <a:r>
              <a:rPr lang="en-US" dirty="0"/>
              <a:t>The first generation of computers used vacuum tubes for electronic circuits.</a:t>
            </a:r>
          </a:p>
          <a:p>
            <a:r>
              <a:rPr lang="en-US" dirty="0"/>
              <a:t>They were large and expensive, consumed a lot of power, and generated a lot of heat.</a:t>
            </a:r>
          </a:p>
          <a:p>
            <a:r>
              <a:rPr lang="en-US" dirty="0"/>
              <a:t>Examples include:</a:t>
            </a:r>
          </a:p>
          <a:p>
            <a:pPr lvl="1">
              <a:buFont typeface="Wingdings" panose="05000000000000000000" pitchFamily="2" charset="2"/>
              <a:buChar char="§"/>
            </a:pPr>
            <a:r>
              <a:rPr lang="en-US" dirty="0"/>
              <a:t>ENIAC(</a:t>
            </a:r>
            <a:r>
              <a:rPr lang="en-US" b="1" dirty="0"/>
              <a:t>Electronic Numerical Integrator And Computer</a:t>
            </a:r>
            <a:r>
              <a:rPr lang="en-US" dirty="0"/>
              <a:t>).</a:t>
            </a:r>
          </a:p>
          <a:p>
            <a:pPr lvl="1">
              <a:buFont typeface="Wingdings" panose="05000000000000000000" pitchFamily="2" charset="2"/>
              <a:buChar char="§"/>
            </a:pPr>
            <a:r>
              <a:rPr lang="en-US" dirty="0"/>
              <a:t>EDVAC(</a:t>
            </a:r>
            <a:r>
              <a:rPr lang="en-US" b="1" dirty="0"/>
              <a:t>Electronic Discrete Variable Automatic Computer</a:t>
            </a:r>
            <a:r>
              <a:rPr lang="en-US" dirty="0"/>
              <a:t>).</a:t>
            </a:r>
          </a:p>
          <a:p>
            <a:pPr lvl="1">
              <a:buFont typeface="Wingdings" panose="05000000000000000000" pitchFamily="2" charset="2"/>
              <a:buChar char="§"/>
            </a:pPr>
            <a:r>
              <a:rPr lang="en-US" dirty="0"/>
              <a:t> IBM 701.</a:t>
            </a:r>
          </a:p>
          <a:p>
            <a:r>
              <a:rPr lang="en-US" dirty="0"/>
              <a:t>It was realized that programming computers with switches and cables was slow and inflexible.</a:t>
            </a:r>
          </a:p>
          <a:p>
            <a:r>
              <a:rPr lang="en-US" dirty="0"/>
              <a:t>Discoveries were made that programs and data could be stored in digital form in the computer's memory and that parallel binary arithmetic could replace the serial decimal arithmetic used by ENIAC.</a:t>
            </a:r>
          </a:p>
          <a:p>
            <a:r>
              <a:rPr lang="en-US" dirty="0"/>
              <a:t>This led to the development of the von Neumann machine, which is still the basis of modern digital computers.</a:t>
            </a:r>
          </a:p>
          <a:p>
            <a:r>
              <a:rPr lang="en-US" dirty="0"/>
              <a:t>Herman </a:t>
            </a:r>
            <a:r>
              <a:rPr lang="en-US" dirty="0" err="1"/>
              <a:t>Goldstine</a:t>
            </a:r>
            <a:r>
              <a:rPr lang="en-US" dirty="0"/>
              <a:t> and others also made significant contributions to the design.</a:t>
            </a:r>
          </a:p>
          <a:p>
            <a:pPr lvl="1"/>
            <a:endParaRPr lang="en-US" dirty="0"/>
          </a:p>
        </p:txBody>
      </p:sp>
    </p:spTree>
    <p:extLst>
      <p:ext uri="{BB962C8B-B14F-4D97-AF65-F5344CB8AC3E}">
        <p14:creationId xmlns:p14="http://schemas.microsoft.com/office/powerpoint/2010/main" val="337848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668215" y="365125"/>
            <a:ext cx="10515600" cy="5782457"/>
          </a:xfrm>
          <a:prstGeom prst="rect">
            <a:avLst/>
          </a:prstGeom>
        </p:spPr>
      </p:pic>
    </p:spTree>
    <p:extLst>
      <p:ext uri="{BB962C8B-B14F-4D97-AF65-F5344CB8AC3E}">
        <p14:creationId xmlns:p14="http://schemas.microsoft.com/office/powerpoint/2010/main" val="1008083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The von Neumann machine had five basic parts: </a:t>
            </a:r>
          </a:p>
          <a:p>
            <a:pPr marL="514350" indent="-514350">
              <a:buFont typeface="+mj-lt"/>
              <a:buAutoNum type="arabicPeriod"/>
            </a:pPr>
            <a:r>
              <a:rPr lang="en-US" b="1" dirty="0"/>
              <a:t>Memory</a:t>
            </a:r>
            <a:r>
              <a:rPr lang="en-US" dirty="0"/>
              <a:t>: Stores program instructions and data. CPU fetches instructions from memory and loads them into the control unit.</a:t>
            </a:r>
          </a:p>
          <a:p>
            <a:pPr marL="514350" indent="-514350">
              <a:buFont typeface="+mj-lt"/>
              <a:buAutoNum type="arabicPeriod"/>
            </a:pPr>
            <a:r>
              <a:rPr lang="en-US" b="1" dirty="0"/>
              <a:t>Control Unit</a:t>
            </a:r>
            <a:r>
              <a:rPr lang="en-US" dirty="0"/>
              <a:t>: Manages flow of instructions and data within the CPU. Retrieves instructions from memory and sends them to the ALU for execution. Determines which instructions to execute and in what order.</a:t>
            </a:r>
          </a:p>
          <a:p>
            <a:pPr marL="514350" indent="-514350">
              <a:buFont typeface="+mj-lt"/>
              <a:buAutoNum type="arabicPeriod"/>
            </a:pPr>
            <a:r>
              <a:rPr lang="en-US" b="1" dirty="0"/>
              <a:t>Arithmetic Logic Unit (ALU): </a:t>
            </a:r>
            <a:r>
              <a:rPr lang="en-US" dirty="0"/>
              <a:t>Performs mathematical and logical operations on data. Receives input data from CPU's registers and stores results in another register for future use.</a:t>
            </a:r>
          </a:p>
          <a:p>
            <a:pPr marL="514350" indent="-514350">
              <a:buFont typeface="+mj-lt"/>
              <a:buAutoNum type="arabicPeriod"/>
            </a:pPr>
            <a:r>
              <a:rPr lang="en-US" b="1" dirty="0"/>
              <a:t>Input and Output (I/O)</a:t>
            </a:r>
            <a:r>
              <a:rPr lang="en-US" dirty="0"/>
              <a:t>: Allows computer to interact with outside world. Input devices, such as keyboards and mice, provide data to computer. Output devices, such as displays and printers, present results to users. Connected to CPU via input/output controllers that manage data transfer between I/O devices and memory.</a:t>
            </a:r>
          </a:p>
        </p:txBody>
      </p:sp>
    </p:spTree>
    <p:extLst>
      <p:ext uri="{BB962C8B-B14F-4D97-AF65-F5344CB8AC3E}">
        <p14:creationId xmlns:p14="http://schemas.microsoft.com/office/powerpoint/2010/main" val="1317887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The Second Generation—Transistors (1955–1965)</a:t>
            </a:r>
            <a:r>
              <a:rPr lang="en-US" sz="2400" dirty="0">
                <a:solidFill>
                  <a:srgbClr val="C00000"/>
                </a:solidFill>
              </a:rPr>
              <a:t> </a:t>
            </a:r>
          </a:p>
        </p:txBody>
      </p:sp>
      <p:sp>
        <p:nvSpPr>
          <p:cNvPr id="3" name="Content Placeholder 2"/>
          <p:cNvSpPr>
            <a:spLocks noGrp="1"/>
          </p:cNvSpPr>
          <p:nvPr>
            <p:ph idx="1"/>
          </p:nvPr>
        </p:nvSpPr>
        <p:spPr/>
        <p:txBody>
          <a:bodyPr/>
          <a:lstStyle/>
          <a:p>
            <a:r>
              <a:rPr lang="en-US" dirty="0"/>
              <a:t>The second generation of computers used transistors instead of vacuum tubes.</a:t>
            </a:r>
          </a:p>
          <a:p>
            <a:r>
              <a:rPr lang="en-US" dirty="0"/>
              <a:t>This made them smaller, faster, more reliable, and less expensive. Examples include IBM 7094, UNIVAC 1108, and DEC PDP-8.</a:t>
            </a:r>
          </a:p>
          <a:p>
            <a:r>
              <a:rPr lang="en-US" dirty="0"/>
              <a:t>The first transistorized computer was built at M.I.T.’s Lincoln Laboratory, a 16-bit machine along the lines of the Whirlwind I.</a:t>
            </a:r>
          </a:p>
          <a:p>
            <a:r>
              <a:rPr lang="en-US" dirty="0"/>
              <a:t> It was called the </a:t>
            </a:r>
            <a:r>
              <a:rPr lang="en-US" b="1" dirty="0"/>
              <a:t>TX-0 </a:t>
            </a:r>
            <a:r>
              <a:rPr lang="en-US" dirty="0"/>
              <a:t>(</a:t>
            </a:r>
            <a:r>
              <a:rPr lang="en-US" b="1" dirty="0"/>
              <a:t>Transistorized </a:t>
            </a:r>
            <a:r>
              <a:rPr lang="en-US" b="1" dirty="0" err="1"/>
              <a:t>eXperimental</a:t>
            </a:r>
            <a:r>
              <a:rPr lang="en-US" b="1" dirty="0"/>
              <a:t> computer 0</a:t>
            </a:r>
            <a:r>
              <a:rPr lang="en-US" dirty="0"/>
              <a:t>).</a:t>
            </a:r>
            <a:br>
              <a:rPr lang="en-US" dirty="0"/>
            </a:br>
            <a:endParaRPr lang="en-US" dirty="0"/>
          </a:p>
        </p:txBody>
      </p:sp>
    </p:spTree>
    <p:extLst>
      <p:ext uri="{BB962C8B-B14F-4D97-AF65-F5344CB8AC3E}">
        <p14:creationId xmlns:p14="http://schemas.microsoft.com/office/powerpoint/2010/main" val="2138408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The Third Generation—Integrated Circuits (1965–1980)</a:t>
            </a:r>
            <a:r>
              <a:rPr lang="en-US" sz="2400" dirty="0">
                <a:solidFill>
                  <a:srgbClr val="C00000"/>
                </a:solidFill>
              </a:rPr>
              <a:t> </a:t>
            </a:r>
          </a:p>
        </p:txBody>
      </p:sp>
      <p:sp>
        <p:nvSpPr>
          <p:cNvPr id="3" name="Content Placeholder 2"/>
          <p:cNvSpPr>
            <a:spLocks noGrp="1"/>
          </p:cNvSpPr>
          <p:nvPr>
            <p:ph idx="1"/>
          </p:nvPr>
        </p:nvSpPr>
        <p:spPr/>
        <p:txBody>
          <a:bodyPr/>
          <a:lstStyle/>
          <a:p>
            <a:r>
              <a:rPr lang="en-US" dirty="0"/>
              <a:t>The third generation of computers used integrated circuits, which allowed for even greater miniaturization and increased processing power than the transistorized predecessors.</a:t>
            </a:r>
          </a:p>
          <a:p>
            <a:r>
              <a:rPr lang="en-US" dirty="0"/>
              <a:t>The invention of the silicon integrated circuit by Jack </a:t>
            </a:r>
            <a:r>
              <a:rPr lang="en-US" dirty="0" err="1"/>
              <a:t>Kilby</a:t>
            </a:r>
            <a:r>
              <a:rPr lang="en-US" dirty="0"/>
              <a:t> and Robert Noyce (working independently) in 1958 allowed dozens of transistors to be put on a single chip.</a:t>
            </a:r>
          </a:p>
          <a:p>
            <a:r>
              <a:rPr lang="en-US" dirty="0"/>
              <a:t>Examples include IBM System/360, DEC PDP-11, and VAX-11.</a:t>
            </a:r>
          </a:p>
          <a:p>
            <a:r>
              <a:rPr lang="en-US" dirty="0"/>
              <a:t>Another major discovery in this era is </a:t>
            </a:r>
            <a:r>
              <a:rPr lang="en-US" b="1" dirty="0"/>
              <a:t>multiprogramming </a:t>
            </a:r>
            <a:r>
              <a:rPr lang="en-US" dirty="0"/>
              <a:t>which allowed having many programs in a memory at once.</a:t>
            </a:r>
          </a:p>
        </p:txBody>
      </p:sp>
    </p:spTree>
    <p:extLst>
      <p:ext uri="{BB962C8B-B14F-4D97-AF65-F5344CB8AC3E}">
        <p14:creationId xmlns:p14="http://schemas.microsoft.com/office/powerpoint/2010/main" val="516957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The Fourth Generation—Very Large Scale Integration (1980)</a:t>
            </a:r>
            <a:r>
              <a:rPr lang="en-US" sz="2400" dirty="0">
                <a:solidFill>
                  <a:srgbClr val="C00000"/>
                </a:solidFill>
              </a:rPr>
              <a:t> </a:t>
            </a:r>
          </a:p>
        </p:txBody>
      </p:sp>
      <p:sp>
        <p:nvSpPr>
          <p:cNvPr id="3" name="Content Placeholder 2"/>
          <p:cNvSpPr>
            <a:spLocks noGrp="1"/>
          </p:cNvSpPr>
          <p:nvPr>
            <p:ph idx="1"/>
          </p:nvPr>
        </p:nvSpPr>
        <p:spPr/>
        <p:txBody>
          <a:bodyPr/>
          <a:lstStyle/>
          <a:p>
            <a:r>
              <a:rPr lang="en-US" dirty="0"/>
              <a:t>Computers of fourth generation used Very Large Scale Integrated (VLSI) circuits.</a:t>
            </a:r>
          </a:p>
          <a:p>
            <a:r>
              <a:rPr lang="en-US" dirty="0"/>
              <a:t>VLSI enables hundreds of thousands of transistors on a single chip.</a:t>
            </a:r>
          </a:p>
          <a:p>
            <a:r>
              <a:rPr lang="en-US" dirty="0"/>
              <a:t>This development soon led to smaller and faster computers.</a:t>
            </a:r>
          </a:p>
          <a:p>
            <a:r>
              <a:rPr lang="en-US" dirty="0"/>
              <a:t>The prices of the computer dropped that allowed even an individual to own his or her own computer.</a:t>
            </a:r>
          </a:p>
        </p:txBody>
      </p:sp>
    </p:spTree>
    <p:extLst>
      <p:ext uri="{BB962C8B-B14F-4D97-AF65-F5344CB8AC3E}">
        <p14:creationId xmlns:p14="http://schemas.microsoft.com/office/powerpoint/2010/main" val="1612830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The Fifth Generation—Low-Power and Invisible Computers (1980 - present)</a:t>
            </a:r>
            <a:endParaRPr lang="en-US" sz="2400" dirty="0">
              <a:solidFill>
                <a:srgbClr val="C00000"/>
              </a:solidFill>
            </a:endParaRPr>
          </a:p>
        </p:txBody>
      </p:sp>
      <p:sp>
        <p:nvSpPr>
          <p:cNvPr id="3" name="Content Placeholder 2"/>
          <p:cNvSpPr>
            <a:spLocks noGrp="1"/>
          </p:cNvSpPr>
          <p:nvPr>
            <p:ph idx="1"/>
          </p:nvPr>
        </p:nvSpPr>
        <p:spPr/>
        <p:txBody>
          <a:bodyPr/>
          <a:lstStyle/>
          <a:p>
            <a:r>
              <a:rPr lang="en-US" dirty="0"/>
              <a:t>In this era, VLSI technology became ULSI (Ultra Large Scale Integration) technology, resulting in the production of microprocessor chips having ten million electronic components.</a:t>
            </a:r>
          </a:p>
          <a:p>
            <a:r>
              <a:rPr lang="en-US" dirty="0"/>
              <a:t>This generation is based on parallel processing hardware and AI (Artificial Intelligence) software.</a:t>
            </a:r>
          </a:p>
          <a:p>
            <a:r>
              <a:rPr lang="en-US" dirty="0"/>
              <a:t>AI is an emerging branch in computer science, which interprets the means and method of making computers think like human beings.</a:t>
            </a:r>
          </a:p>
          <a:p>
            <a:r>
              <a:rPr lang="en-US" dirty="0"/>
              <a:t>All the high-level languages like C and C++, Java, </a:t>
            </a:r>
            <a:r>
              <a:rPr lang="en-US" dirty="0" err="1"/>
              <a:t>.Net</a:t>
            </a:r>
            <a:r>
              <a:rPr lang="en-US" dirty="0"/>
              <a:t> etc., are used in this generation.</a:t>
            </a:r>
          </a:p>
        </p:txBody>
      </p:sp>
    </p:spTree>
    <p:extLst>
      <p:ext uri="{BB962C8B-B14F-4D97-AF65-F5344CB8AC3E}">
        <p14:creationId xmlns:p14="http://schemas.microsoft.com/office/powerpoint/2010/main" val="1794398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CPU and Main Memory</a:t>
            </a:r>
          </a:p>
        </p:txBody>
      </p:sp>
      <p:sp>
        <p:nvSpPr>
          <p:cNvPr id="3" name="Content Placeholder 2"/>
          <p:cNvSpPr>
            <a:spLocks noGrp="1"/>
          </p:cNvSpPr>
          <p:nvPr>
            <p:ph idx="1"/>
          </p:nvPr>
        </p:nvSpPr>
        <p:spPr/>
        <p:txBody>
          <a:bodyPr/>
          <a:lstStyle/>
          <a:p>
            <a:r>
              <a:rPr lang="en-US" dirty="0"/>
              <a:t>The </a:t>
            </a:r>
            <a:r>
              <a:rPr lang="en-US" b="1" dirty="0"/>
              <a:t>CPU </a:t>
            </a:r>
            <a:r>
              <a:rPr lang="en-US" dirty="0"/>
              <a:t>(</a:t>
            </a:r>
            <a:r>
              <a:rPr lang="en-US" b="1" dirty="0"/>
              <a:t>Central Processing Unit</a:t>
            </a:r>
            <a:r>
              <a:rPr lang="en-US" dirty="0"/>
              <a:t>) is the ‘‘brain’’ of the computer.</a:t>
            </a:r>
          </a:p>
          <a:p>
            <a:r>
              <a:rPr lang="en-US" dirty="0"/>
              <a:t>Its function is to execute programs stored in the main memory by fetching their instructions, examining them, and then executing them one after another.</a:t>
            </a:r>
          </a:p>
          <a:p>
            <a:r>
              <a:rPr lang="en-US" dirty="0"/>
              <a:t>The components of a simple bus-oriented computer are connected by a </a:t>
            </a:r>
            <a:r>
              <a:rPr lang="en-US" b="1" dirty="0"/>
              <a:t>bus</a:t>
            </a:r>
            <a:r>
              <a:rPr lang="en-US" dirty="0"/>
              <a:t>.</a:t>
            </a:r>
          </a:p>
          <a:p>
            <a:r>
              <a:rPr lang="en-US" dirty="0"/>
              <a:t>A </a:t>
            </a:r>
            <a:r>
              <a:rPr lang="en-US" b="1" dirty="0"/>
              <a:t>bus</a:t>
            </a:r>
            <a:r>
              <a:rPr lang="en-US" dirty="0"/>
              <a:t> is a collection of parallel wires for transmitting address, data, and control signals.</a:t>
            </a:r>
          </a:p>
        </p:txBody>
      </p:sp>
    </p:spTree>
    <p:extLst>
      <p:ext uri="{BB962C8B-B14F-4D97-AF65-F5344CB8AC3E}">
        <p14:creationId xmlns:p14="http://schemas.microsoft.com/office/powerpoint/2010/main" val="3205732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dirty="0"/>
              <a:t>The organization of a simple computer with one CPU and two I/O devices.</a:t>
            </a:r>
          </a:p>
        </p:txBody>
      </p:sp>
      <p:pic>
        <p:nvPicPr>
          <p:cNvPr id="4" name="Content Placeholder 3"/>
          <p:cNvPicPr>
            <a:picLocks noGrp="1" noChangeAspect="1"/>
          </p:cNvPicPr>
          <p:nvPr>
            <p:ph idx="1"/>
          </p:nvPr>
        </p:nvPicPr>
        <p:blipFill>
          <a:blip r:embed="rId2"/>
          <a:stretch>
            <a:fillRect/>
          </a:stretch>
        </p:blipFill>
        <p:spPr>
          <a:xfrm>
            <a:off x="1519310" y="1575582"/>
            <a:ext cx="8975187" cy="4917293"/>
          </a:xfrm>
          <a:prstGeom prst="rect">
            <a:avLst/>
          </a:prstGeom>
        </p:spPr>
      </p:pic>
    </p:spTree>
    <p:extLst>
      <p:ext uri="{BB962C8B-B14F-4D97-AF65-F5344CB8AC3E}">
        <p14:creationId xmlns:p14="http://schemas.microsoft.com/office/powerpoint/2010/main" val="18672076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CPU is composed of several distinct parts:</a:t>
            </a:r>
          </a:p>
          <a:p>
            <a:pPr marL="514350" indent="-514350">
              <a:buFont typeface="+mj-lt"/>
              <a:buAutoNum type="arabicPeriod"/>
            </a:pPr>
            <a:r>
              <a:rPr lang="en-US" b="1" dirty="0"/>
              <a:t>Control Unit (CU) </a:t>
            </a:r>
            <a:r>
              <a:rPr lang="en-US" dirty="0"/>
              <a:t>- responsible for fetching instructions from main memory and determining their type.</a:t>
            </a:r>
          </a:p>
          <a:p>
            <a:pPr marL="514350" indent="-514350">
              <a:buFont typeface="+mj-lt"/>
              <a:buAutoNum type="arabicPeriod"/>
            </a:pPr>
            <a:r>
              <a:rPr lang="en-US" b="1" dirty="0"/>
              <a:t>Arithmetic Logic Unit (ALU) - </a:t>
            </a:r>
            <a:r>
              <a:rPr lang="en-US" dirty="0"/>
              <a:t>performs operations such as addition and Boolean AND needed to carry out the instructions.</a:t>
            </a:r>
          </a:p>
          <a:p>
            <a:pPr marL="514350" indent="-514350">
              <a:buFont typeface="+mj-lt"/>
              <a:buAutoNum type="arabicPeriod"/>
            </a:pPr>
            <a:r>
              <a:rPr lang="en-US" b="1" dirty="0"/>
              <a:t>Registers (memory) – </a:t>
            </a:r>
            <a:r>
              <a:rPr lang="en-US" dirty="0"/>
              <a:t>small, high speed memory used to store temporary results and certain control information. Registers can be read and written to at high speed since they are internal to CPU.</a:t>
            </a:r>
            <a:br>
              <a:rPr lang="en-US" dirty="0"/>
            </a:br>
            <a:endParaRPr lang="en-US" dirty="0"/>
          </a:p>
        </p:txBody>
      </p:sp>
    </p:spTree>
    <p:extLst>
      <p:ext uri="{BB962C8B-B14F-4D97-AF65-F5344CB8AC3E}">
        <p14:creationId xmlns:p14="http://schemas.microsoft.com/office/powerpoint/2010/main" val="3243450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most important register in CPU is </a:t>
            </a:r>
            <a:r>
              <a:rPr lang="en-US" b="1" dirty="0"/>
              <a:t>Program Counter(PC)</a:t>
            </a:r>
            <a:r>
              <a:rPr lang="en-US" dirty="0"/>
              <a:t>.</a:t>
            </a:r>
          </a:p>
          <a:p>
            <a:r>
              <a:rPr lang="en-US" b="1" dirty="0"/>
              <a:t>Program Counter (PC) </a:t>
            </a:r>
            <a:r>
              <a:rPr lang="en-US" dirty="0"/>
              <a:t>points to the next instruction to be fetched for execution.</a:t>
            </a:r>
          </a:p>
          <a:p>
            <a:endParaRPr lang="en-US" dirty="0"/>
          </a:p>
          <a:p>
            <a:r>
              <a:rPr lang="en-US" dirty="0"/>
              <a:t>Another important register is the </a:t>
            </a:r>
            <a:r>
              <a:rPr lang="en-US" b="1" dirty="0"/>
              <a:t>Instruction Register (IR).</a:t>
            </a:r>
          </a:p>
          <a:p>
            <a:r>
              <a:rPr lang="en-US" b="1" dirty="0"/>
              <a:t>Instruction Register </a:t>
            </a:r>
            <a:r>
              <a:rPr lang="en-US" dirty="0"/>
              <a:t>holds the instruction currently being executed.</a:t>
            </a:r>
          </a:p>
          <a:p>
            <a:endParaRPr lang="en-US" dirty="0"/>
          </a:p>
          <a:p>
            <a:r>
              <a:rPr lang="en-US" dirty="0"/>
              <a:t>Most computers have numerous other registers as well, some have general purpose as well as some for specific purpose.</a:t>
            </a:r>
          </a:p>
        </p:txBody>
      </p:sp>
    </p:spTree>
    <p:extLst>
      <p:ext uri="{BB962C8B-B14F-4D97-AF65-F5344CB8AC3E}">
        <p14:creationId xmlns:p14="http://schemas.microsoft.com/office/powerpoint/2010/main" val="972915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t>CPU Organization</a:t>
            </a:r>
          </a:p>
        </p:txBody>
      </p:sp>
      <p:sp>
        <p:nvSpPr>
          <p:cNvPr id="3" name="Content Placeholder 2"/>
          <p:cNvSpPr>
            <a:spLocks noGrp="1"/>
          </p:cNvSpPr>
          <p:nvPr>
            <p:ph idx="1"/>
          </p:nvPr>
        </p:nvSpPr>
        <p:spPr/>
        <p:txBody>
          <a:bodyPr/>
          <a:lstStyle/>
          <a:p>
            <a:r>
              <a:rPr lang="en-US" dirty="0"/>
              <a:t>The internal organization of a simple von Neumann </a:t>
            </a:r>
            <a:r>
              <a:rPr lang="en-US" b="1" dirty="0"/>
              <a:t>CPU </a:t>
            </a:r>
            <a:r>
              <a:rPr lang="en-US" dirty="0"/>
              <a:t>is called </a:t>
            </a:r>
            <a:r>
              <a:rPr lang="en-US" b="1" dirty="0"/>
              <a:t>data path</a:t>
            </a:r>
            <a:r>
              <a:rPr lang="en-US" dirty="0"/>
              <a:t>.</a:t>
            </a:r>
          </a:p>
          <a:p>
            <a:r>
              <a:rPr lang="en-US" dirty="0"/>
              <a:t>It consists of </a:t>
            </a:r>
            <a:r>
              <a:rPr lang="en-US" b="1" dirty="0"/>
              <a:t>registers</a:t>
            </a:r>
            <a:r>
              <a:rPr lang="en-US" dirty="0"/>
              <a:t>, the </a:t>
            </a:r>
            <a:r>
              <a:rPr lang="en-US" b="1" dirty="0"/>
              <a:t>ALU</a:t>
            </a:r>
            <a:r>
              <a:rPr lang="en-US" dirty="0"/>
              <a:t> and several </a:t>
            </a:r>
            <a:r>
              <a:rPr lang="en-US" b="1" dirty="0"/>
              <a:t>buses </a:t>
            </a:r>
            <a:r>
              <a:rPr lang="en-US" dirty="0"/>
              <a:t>connecting the pieces</a:t>
            </a:r>
            <a:r>
              <a:rPr lang="en-US" b="1" dirty="0"/>
              <a:t>.</a:t>
            </a:r>
          </a:p>
        </p:txBody>
      </p:sp>
    </p:spTree>
    <p:extLst>
      <p:ext uri="{BB962C8B-B14F-4D97-AF65-F5344CB8AC3E}">
        <p14:creationId xmlns:p14="http://schemas.microsoft.com/office/powerpoint/2010/main" val="3261685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67286" y="0"/>
            <a:ext cx="12459286" cy="6858000"/>
          </a:xfrm>
          <a:prstGeom prst="rect">
            <a:avLst/>
          </a:prstGeom>
        </p:spPr>
      </p:pic>
    </p:spTree>
    <p:extLst>
      <p:ext uri="{BB962C8B-B14F-4D97-AF65-F5344CB8AC3E}">
        <p14:creationId xmlns:p14="http://schemas.microsoft.com/office/powerpoint/2010/main" val="16937712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registers feed into two ALU input registers, labeled </a:t>
            </a:r>
            <a:r>
              <a:rPr lang="en-US" i="1" dirty="0"/>
              <a:t>A </a:t>
            </a:r>
            <a:r>
              <a:rPr lang="en-US" dirty="0"/>
              <a:t>and </a:t>
            </a:r>
            <a:r>
              <a:rPr lang="en-US" i="1" dirty="0"/>
              <a:t>B </a:t>
            </a:r>
            <a:r>
              <a:rPr lang="en-US" dirty="0"/>
              <a:t>in the figure. </a:t>
            </a:r>
          </a:p>
          <a:p>
            <a:r>
              <a:rPr lang="en-US" dirty="0"/>
              <a:t>These registers hold the ALU input while the ALU is performing some computation.</a:t>
            </a:r>
          </a:p>
          <a:p>
            <a:r>
              <a:rPr lang="en-US" dirty="0"/>
              <a:t>The ALU itself performs addition, subtraction, and other simple operations on its inputs, thus yielding a result in the output register.</a:t>
            </a:r>
          </a:p>
          <a:p>
            <a:r>
              <a:rPr lang="en-US" dirty="0"/>
              <a:t>This output register can be stored back into a register.</a:t>
            </a:r>
            <a:br>
              <a:rPr lang="en-US" dirty="0"/>
            </a:br>
            <a:endParaRPr lang="en-US" dirty="0"/>
          </a:p>
        </p:txBody>
      </p:sp>
    </p:spTree>
    <p:extLst>
      <p:ext uri="{BB962C8B-B14F-4D97-AF65-F5344CB8AC3E}">
        <p14:creationId xmlns:p14="http://schemas.microsoft.com/office/powerpoint/2010/main" val="7921304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Most instructions can be divided into one of two categories:</a:t>
            </a:r>
          </a:p>
          <a:p>
            <a:pPr marL="514350" indent="-514350">
              <a:buFont typeface="+mj-lt"/>
              <a:buAutoNum type="arabicPeriod"/>
            </a:pPr>
            <a:r>
              <a:rPr lang="en-US" b="1" dirty="0"/>
              <a:t>Register-memory</a:t>
            </a:r>
            <a:r>
              <a:rPr lang="en-US" dirty="0"/>
              <a:t> - allow memory words to be fetched into registers, where, for example, they can be used as ALU inputs in subsequent instructions. </a:t>
            </a:r>
          </a:p>
          <a:p>
            <a:pPr marL="514350" indent="-514350">
              <a:buFont typeface="+mj-lt"/>
              <a:buAutoNum type="arabicPeriod"/>
            </a:pPr>
            <a:r>
              <a:rPr lang="en-US" b="1" dirty="0"/>
              <a:t>Register-register</a:t>
            </a:r>
            <a:r>
              <a:rPr lang="en-US" dirty="0"/>
              <a:t> - fetches two operands from the registers, brings them to the ALU input registers, performs some operation on them (such as addition or Boolean AND), and stores the result back in one of the registers.</a:t>
            </a:r>
          </a:p>
          <a:p>
            <a:pPr marL="0" indent="0">
              <a:buNone/>
            </a:pPr>
            <a:r>
              <a:rPr lang="en-US" dirty="0"/>
              <a:t>The process of running two operands through the ALU and storing the result is called the </a:t>
            </a:r>
            <a:r>
              <a:rPr lang="en-US" b="1" dirty="0"/>
              <a:t>data path cycle </a:t>
            </a:r>
            <a:r>
              <a:rPr lang="en-US" dirty="0"/>
              <a:t>and is the heart of most CPUs.</a:t>
            </a:r>
            <a:br>
              <a:rPr lang="en-US" dirty="0"/>
            </a:br>
            <a:endParaRPr lang="en-US" dirty="0"/>
          </a:p>
        </p:txBody>
      </p:sp>
    </p:spTree>
    <p:extLst>
      <p:ext uri="{BB962C8B-B14F-4D97-AF65-F5344CB8AC3E}">
        <p14:creationId xmlns:p14="http://schemas.microsoft.com/office/powerpoint/2010/main" val="4413680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Instruction   Execution</a:t>
            </a:r>
          </a:p>
        </p:txBody>
      </p:sp>
      <p:sp>
        <p:nvSpPr>
          <p:cNvPr id="3" name="Content Placeholder 2"/>
          <p:cNvSpPr>
            <a:spLocks noGrp="1"/>
          </p:cNvSpPr>
          <p:nvPr>
            <p:ph idx="1"/>
          </p:nvPr>
        </p:nvSpPr>
        <p:spPr/>
        <p:txBody>
          <a:bodyPr>
            <a:normAutofit fontScale="92500" lnSpcReduction="20000"/>
          </a:bodyPr>
          <a:lstStyle/>
          <a:p>
            <a:r>
              <a:rPr lang="en-US" dirty="0"/>
              <a:t>The CPU executes each instruction in a series of small steps.</a:t>
            </a:r>
          </a:p>
          <a:p>
            <a:r>
              <a:rPr lang="en-US" dirty="0"/>
              <a:t>Roughly, the steps are as follows:</a:t>
            </a:r>
          </a:p>
          <a:p>
            <a:pPr marL="971550" lvl="1" indent="-514350">
              <a:buFont typeface="+mj-lt"/>
              <a:buAutoNum type="arabicPeriod"/>
            </a:pPr>
            <a:r>
              <a:rPr lang="en-US" dirty="0"/>
              <a:t>Fetch the next instruction from memory into the instruction register.</a:t>
            </a:r>
          </a:p>
          <a:p>
            <a:pPr marL="971550" lvl="1" indent="-514350">
              <a:buFont typeface="+mj-lt"/>
              <a:buAutoNum type="arabicPeriod"/>
            </a:pPr>
            <a:r>
              <a:rPr lang="en-US" dirty="0"/>
              <a:t>Change the program counter to point to the following instruction.</a:t>
            </a:r>
          </a:p>
          <a:p>
            <a:pPr marL="971550" lvl="1" indent="-514350">
              <a:buFont typeface="+mj-lt"/>
              <a:buAutoNum type="arabicPeriod"/>
            </a:pPr>
            <a:r>
              <a:rPr lang="en-US" dirty="0"/>
              <a:t>Determine the type of instruction just fetched.</a:t>
            </a:r>
          </a:p>
          <a:p>
            <a:pPr marL="971550" lvl="1" indent="-514350">
              <a:buFont typeface="+mj-lt"/>
              <a:buAutoNum type="arabicPeriod"/>
            </a:pPr>
            <a:r>
              <a:rPr lang="en-US" dirty="0"/>
              <a:t>If the instruction uses a word in memory, determine where it is.</a:t>
            </a:r>
          </a:p>
          <a:p>
            <a:pPr marL="971550" lvl="1" indent="-514350">
              <a:buFont typeface="+mj-lt"/>
              <a:buAutoNum type="arabicPeriod"/>
            </a:pPr>
            <a:r>
              <a:rPr lang="en-US" dirty="0"/>
              <a:t>Fetch the word, if needed, into a CPU register.</a:t>
            </a:r>
          </a:p>
          <a:p>
            <a:pPr marL="971550" lvl="1" indent="-514350">
              <a:buFont typeface="+mj-lt"/>
              <a:buAutoNum type="arabicPeriod"/>
            </a:pPr>
            <a:r>
              <a:rPr lang="en-US" dirty="0"/>
              <a:t>Execute the instruction.</a:t>
            </a:r>
          </a:p>
          <a:p>
            <a:pPr marL="971550" lvl="1" indent="-514350">
              <a:buFont typeface="+mj-lt"/>
              <a:buAutoNum type="arabicPeriod"/>
            </a:pPr>
            <a:r>
              <a:rPr lang="en-US" dirty="0"/>
              <a:t>Go to step 1 to begin executing the following instruction. </a:t>
            </a:r>
          </a:p>
          <a:p>
            <a:pPr marL="971550" lvl="1" indent="-514350">
              <a:buFont typeface="+mj-lt"/>
              <a:buAutoNum type="arabicPeriod"/>
            </a:pPr>
            <a:endParaRPr lang="en-US" dirty="0"/>
          </a:p>
          <a:p>
            <a:pPr marL="457200" lvl="1" indent="0">
              <a:buNone/>
            </a:pPr>
            <a:r>
              <a:rPr lang="en-US" dirty="0"/>
              <a:t>This sequence of steps is frequently referred to as the </a:t>
            </a:r>
            <a:r>
              <a:rPr lang="en-US" b="1" dirty="0"/>
              <a:t>fetch-decode-execute </a:t>
            </a:r>
            <a:r>
              <a:rPr lang="en-US" dirty="0"/>
              <a:t>cycle. It is central to the operation of all computers. </a:t>
            </a:r>
            <a:br>
              <a:rPr lang="en-US" dirty="0"/>
            </a:br>
            <a:endParaRPr lang="en-US" dirty="0"/>
          </a:p>
        </p:txBody>
      </p:sp>
    </p:spTree>
    <p:extLst>
      <p:ext uri="{BB962C8B-B14F-4D97-AF65-F5344CB8AC3E}">
        <p14:creationId xmlns:p14="http://schemas.microsoft.com/office/powerpoint/2010/main" val="53408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Microcomputer System Unit</a:t>
            </a:r>
          </a:p>
        </p:txBody>
      </p:sp>
      <p:sp>
        <p:nvSpPr>
          <p:cNvPr id="3" name="Content Placeholder 2"/>
          <p:cNvSpPr>
            <a:spLocks noGrp="1"/>
          </p:cNvSpPr>
          <p:nvPr>
            <p:ph idx="1"/>
          </p:nvPr>
        </p:nvSpPr>
        <p:spPr/>
        <p:txBody>
          <a:bodyPr>
            <a:normAutofit fontScale="92500" lnSpcReduction="20000"/>
          </a:bodyPr>
          <a:lstStyle/>
          <a:p>
            <a:r>
              <a:rPr lang="en-US" dirty="0"/>
              <a:t> Microcomputer is also known as Personal Computer (PC).</a:t>
            </a:r>
          </a:p>
          <a:p>
            <a:r>
              <a:rPr lang="en-US" dirty="0"/>
              <a:t>Microcomputers are the common type of computers that are mostly used by individuals and small businesses nowadays.</a:t>
            </a:r>
          </a:p>
          <a:p>
            <a:endParaRPr lang="en-US" dirty="0"/>
          </a:p>
          <a:p>
            <a:r>
              <a:rPr lang="en-US" dirty="0"/>
              <a:t>Microcomputer system unit has the following main parts:</a:t>
            </a:r>
          </a:p>
          <a:p>
            <a:endParaRPr lang="en-US" dirty="0"/>
          </a:p>
          <a:p>
            <a:pPr marL="514350" indent="-514350">
              <a:buFont typeface="+mj-lt"/>
              <a:buAutoNum type="arabicPeriod"/>
            </a:pPr>
            <a:r>
              <a:rPr lang="en-US" b="1" dirty="0"/>
              <a:t>The Motherboard</a:t>
            </a:r>
            <a:r>
              <a:rPr lang="en-US" dirty="0"/>
              <a:t> – the central circuit board that connects all other components.</a:t>
            </a:r>
          </a:p>
          <a:p>
            <a:pPr marL="514350" indent="-514350">
              <a:buFont typeface="+mj-lt"/>
              <a:buAutoNum type="arabicPeriod"/>
            </a:pPr>
            <a:r>
              <a:rPr lang="en-US" b="1" dirty="0"/>
              <a:t>The CPU – </a:t>
            </a:r>
            <a:r>
              <a:rPr lang="en-US" dirty="0"/>
              <a:t>The ‘Brain’ of the computer that performs most of the calculations and logic operations.</a:t>
            </a:r>
          </a:p>
          <a:p>
            <a:pPr marL="514350" indent="-514350">
              <a:buFont typeface="+mj-lt"/>
              <a:buAutoNum type="arabicPeriod"/>
            </a:pPr>
            <a:r>
              <a:rPr lang="en-US" b="1" dirty="0"/>
              <a:t>Memory (RAM) </a:t>
            </a:r>
            <a:r>
              <a:rPr lang="en-US" dirty="0"/>
              <a:t>– a volatile storage device that temporarily stores data and instructions.</a:t>
            </a:r>
            <a:endParaRPr lang="en-US" b="1" dirty="0"/>
          </a:p>
        </p:txBody>
      </p:sp>
    </p:spTree>
    <p:extLst>
      <p:ext uri="{BB962C8B-B14F-4D97-AF65-F5344CB8AC3E}">
        <p14:creationId xmlns:p14="http://schemas.microsoft.com/office/powerpoint/2010/main" val="16735676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514350" indent="-514350">
              <a:buFont typeface="+mj-lt"/>
              <a:buAutoNum type="arabicPeriod" startAt="4"/>
            </a:pPr>
            <a:r>
              <a:rPr lang="en-US" b="1" dirty="0"/>
              <a:t>Storage Devices – </a:t>
            </a:r>
            <a:r>
              <a:rPr lang="en-US" dirty="0"/>
              <a:t>non-volatile storage devices that store data permanently such as HDDs (Hard-Disk Drives) and SSDs (Solid-State Drives).</a:t>
            </a:r>
          </a:p>
          <a:p>
            <a:pPr marL="514350" indent="-514350">
              <a:buFont typeface="+mj-lt"/>
              <a:buAutoNum type="arabicPeriod" startAt="4"/>
            </a:pPr>
            <a:r>
              <a:rPr lang="en-US" b="1" dirty="0"/>
              <a:t>Power Supply </a:t>
            </a:r>
            <a:r>
              <a:rPr lang="en-US" dirty="0"/>
              <a:t>– converts AC power to DC power for the computer’s internal components.</a:t>
            </a:r>
          </a:p>
          <a:p>
            <a:pPr marL="514350" indent="-514350">
              <a:buFont typeface="+mj-lt"/>
              <a:buAutoNum type="arabicPeriod" startAt="4"/>
            </a:pPr>
            <a:r>
              <a:rPr lang="en-US" b="1" dirty="0"/>
              <a:t>Expansion Slots </a:t>
            </a:r>
            <a:r>
              <a:rPr lang="en-US" dirty="0"/>
              <a:t>– openings in the motherboard that allow additional components, such as RAMs, to be added to the system.</a:t>
            </a:r>
          </a:p>
          <a:p>
            <a:pPr marL="514350" indent="-514350">
              <a:buFont typeface="+mj-lt"/>
              <a:buAutoNum type="arabicPeriod" startAt="4"/>
            </a:pPr>
            <a:r>
              <a:rPr lang="en-US" b="1" dirty="0" err="1"/>
              <a:t>Input/Output</a:t>
            </a:r>
            <a:r>
              <a:rPr lang="en-US" b="1" dirty="0"/>
              <a:t> ports </a:t>
            </a:r>
            <a:r>
              <a:rPr lang="en-US" dirty="0"/>
              <a:t>– openings that allow peripheral devices, such as printers, keyboards, and mice, to be connected to the computer.</a:t>
            </a:r>
            <a:endParaRPr lang="en-US" b="1" dirty="0"/>
          </a:p>
        </p:txBody>
      </p:sp>
    </p:spTree>
    <p:extLst>
      <p:ext uri="{BB962C8B-B14F-4D97-AF65-F5344CB8AC3E}">
        <p14:creationId xmlns:p14="http://schemas.microsoft.com/office/powerpoint/2010/main" val="2620582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Input hardware</a:t>
            </a:r>
          </a:p>
        </p:txBody>
      </p:sp>
      <p:sp>
        <p:nvSpPr>
          <p:cNvPr id="3" name="Content Placeholder 2"/>
          <p:cNvSpPr>
            <a:spLocks noGrp="1"/>
          </p:cNvSpPr>
          <p:nvPr>
            <p:ph idx="1"/>
          </p:nvPr>
        </p:nvSpPr>
        <p:spPr/>
        <p:txBody>
          <a:bodyPr>
            <a:normAutofit fontScale="70000" lnSpcReduction="20000"/>
          </a:bodyPr>
          <a:lstStyle/>
          <a:p>
            <a:r>
              <a:rPr lang="en-US" dirty="0"/>
              <a:t>Input hardware are physical devices that are used to enter data into the computer system.</a:t>
            </a:r>
          </a:p>
          <a:p>
            <a:r>
              <a:rPr lang="en-US" dirty="0"/>
              <a:t>Examples of such devices are:</a:t>
            </a:r>
          </a:p>
          <a:p>
            <a:pPr marL="514350" indent="-514350">
              <a:buFont typeface="+mj-lt"/>
              <a:buAutoNum type="arabicPeriod"/>
            </a:pPr>
            <a:r>
              <a:rPr lang="en-US" b="1" dirty="0"/>
              <a:t>Keyboard</a:t>
            </a:r>
            <a:r>
              <a:rPr lang="en-US" dirty="0"/>
              <a:t> - used for typing data into a computer. It has a set of keys that are used to type letters, numbers, and symbols.</a:t>
            </a:r>
          </a:p>
          <a:p>
            <a:pPr marL="514350" indent="-514350">
              <a:buFont typeface="+mj-lt"/>
              <a:buAutoNum type="arabicPeriod"/>
            </a:pPr>
            <a:r>
              <a:rPr lang="en-US" b="1" dirty="0"/>
              <a:t>Mouse</a:t>
            </a:r>
            <a:r>
              <a:rPr lang="en-US" dirty="0"/>
              <a:t> - pointing device used to move a cursor on the computer screen. It has one or more buttons that can be clicked to perform actions on the screen.</a:t>
            </a:r>
          </a:p>
          <a:p>
            <a:pPr marL="514350" indent="-514350">
              <a:buFont typeface="+mj-lt"/>
              <a:buAutoNum type="arabicPeriod"/>
            </a:pPr>
            <a:r>
              <a:rPr lang="en-US" b="1" dirty="0"/>
              <a:t>Scanner </a:t>
            </a:r>
            <a:r>
              <a:rPr lang="en-US" dirty="0"/>
              <a:t>- device that converts physical documents or images into digital format. It is commonly used for scanning photos, documents, and other paper-based materials.</a:t>
            </a:r>
          </a:p>
          <a:p>
            <a:pPr marL="514350" indent="-514350">
              <a:buFont typeface="+mj-lt"/>
              <a:buAutoNum type="arabicPeriod"/>
            </a:pPr>
            <a:r>
              <a:rPr lang="en-US" b="1" dirty="0"/>
              <a:t>Touchscreen</a:t>
            </a:r>
            <a:r>
              <a:rPr lang="en-US" dirty="0"/>
              <a:t> - an input device that allows users to interact with a computer by touching the screen directly with their fingers or a stylus. It is commonly used in smartphones, tablets, and other mobile devices.</a:t>
            </a:r>
          </a:p>
          <a:p>
            <a:pPr marL="514350" indent="-514350">
              <a:buFont typeface="+mj-lt"/>
              <a:buAutoNum type="arabicPeriod"/>
            </a:pPr>
            <a:r>
              <a:rPr lang="en-US" b="1" dirty="0"/>
              <a:t>Microphone - </a:t>
            </a:r>
            <a:r>
              <a:rPr lang="en-US" dirty="0"/>
              <a:t>an input device used to record audio. It can be used for voice recognition, speech-to-text, and other applications.</a:t>
            </a:r>
            <a:br>
              <a:rPr lang="en-US" dirty="0"/>
            </a:br>
            <a:endParaRPr lang="en-US" dirty="0"/>
          </a:p>
        </p:txBody>
      </p:sp>
    </p:spTree>
    <p:extLst>
      <p:ext uri="{BB962C8B-B14F-4D97-AF65-F5344CB8AC3E}">
        <p14:creationId xmlns:p14="http://schemas.microsoft.com/office/powerpoint/2010/main" val="3176976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Output Devices</a:t>
            </a:r>
          </a:p>
        </p:txBody>
      </p:sp>
      <p:sp>
        <p:nvSpPr>
          <p:cNvPr id="3" name="Content Placeholder 2"/>
          <p:cNvSpPr>
            <a:spLocks noGrp="1"/>
          </p:cNvSpPr>
          <p:nvPr>
            <p:ph idx="1"/>
          </p:nvPr>
        </p:nvSpPr>
        <p:spPr/>
        <p:txBody>
          <a:bodyPr>
            <a:normAutofit fontScale="70000" lnSpcReduction="20000"/>
          </a:bodyPr>
          <a:lstStyle/>
          <a:p>
            <a:r>
              <a:rPr lang="en-US" dirty="0"/>
              <a:t>Output devices are physical devices used to display or present data processed by a computer system. </a:t>
            </a:r>
          </a:p>
          <a:p>
            <a:r>
              <a:rPr lang="en-US" dirty="0"/>
              <a:t>Here are some output devices:</a:t>
            </a:r>
          </a:p>
          <a:p>
            <a:pPr marL="514350" indent="-514350">
              <a:buFont typeface="+mj-lt"/>
              <a:buAutoNum type="arabicPeriod"/>
            </a:pPr>
            <a:r>
              <a:rPr lang="en-US" b="1" dirty="0"/>
              <a:t>Monitor</a:t>
            </a:r>
            <a:r>
              <a:rPr lang="en-US" dirty="0"/>
              <a:t> - a display screen used to output visual information from a computer. It displays text, images, and videos in different resolutions and sizes.</a:t>
            </a:r>
          </a:p>
          <a:p>
            <a:pPr marL="514350" indent="-514350">
              <a:buFont typeface="+mj-lt"/>
              <a:buAutoNum type="arabicPeriod"/>
            </a:pPr>
            <a:r>
              <a:rPr lang="en-US" b="1" dirty="0"/>
              <a:t>Printer</a:t>
            </a:r>
            <a:r>
              <a:rPr lang="en-US" dirty="0"/>
              <a:t> - a device used to output hard copies of digital documents, images, and other materials. It can print in black and white or color, and in various sizes and formats.</a:t>
            </a:r>
          </a:p>
          <a:p>
            <a:pPr marL="514350" indent="-514350">
              <a:buFont typeface="+mj-lt"/>
              <a:buAutoNum type="arabicPeriod"/>
            </a:pPr>
            <a:r>
              <a:rPr lang="en-US" b="1" dirty="0"/>
              <a:t>Speakers</a:t>
            </a:r>
            <a:r>
              <a:rPr lang="en-US" dirty="0"/>
              <a:t> - devices used to output audio. They can produce sound in different frequencies and volumes, and are commonly used for music, videos, and other multimedia applications.</a:t>
            </a:r>
          </a:p>
          <a:p>
            <a:pPr marL="514350" indent="-514350">
              <a:buFont typeface="+mj-lt"/>
              <a:buAutoNum type="arabicPeriod"/>
            </a:pPr>
            <a:r>
              <a:rPr lang="en-US" b="1" dirty="0"/>
              <a:t>Projector </a:t>
            </a:r>
            <a:r>
              <a:rPr lang="en-US" dirty="0"/>
              <a:t>- used to display images and videos on a large screen or wall. It is commonly used for presentations, movies, and other visual applications.</a:t>
            </a:r>
          </a:p>
          <a:p>
            <a:pPr marL="514350" indent="-514350">
              <a:buFont typeface="+mj-lt"/>
              <a:buAutoNum type="arabicPeriod"/>
            </a:pPr>
            <a:r>
              <a:rPr lang="en-US" b="1" dirty="0"/>
              <a:t>Headphones</a:t>
            </a:r>
            <a:r>
              <a:rPr lang="en-US" dirty="0"/>
              <a:t> - output devices used to output audio directly to the user's ears. They can be wired or wireless, and are commonly used for music, videos, and other multimedia applications.</a:t>
            </a:r>
          </a:p>
          <a:p>
            <a:endParaRPr lang="en-US" dirty="0"/>
          </a:p>
        </p:txBody>
      </p:sp>
    </p:spTree>
    <p:extLst>
      <p:ext uri="{BB962C8B-B14F-4D97-AF65-F5344CB8AC3E}">
        <p14:creationId xmlns:p14="http://schemas.microsoft.com/office/powerpoint/2010/main" val="884962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76139"/>
            <a:ext cx="10515600" cy="1325563"/>
          </a:xfrm>
        </p:spPr>
        <p:txBody>
          <a:bodyPr/>
          <a:lstStyle/>
          <a:p>
            <a:r>
              <a:rPr lang="en-US" b="1" dirty="0">
                <a:solidFill>
                  <a:srgbClr val="C00000"/>
                </a:solidFill>
              </a:rPr>
              <a:t>Storage Media</a:t>
            </a:r>
          </a:p>
        </p:txBody>
      </p:sp>
      <p:sp>
        <p:nvSpPr>
          <p:cNvPr id="3" name="Content Placeholder 2"/>
          <p:cNvSpPr>
            <a:spLocks noGrp="1"/>
          </p:cNvSpPr>
          <p:nvPr>
            <p:ph idx="1"/>
          </p:nvPr>
        </p:nvSpPr>
        <p:spPr>
          <a:xfrm>
            <a:off x="838200" y="2036639"/>
            <a:ext cx="10515600" cy="4351338"/>
          </a:xfrm>
        </p:spPr>
        <p:txBody>
          <a:bodyPr>
            <a:normAutofit lnSpcReduction="10000"/>
          </a:bodyPr>
          <a:lstStyle/>
          <a:p>
            <a:r>
              <a:rPr lang="en-US" dirty="0"/>
              <a:t>Storage media are physical devices used to store and retain digital data for future use.</a:t>
            </a:r>
          </a:p>
          <a:p>
            <a:r>
              <a:rPr lang="en-US" dirty="0"/>
              <a:t>Storage media can be volatile or non-volatile</a:t>
            </a:r>
          </a:p>
          <a:p>
            <a:r>
              <a:rPr lang="en-US" b="1" dirty="0"/>
              <a:t>Volatile Storage Devices</a:t>
            </a:r>
            <a:r>
              <a:rPr lang="en-US" dirty="0"/>
              <a:t>: Volatile storage devices require power to maintain the data stored in them.</a:t>
            </a:r>
          </a:p>
          <a:p>
            <a:r>
              <a:rPr lang="en-US" dirty="0"/>
              <a:t> When the power is turned off, the data is lost. Examples of volatile storage devices include Random Access Memory (RAM) and cache memory.</a:t>
            </a:r>
          </a:p>
          <a:p>
            <a:r>
              <a:rPr lang="en-US" dirty="0"/>
              <a:t> RAM is commonly used as a temporary storage device for data and programs that are actively being used by the computer's processor.</a:t>
            </a:r>
          </a:p>
          <a:p>
            <a:endParaRPr lang="en-US" dirty="0"/>
          </a:p>
        </p:txBody>
      </p:sp>
    </p:spTree>
    <p:extLst>
      <p:ext uri="{BB962C8B-B14F-4D97-AF65-F5344CB8AC3E}">
        <p14:creationId xmlns:p14="http://schemas.microsoft.com/office/powerpoint/2010/main" val="35791703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a:t>Non-Volatile Storage Devices</a:t>
            </a:r>
            <a:r>
              <a:rPr lang="en-US" dirty="0"/>
              <a:t>: Non-volatile storage devices can retain data even when power is turned off. They are commonly used for long-term storage of data and programs. </a:t>
            </a:r>
          </a:p>
          <a:p>
            <a:r>
              <a:rPr lang="en-US" dirty="0"/>
              <a:t>Examples of non-volatile storage devices include hard disk drives (HDD), solid-state drives (SSD), flash memory, optical storage media (such as CDs and DVDs), and magnetic tape. These devices use different technologies to store data, such as magnetic, optical, or semiconductor-based memory.</a:t>
            </a:r>
          </a:p>
          <a:p>
            <a:endParaRPr lang="en-US" dirty="0"/>
          </a:p>
        </p:txBody>
      </p:sp>
    </p:spTree>
    <p:extLst>
      <p:ext uri="{BB962C8B-B14F-4D97-AF65-F5344CB8AC3E}">
        <p14:creationId xmlns:p14="http://schemas.microsoft.com/office/powerpoint/2010/main" val="41435256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Software and Applications</a:t>
            </a:r>
          </a:p>
        </p:txBody>
      </p:sp>
      <p:sp>
        <p:nvSpPr>
          <p:cNvPr id="3" name="Content Placeholder 2"/>
          <p:cNvSpPr>
            <a:spLocks noGrp="1"/>
          </p:cNvSpPr>
          <p:nvPr>
            <p:ph idx="1"/>
          </p:nvPr>
        </p:nvSpPr>
        <p:spPr/>
        <p:txBody>
          <a:bodyPr/>
          <a:lstStyle/>
          <a:p>
            <a:r>
              <a:rPr lang="en-US" dirty="0"/>
              <a:t>In addition to hardware, a computer needs software to function.</a:t>
            </a:r>
          </a:p>
          <a:p>
            <a:r>
              <a:rPr lang="en-US" dirty="0"/>
              <a:t> Are programs that control or maintain the operations of the computer and its devices.</a:t>
            </a:r>
          </a:p>
          <a:p>
            <a:r>
              <a:rPr lang="en-US" dirty="0"/>
              <a:t> </a:t>
            </a:r>
            <a:r>
              <a:rPr lang="en-US" i="1" dirty="0"/>
              <a:t>Software </a:t>
            </a:r>
            <a:r>
              <a:rPr lang="en-US" dirty="0"/>
              <a:t>or </a:t>
            </a:r>
            <a:r>
              <a:rPr lang="en-US" i="1" dirty="0"/>
              <a:t>programs, </a:t>
            </a:r>
            <a:r>
              <a:rPr lang="en-US" dirty="0"/>
              <a:t>consists of electronic instructions that tell the computer how to perform a task.</a:t>
            </a:r>
          </a:p>
          <a:p>
            <a:r>
              <a:rPr lang="en-US" dirty="0"/>
              <a:t>A program installed in the computer that contains a set of instructions executed by the computer in order to perform a task.</a:t>
            </a:r>
          </a:p>
          <a:p>
            <a:endParaRPr lang="en-US" dirty="0"/>
          </a:p>
        </p:txBody>
      </p:sp>
    </p:spTree>
    <p:extLst>
      <p:ext uri="{BB962C8B-B14F-4D97-AF65-F5344CB8AC3E}">
        <p14:creationId xmlns:p14="http://schemas.microsoft.com/office/powerpoint/2010/main" val="40369438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software</a:t>
            </a:r>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US" b="1" dirty="0"/>
              <a:t>System Software</a:t>
            </a:r>
            <a:r>
              <a:rPr lang="en-US" dirty="0"/>
              <a:t> - Programs that control or maintain the operations of the computer and its devices.</a:t>
            </a:r>
          </a:p>
          <a:p>
            <a:pPr marL="0" indent="0">
              <a:buNone/>
            </a:pPr>
            <a:r>
              <a:rPr lang="en-US" dirty="0"/>
              <a:t> Examples include</a:t>
            </a:r>
          </a:p>
          <a:p>
            <a:pPr marL="971550" lvl="1" indent="-514350">
              <a:buFont typeface="+mj-lt"/>
              <a:buAutoNum type="alphaLcParenR"/>
            </a:pPr>
            <a:r>
              <a:rPr lang="en-US" b="1" dirty="0"/>
              <a:t>Operating System </a:t>
            </a:r>
            <a:r>
              <a:rPr lang="en-US" dirty="0"/>
              <a:t>- controls and manages the hardware connected to a computer, OS - provides an interface that helps users to interact with the computer. Examples include </a:t>
            </a:r>
            <a:r>
              <a:rPr lang="fr-FR" dirty="0"/>
              <a:t>Windows XP, 7,8,10, Mac OS, Linux, Android </a:t>
            </a:r>
            <a:r>
              <a:rPr lang="fr-FR" dirty="0" err="1"/>
              <a:t>etc</a:t>
            </a:r>
            <a:endParaRPr lang="en-US" dirty="0"/>
          </a:p>
          <a:p>
            <a:pPr marL="971550" lvl="1" indent="-514350">
              <a:buFont typeface="+mj-lt"/>
              <a:buAutoNum type="alphaLcParenR"/>
            </a:pPr>
            <a:r>
              <a:rPr lang="en-US" b="1" dirty="0"/>
              <a:t>Utility programs </a:t>
            </a:r>
            <a:r>
              <a:rPr lang="en-US" dirty="0"/>
              <a:t>– A program that performs a very specific task related to managing system resources. Help to perform maintenance or correct problems with a computer system. Examples include anti-viruses.</a:t>
            </a:r>
          </a:p>
          <a:p>
            <a:pPr marL="514350" indent="-514350">
              <a:buFont typeface="+mj-lt"/>
              <a:buAutoNum type="arabicPeriod" startAt="2"/>
            </a:pPr>
            <a:r>
              <a:rPr lang="en-US" b="1" dirty="0"/>
              <a:t>Application software</a:t>
            </a:r>
            <a:r>
              <a:rPr lang="en-US" dirty="0"/>
              <a:t>: Programs that perform specific tasks for users. Examples include Spreadsheets, MS word </a:t>
            </a:r>
            <a:r>
              <a:rPr lang="en-US" dirty="0" err="1"/>
              <a:t>etc</a:t>
            </a:r>
            <a:br>
              <a:rPr lang="en-US" dirty="0"/>
            </a:br>
            <a:br>
              <a:rPr lang="en-US" dirty="0"/>
            </a:br>
            <a:endParaRPr lang="en-US" dirty="0"/>
          </a:p>
        </p:txBody>
      </p:sp>
    </p:spTree>
    <p:extLst>
      <p:ext uri="{BB962C8B-B14F-4D97-AF65-F5344CB8AC3E}">
        <p14:creationId xmlns:p14="http://schemas.microsoft.com/office/powerpoint/2010/main" val="5609800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1268</TotalTime>
  <Words>3290</Words>
  <Application>Microsoft Office PowerPoint</Application>
  <PresentationFormat>Widescreen</PresentationFormat>
  <Paragraphs>181</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Wingdings</vt:lpstr>
      <vt:lpstr>Office Theme</vt:lpstr>
      <vt:lpstr>Computer and Communication Technology (BICT1103)</vt:lpstr>
      <vt:lpstr>TOPIC 1: Introduction to Information and Communication Technology  </vt:lpstr>
      <vt:lpstr>PowerPoint Presentation</vt:lpstr>
      <vt:lpstr>Structured Computer Organization</vt:lpstr>
      <vt:lpstr>PowerPoint Presentation</vt:lpstr>
      <vt:lpstr>PowerPoint Presentation</vt:lpstr>
      <vt:lpstr>PowerPoint Presentation</vt:lpstr>
      <vt:lpstr>PowerPoint Presentation</vt:lpstr>
      <vt:lpstr>PowerPoint Presentation</vt:lpstr>
      <vt:lpstr>PowerPoint Presentation</vt:lpstr>
      <vt:lpstr>The Law of Computers in ICT</vt:lpstr>
      <vt:lpstr>PowerPoint Presentation</vt:lpstr>
      <vt:lpstr>PowerPoint Presentation</vt:lpstr>
      <vt:lpstr>History of Computers</vt:lpstr>
      <vt:lpstr>The Zeroth Generation—Mechanical Computers (1642–1945) </vt:lpstr>
      <vt:lpstr>The First Generation—Vacuum Tubes (1945–1955)</vt:lpstr>
      <vt:lpstr>PowerPoint Presentation</vt:lpstr>
      <vt:lpstr>PowerPoint Presentation</vt:lpstr>
      <vt:lpstr>The Second Generation—Transistors (1955–1965) </vt:lpstr>
      <vt:lpstr>The Third Generation—Integrated Circuits (1965–1980) </vt:lpstr>
      <vt:lpstr>The Fourth Generation—Very Large Scale Integration (1980) </vt:lpstr>
      <vt:lpstr>The Fifth Generation—Low-Power and Invisible Computers (1980 - present)</vt:lpstr>
      <vt:lpstr>CPU and Main Memory</vt:lpstr>
      <vt:lpstr>The organization of a simple computer with one CPU and two I/O devices.</vt:lpstr>
      <vt:lpstr>PowerPoint Presentation</vt:lpstr>
      <vt:lpstr>PowerPoint Presentation</vt:lpstr>
      <vt:lpstr>CPU Organization</vt:lpstr>
      <vt:lpstr>PowerPoint Presentation</vt:lpstr>
      <vt:lpstr>PowerPoint Presentation</vt:lpstr>
      <vt:lpstr>PowerPoint Presentation</vt:lpstr>
      <vt:lpstr>Instruction   Execution</vt:lpstr>
      <vt:lpstr>Microcomputer System Unit</vt:lpstr>
      <vt:lpstr>PowerPoint Presentation</vt:lpstr>
      <vt:lpstr>Input hardware</vt:lpstr>
      <vt:lpstr>Output Devices</vt:lpstr>
      <vt:lpstr>Storage Media</vt:lpstr>
      <vt:lpstr>PowerPoint Presentation</vt:lpstr>
      <vt:lpstr>Software and Applications</vt:lpstr>
      <vt:lpstr>Types of software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and Communication Technology (BICT1103)</dc:title>
  <dc:creator>MiLab</dc:creator>
  <cp:lastModifiedBy>Farook Kalumbi</cp:lastModifiedBy>
  <cp:revision>42</cp:revision>
  <dcterms:created xsi:type="dcterms:W3CDTF">2023-05-12T19:22:11Z</dcterms:created>
  <dcterms:modified xsi:type="dcterms:W3CDTF">2024-03-05T09:54:07Z</dcterms:modified>
</cp:coreProperties>
</file>