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58" r:id="rId3"/>
    <p:sldId id="282" r:id="rId4"/>
    <p:sldId id="267" r:id="rId5"/>
    <p:sldId id="278" r:id="rId6"/>
    <p:sldId id="280" r:id="rId7"/>
    <p:sldId id="268" r:id="rId8"/>
    <p:sldId id="303" r:id="rId9"/>
    <p:sldId id="304" r:id="rId10"/>
    <p:sldId id="306" r:id="rId11"/>
    <p:sldId id="269" r:id="rId12"/>
    <p:sldId id="265" r:id="rId13"/>
    <p:sldId id="264" r:id="rId14"/>
    <p:sldId id="259" r:id="rId15"/>
    <p:sldId id="260" r:id="rId16"/>
    <p:sldId id="284" r:id="rId17"/>
    <p:sldId id="307" r:id="rId18"/>
    <p:sldId id="262" r:id="rId19"/>
    <p:sldId id="298" r:id="rId20"/>
    <p:sldId id="285" r:id="rId21"/>
    <p:sldId id="300" r:id="rId22"/>
    <p:sldId id="286" r:id="rId23"/>
    <p:sldId id="263" r:id="rId24"/>
    <p:sldId id="293" r:id="rId25"/>
    <p:sldId id="302" r:id="rId26"/>
    <p:sldId id="288" r:id="rId27"/>
    <p:sldId id="294" r:id="rId28"/>
    <p:sldId id="289" r:id="rId29"/>
    <p:sldId id="291" r:id="rId30"/>
    <p:sldId id="29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82026-273A-40CA-9E88-655B4D9A68DF}" type="datetimeFigureOut">
              <a:rPr lang="en-US" smtClean="0"/>
              <a:t>09-May-2015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118D3-A82C-4F1B-9E65-70D9AB8A2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B118D3-A82C-4F1B-9E65-70D9AB8A2A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2F03CD-BFA0-4604-91EA-0046814A92AA}" type="slidenum">
              <a:rPr lang="ar-SA"/>
              <a:pPr/>
              <a:t>9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B118D3-A82C-4F1B-9E65-70D9AB8A2A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6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1625"/>
            <a:ext cx="7772400" cy="14620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957D475-0586-4BFC-8C6E-1A0827B9C968}" type="datetime12">
              <a:rPr lang="en-US"/>
              <a:pPr/>
              <a:t>10:51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0CEACDB-01CE-4ADB-86BD-6D9ABD16FA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1048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0B26A04-28BB-4D4A-B22A-4518CA3C99C9}" type="datetimeFigureOut">
              <a:rPr lang="en-US" smtClean="0"/>
              <a:pPr/>
              <a:t>09-May-2015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BBCC027-9C66-46A8-914E-CC80D4676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effectLst/>
              </a:rPr>
              <a:t>Introduction To Information And Communication Technology</a:t>
            </a:r>
            <a:endParaRPr lang="en-US" sz="2800" b="1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667000"/>
            <a:ext cx="7406640" cy="1219200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DEFINITIONS IN ICT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electronic device that processes data according to a set of stored instructions.</a:t>
            </a:r>
          </a:p>
          <a:p>
            <a:r>
              <a:rPr lang="en-US" dirty="0" smtClean="0">
                <a:cs typeface="Tahoma" pitchFamily="34" charset="0"/>
              </a:rPr>
              <a:t>An electronic </a:t>
            </a:r>
            <a:r>
              <a:rPr lang="en-US" dirty="0">
                <a:cs typeface="Tahoma" pitchFamily="34" charset="0"/>
              </a:rPr>
              <a:t>devices that can follow instructions </a:t>
            </a:r>
            <a:r>
              <a:rPr lang="en-US" b="1" u="sng" dirty="0">
                <a:cs typeface="Tahoma" pitchFamily="34" charset="0"/>
              </a:rPr>
              <a:t>to</a:t>
            </a:r>
            <a:r>
              <a:rPr lang="en-US" dirty="0">
                <a:cs typeface="Tahoma" pitchFamily="34" charset="0"/>
              </a:rPr>
              <a:t> accept input, process the input and then produce </a:t>
            </a:r>
            <a:r>
              <a:rPr lang="en-US" b="1" dirty="0">
                <a:cs typeface="Tahoma" pitchFamily="34" charset="0"/>
              </a:rPr>
              <a:t>information</a:t>
            </a:r>
            <a:r>
              <a:rPr lang="en-US" dirty="0">
                <a:cs typeface="Tahoma" pitchFamily="34" charset="0"/>
              </a:rPr>
              <a:t>. </a:t>
            </a:r>
            <a:endParaRPr lang="en-US" dirty="0" smtClean="0">
              <a:cs typeface="Tahoma" pitchFamily="34" charset="0"/>
            </a:endParaRPr>
          </a:p>
          <a:p>
            <a:r>
              <a:rPr lang="en-US" dirty="0" smtClean="0"/>
              <a:t>It </a:t>
            </a:r>
            <a:r>
              <a:rPr lang="en-US" dirty="0"/>
              <a:t>is  a machine that manipulates data according to a set of instructions.</a:t>
            </a:r>
            <a:br>
              <a:rPr lang="en-US" dirty="0"/>
            </a:b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set of connected things that form a whole or work together (Oxford)</a:t>
            </a:r>
          </a:p>
          <a:p>
            <a:r>
              <a:rPr lang="da-DK" dirty="0" smtClean="0"/>
              <a:t>A collection of interrelated components that work together towards a collective goal.</a:t>
            </a:r>
            <a:endParaRPr lang="en-US" dirty="0" smtClean="0"/>
          </a:p>
          <a:p>
            <a:r>
              <a:rPr lang="en-US" dirty="0" smtClean="0"/>
              <a:t>Must have objective </a:t>
            </a:r>
          </a:p>
          <a:p>
            <a:r>
              <a:rPr lang="en-US" dirty="0" smtClean="0"/>
              <a:t>Must produce an output</a:t>
            </a:r>
          </a:p>
          <a:p>
            <a:r>
              <a:rPr lang="en-US" dirty="0" smtClean="0"/>
              <a:t>May have many input and outputs</a:t>
            </a:r>
          </a:p>
          <a:p>
            <a:r>
              <a:rPr lang="en-US" dirty="0" smtClean="0"/>
              <a:t>May have some subsystems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6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D944-AB29-4865-B6D2-8F35B94BF020}" type="slidenum">
              <a:rPr lang="ar-SA"/>
              <a:pPr/>
              <a:t>4</a:t>
            </a:fld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0" y="685800"/>
            <a:ext cx="6705600" cy="4778375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latin typeface="Tahoma" pitchFamily="34" charset="0"/>
                <a:cs typeface="Tahoma" pitchFamily="34" charset="0"/>
              </a:rPr>
              <a:t>Computers are made of</a:t>
            </a:r>
            <a:endParaRPr lang="en-US" sz="4000" dirty="0" smtClean="0">
              <a:latin typeface="Tahoma" pitchFamily="34" charset="0"/>
              <a:cs typeface="Tahoma" pitchFamily="34" charset="0"/>
            </a:endParaRPr>
          </a:p>
          <a:p>
            <a:pPr marL="571500" indent="-571500"/>
            <a:r>
              <a:rPr lang="en-US" sz="4000" dirty="0" smtClean="0">
                <a:latin typeface="Tahoma" pitchFamily="34" charset="0"/>
                <a:cs typeface="Tahoma" pitchFamily="34" charset="0"/>
              </a:rPr>
              <a:t>Hardware </a:t>
            </a:r>
            <a:endParaRPr lang="en-US" sz="4000" dirty="0">
              <a:latin typeface="Tahoma" pitchFamily="34" charset="0"/>
              <a:cs typeface="Tahoma" pitchFamily="34" charset="0"/>
            </a:endParaRPr>
          </a:p>
          <a:p>
            <a:pPr marL="571500" indent="-571500"/>
            <a:r>
              <a:rPr lang="en-US" sz="4000" dirty="0" smtClean="0">
                <a:latin typeface="Tahoma" pitchFamily="34" charset="0"/>
                <a:cs typeface="Tahoma" pitchFamily="34" charset="0"/>
              </a:rPr>
              <a:t>Software</a:t>
            </a:r>
            <a:endParaRPr lang="en-US" sz="4000" dirty="0">
              <a:latin typeface="Tahoma" pitchFamily="34" charset="0"/>
              <a:cs typeface="Tahoma" pitchFamily="34" charset="0"/>
            </a:endParaRPr>
          </a:p>
          <a:p>
            <a:pPr marL="609600" indent="-609600" algn="l" rtl="0"/>
            <a:endParaRPr lang="en-US" sz="4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32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1"/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0717E9F-9B98-4CA8-930D-1546BA7F7133}" type="slidenum">
              <a:rPr lang="en-US" sz="1200" smtClean="0">
                <a:solidFill>
                  <a:schemeClr val="bg1"/>
                </a:solidFill>
              </a:rPr>
              <a:pPr eaLnBrk="1" hangingPunct="1"/>
              <a:t>5</a:t>
            </a:fld>
            <a:endParaRPr lang="en-US" sz="1200" smtClean="0">
              <a:solidFill>
                <a:schemeClr val="bg1"/>
              </a:solidFill>
            </a:endParaRPr>
          </a:p>
        </p:txBody>
      </p:sp>
      <p:sp>
        <p:nvSpPr>
          <p:cNvPr id="26627" name="Title 1"/>
          <p:cNvSpPr>
            <a:spLocks noGrp="1"/>
          </p:cNvSpPr>
          <p:nvPr>
            <p:ph type="title" idx="4294967295"/>
          </p:nvPr>
        </p:nvSpPr>
        <p:spPr>
          <a:xfrm>
            <a:off x="1435608" y="274638"/>
            <a:ext cx="7498080" cy="792162"/>
          </a:xfrm>
        </p:spPr>
        <p:txBody>
          <a:bodyPr anchor="b"/>
          <a:lstStyle/>
          <a:p>
            <a:pPr eaLnBrk="1" hangingPunct="1"/>
            <a:r>
              <a:rPr lang="en-US" sz="4000" dirty="0" smtClean="0"/>
              <a:t>Hardware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4294967295"/>
          </p:nvPr>
        </p:nvSpPr>
        <p:spPr>
          <a:xfrm>
            <a:off x="1295400" y="1219201"/>
            <a:ext cx="7772400" cy="530542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cs typeface="Times New Roman" pitchFamily="18" charset="0"/>
              </a:rPr>
              <a:t>Hardware: The physical parts of a computer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cs typeface="Times New Roman" pitchFamily="18" charset="0"/>
              </a:rPr>
              <a:t>Internal hardware</a:t>
            </a: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cs typeface="Times New Roman" pitchFamily="18" charset="0"/>
              </a:rPr>
              <a:t>Located inside the main box (system unit) of the computer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cs typeface="Times New Roman" pitchFamily="18" charset="0"/>
              </a:rPr>
              <a:t>External hardware</a:t>
            </a:r>
          </a:p>
          <a:p>
            <a:pPr lvl="2"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cs typeface="Times New Roman" pitchFamily="18" charset="0"/>
              </a:rPr>
              <a:t>Located outside the system unit and plug into ports located on the exterior of the system unit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>
                <a:cs typeface="Times New Roman" pitchFamily="18" charset="0"/>
              </a:rPr>
              <a:t>Hardware associated with all five computer operations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3080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1"/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8A3699F-CD6E-4902-BE74-D7F0FC2CDCCB}" type="slidenum">
              <a:rPr lang="en-US" sz="1200" smtClean="0">
                <a:solidFill>
                  <a:schemeClr val="bg1"/>
                </a:solidFill>
              </a:rPr>
              <a:pPr eaLnBrk="1" hangingPunct="1"/>
              <a:t>6</a:t>
            </a:fld>
            <a:endParaRPr lang="en-US" sz="1200" smtClean="0">
              <a:solidFill>
                <a:schemeClr val="bg1"/>
              </a:solidFill>
            </a:endParaRPr>
          </a:p>
        </p:txBody>
      </p:sp>
      <p:pic>
        <p:nvPicPr>
          <p:cNvPr id="27652" name="Picture 6" descr="Fig01-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609600"/>
            <a:ext cx="7772400" cy="5732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61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/>
          </a:bodyPr>
          <a:lstStyle/>
          <a:p>
            <a:pPr lvl="1"/>
            <a:r>
              <a:rPr lang="en-US" sz="2600" dirty="0">
                <a:solidFill>
                  <a:schemeClr val="tx2"/>
                </a:solidFill>
                <a:cs typeface="Tahoma" pitchFamily="34" charset="0"/>
              </a:rPr>
              <a:t>C</a:t>
            </a:r>
            <a:r>
              <a:rPr lang="en-US" sz="2600" dirty="0" smtClean="0">
                <a:solidFill>
                  <a:schemeClr val="tx2"/>
                </a:solidFill>
                <a:cs typeface="Tahoma" pitchFamily="34" charset="0"/>
              </a:rPr>
              <a:t>omputer </a:t>
            </a:r>
            <a:r>
              <a:rPr lang="en-US" sz="2600" dirty="0">
                <a:solidFill>
                  <a:schemeClr val="tx2"/>
                </a:solidFill>
                <a:cs typeface="Tahoma" pitchFamily="34" charset="0"/>
              </a:rPr>
              <a:t>virus </a:t>
            </a:r>
            <a:r>
              <a:rPr lang="en-US" sz="2600" dirty="0" smtClean="0"/>
              <a:t>are </a:t>
            </a:r>
            <a:r>
              <a:rPr lang="en-US" sz="2600" dirty="0"/>
              <a:t>small </a:t>
            </a:r>
            <a:r>
              <a:rPr lang="en-US" sz="2600" dirty="0" smtClean="0"/>
              <a:t>programs </a:t>
            </a:r>
            <a:r>
              <a:rPr lang="en-US" sz="2600" dirty="0"/>
              <a:t>that are designed to spread from one computer to another and to interfere with computer operation. </a:t>
            </a:r>
            <a:endParaRPr lang="en-US" sz="2600" dirty="0" smtClean="0"/>
          </a:p>
          <a:p>
            <a:pPr lvl="1"/>
            <a:r>
              <a:rPr lang="en-US" sz="2600" dirty="0" smtClean="0"/>
              <a:t>A </a:t>
            </a:r>
            <a:r>
              <a:rPr lang="en-US" sz="2600" dirty="0"/>
              <a:t>virus might corrupt or delete data on your </a:t>
            </a:r>
            <a:r>
              <a:rPr lang="en-US" sz="2600" dirty="0" smtClean="0"/>
              <a:t>computer.</a:t>
            </a:r>
            <a:endParaRPr lang="en-US" sz="2600" dirty="0" smtClean="0"/>
          </a:p>
          <a:p>
            <a:r>
              <a:rPr lang="en-US" sz="2600" dirty="0" smtClean="0">
                <a:cs typeface="Tahoma" pitchFamily="34" charset="0"/>
              </a:rPr>
              <a:t>A </a:t>
            </a:r>
            <a:r>
              <a:rPr lang="en-US" sz="2600" dirty="0">
                <a:cs typeface="Tahoma" pitchFamily="34" charset="0"/>
              </a:rPr>
              <a:t>virus program</a:t>
            </a:r>
          </a:p>
          <a:p>
            <a:pPr lvl="1"/>
            <a:r>
              <a:rPr lang="en-US" sz="2600" dirty="0">
                <a:cs typeface="Tahoma" pitchFamily="34" charset="0"/>
              </a:rPr>
              <a:t>Infects programs, documents, databases and more …</a:t>
            </a:r>
          </a:p>
          <a:p>
            <a:pPr lvl="1"/>
            <a:r>
              <a:rPr lang="en-US" sz="2600" dirty="0">
                <a:cs typeface="Tahoma" pitchFamily="34" charset="0"/>
              </a:rPr>
              <a:t>It is man-made</a:t>
            </a:r>
          </a:p>
          <a:p>
            <a:pPr lvl="1"/>
            <a:r>
              <a:rPr lang="en-US" sz="2600" dirty="0">
                <a:cs typeface="Tahoma" pitchFamily="34" charset="0"/>
              </a:rPr>
              <a:t>It can hide and reproduce</a:t>
            </a:r>
          </a:p>
          <a:p>
            <a:pPr lvl="1"/>
            <a:r>
              <a:rPr lang="en-US" sz="2600" dirty="0">
                <a:cs typeface="Tahoma" pitchFamily="34" charset="0"/>
              </a:rPr>
              <a:t>It can lay dormant (inactive) and then activate</a:t>
            </a:r>
          </a:p>
          <a:p>
            <a:pPr lvl="1"/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84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676400" y="990600"/>
            <a:ext cx="6629400" cy="5105400"/>
          </a:xfrm>
        </p:spPr>
        <p:txBody>
          <a:bodyPr>
            <a:normAutofit/>
          </a:bodyPr>
          <a:lstStyle/>
          <a:p>
            <a:pPr algn="l" rtl="0"/>
            <a:r>
              <a:rPr lang="en-US" sz="2400" dirty="0">
                <a:latin typeface="Tahoma" pitchFamily="34" charset="0"/>
                <a:cs typeface="Tahoma" pitchFamily="34" charset="0"/>
              </a:rPr>
              <a:t>Three primary sources</a:t>
            </a:r>
          </a:p>
          <a:p>
            <a:pPr lvl="1" algn="l" rtl="0"/>
            <a:r>
              <a:rPr lang="en-US" sz="2400" dirty="0">
                <a:latin typeface="Tahoma" pitchFamily="34" charset="0"/>
                <a:cs typeface="Tahoma" pitchFamily="34" charset="0"/>
              </a:rPr>
              <a:t>The Internet</a:t>
            </a:r>
          </a:p>
          <a:p>
            <a:pPr lvl="2" algn="l" rtl="0"/>
            <a:r>
              <a:rPr lang="en-US" dirty="0">
                <a:latin typeface="Tahoma" pitchFamily="34" charset="0"/>
                <a:cs typeface="Tahoma" pitchFamily="34" charset="0"/>
              </a:rPr>
              <a:t>Via downloads and exchanges</a:t>
            </a:r>
          </a:p>
          <a:p>
            <a:pPr lvl="1" algn="l" rtl="0"/>
            <a:r>
              <a:rPr lang="en-US" sz="2400" dirty="0" smtClean="0">
                <a:latin typeface="Tahoma" pitchFamily="34" charset="0"/>
                <a:cs typeface="Tahoma" pitchFamily="34" charset="0"/>
              </a:rPr>
              <a:t>Diskettes - now obsolete</a:t>
            </a: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lvl="2" algn="l" rtl="0"/>
            <a:r>
              <a:rPr lang="en-US" dirty="0">
                <a:latin typeface="Tahoma" pitchFamily="34" charset="0"/>
                <a:cs typeface="Tahoma" pitchFamily="34" charset="0"/>
              </a:rPr>
              <a:t>Exchanging disks</a:t>
            </a:r>
          </a:p>
          <a:p>
            <a:pPr lvl="1" algn="l" rtl="0"/>
            <a:r>
              <a:rPr lang="en-US" sz="2400" dirty="0">
                <a:latin typeface="Tahoma" pitchFamily="34" charset="0"/>
                <a:cs typeface="Tahoma" pitchFamily="34" charset="0"/>
              </a:rPr>
              <a:t>Computer networks</a:t>
            </a:r>
          </a:p>
          <a:p>
            <a:pPr lvl="2" algn="l" rtl="0"/>
            <a:r>
              <a:rPr lang="en-US" dirty="0">
                <a:latin typeface="Tahoma" pitchFamily="34" charset="0"/>
                <a:cs typeface="Tahoma" pitchFamily="34" charset="0"/>
              </a:rPr>
              <a:t>Can spread from one network to another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CABD5-673A-4463-BD68-494E0CD0AABE}" type="slidenum">
              <a:rPr lang="ar-SA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2246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A2EC-46CD-4BE9-A8CD-E3E9F255FD78}" type="slidenum">
              <a:rPr lang="ar-SA"/>
              <a:pPr/>
              <a:t>9</a:t>
            </a:fld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71600" y="685800"/>
            <a:ext cx="7086600" cy="5105400"/>
          </a:xfrm>
          <a:noFill/>
          <a:ln/>
        </p:spPr>
        <p:txBody>
          <a:bodyPr lIns="92075" tIns="46038" rIns="92075" bIns="46038">
            <a:normAutofit fontScale="92500" lnSpcReduction="20000"/>
          </a:bodyPr>
          <a:lstStyle/>
          <a:p>
            <a:pPr marL="82296" indent="0">
              <a:buNone/>
            </a:pPr>
            <a:r>
              <a:rPr lang="en-US" b="1" dirty="0">
                <a:latin typeface="Tahoma" pitchFamily="34" charset="0"/>
                <a:cs typeface="Tahoma" pitchFamily="34" charset="0"/>
              </a:rPr>
              <a:t>How do you know if you have a virus?</a:t>
            </a:r>
          </a:p>
          <a:p>
            <a:pPr algn="l" rtl="0"/>
            <a:r>
              <a:rPr lang="en-US" dirty="0" smtClean="0">
                <a:latin typeface="Tahoma" pitchFamily="34" charset="0"/>
                <a:cs typeface="Tahoma" pitchFamily="34" charset="0"/>
              </a:rPr>
              <a:t>Lack </a:t>
            </a:r>
            <a:r>
              <a:rPr lang="en-US" dirty="0">
                <a:latin typeface="Tahoma" pitchFamily="34" charset="0"/>
                <a:cs typeface="Tahoma" pitchFamily="34" charset="0"/>
              </a:rPr>
              <a:t>of storage capability</a:t>
            </a:r>
          </a:p>
          <a:p>
            <a:pPr algn="l" rtl="0"/>
            <a:r>
              <a:rPr lang="en-US" dirty="0">
                <a:latin typeface="Tahoma" pitchFamily="34" charset="0"/>
                <a:cs typeface="Tahoma" pitchFamily="34" charset="0"/>
              </a:rPr>
              <a:t>Decrease in the speed of executing programs</a:t>
            </a:r>
          </a:p>
          <a:p>
            <a:pPr algn="l" rtl="0"/>
            <a:r>
              <a:rPr lang="en-US" dirty="0">
                <a:latin typeface="Tahoma" pitchFamily="34" charset="0"/>
                <a:cs typeface="Tahoma" pitchFamily="34" charset="0"/>
              </a:rPr>
              <a:t>Unexpected error messages</a:t>
            </a:r>
          </a:p>
          <a:p>
            <a:pPr algn="l" rtl="0"/>
            <a:r>
              <a:rPr lang="en-US" dirty="0">
                <a:latin typeface="Tahoma" pitchFamily="34" charset="0"/>
                <a:cs typeface="Tahoma" pitchFamily="34" charset="0"/>
              </a:rPr>
              <a:t>Halting the 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system</a:t>
            </a:r>
          </a:p>
          <a:p>
            <a:pPr marL="82296" indent="0" algn="l" rtl="0">
              <a:buNone/>
            </a:pPr>
            <a:endParaRPr lang="en-US" dirty="0">
              <a:latin typeface="Tahoma" pitchFamily="34" charset="0"/>
              <a:cs typeface="Tahoma" pitchFamily="34" charset="0"/>
            </a:endParaRPr>
          </a:p>
          <a:p>
            <a:pPr marL="82296" indent="0" eaLnBrk="0" hangingPunct="0">
              <a:buNone/>
            </a:pPr>
            <a:r>
              <a:rPr lang="en-US" b="1" dirty="0">
                <a:latin typeface="Tahoma" pitchFamily="34" charset="0"/>
                <a:cs typeface="Tahoma" pitchFamily="34" charset="0"/>
              </a:rPr>
              <a:t>Virus Protection</a:t>
            </a:r>
            <a:endParaRPr lang="en-US" b="1" dirty="0">
              <a:latin typeface="Tahoma" pitchFamily="34" charset="0"/>
            </a:endParaRPr>
          </a:p>
          <a:p>
            <a:pPr eaLnBrk="0" hangingPunct="0"/>
            <a:r>
              <a:rPr lang="en-US" dirty="0" smtClean="0">
                <a:latin typeface="Tahoma" pitchFamily="34" charset="0"/>
              </a:rPr>
              <a:t>The </a:t>
            </a:r>
            <a:r>
              <a:rPr lang="en-US" dirty="0">
                <a:latin typeface="Tahoma" pitchFamily="34" charset="0"/>
              </a:rPr>
              <a:t>best way to cope with viruses is to recognize their existence and use an </a:t>
            </a:r>
            <a:r>
              <a:rPr lang="en-US" b="1" dirty="0">
                <a:latin typeface="Tahoma" pitchFamily="34" charset="0"/>
              </a:rPr>
              <a:t>antivirus program</a:t>
            </a:r>
            <a:r>
              <a:rPr lang="en-US" dirty="0">
                <a:latin typeface="Tahoma" pitchFamily="34" charset="0"/>
              </a:rPr>
              <a:t>.</a:t>
            </a:r>
          </a:p>
          <a:p>
            <a:pPr marL="82296" indent="0" algn="l" rtl="0">
              <a:buNone/>
            </a:pPr>
            <a:endParaRPr lang="en-US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8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4C0C-B404-4362-8CB6-46BA6A3B9D22}" type="slidenum">
              <a:rPr lang="ar-SA"/>
              <a:pPr/>
              <a:t>10</a:t>
            </a:fld>
            <a:endParaRPr lang="en-US"/>
          </a:p>
        </p:txBody>
      </p:sp>
      <p:sp>
        <p:nvSpPr>
          <p:cNvPr id="243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19200" y="762000"/>
            <a:ext cx="7239000" cy="5638800"/>
          </a:xfrm>
        </p:spPr>
        <p:txBody>
          <a:bodyPr>
            <a:normAutofit lnSpcReduction="10000"/>
          </a:bodyPr>
          <a:lstStyle/>
          <a:p>
            <a:pPr marL="457200" indent="-457200" algn="ctr" rtl="0" eaLnBrk="0" hangingPunct="0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cs typeface="Tahoma" pitchFamily="34" charset="0"/>
              </a:rPr>
              <a:t>Some tips that will help minimize your vulnerability to viruses:</a:t>
            </a:r>
          </a:p>
          <a:p>
            <a:pPr marL="457200" indent="-457200" algn="ctr" rtl="0" eaLnBrk="0" hangingPunct="0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lang="en-US" sz="1100" b="1" dirty="0">
              <a:solidFill>
                <a:srgbClr val="66FF33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cs typeface="Tahoma" pitchFamily="34" charset="0"/>
            </a:endParaRPr>
          </a:p>
          <a:p>
            <a:pPr marL="457200" indent="-457200" algn="ctr" rtl="0" eaLnBrk="0" hangingPunct="0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lang="en-US" sz="1500" b="1" dirty="0">
              <a:solidFill>
                <a:srgbClr val="66FF33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cs typeface="Tahoma" pitchFamily="34" charset="0"/>
            </a:endParaRPr>
          </a:p>
          <a:p>
            <a:pPr marL="457200" indent="-457200" algn="l" rtl="0">
              <a:lnSpc>
                <a:spcPct val="80000"/>
              </a:lnSpc>
              <a:buFontTx/>
              <a:buAutoNum type="arabicPeriod"/>
            </a:pPr>
            <a:r>
              <a:rPr lang="en-US" sz="2700" dirty="0">
                <a:latin typeface="Tahoma" pitchFamily="34" charset="0"/>
                <a:cs typeface="Tahoma" pitchFamily="34" charset="0"/>
              </a:rPr>
              <a:t>Delete e-mails from unknown or suspicious, untrustworthy (unreliable) sources, especially those with files attached to an e-mail.</a:t>
            </a:r>
          </a:p>
          <a:p>
            <a:pPr marL="457200" indent="-457200" algn="l" rtl="0">
              <a:lnSpc>
                <a:spcPct val="80000"/>
              </a:lnSpc>
              <a:buFontTx/>
              <a:buAutoNum type="arabicPeriod"/>
            </a:pPr>
            <a:r>
              <a:rPr lang="en-US" sz="2700" dirty="0">
                <a:latin typeface="Tahoma" pitchFamily="34" charset="0"/>
                <a:cs typeface="Tahoma" pitchFamily="34" charset="0"/>
              </a:rPr>
              <a:t>Never open a file attached to an e-mail unless you know what it is, even if it appears to come from a friend.</a:t>
            </a:r>
          </a:p>
          <a:p>
            <a:pPr marL="457200" indent="-457200" algn="l" rtl="0">
              <a:lnSpc>
                <a:spcPct val="80000"/>
              </a:lnSpc>
              <a:buFontTx/>
              <a:buAutoNum type="arabicPeriod"/>
            </a:pPr>
            <a:r>
              <a:rPr lang="en-US" sz="2700" dirty="0">
                <a:latin typeface="Tahoma" pitchFamily="34" charset="0"/>
                <a:cs typeface="Tahoma" pitchFamily="34" charset="0"/>
              </a:rPr>
              <a:t>Download files from the Internet only from legitimate and reputable sources.</a:t>
            </a:r>
          </a:p>
          <a:p>
            <a:pPr marL="457200" indent="-457200" algn="l" rtl="0">
              <a:lnSpc>
                <a:spcPct val="80000"/>
              </a:lnSpc>
              <a:buFontTx/>
              <a:buAutoNum type="arabicPeriod"/>
            </a:pPr>
            <a:r>
              <a:rPr lang="en-US" sz="2700" dirty="0">
                <a:latin typeface="Tahoma" pitchFamily="34" charset="0"/>
                <a:cs typeface="Tahoma" pitchFamily="34" charset="0"/>
              </a:rPr>
              <a:t>Update your antivirus software at least every two weeks as over 200 viruses are discovered each month.</a:t>
            </a:r>
          </a:p>
          <a:p>
            <a:pPr marL="457200" indent="-457200" algn="l" rtl="0">
              <a:lnSpc>
                <a:spcPct val="80000"/>
              </a:lnSpc>
              <a:buFontTx/>
              <a:buAutoNum type="arabicPeriod"/>
            </a:pPr>
            <a:r>
              <a:rPr lang="en-US" sz="2700" dirty="0">
                <a:latin typeface="Tahoma" pitchFamily="34" charset="0"/>
                <a:cs typeface="Tahoma" pitchFamily="34" charset="0"/>
              </a:rPr>
              <a:t>Backup your files periodically</a:t>
            </a:r>
          </a:p>
          <a:p>
            <a:pPr marL="457200" indent="-457200" algn="l" rtl="0">
              <a:lnSpc>
                <a:spcPct val="80000"/>
              </a:lnSpc>
              <a:buFontTx/>
              <a:buNone/>
            </a:pPr>
            <a:endParaRPr lang="en-US" sz="900" dirty="0">
              <a:latin typeface="Tahoma" pitchFamily="34" charset="0"/>
              <a:cs typeface="Tahoma" pitchFamily="34" charset="0"/>
            </a:endParaRPr>
          </a:p>
          <a:p>
            <a:pPr marL="457200" indent="-457200" algn="l" rtl="0">
              <a:lnSpc>
                <a:spcPct val="80000"/>
              </a:lnSpc>
            </a:pPr>
            <a:endParaRPr lang="en-US" sz="9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Times New Roman" pitchFamily="18" charset="0"/>
              </a:rPr>
              <a:t>Software: The programs or instructions used to tell the computer hardware what to </a:t>
            </a:r>
            <a:r>
              <a:rPr lang="en-US" dirty="0" smtClean="0">
                <a:cs typeface="Times New Roman" pitchFamily="18" charset="0"/>
              </a:rPr>
              <a:t>do</a:t>
            </a:r>
          </a:p>
          <a:p>
            <a:r>
              <a:rPr lang="en-US" i="1" dirty="0" smtClean="0"/>
              <a:t>Software</a:t>
            </a:r>
            <a:r>
              <a:rPr lang="en-US" dirty="0" smtClean="0"/>
              <a:t> </a:t>
            </a:r>
            <a:r>
              <a:rPr lang="en-US" dirty="0"/>
              <a:t>is a general term for the various kinds of </a:t>
            </a:r>
            <a:r>
              <a:rPr lang="en-US" i="1" dirty="0"/>
              <a:t>programs</a:t>
            </a:r>
            <a:r>
              <a:rPr lang="en-US" dirty="0"/>
              <a:t> used to operate computers and related </a:t>
            </a:r>
            <a:r>
              <a:rPr lang="en-US" dirty="0" smtClean="0"/>
              <a:t>devices</a:t>
            </a:r>
          </a:p>
          <a:p>
            <a:r>
              <a:rPr lang="en-US" i="1" dirty="0"/>
              <a:t>Software</a:t>
            </a:r>
            <a:r>
              <a:rPr lang="en-US" dirty="0" smtClean="0"/>
              <a:t> </a:t>
            </a:r>
            <a:r>
              <a:rPr lang="en-US" dirty="0"/>
              <a:t>are the programs that run on a computer and perform certain </a:t>
            </a:r>
            <a:r>
              <a:rPr lang="en-US" dirty="0" smtClean="0"/>
              <a:t>functions</a:t>
            </a:r>
            <a:endParaRPr lang="en-US" dirty="0">
              <a:cs typeface="Times New Roman" pitchFamily="18" charset="0"/>
            </a:endParaRPr>
          </a:p>
          <a:p>
            <a:pPr lvl="1"/>
            <a:r>
              <a:rPr lang="en-US" dirty="0">
                <a:cs typeface="Times New Roman" pitchFamily="18" charset="0"/>
              </a:rPr>
              <a:t>System software: </a:t>
            </a:r>
            <a:r>
              <a:rPr lang="en-US" dirty="0" smtClean="0">
                <a:cs typeface="Times New Roman" pitchFamily="18" charset="0"/>
              </a:rPr>
              <a:t> Operating </a:t>
            </a:r>
            <a:r>
              <a:rPr lang="en-US" dirty="0">
                <a:cs typeface="Times New Roman" pitchFamily="18" charset="0"/>
              </a:rPr>
              <a:t>system allows a computer to operate</a:t>
            </a:r>
          </a:p>
          <a:p>
            <a:pPr lvl="2"/>
            <a:r>
              <a:rPr lang="en-US" dirty="0"/>
              <a:t>Boots the computer and launches programs at the user’s direction</a:t>
            </a:r>
          </a:p>
          <a:p>
            <a:pPr lvl="2"/>
            <a:r>
              <a:rPr lang="en-US" dirty="0"/>
              <a:t>Most use a </a:t>
            </a:r>
            <a:r>
              <a:rPr lang="en-US" dirty="0" smtClean="0"/>
              <a:t>Graphical User Interface </a:t>
            </a:r>
            <a:r>
              <a:rPr lang="en-US" dirty="0"/>
              <a:t>to interact with the user via windows, icons, menus, buttons, etc.</a:t>
            </a:r>
          </a:p>
          <a:p>
            <a:pPr lvl="2"/>
            <a:r>
              <a:rPr lang="en-US" dirty="0"/>
              <a:t>Windows, Mac OS, Linux, etc</a:t>
            </a:r>
            <a:r>
              <a:rPr lang="en-US" dirty="0" smtClean="0"/>
              <a:t>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Application software: Performs specific tasks or applications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Creating letters, budgets, etc.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Managing inventory and customer databases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Editing photographs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Scheduling appointments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Viewing Web pages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Sending and receiving e-mail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Recording / playing CDs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Designing homes</a:t>
            </a:r>
          </a:p>
          <a:p>
            <a:pPr lvl="2">
              <a:lnSpc>
                <a:spcPct val="90000"/>
              </a:lnSpc>
              <a:spcAft>
                <a:spcPct val="20000"/>
              </a:spcAft>
            </a:pPr>
            <a:r>
              <a:rPr lang="en-US" dirty="0">
                <a:cs typeface="Times New Roman" pitchFamily="18" charset="0"/>
              </a:rPr>
              <a:t>Playing games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5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b="1" dirty="0"/>
              <a:t>Data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are </a:t>
            </a:r>
            <a:r>
              <a:rPr lang="en-US" dirty="0"/>
              <a:t>raw facts or observations that have little or no value until they have been processed and transformed into </a:t>
            </a:r>
            <a:r>
              <a:rPr lang="en-US" dirty="0" smtClean="0"/>
              <a:t>information.</a:t>
            </a:r>
          </a:p>
          <a:p>
            <a:r>
              <a:rPr lang="en-US" dirty="0"/>
              <a:t>Examples of data: </a:t>
            </a:r>
            <a:r>
              <a:rPr lang="en-US" dirty="0" smtClean="0"/>
              <a:t>Date</a:t>
            </a:r>
            <a:endParaRPr lang="en-US" dirty="0"/>
          </a:p>
          <a:p>
            <a:pPr marL="82296" indent="0">
              <a:buNone/>
            </a:pPr>
            <a:r>
              <a:rPr lang="en-US" b="1" dirty="0"/>
              <a:t>Information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/>
              <a:t>data that has been processed so that they are meaningful and is useful in solving </a:t>
            </a:r>
            <a:r>
              <a:rPr lang="en-US" dirty="0" smtClean="0"/>
              <a:t>problems.</a:t>
            </a:r>
            <a:endParaRPr lang="en-US" dirty="0"/>
          </a:p>
          <a:p>
            <a:r>
              <a:rPr lang="en-US" dirty="0" smtClean="0"/>
              <a:t>Examples </a:t>
            </a:r>
            <a:r>
              <a:rPr lang="en-US" dirty="0"/>
              <a:t>of information: Bank statement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7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en-US" dirty="0" smtClean="0"/>
              <a:t>Internet - It </a:t>
            </a:r>
            <a:r>
              <a:rPr lang="en-US" dirty="0"/>
              <a:t>is the interconnection of computer networks all over the world so that users can share and exchange information.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dirty="0"/>
              <a:t>and communicate with each other. 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dirty="0"/>
              <a:t>A computer network is a connection of two or more computers for the purpose of communicating and sharing information and other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3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Technology</a:t>
            </a:r>
          </a:p>
          <a:p>
            <a:pPr lvl="1"/>
            <a:r>
              <a:rPr lang="da-DK" dirty="0" smtClean="0"/>
              <a:t>Application of scientific knowledge for practical purposes.</a:t>
            </a:r>
            <a:endParaRPr lang="en-US" dirty="0" smtClean="0"/>
          </a:p>
          <a:p>
            <a:r>
              <a:rPr lang="en-US" dirty="0" smtClean="0"/>
              <a:t>Information </a:t>
            </a:r>
            <a:r>
              <a:rPr lang="en-US" dirty="0"/>
              <a:t>Technology</a:t>
            </a:r>
          </a:p>
          <a:p>
            <a:pPr lvl="1"/>
            <a:r>
              <a:rPr lang="en-US" dirty="0" smtClean="0"/>
              <a:t>Any technology concerned with the capture,  storage, transmittal or presentation of information.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System (IS)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Any system that make use of IT</a:t>
            </a:r>
          </a:p>
          <a:p>
            <a:r>
              <a:rPr lang="da-DK" dirty="0" smtClean="0"/>
              <a:t>The role of information system is to provide information to management which will enable them to make decisions which ensure that the organisation is controlled.</a:t>
            </a:r>
            <a:endParaRPr lang="en-US" dirty="0" smtClean="0"/>
          </a:p>
          <a:p>
            <a:r>
              <a:rPr lang="en-US" dirty="0" smtClean="0"/>
              <a:t>IS affect:</a:t>
            </a:r>
          </a:p>
          <a:p>
            <a:pPr>
              <a:buNone/>
            </a:pPr>
            <a:r>
              <a:rPr lang="en-US" dirty="0" smtClean="0"/>
              <a:t>	- how manager decide</a:t>
            </a:r>
          </a:p>
          <a:p>
            <a:pPr>
              <a:buNone/>
            </a:pPr>
            <a:r>
              <a:rPr lang="en-US" dirty="0" smtClean="0"/>
              <a:t>	- how senior manager plan</a:t>
            </a:r>
          </a:p>
          <a:p>
            <a:pPr>
              <a:buNone/>
            </a:pPr>
            <a:r>
              <a:rPr lang="en-US" dirty="0" smtClean="0"/>
              <a:t>	- what produce and service are produced and how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D</a:t>
            </a:r>
            <a:r>
              <a:rPr lang="en-US" b="1" i="1" dirty="0" smtClean="0"/>
              <a:t>ownloading </a:t>
            </a:r>
            <a:r>
              <a:rPr lang="en-US" b="1" dirty="0"/>
              <a:t>—transferring data from a remote computer to one’s </a:t>
            </a:r>
            <a:r>
              <a:rPr lang="en-US" b="1" dirty="0" smtClean="0"/>
              <a:t>own computer</a:t>
            </a:r>
          </a:p>
          <a:p>
            <a:r>
              <a:rPr lang="en-US" b="1" i="1" dirty="0"/>
              <a:t>C</a:t>
            </a:r>
            <a:r>
              <a:rPr lang="en-US" b="1" i="1" dirty="0" smtClean="0"/>
              <a:t>loud </a:t>
            </a:r>
            <a:r>
              <a:rPr lang="en-US" b="1" i="1" dirty="0"/>
              <a:t>computing </a:t>
            </a:r>
            <a:r>
              <a:rPr lang="en-US" b="1" dirty="0" smtClean="0"/>
              <a:t>means that</a:t>
            </a:r>
            <a:r>
              <a:rPr lang="en-US" b="1" dirty="0"/>
              <a:t>, instead of storing </a:t>
            </a:r>
            <a:r>
              <a:rPr lang="en-US" b="1" dirty="0" smtClean="0"/>
              <a:t>your software </a:t>
            </a:r>
            <a:r>
              <a:rPr lang="en-US" b="1" dirty="0"/>
              <a:t>or data on your own PC or </a:t>
            </a:r>
            <a:r>
              <a:rPr lang="en-US" b="1" dirty="0" smtClean="0"/>
              <a:t>your own </a:t>
            </a:r>
            <a:r>
              <a:rPr lang="en-US" b="1" dirty="0"/>
              <a:t>company’s computers, you store it on servers on the internet.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86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/>
          </a:bodyPr>
          <a:lstStyle/>
          <a:p>
            <a:r>
              <a:rPr lang="en-US" b="1" dirty="0"/>
              <a:t>Green computing </a:t>
            </a:r>
            <a:endParaRPr lang="en-US" b="1" dirty="0" smtClean="0"/>
          </a:p>
          <a:p>
            <a:pPr lvl="1"/>
            <a:r>
              <a:rPr lang="en-US" dirty="0" smtClean="0"/>
              <a:t>involves </a:t>
            </a:r>
            <a:r>
              <a:rPr lang="en-US" dirty="0"/>
              <a:t>reducing </a:t>
            </a:r>
            <a:r>
              <a:rPr lang="en-US" dirty="0" smtClean="0"/>
              <a:t>the electricity </a:t>
            </a:r>
            <a:r>
              <a:rPr lang="en-US" dirty="0"/>
              <a:t>consumed and </a:t>
            </a:r>
            <a:r>
              <a:rPr lang="en-US" dirty="0" smtClean="0"/>
              <a:t>environmental waste </a:t>
            </a:r>
            <a:r>
              <a:rPr lang="en-US" dirty="0"/>
              <a:t>generated when using a computer.</a:t>
            </a:r>
          </a:p>
          <a:p>
            <a:pPr lvl="1"/>
            <a:r>
              <a:rPr lang="en-US" dirty="0"/>
              <a:t>Strategies that support green </a:t>
            </a:r>
            <a:r>
              <a:rPr lang="en-US" dirty="0" smtClean="0"/>
              <a:t>computing include </a:t>
            </a:r>
            <a:r>
              <a:rPr lang="en-US" dirty="0"/>
              <a:t>recycling, regulating </a:t>
            </a:r>
            <a:r>
              <a:rPr lang="en-US" dirty="0" smtClean="0"/>
              <a:t>manufacturing processes</a:t>
            </a:r>
            <a:r>
              <a:rPr lang="en-US" dirty="0"/>
              <a:t>, extending </a:t>
            </a:r>
            <a:r>
              <a:rPr lang="en-US" dirty="0" smtClean="0"/>
              <a:t>life </a:t>
            </a:r>
            <a:r>
              <a:rPr lang="en-US" dirty="0"/>
              <a:t>of </a:t>
            </a:r>
            <a:r>
              <a:rPr lang="en-US" dirty="0" smtClean="0"/>
              <a:t>computers, and </a:t>
            </a:r>
            <a:r>
              <a:rPr lang="en-US" dirty="0"/>
              <a:t>immediately donating or </a:t>
            </a:r>
            <a:r>
              <a:rPr lang="en-US" dirty="0" smtClean="0"/>
              <a:t>properly disposing </a:t>
            </a:r>
            <a:r>
              <a:rPr lang="en-US" dirty="0"/>
              <a:t>of replaced computers. </a:t>
            </a:r>
            <a:endParaRPr lang="en-US" dirty="0" smtClean="0"/>
          </a:p>
          <a:p>
            <a:pPr lvl="1"/>
            <a:r>
              <a:rPr lang="en-US" dirty="0" smtClean="0"/>
              <a:t>When you purchase </a:t>
            </a:r>
            <a:r>
              <a:rPr lang="en-US" dirty="0"/>
              <a:t>a new computer, some </a:t>
            </a:r>
            <a:r>
              <a:rPr lang="en-US" dirty="0" smtClean="0"/>
              <a:t>retailers offer </a:t>
            </a:r>
            <a:r>
              <a:rPr lang="en-US" dirty="0"/>
              <a:t>to dispose of your old </a:t>
            </a:r>
            <a:r>
              <a:rPr lang="en-US" dirty="0" smtClean="0"/>
              <a:t>computer properly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905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Role Of Computers In ICT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Looking up information and news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Exchange e-mail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Shopping and paying bills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Downloading music and movies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Organizing digital photographs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Playing games</a:t>
            </a:r>
          </a:p>
          <a:p>
            <a:pPr lvl="1"/>
            <a:r>
              <a:rPr lang="en-US" dirty="0"/>
              <a:t>Teleworking or Telecommuting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 smtClean="0"/>
              <a:t>Entertainment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en-US" dirty="0"/>
              <a:t>Tele and video conferencing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da-DK" dirty="0" smtClean="0"/>
              <a:t>Electronic trading</a:t>
            </a:r>
            <a:endParaRPr lang="en-US" dirty="0" smtClean="0"/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da-DK" dirty="0" smtClean="0"/>
              <a:t>Education – elearning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r>
              <a:rPr lang="da-DK" dirty="0" smtClean="0"/>
              <a:t>Ecommerce – doing business selling and buying products</a:t>
            </a:r>
            <a:endParaRPr lang="en-US" dirty="0" smtClean="0"/>
          </a:p>
          <a:p>
            <a:pPr lvl="1"/>
            <a:r>
              <a:rPr lang="en-US" dirty="0"/>
              <a:t>GPS </a:t>
            </a:r>
            <a:r>
              <a:rPr lang="en-US" dirty="0" smtClean="0"/>
              <a:t>Tracking role</a:t>
            </a:r>
          </a:p>
          <a:p>
            <a:pPr lvl="1"/>
            <a:r>
              <a:rPr lang="en-US" dirty="0" smtClean="0"/>
              <a:t>Track </a:t>
            </a:r>
            <a:r>
              <a:rPr lang="en-US" dirty="0"/>
              <a:t>your vehicles, wherever they go, using GPS.</a:t>
            </a:r>
          </a:p>
          <a:p>
            <a:pPr lvl="1">
              <a:lnSpc>
                <a:spcPct val="90000"/>
              </a:lnSpc>
              <a:spcAft>
                <a:spcPct val="20000"/>
              </a:spcAft>
            </a:pPr>
            <a:endParaRPr lang="en-US" dirty="0" smtClean="0"/>
          </a:p>
          <a:p>
            <a:pPr lvl="1">
              <a:lnSpc>
                <a:spcPct val="90000"/>
              </a:lnSpc>
              <a:spcAft>
                <a:spcPct val="20000"/>
              </a:spcAft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/>
          <a:lstStyle/>
          <a:p>
            <a:r>
              <a:rPr lang="en-US" dirty="0"/>
              <a:t>Teleworking or Telecommuting</a:t>
            </a:r>
          </a:p>
          <a:p>
            <a:pPr lvl="1"/>
            <a:r>
              <a:rPr lang="en-US" dirty="0"/>
              <a:t>Making use of networking technology to allow working at different locations while keeping in touch with co-workers.</a:t>
            </a:r>
          </a:p>
          <a:p>
            <a:r>
              <a:rPr lang="en-US" dirty="0"/>
              <a:t>Electronic Trading</a:t>
            </a:r>
          </a:p>
          <a:p>
            <a:pPr lvl="1"/>
            <a:r>
              <a:rPr lang="en-US" dirty="0" err="1"/>
              <a:t>Organisations</a:t>
            </a:r>
            <a:r>
              <a:rPr lang="en-US" dirty="0"/>
              <a:t> and their customers making use of networks as a means for advertising, buying and selling goods and services.</a:t>
            </a:r>
          </a:p>
          <a:p>
            <a:r>
              <a:rPr lang="en-US" dirty="0"/>
              <a:t>Tele and video conferencing</a:t>
            </a:r>
          </a:p>
          <a:p>
            <a:pPr lvl="1"/>
            <a:r>
              <a:rPr lang="en-US" dirty="0"/>
              <a:t>Groups of people conducting meetings via a telephone or video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762000"/>
            <a:ext cx="749808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Computers </a:t>
            </a:r>
            <a:r>
              <a:rPr lang="en-US" dirty="0"/>
              <a:t>in education</a:t>
            </a:r>
          </a:p>
          <a:p>
            <a:pPr lvl="1"/>
            <a:r>
              <a:rPr lang="en-US" dirty="0" smtClean="0"/>
              <a:t>use </a:t>
            </a:r>
            <a:r>
              <a:rPr lang="en-US" i="1" dirty="0" smtClean="0"/>
              <a:t>presentation graphics software </a:t>
            </a:r>
            <a:r>
              <a:rPr lang="en-US" dirty="0" smtClean="0"/>
              <a:t>such as PowerPoint to show their lecture outlines and other materials on classroom screens.</a:t>
            </a:r>
          </a:p>
          <a:p>
            <a:pPr lvl="1"/>
            <a:r>
              <a:rPr lang="en-US" i="1" dirty="0" smtClean="0"/>
              <a:t>Distance learning</a:t>
            </a:r>
            <a:r>
              <a:rPr lang="en-US" i="1" dirty="0"/>
              <a:t>, </a:t>
            </a:r>
            <a:r>
              <a:rPr lang="en-US" dirty="0"/>
              <a:t>or </a:t>
            </a:r>
            <a:r>
              <a:rPr lang="en-US" i="1" dirty="0"/>
              <a:t>e-learning,</a:t>
            </a:r>
            <a:endParaRPr lang="en-US" dirty="0" smtClean="0"/>
          </a:p>
          <a:p>
            <a:r>
              <a:rPr lang="en-US" dirty="0" smtClean="0"/>
              <a:t>Computers </a:t>
            </a:r>
            <a:r>
              <a:rPr lang="en-US" dirty="0"/>
              <a:t>in </a:t>
            </a:r>
            <a:r>
              <a:rPr lang="en-US" dirty="0" smtClean="0"/>
              <a:t>business</a:t>
            </a:r>
            <a:endParaRPr lang="en-US" dirty="0"/>
          </a:p>
          <a:p>
            <a:pPr lvl="1"/>
            <a:r>
              <a:rPr lang="en-US" dirty="0" smtClean="0"/>
              <a:t>Makes </a:t>
            </a:r>
            <a:r>
              <a:rPr lang="en-US" dirty="0"/>
              <a:t>businesses more </a:t>
            </a:r>
            <a:r>
              <a:rPr lang="en-US" dirty="0" smtClean="0"/>
              <a:t>profitable</a:t>
            </a:r>
          </a:p>
          <a:p>
            <a:pPr lvl="1"/>
            <a:r>
              <a:rPr lang="da-DK" dirty="0" smtClean="0"/>
              <a:t>ecommerce</a:t>
            </a:r>
            <a:endParaRPr lang="en-US" dirty="0"/>
          </a:p>
          <a:p>
            <a:r>
              <a:rPr lang="en-US" dirty="0"/>
              <a:t>Computers in </a:t>
            </a:r>
            <a:r>
              <a:rPr lang="en-US" dirty="0" smtClean="0"/>
              <a:t>health</a:t>
            </a:r>
            <a:endParaRPr lang="en-US" dirty="0"/>
          </a:p>
          <a:p>
            <a:pPr lvl="1"/>
            <a:r>
              <a:rPr lang="en-US" i="1" dirty="0"/>
              <a:t>telemedicine </a:t>
            </a:r>
            <a:r>
              <a:rPr lang="en-US" dirty="0"/>
              <a:t>—medical care </a:t>
            </a:r>
            <a:r>
              <a:rPr lang="en-US" dirty="0" smtClean="0"/>
              <a:t>delivered via </a:t>
            </a:r>
            <a:r>
              <a:rPr lang="en-US" dirty="0"/>
              <a:t>telecommunications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“</a:t>
            </a:r>
            <a:r>
              <a:rPr lang="en-US" dirty="0" err="1"/>
              <a:t>T</a:t>
            </a:r>
            <a:r>
              <a:rPr lang="en-US" dirty="0" err="1" smtClean="0"/>
              <a:t>eleradiology</a:t>
            </a:r>
            <a:r>
              <a:rPr lang="en-US" dirty="0"/>
              <a:t>” to exchange </a:t>
            </a:r>
            <a:r>
              <a:rPr lang="en-US" dirty="0" smtClean="0"/>
              <a:t>computerized images </a:t>
            </a:r>
            <a:r>
              <a:rPr lang="en-US" dirty="0"/>
              <a:t>such as X rays via telephone-linked networks</a:t>
            </a:r>
          </a:p>
          <a:p>
            <a:r>
              <a:rPr lang="en-US" dirty="0" smtClean="0"/>
              <a:t>Computers </a:t>
            </a:r>
            <a:r>
              <a:rPr lang="en-US" dirty="0"/>
              <a:t>are used to design products</a:t>
            </a:r>
          </a:p>
          <a:p>
            <a:pPr lvl="1"/>
            <a:r>
              <a:rPr lang="en-US" dirty="0" smtClean="0"/>
              <a:t>Assembly </a:t>
            </a:r>
            <a:r>
              <a:rPr lang="en-US" dirty="0"/>
              <a:t>lines are automated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67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/>
          <a:lstStyle/>
          <a:p>
            <a:r>
              <a:rPr lang="en-US" dirty="0"/>
              <a:t>Money: Toward </a:t>
            </a:r>
            <a:r>
              <a:rPr lang="en-US" dirty="0" smtClean="0"/>
              <a:t>the </a:t>
            </a:r>
            <a:r>
              <a:rPr lang="en-US" dirty="0"/>
              <a:t>Cashless </a:t>
            </a:r>
            <a:r>
              <a:rPr lang="en-US" dirty="0" smtClean="0"/>
              <a:t>Society</a:t>
            </a:r>
          </a:p>
          <a:p>
            <a:r>
              <a:rPr lang="en-US" dirty="0"/>
              <a:t>Leisure: </a:t>
            </a:r>
            <a:r>
              <a:rPr lang="en-US" dirty="0" smtClean="0"/>
              <a:t>IT </a:t>
            </a:r>
            <a:r>
              <a:rPr lang="en-US" dirty="0"/>
              <a:t>in Entertainment &amp; the </a:t>
            </a:r>
            <a:r>
              <a:rPr lang="en-US" dirty="0" smtClean="0"/>
              <a:t>Arts</a:t>
            </a:r>
          </a:p>
          <a:p>
            <a:r>
              <a:rPr lang="en-US" i="1" dirty="0"/>
              <a:t>downloading </a:t>
            </a:r>
            <a:r>
              <a:rPr lang="en-US" dirty="0"/>
              <a:t>—transferring data from a remote computer </a:t>
            </a:r>
            <a:r>
              <a:rPr lang="en-US" dirty="0" smtClean="0"/>
              <a:t>to </a:t>
            </a:r>
            <a:r>
              <a:rPr lang="en-US" dirty="0"/>
              <a:t>one’s </a:t>
            </a:r>
            <a:r>
              <a:rPr lang="en-US" dirty="0" smtClean="0"/>
              <a:t>own computer.</a:t>
            </a:r>
          </a:p>
          <a:p>
            <a:r>
              <a:rPr lang="en-US" dirty="0" smtClean="0"/>
              <a:t>Ways For You To Find Employers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90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Computers at </a:t>
            </a:r>
            <a:r>
              <a:rPr lang="en-US" dirty="0" smtClean="0"/>
              <a:t>home</a:t>
            </a:r>
          </a:p>
          <a:p>
            <a:pPr lvl="1"/>
            <a:r>
              <a:rPr lang="en-US" dirty="0"/>
              <a:t>Business</a:t>
            </a:r>
          </a:p>
          <a:p>
            <a:pPr lvl="1"/>
            <a:r>
              <a:rPr lang="en-US" dirty="0"/>
              <a:t>Entertainment</a:t>
            </a:r>
          </a:p>
          <a:p>
            <a:pPr lvl="1"/>
            <a:r>
              <a:rPr lang="en-US" dirty="0"/>
              <a:t>Communication</a:t>
            </a:r>
          </a:p>
          <a:p>
            <a:pPr lvl="1"/>
            <a:r>
              <a:rPr lang="en-US" dirty="0" smtClean="0"/>
              <a:t>Education</a:t>
            </a:r>
            <a:endParaRPr lang="en-US" dirty="0"/>
          </a:p>
          <a:p>
            <a:r>
              <a:rPr lang="en-US" dirty="0" smtClean="0"/>
              <a:t>Computers </a:t>
            </a:r>
            <a:r>
              <a:rPr lang="en-US" dirty="0"/>
              <a:t>in health care</a:t>
            </a:r>
          </a:p>
          <a:p>
            <a:pPr lvl="1"/>
            <a:r>
              <a:rPr lang="en-US" dirty="0"/>
              <a:t>Revolutionized health care</a:t>
            </a:r>
          </a:p>
          <a:p>
            <a:pPr lvl="1"/>
            <a:r>
              <a:rPr lang="en-US" dirty="0"/>
              <a:t>New treatments possible</a:t>
            </a:r>
          </a:p>
          <a:p>
            <a:pPr lvl="1"/>
            <a:r>
              <a:rPr lang="en-US" dirty="0"/>
              <a:t>Scheduling of patients has improved</a:t>
            </a:r>
          </a:p>
          <a:p>
            <a:pPr lvl="1"/>
            <a:r>
              <a:rPr lang="en-US" dirty="0"/>
              <a:t>Delivery of medicine is </a:t>
            </a:r>
            <a:r>
              <a:rPr lang="en-US" dirty="0" smtClean="0"/>
              <a:t>safer</a:t>
            </a:r>
            <a:endParaRPr lang="en-US" dirty="0"/>
          </a:p>
          <a:p>
            <a:r>
              <a:rPr lang="en-US" dirty="0" smtClean="0"/>
              <a:t>Computers </a:t>
            </a:r>
            <a:r>
              <a:rPr lang="en-US" dirty="0"/>
              <a:t>in government</a:t>
            </a:r>
          </a:p>
          <a:p>
            <a:pPr lvl="1"/>
            <a:r>
              <a:rPr lang="en-US" dirty="0" smtClean="0"/>
              <a:t>Necessary </a:t>
            </a:r>
            <a:r>
              <a:rPr lang="en-US" dirty="0"/>
              <a:t>to track data for population</a:t>
            </a:r>
          </a:p>
          <a:p>
            <a:pPr lvl="1"/>
            <a:r>
              <a:rPr lang="en-US" dirty="0" smtClean="0"/>
              <a:t>Police </a:t>
            </a:r>
            <a:r>
              <a:rPr lang="en-US" dirty="0"/>
              <a:t>officers</a:t>
            </a:r>
          </a:p>
          <a:p>
            <a:pPr lvl="1"/>
            <a:r>
              <a:rPr lang="en-US" dirty="0" smtClean="0"/>
              <a:t>Tax </a:t>
            </a:r>
            <a:r>
              <a:rPr lang="en-US" dirty="0"/>
              <a:t>calculation and collection</a:t>
            </a:r>
          </a:p>
          <a:p>
            <a:pPr lvl="1"/>
            <a:r>
              <a:rPr lang="en-US" dirty="0" smtClean="0"/>
              <a:t>Governments </a:t>
            </a:r>
            <a:r>
              <a:rPr lang="en-US" dirty="0"/>
              <a:t>were the first computer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98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Advantages of using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a-DK" dirty="0" smtClean="0"/>
              <a:t>Speed</a:t>
            </a:r>
          </a:p>
          <a:p>
            <a:pPr lvl="1"/>
            <a:r>
              <a:rPr lang="da-DK" dirty="0" smtClean="0"/>
              <a:t>Computers can process millions of instructions each second in a very short time</a:t>
            </a:r>
          </a:p>
          <a:p>
            <a:r>
              <a:rPr lang="da-DK" dirty="0" smtClean="0"/>
              <a:t>Accuracy</a:t>
            </a:r>
          </a:p>
          <a:p>
            <a:pPr lvl="1"/>
            <a:r>
              <a:rPr lang="da-DK" dirty="0" smtClean="0"/>
              <a:t>Calculations done by a computer is likely to be completely accurate.</a:t>
            </a:r>
          </a:p>
          <a:p>
            <a:pPr lvl="1"/>
            <a:r>
              <a:rPr lang="da-DK" dirty="0" smtClean="0"/>
              <a:t>Human errors such as typing errors can be reduced or eliminated. </a:t>
            </a:r>
          </a:p>
          <a:p>
            <a:r>
              <a:rPr lang="da-DK" dirty="0" smtClean="0"/>
              <a:t>Reliability</a:t>
            </a:r>
          </a:p>
          <a:p>
            <a:pPr lvl="1"/>
            <a:r>
              <a:rPr lang="da-DK" dirty="0"/>
              <a:t>Computer based systems in org. Operate for 24 hrs and are ever halted for repairs or routine maintenance</a:t>
            </a:r>
            <a:r>
              <a:rPr lang="da-DK" dirty="0" smtClean="0"/>
              <a:t>.</a:t>
            </a:r>
          </a:p>
          <a:p>
            <a:pPr lvl="1"/>
            <a:r>
              <a:rPr lang="en-US" dirty="0"/>
              <a:t>The electronic components </a:t>
            </a:r>
            <a:r>
              <a:rPr lang="en-US" dirty="0" smtClean="0"/>
              <a:t>in modern </a:t>
            </a:r>
            <a:r>
              <a:rPr lang="en-US" dirty="0"/>
              <a:t>computers are dependable </a:t>
            </a:r>
            <a:r>
              <a:rPr lang="en-US" dirty="0" smtClean="0"/>
              <a:t>and reliable </a:t>
            </a:r>
            <a:r>
              <a:rPr lang="en-US" dirty="0"/>
              <a:t>because they rarely break or fail.</a:t>
            </a:r>
            <a:endParaRPr lang="da-DK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0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Consistency: </a:t>
            </a:r>
            <a:endParaRPr lang="en-US" b="1" dirty="0" smtClean="0"/>
          </a:p>
          <a:p>
            <a:pPr lvl="1"/>
            <a:r>
              <a:rPr lang="en-US" dirty="0"/>
              <a:t>Given the same input and processes, a computer will produce the same results — consistently</a:t>
            </a:r>
            <a:r>
              <a:rPr lang="en-US" dirty="0" smtClean="0"/>
              <a:t>.</a:t>
            </a:r>
            <a:endParaRPr lang="en-US" b="1" dirty="0" smtClean="0"/>
          </a:p>
          <a:p>
            <a:r>
              <a:rPr lang="en-US" b="1" dirty="0"/>
              <a:t>Storage: </a:t>
            </a:r>
            <a:endParaRPr lang="en-US" b="1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computer can transfer data </a:t>
            </a:r>
            <a:r>
              <a:rPr lang="en-US" dirty="0" smtClean="0"/>
              <a:t>quickly from </a:t>
            </a:r>
            <a:r>
              <a:rPr lang="en-US" dirty="0"/>
              <a:t>storage to memory, process it, and </a:t>
            </a:r>
            <a:r>
              <a:rPr lang="en-US" dirty="0" smtClean="0"/>
              <a:t>then store </a:t>
            </a:r>
            <a:r>
              <a:rPr lang="en-US" dirty="0"/>
              <a:t>it again for future use. </a:t>
            </a:r>
            <a:endParaRPr lang="en-US" dirty="0" smtClean="0"/>
          </a:p>
          <a:p>
            <a:pPr lvl="1"/>
            <a:r>
              <a:rPr lang="en-US" dirty="0" smtClean="0"/>
              <a:t>Many computers store </a:t>
            </a:r>
            <a:r>
              <a:rPr lang="en-US" dirty="0"/>
              <a:t>enormous amounts of data and </a:t>
            </a:r>
            <a:r>
              <a:rPr lang="en-US" dirty="0" smtClean="0"/>
              <a:t>make this </a:t>
            </a:r>
            <a:r>
              <a:rPr lang="en-US" dirty="0"/>
              <a:t>data available for processing anytime it </a:t>
            </a:r>
            <a:r>
              <a:rPr lang="en-US" dirty="0" smtClean="0"/>
              <a:t>is needed</a:t>
            </a:r>
            <a:r>
              <a:rPr lang="en-US" dirty="0"/>
              <a:t>.</a:t>
            </a:r>
          </a:p>
          <a:p>
            <a:r>
              <a:rPr lang="en-US" b="1" dirty="0" smtClean="0"/>
              <a:t>Communications</a:t>
            </a:r>
            <a:r>
              <a:rPr lang="en-US" b="1" dirty="0"/>
              <a:t>: </a:t>
            </a:r>
            <a:endParaRPr lang="en-US" b="1" dirty="0" smtClean="0"/>
          </a:p>
          <a:p>
            <a:pPr lvl="1"/>
            <a:r>
              <a:rPr lang="en-US" dirty="0" smtClean="0"/>
              <a:t>Most </a:t>
            </a:r>
            <a:r>
              <a:rPr lang="en-US" dirty="0"/>
              <a:t>computers today </a:t>
            </a:r>
            <a:r>
              <a:rPr lang="en-US" dirty="0" smtClean="0"/>
              <a:t>can communicate </a:t>
            </a:r>
            <a:r>
              <a:rPr lang="en-US" dirty="0"/>
              <a:t>with other computers, </a:t>
            </a:r>
            <a:r>
              <a:rPr lang="en-US" dirty="0" smtClean="0"/>
              <a:t>often wirelessly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Computers </a:t>
            </a:r>
            <a:r>
              <a:rPr lang="en-US" dirty="0"/>
              <a:t>with this </a:t>
            </a:r>
            <a:r>
              <a:rPr lang="en-US" dirty="0" smtClean="0"/>
              <a:t>capability can share </a:t>
            </a:r>
            <a:r>
              <a:rPr lang="en-US" dirty="0"/>
              <a:t>any of the four </a:t>
            </a:r>
            <a:r>
              <a:rPr lang="en-US" dirty="0" smtClean="0"/>
              <a:t>information processing cycle </a:t>
            </a:r>
            <a:r>
              <a:rPr lang="en-US" dirty="0"/>
              <a:t>operations — input, process, output, </a:t>
            </a:r>
            <a:r>
              <a:rPr lang="en-US" dirty="0" smtClean="0"/>
              <a:t>and storage </a:t>
            </a:r>
            <a:r>
              <a:rPr lang="en-US" dirty="0"/>
              <a:t>— with another computer or a user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Can send and retrieve data from other computers if in a </a:t>
            </a:r>
            <a:r>
              <a:rPr lang="en-US" dirty="0" smtClean="0"/>
              <a:t>network</a:t>
            </a:r>
          </a:p>
          <a:p>
            <a:pPr marL="402336" lvl="1" indent="0">
              <a:buNone/>
            </a:pPr>
            <a:r>
              <a:rPr lang="en-US" b="1" i="1" dirty="0"/>
              <a:t>Computers greatly speed up problem solving and other tasks, increasing users’ productivity</a:t>
            </a:r>
            <a:endParaRPr lang="da-DK" b="1" i="1" dirty="0"/>
          </a:p>
          <a:p>
            <a:pPr lvl="1"/>
            <a:endParaRPr lang="en-US" dirty="0"/>
          </a:p>
          <a:p>
            <a:pPr lvl="1"/>
            <a:endParaRPr lang="en-US" b="1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2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/>
              <a:t>Advantages of using computers for data processing</a:t>
            </a:r>
          </a:p>
          <a:p>
            <a:r>
              <a:rPr lang="en-US" dirty="0" smtClean="0"/>
              <a:t>Faster </a:t>
            </a:r>
            <a:r>
              <a:rPr lang="en-US" dirty="0"/>
              <a:t>data input, processing and </a:t>
            </a:r>
            <a:r>
              <a:rPr lang="en-US" dirty="0" smtClean="0"/>
              <a:t>retrieval.</a:t>
            </a:r>
            <a:endParaRPr lang="en-US" dirty="0"/>
          </a:p>
          <a:p>
            <a:r>
              <a:rPr lang="en-US" dirty="0" smtClean="0"/>
              <a:t>Tireless-</a:t>
            </a:r>
            <a:r>
              <a:rPr lang="en-US" dirty="0"/>
              <a:t>-can work 24 hours a day, 7 days a </a:t>
            </a:r>
            <a:r>
              <a:rPr lang="en-US" dirty="0" smtClean="0"/>
              <a:t>week.</a:t>
            </a:r>
            <a:endParaRPr lang="en-US" dirty="0"/>
          </a:p>
          <a:p>
            <a:r>
              <a:rPr lang="en-US" dirty="0" smtClean="0"/>
              <a:t>Less </a:t>
            </a:r>
            <a:r>
              <a:rPr lang="en-US" dirty="0"/>
              <a:t>prone to </a:t>
            </a:r>
            <a:r>
              <a:rPr lang="en-US" dirty="0" smtClean="0"/>
              <a:t>error.</a:t>
            </a:r>
            <a:endParaRPr lang="en-US" dirty="0"/>
          </a:p>
          <a:p>
            <a:r>
              <a:rPr lang="en-US" dirty="0" smtClean="0"/>
              <a:t>Produce </a:t>
            </a:r>
            <a:r>
              <a:rPr lang="en-US" dirty="0"/>
              <a:t>output requirements </a:t>
            </a:r>
            <a:r>
              <a:rPr lang="en-US" dirty="0" smtClean="0"/>
              <a:t>easily.</a:t>
            </a:r>
            <a:endParaRPr lang="en-US" dirty="0"/>
          </a:p>
          <a:p>
            <a:r>
              <a:rPr lang="en-US" dirty="0" smtClean="0"/>
              <a:t>Can </a:t>
            </a:r>
            <a:r>
              <a:rPr lang="en-US" dirty="0"/>
              <a:t>send and retrieve data from other computers if in a </a:t>
            </a:r>
            <a:r>
              <a:rPr lang="en-US" dirty="0" smtClean="0"/>
              <a:t>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9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Disadvantages </a:t>
            </a:r>
            <a:r>
              <a:rPr lang="en-US" b="1" dirty="0"/>
              <a:t>of using </a:t>
            </a:r>
            <a:r>
              <a:rPr lang="en-US" b="1" dirty="0" smtClean="0"/>
              <a:t>computers</a:t>
            </a:r>
          </a:p>
          <a:p>
            <a:r>
              <a:rPr lang="en-US" b="1" dirty="0"/>
              <a:t>Health Risks: </a:t>
            </a:r>
            <a:endParaRPr lang="en-US" b="1" dirty="0" smtClean="0"/>
          </a:p>
          <a:p>
            <a:pPr lvl="1"/>
            <a:r>
              <a:rPr lang="en-US" dirty="0" smtClean="0"/>
              <a:t>Prolonged </a:t>
            </a:r>
            <a:r>
              <a:rPr lang="en-US" dirty="0"/>
              <a:t>or improper </a:t>
            </a:r>
            <a:r>
              <a:rPr lang="en-US" dirty="0" smtClean="0"/>
              <a:t>computer use </a:t>
            </a:r>
            <a:r>
              <a:rPr lang="en-US" dirty="0"/>
              <a:t>can lead to injuries </a:t>
            </a:r>
            <a:r>
              <a:rPr lang="en-US" dirty="0" smtClean="0"/>
              <a:t>or disorders </a:t>
            </a:r>
            <a:r>
              <a:rPr lang="en-US" dirty="0"/>
              <a:t>of </a:t>
            </a:r>
            <a:r>
              <a:rPr lang="en-US" dirty="0" smtClean="0"/>
              <a:t>the hands</a:t>
            </a:r>
            <a:r>
              <a:rPr lang="en-US" dirty="0"/>
              <a:t>, wrists, elbows, eyes, neck, and back</a:t>
            </a:r>
            <a:r>
              <a:rPr lang="en-US" dirty="0" smtClean="0"/>
              <a:t>.</a:t>
            </a:r>
          </a:p>
          <a:p>
            <a:r>
              <a:rPr lang="en-US" b="1" dirty="0"/>
              <a:t>Violation of Privacy: </a:t>
            </a:r>
            <a:endParaRPr lang="en-US" b="1" dirty="0" smtClean="0"/>
          </a:p>
          <a:p>
            <a:pPr lvl="1"/>
            <a:r>
              <a:rPr lang="en-US" dirty="0" smtClean="0"/>
              <a:t>Nearly </a:t>
            </a:r>
            <a:r>
              <a:rPr lang="en-US" dirty="0"/>
              <a:t>every life </a:t>
            </a:r>
            <a:r>
              <a:rPr lang="en-US" dirty="0" smtClean="0"/>
              <a:t>event is </a:t>
            </a:r>
            <a:r>
              <a:rPr lang="en-US" dirty="0"/>
              <a:t>stored in a computer somewhere . . . </a:t>
            </a:r>
            <a:r>
              <a:rPr lang="en-US" dirty="0" smtClean="0"/>
              <a:t>In medical </a:t>
            </a:r>
            <a:r>
              <a:rPr lang="en-US" dirty="0"/>
              <a:t>records, credit reports, tax </a:t>
            </a:r>
            <a:r>
              <a:rPr lang="en-US" dirty="0" smtClean="0"/>
              <a:t>records, etc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many instances, </a:t>
            </a:r>
            <a:r>
              <a:rPr lang="en-US" dirty="0" smtClean="0"/>
              <a:t>where </a:t>
            </a:r>
            <a:r>
              <a:rPr lang="en-US" dirty="0"/>
              <a:t>personal </a:t>
            </a:r>
            <a:r>
              <a:rPr lang="en-US" dirty="0" smtClean="0"/>
              <a:t>and confidential </a:t>
            </a:r>
            <a:r>
              <a:rPr lang="en-US" dirty="0"/>
              <a:t>records were not </a:t>
            </a:r>
            <a:r>
              <a:rPr lang="en-US" dirty="0" smtClean="0"/>
              <a:t>protected properly</a:t>
            </a:r>
            <a:r>
              <a:rPr lang="en-US" dirty="0"/>
              <a:t>, individuals have found </a:t>
            </a:r>
            <a:r>
              <a:rPr lang="en-US" dirty="0" smtClean="0"/>
              <a:t>their privacy </a:t>
            </a:r>
            <a:r>
              <a:rPr lang="en-US" dirty="0"/>
              <a:t>violated and identities stolen</a:t>
            </a:r>
            <a:r>
              <a:rPr lang="en-US" dirty="0" smtClean="0"/>
              <a:t>.</a:t>
            </a:r>
          </a:p>
          <a:p>
            <a:r>
              <a:rPr lang="en-US" b="1" dirty="0"/>
              <a:t>Public Safety: </a:t>
            </a:r>
            <a:endParaRPr lang="en-US" b="1" dirty="0" smtClean="0"/>
          </a:p>
          <a:p>
            <a:pPr lvl="1"/>
            <a:r>
              <a:rPr lang="en-US" dirty="0" smtClean="0"/>
              <a:t>Adults</a:t>
            </a:r>
            <a:r>
              <a:rPr lang="en-US" dirty="0"/>
              <a:t>, teens, and </a:t>
            </a:r>
            <a:r>
              <a:rPr lang="en-US" dirty="0" smtClean="0"/>
              <a:t>children around </a:t>
            </a:r>
            <a:r>
              <a:rPr lang="en-US" dirty="0"/>
              <a:t>the world are using </a:t>
            </a:r>
            <a:r>
              <a:rPr lang="en-US" dirty="0" smtClean="0"/>
              <a:t>computers to </a:t>
            </a:r>
            <a:r>
              <a:rPr lang="en-US" dirty="0"/>
              <a:t>share publicly their photos, </a:t>
            </a:r>
            <a:r>
              <a:rPr lang="en-US" dirty="0" smtClean="0"/>
              <a:t>videos, journals</a:t>
            </a:r>
            <a:r>
              <a:rPr lang="en-US" dirty="0"/>
              <a:t>, music, and other </a:t>
            </a:r>
            <a:r>
              <a:rPr lang="en-US" dirty="0" smtClean="0"/>
              <a:t>personal information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Some </a:t>
            </a:r>
            <a:r>
              <a:rPr lang="en-US" dirty="0"/>
              <a:t>of these </a:t>
            </a:r>
            <a:r>
              <a:rPr lang="en-US" dirty="0" smtClean="0"/>
              <a:t>unsuspecting, innocent </a:t>
            </a:r>
            <a:r>
              <a:rPr lang="en-US" dirty="0"/>
              <a:t>computer users have </a:t>
            </a:r>
            <a:r>
              <a:rPr lang="en-US" dirty="0" smtClean="0"/>
              <a:t>fallen victim </a:t>
            </a:r>
            <a:r>
              <a:rPr lang="en-US" dirty="0"/>
              <a:t>to crimes committed by </a:t>
            </a:r>
            <a:r>
              <a:rPr lang="en-US" dirty="0" smtClean="0"/>
              <a:t>dangerous strangers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i="1" dirty="0" smtClean="0"/>
              <a:t>Protect </a:t>
            </a:r>
            <a:r>
              <a:rPr lang="en-US" i="1" dirty="0"/>
              <a:t>yourself and </a:t>
            </a:r>
            <a:r>
              <a:rPr lang="en-US" i="1" dirty="0" smtClean="0"/>
              <a:t>your dependents </a:t>
            </a:r>
            <a:r>
              <a:rPr lang="en-US" i="1" dirty="0"/>
              <a:t>from these criminals </a:t>
            </a:r>
            <a:r>
              <a:rPr lang="en-US" i="1" dirty="0" smtClean="0"/>
              <a:t>by being </a:t>
            </a:r>
            <a:r>
              <a:rPr lang="en-US" i="1" dirty="0"/>
              <a:t>cautious in e-mail messages </a:t>
            </a:r>
            <a:r>
              <a:rPr lang="en-US" i="1" dirty="0" smtClean="0"/>
              <a:t>and on </a:t>
            </a:r>
            <a:r>
              <a:rPr lang="en-US" i="1" dirty="0"/>
              <a:t>Web sites. </a:t>
            </a:r>
            <a:endParaRPr lang="en-US" i="1" dirty="0" smtClean="0"/>
          </a:p>
          <a:p>
            <a:pPr lvl="1"/>
            <a:r>
              <a:rPr lang="en-US" i="1" dirty="0" smtClean="0"/>
              <a:t>For </a:t>
            </a:r>
            <a:r>
              <a:rPr lang="en-US" i="1" dirty="0"/>
              <a:t>example, do not </a:t>
            </a:r>
            <a:r>
              <a:rPr lang="en-US" i="1" dirty="0" smtClean="0"/>
              <a:t>share information </a:t>
            </a:r>
            <a:r>
              <a:rPr lang="en-US" i="1" dirty="0"/>
              <a:t>that would allow others </a:t>
            </a:r>
            <a:r>
              <a:rPr lang="en-US" i="1" dirty="0" smtClean="0"/>
              <a:t>to identify </a:t>
            </a:r>
            <a:r>
              <a:rPr lang="en-US" i="1" dirty="0"/>
              <a:t>or locate you and do not </a:t>
            </a:r>
            <a:r>
              <a:rPr lang="en-US" i="1" dirty="0" smtClean="0"/>
              <a:t>disclose identification </a:t>
            </a:r>
            <a:r>
              <a:rPr lang="en-US" i="1" dirty="0"/>
              <a:t>numbers, passwords, or </a:t>
            </a:r>
            <a:r>
              <a:rPr lang="en-US" i="1" dirty="0" smtClean="0"/>
              <a:t>other personal </a:t>
            </a:r>
            <a:r>
              <a:rPr lang="en-US" i="1" dirty="0"/>
              <a:t>security details.</a:t>
            </a:r>
          </a:p>
        </p:txBody>
      </p:sp>
    </p:spTree>
    <p:extLst>
      <p:ext uri="{BB962C8B-B14F-4D97-AF65-F5344CB8AC3E}">
        <p14:creationId xmlns:p14="http://schemas.microsoft.com/office/powerpoint/2010/main" val="398033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Impact on Labor Force: </a:t>
            </a:r>
            <a:endParaRPr lang="en-US" b="1" dirty="0" smtClean="0"/>
          </a:p>
          <a:p>
            <a:pPr lvl="1"/>
            <a:r>
              <a:rPr lang="en-US" dirty="0"/>
              <a:t>the skills of millions of employees have been replaced by computers. </a:t>
            </a:r>
          </a:p>
          <a:p>
            <a:pPr lvl="1"/>
            <a:r>
              <a:rPr lang="en-US" dirty="0"/>
              <a:t>Thus, it is crucial that workers keep their education up-to-date.  </a:t>
            </a:r>
          </a:p>
          <a:p>
            <a:pPr lvl="1"/>
            <a:r>
              <a:rPr lang="en-US" dirty="0"/>
              <a:t>A separate impact on the labor force is that some companies are outsourcing jobs to foreign countries instead of keeping their homeland labor force employed.</a:t>
            </a:r>
            <a:endParaRPr lang="en-US" b="1" dirty="0" smtClean="0"/>
          </a:p>
          <a:p>
            <a:r>
              <a:rPr lang="en-US" b="1" dirty="0"/>
              <a:t>Impact on Environment: </a:t>
            </a:r>
            <a:endParaRPr lang="en-US" b="1" dirty="0" smtClean="0"/>
          </a:p>
          <a:p>
            <a:pPr lvl="1"/>
            <a:r>
              <a:rPr lang="en-US" dirty="0" smtClean="0"/>
              <a:t>Computer manufacturing </a:t>
            </a:r>
            <a:r>
              <a:rPr lang="en-US" dirty="0"/>
              <a:t>processes </a:t>
            </a:r>
            <a:r>
              <a:rPr lang="en-US" dirty="0" smtClean="0"/>
              <a:t>and computer waste </a:t>
            </a:r>
            <a:r>
              <a:rPr lang="en-US" dirty="0"/>
              <a:t>are depleting natural </a:t>
            </a:r>
            <a:r>
              <a:rPr lang="en-US" dirty="0" smtClean="0"/>
              <a:t>resources and </a:t>
            </a:r>
            <a:r>
              <a:rPr lang="en-US" dirty="0"/>
              <a:t>polluting the environment. </a:t>
            </a:r>
            <a:endParaRPr lang="en-US" dirty="0" smtClean="0"/>
          </a:p>
          <a:p>
            <a:pPr lvl="1"/>
            <a:r>
              <a:rPr lang="en-US" dirty="0" smtClean="0"/>
              <a:t>When computers </a:t>
            </a:r>
            <a:r>
              <a:rPr lang="en-US" dirty="0"/>
              <a:t>are discarded in landfills, </a:t>
            </a:r>
            <a:r>
              <a:rPr lang="en-US" dirty="0" smtClean="0"/>
              <a:t>they can </a:t>
            </a:r>
            <a:r>
              <a:rPr lang="en-US" dirty="0"/>
              <a:t>release toxic materials and </a:t>
            </a:r>
            <a:r>
              <a:rPr lang="en-US" dirty="0" smtClean="0"/>
              <a:t>potentially dangerous </a:t>
            </a:r>
            <a:r>
              <a:rPr lang="en-US" dirty="0"/>
              <a:t>levels of lead, mercury, and </a:t>
            </a:r>
            <a:r>
              <a:rPr lang="en-US" dirty="0" smtClean="0"/>
              <a:t>flame retardants</a:t>
            </a:r>
            <a:r>
              <a:rPr lang="en-US" dirty="0"/>
              <a:t>.</a:t>
            </a:r>
            <a:endParaRPr lang="en-US" b="1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7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Disadvantages of using computers</a:t>
            </a:r>
          </a:p>
          <a:p>
            <a:r>
              <a:rPr lang="en-US" dirty="0" smtClean="0"/>
              <a:t>Require </a:t>
            </a:r>
            <a:r>
              <a:rPr lang="en-US" dirty="0"/>
              <a:t>skilled manpower for design and programming and data encoding</a:t>
            </a:r>
          </a:p>
          <a:p>
            <a:r>
              <a:rPr lang="en-US" dirty="0" smtClean="0"/>
              <a:t>Require </a:t>
            </a:r>
            <a:r>
              <a:rPr lang="en-US" dirty="0"/>
              <a:t>electricity</a:t>
            </a:r>
          </a:p>
          <a:p>
            <a:r>
              <a:rPr lang="en-US" dirty="0" smtClean="0"/>
              <a:t>Require </a:t>
            </a:r>
            <a:r>
              <a:rPr lang="en-US" dirty="0"/>
              <a:t>air conditioning for non-stop work</a:t>
            </a:r>
          </a:p>
          <a:p>
            <a:r>
              <a:rPr lang="en-US" dirty="0" smtClean="0"/>
              <a:t>Expensive </a:t>
            </a:r>
            <a:r>
              <a:rPr lang="en-US" dirty="0"/>
              <a:t>to acquire and maintain</a:t>
            </a:r>
          </a:p>
          <a:p>
            <a:r>
              <a:rPr lang="en-US" dirty="0" smtClean="0"/>
              <a:t>Require </a:t>
            </a:r>
            <a:r>
              <a:rPr lang="en-US" dirty="0"/>
              <a:t>frequent upgrade due to fast developments in hardware and software</a:t>
            </a:r>
          </a:p>
          <a:p>
            <a:r>
              <a:rPr lang="en-US" dirty="0" smtClean="0"/>
              <a:t>Require </a:t>
            </a:r>
            <a:r>
              <a:rPr lang="en-US" dirty="0"/>
              <a:t>regular staff training</a:t>
            </a:r>
          </a:p>
        </p:txBody>
      </p:sp>
    </p:spTree>
    <p:extLst>
      <p:ext uri="{BB962C8B-B14F-4D97-AF65-F5344CB8AC3E}">
        <p14:creationId xmlns:p14="http://schemas.microsoft.com/office/powerpoint/2010/main" val="211022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GB" b="1" dirty="0"/>
              <a:t>Limitations of computer-based </a:t>
            </a:r>
            <a:r>
              <a:rPr lang="en-GB" b="1" dirty="0" smtClean="0"/>
              <a:t>processing</a:t>
            </a:r>
          </a:p>
          <a:p>
            <a:r>
              <a:rPr lang="en-US" b="1" dirty="0" err="1"/>
              <a:t>Judgement</a:t>
            </a:r>
            <a:r>
              <a:rPr lang="en-US" b="1" dirty="0"/>
              <a:t>/experience</a:t>
            </a:r>
            <a:r>
              <a:rPr lang="en-US" dirty="0"/>
              <a:t>: Despite advances in artificial intelligence techniques and expert systems, </a:t>
            </a:r>
            <a:endParaRPr lang="en-US" dirty="0" smtClean="0"/>
          </a:p>
          <a:p>
            <a:pPr lvl="1"/>
            <a:r>
              <a:rPr lang="en-US" dirty="0" smtClean="0"/>
              <a:t>computer-based </a:t>
            </a:r>
            <a:r>
              <a:rPr lang="en-US" dirty="0"/>
              <a:t>information systems are considered incapable of solving problems using their own </a:t>
            </a:r>
            <a:r>
              <a:rPr lang="en-US" dirty="0" err="1"/>
              <a:t>judgement</a:t>
            </a:r>
            <a:r>
              <a:rPr lang="en-US" dirty="0"/>
              <a:t> and experience.</a:t>
            </a:r>
            <a:endParaRPr lang="en-US" i="1" dirty="0"/>
          </a:p>
          <a:p>
            <a:r>
              <a:rPr lang="en-US" b="1" dirty="0"/>
              <a:t>Improvisation/flexibility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computer-based </a:t>
            </a:r>
            <a:r>
              <a:rPr lang="en-US" dirty="0"/>
              <a:t>information systems are unable to react to unexpected situations and events. </a:t>
            </a:r>
            <a:endParaRPr lang="en-US" dirty="0" smtClean="0"/>
          </a:p>
          <a:p>
            <a:pPr lvl="1"/>
            <a:r>
              <a:rPr lang="en-US" dirty="0" smtClean="0"/>
              <a:t>Additionally</a:t>
            </a:r>
            <a:r>
              <a:rPr lang="en-US" dirty="0"/>
              <a:t>, since most systems are created to </a:t>
            </a:r>
            <a:r>
              <a:rPr lang="en-US" dirty="0" smtClean="0"/>
              <a:t>fulfill </a:t>
            </a:r>
            <a:r>
              <a:rPr lang="en-US" dirty="0"/>
              <a:t>a particular function, it can be difficult to modify them to meet new or changed requirements.</a:t>
            </a:r>
            <a:endParaRPr lang="en-US" i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158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Innovation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Computers </a:t>
            </a:r>
            <a:r>
              <a:rPr lang="en-US" dirty="0"/>
              <a:t>lack the creativity of a human being. They are unable to think in the abstract and are therefore restricted in their ability to discover new ways of improving processes or solving problems.</a:t>
            </a:r>
            <a:endParaRPr lang="en-US" i="1" dirty="0"/>
          </a:p>
          <a:p>
            <a:pPr>
              <a:lnSpc>
                <a:spcPct val="85000"/>
              </a:lnSpc>
              <a:spcBef>
                <a:spcPct val="40000"/>
              </a:spcBef>
            </a:pPr>
            <a:r>
              <a:rPr lang="en-US" b="1" dirty="0"/>
              <a:t>Intuition</a:t>
            </a:r>
            <a:r>
              <a:rPr lang="en-US" dirty="0"/>
              <a:t>: </a:t>
            </a:r>
            <a:endParaRPr lang="en-US" dirty="0" smtClean="0"/>
          </a:p>
          <a:p>
            <a:pPr lvl="1">
              <a:lnSpc>
                <a:spcPct val="85000"/>
              </a:lnSpc>
              <a:spcBef>
                <a:spcPct val="40000"/>
              </a:spcBef>
            </a:pPr>
            <a:r>
              <a:rPr lang="en-US" dirty="0" smtClean="0"/>
              <a:t>Human </a:t>
            </a:r>
            <a:r>
              <a:rPr lang="en-US" dirty="0"/>
              <a:t>intuition can play an important part in all certain social situations. </a:t>
            </a:r>
            <a:r>
              <a:rPr lang="en-US" dirty="0" smtClean="0"/>
              <a:t>E.g. </a:t>
            </a:r>
            <a:r>
              <a:rPr lang="en-US" dirty="0"/>
              <a:t>one might use intuition to gauge </a:t>
            </a:r>
            <a:r>
              <a:rPr lang="en-US" dirty="0" smtClean="0"/>
              <a:t>emotional </a:t>
            </a:r>
            <a:r>
              <a:rPr lang="en-US" dirty="0"/>
              <a:t>state of a person before deciding whether or not to give them bad news. BIS cannot use intuition in this way and are therefore unsuitable for certain kinds of situations.</a:t>
            </a:r>
            <a:endParaRPr lang="en-US" i="1" dirty="0"/>
          </a:p>
          <a:p>
            <a:pPr>
              <a:lnSpc>
                <a:spcPct val="85000"/>
              </a:lnSpc>
              <a:spcBef>
                <a:spcPct val="40000"/>
              </a:spcBef>
            </a:pPr>
            <a:r>
              <a:rPr lang="en-US" b="1" dirty="0"/>
              <a:t>Qualitative information</a:t>
            </a:r>
            <a:r>
              <a:rPr lang="en-US" dirty="0"/>
              <a:t>: </a:t>
            </a:r>
            <a:endParaRPr lang="en-US" dirty="0" smtClean="0"/>
          </a:p>
          <a:p>
            <a:pPr lvl="1">
              <a:lnSpc>
                <a:spcPct val="85000"/>
              </a:lnSpc>
              <a:spcBef>
                <a:spcPct val="40000"/>
              </a:spcBef>
            </a:pPr>
            <a:r>
              <a:rPr lang="en-US" dirty="0" smtClean="0"/>
              <a:t>Managers </a:t>
            </a:r>
            <a:r>
              <a:rPr lang="en-US" dirty="0"/>
              <a:t>often make unstructured decisions based on the recommendations of others. </a:t>
            </a:r>
            <a:r>
              <a:rPr lang="en-US" dirty="0" smtClean="0"/>
              <a:t>Their confidence in the person they are dealing with often has a major influence on the decision itself. Once again, BIS cannot act upon qualitative information of this kind.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39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1063</TotalTime>
  <Words>1888</Words>
  <Application>Microsoft Office PowerPoint</Application>
  <PresentationFormat>On-screen Show (4:3)</PresentationFormat>
  <Paragraphs>222</Paragraphs>
  <Slides>30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Solstice</vt:lpstr>
      <vt:lpstr>Introduction To Information And Communication Technology</vt:lpstr>
      <vt:lpstr>Computer</vt:lpstr>
      <vt:lpstr>System</vt:lpstr>
      <vt:lpstr>PowerPoint Presentation</vt:lpstr>
      <vt:lpstr>Hardware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</vt:lpstr>
      <vt:lpstr>Information Technology</vt:lpstr>
      <vt:lpstr>Information System (IS)</vt:lpstr>
      <vt:lpstr>PowerPoint Presentation</vt:lpstr>
      <vt:lpstr>PowerPoint Presentation</vt:lpstr>
      <vt:lpstr>The Role Of Computers In ICT</vt:lpstr>
      <vt:lpstr>PowerPoint Presentation</vt:lpstr>
      <vt:lpstr>PowerPoint Presentation</vt:lpstr>
      <vt:lpstr>PowerPoint Presentation</vt:lpstr>
      <vt:lpstr>PowerPoint Presentation</vt:lpstr>
      <vt:lpstr>Advantages of using computers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INFORMATION AND COMMUNICATION TECHNOLOGY</dc:title>
  <dc:creator>FAIR</dc:creator>
  <cp:lastModifiedBy>ismail - [2010]</cp:lastModifiedBy>
  <cp:revision>84</cp:revision>
  <dcterms:created xsi:type="dcterms:W3CDTF">2014-08-21T08:06:17Z</dcterms:created>
  <dcterms:modified xsi:type="dcterms:W3CDTF">2015-05-09T21:04:10Z</dcterms:modified>
</cp:coreProperties>
</file>