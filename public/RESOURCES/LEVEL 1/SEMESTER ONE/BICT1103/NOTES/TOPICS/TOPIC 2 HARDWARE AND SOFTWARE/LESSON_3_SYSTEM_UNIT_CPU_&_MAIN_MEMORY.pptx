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9" r:id="rId3"/>
    <p:sldId id="280" r:id="rId4"/>
    <p:sldId id="281" r:id="rId5"/>
    <p:sldId id="282" r:id="rId6"/>
    <p:sldId id="283" r:id="rId7"/>
    <p:sldId id="257" r:id="rId8"/>
    <p:sldId id="258" r:id="rId9"/>
    <p:sldId id="260" r:id="rId10"/>
    <p:sldId id="293" r:id="rId11"/>
    <p:sldId id="259" r:id="rId12"/>
    <p:sldId id="261" r:id="rId13"/>
    <p:sldId id="262" r:id="rId14"/>
    <p:sldId id="295" r:id="rId15"/>
    <p:sldId id="296" r:id="rId16"/>
    <p:sldId id="263" r:id="rId17"/>
    <p:sldId id="288" r:id="rId18"/>
    <p:sldId id="285" r:id="rId19"/>
    <p:sldId id="294" r:id="rId20"/>
    <p:sldId id="286" r:id="rId21"/>
    <p:sldId id="287" r:id="rId22"/>
    <p:sldId id="297" r:id="rId23"/>
    <p:sldId id="299" r:id="rId24"/>
    <p:sldId id="265" r:id="rId25"/>
    <p:sldId id="266" r:id="rId26"/>
    <p:sldId id="268" r:id="rId27"/>
    <p:sldId id="302" r:id="rId28"/>
    <p:sldId id="269" r:id="rId29"/>
    <p:sldId id="270" r:id="rId30"/>
    <p:sldId id="271" r:id="rId31"/>
    <p:sldId id="272" r:id="rId32"/>
    <p:sldId id="273" r:id="rId33"/>
    <p:sldId id="303" r:id="rId34"/>
    <p:sldId id="274" r:id="rId35"/>
    <p:sldId id="290" r:id="rId36"/>
    <p:sldId id="306" r:id="rId37"/>
    <p:sldId id="304" r:id="rId38"/>
    <p:sldId id="309" r:id="rId39"/>
    <p:sldId id="308" r:id="rId40"/>
    <p:sldId id="305" r:id="rId41"/>
    <p:sldId id="307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7" autoAdjust="0"/>
    <p:restoredTop sz="94660"/>
  </p:normalViewPr>
  <p:slideViewPr>
    <p:cSldViewPr>
      <p:cViewPr>
        <p:scale>
          <a:sx n="63" d="100"/>
          <a:sy n="63" d="100"/>
        </p:scale>
        <p:origin x="-1338" y="-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438609E7-82FF-4604-8909-28DA229CB686}" type="datetimeFigureOut">
              <a:rPr lang="en-US" smtClean="0"/>
              <a:t>10-May-2015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F045D51-2A54-40CC-A79D-E197B32F8DC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1" dirty="0"/>
              <a:t>SYSTEM UNIT </a:t>
            </a:r>
            <a:r>
              <a:rPr lang="da-DK" i="1" dirty="0" smtClean="0"/>
              <a:t>CPU &amp; MAIN MEMORY</a:t>
            </a:r>
            <a:endParaRPr lang="en-US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09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System </a:t>
            </a:r>
            <a:r>
              <a:rPr lang="en-US" i="1" dirty="0"/>
              <a:t>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</a:t>
            </a:r>
            <a:r>
              <a:rPr lang="en-US" b="1" dirty="0" smtClean="0"/>
              <a:t>ystem </a:t>
            </a:r>
            <a:r>
              <a:rPr lang="en-US" b="1" dirty="0"/>
              <a:t>unit </a:t>
            </a:r>
            <a:r>
              <a:rPr lang="en-US" dirty="0"/>
              <a:t>is a case that contains </a:t>
            </a:r>
            <a:r>
              <a:rPr lang="en-US" dirty="0" smtClean="0"/>
              <a:t>electronic components </a:t>
            </a:r>
            <a:r>
              <a:rPr lang="en-US" dirty="0"/>
              <a:t>of the computer used to </a:t>
            </a:r>
            <a:r>
              <a:rPr lang="en-US" dirty="0" smtClean="0"/>
              <a:t>process data</a:t>
            </a:r>
            <a:r>
              <a:rPr lang="en-US" dirty="0"/>
              <a:t>.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i="1" dirty="0"/>
              <a:t>system unit </a:t>
            </a:r>
            <a:r>
              <a:rPr lang="en-US" dirty="0"/>
              <a:t>houses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motherboard (including the processor chip </a:t>
            </a:r>
            <a:r>
              <a:rPr lang="en-US" dirty="0" smtClean="0"/>
              <a:t>and memory </a:t>
            </a:r>
            <a:r>
              <a:rPr lang="en-US" dirty="0"/>
              <a:t>chips),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power supply, and </a:t>
            </a:r>
            <a:endParaRPr lang="en-US" dirty="0" smtClean="0"/>
          </a:p>
          <a:p>
            <a:pPr lvl="1"/>
            <a:r>
              <a:rPr lang="en-US" dirty="0" smtClean="0"/>
              <a:t>storage </a:t>
            </a:r>
            <a:r>
              <a:rPr lang="en-US" dirty="0"/>
              <a:t>devices. </a:t>
            </a:r>
            <a:endParaRPr lang="en-US" dirty="0" smtClean="0"/>
          </a:p>
          <a:p>
            <a:pPr marL="402336" lvl="1" indent="0">
              <a:buNone/>
            </a:pPr>
            <a:r>
              <a:rPr lang="en-US" dirty="0" smtClean="0"/>
              <a:t>The </a:t>
            </a:r>
            <a:r>
              <a:rPr lang="en-US" dirty="0"/>
              <a:t>system unit includes: a motherboard, processor, memory module, cards, ports and connectors. </a:t>
            </a:r>
            <a:endParaRPr lang="en-US" dirty="0" smtClean="0"/>
          </a:p>
          <a:p>
            <a:r>
              <a:rPr lang="en-US" dirty="0" smtClean="0"/>
              <a:t>Also called </a:t>
            </a:r>
            <a:r>
              <a:rPr lang="en-US" dirty="0"/>
              <a:t>the </a:t>
            </a:r>
            <a:r>
              <a:rPr lang="en-US" i="1" dirty="0"/>
              <a:t>case </a:t>
            </a:r>
            <a:r>
              <a:rPr lang="en-US" dirty="0"/>
              <a:t>or </a:t>
            </a:r>
            <a:r>
              <a:rPr lang="en-US" i="1" dirty="0"/>
              <a:t>system </a:t>
            </a:r>
            <a:r>
              <a:rPr lang="en-US" i="1" dirty="0" smtClean="0"/>
              <a:t>cabinet, </a:t>
            </a:r>
            <a:r>
              <a:rPr lang="en-US" i="1" dirty="0" err="1" smtClean="0"/>
              <a:t>chasis</a:t>
            </a:r>
            <a:endParaRPr lang="en-US" i="1" dirty="0" smtClean="0"/>
          </a:p>
          <a:p>
            <a:r>
              <a:rPr lang="en-US" b="1" dirty="0"/>
              <a:t>S</a:t>
            </a:r>
            <a:r>
              <a:rPr lang="en-US" b="1" dirty="0" smtClean="0"/>
              <a:t>ystem unit – </a:t>
            </a:r>
            <a:r>
              <a:rPr lang="en-US" dirty="0" smtClean="0"/>
              <a:t>is the interior </a:t>
            </a:r>
            <a:r>
              <a:rPr lang="en-US" dirty="0"/>
              <a:t>views of the </a:t>
            </a:r>
            <a:r>
              <a:rPr lang="en-US" dirty="0" smtClean="0"/>
              <a:t>box, or </a:t>
            </a:r>
            <a:r>
              <a:rPr lang="en-US" dirty="0"/>
              <a:t>case.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case of the system </a:t>
            </a:r>
            <a:r>
              <a:rPr lang="en-US" dirty="0" smtClean="0"/>
              <a:t>unit </a:t>
            </a:r>
            <a:r>
              <a:rPr lang="en-US" dirty="0"/>
              <a:t>is made of metal </a:t>
            </a:r>
            <a:r>
              <a:rPr lang="en-US" dirty="0" smtClean="0"/>
              <a:t>or plastic </a:t>
            </a:r>
            <a:r>
              <a:rPr lang="en-US" dirty="0"/>
              <a:t>and protects the internal </a:t>
            </a:r>
            <a:r>
              <a:rPr lang="en-US" dirty="0" smtClean="0"/>
              <a:t>electronic components </a:t>
            </a:r>
            <a:r>
              <a:rPr lang="en-US" dirty="0"/>
              <a:t>from damage.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arrangement </a:t>
            </a:r>
            <a:r>
              <a:rPr lang="en-US" dirty="0" smtClean="0"/>
              <a:t>of the </a:t>
            </a:r>
            <a:r>
              <a:rPr lang="en-US" dirty="0"/>
              <a:t>components </a:t>
            </a:r>
            <a:r>
              <a:rPr lang="en-US" dirty="0" smtClean="0"/>
              <a:t>varies among </a:t>
            </a:r>
            <a:r>
              <a:rPr lang="en-US" dirty="0"/>
              <a:t>models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345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b="1" dirty="0"/>
              <a:t>1. The motherboard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</a:t>
            </a:r>
            <a:r>
              <a:rPr lang="en-US" i="1" dirty="0" smtClean="0"/>
              <a:t>otherboard</a:t>
            </a:r>
            <a:r>
              <a:rPr lang="en-US" i="1" dirty="0"/>
              <a:t>, </a:t>
            </a:r>
            <a:r>
              <a:rPr lang="en-US" dirty="0"/>
              <a:t>or </a:t>
            </a:r>
            <a:r>
              <a:rPr lang="en-US" i="1" dirty="0"/>
              <a:t>system board, </a:t>
            </a:r>
            <a:r>
              <a:rPr lang="en-US" dirty="0"/>
              <a:t>is the </a:t>
            </a:r>
            <a:r>
              <a:rPr lang="en-US" dirty="0" smtClean="0"/>
              <a:t>main circuit </a:t>
            </a:r>
            <a:r>
              <a:rPr lang="en-US" dirty="0"/>
              <a:t>board in the system unit</a:t>
            </a:r>
            <a:r>
              <a:rPr lang="en-US" dirty="0" smtClean="0"/>
              <a:t>.</a:t>
            </a:r>
          </a:p>
          <a:p>
            <a:r>
              <a:rPr lang="en-US" dirty="0"/>
              <a:t>M</a:t>
            </a:r>
            <a:r>
              <a:rPr lang="en-US" dirty="0" smtClean="0"/>
              <a:t>otherboard </a:t>
            </a:r>
            <a:r>
              <a:rPr lang="en-US" dirty="0"/>
              <a:t>consists of a flat board </a:t>
            </a:r>
            <a:r>
              <a:rPr lang="en-US" dirty="0" smtClean="0"/>
              <a:t>that fills </a:t>
            </a:r>
            <a:r>
              <a:rPr lang="en-US" dirty="0"/>
              <a:t>one side of the case.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contains both soldered, </a:t>
            </a:r>
            <a:r>
              <a:rPr lang="en-US" dirty="0" smtClean="0"/>
              <a:t>non removable components and </a:t>
            </a:r>
            <a:r>
              <a:rPr lang="en-US" dirty="0"/>
              <a:t>sockets or slots for components that can be </a:t>
            </a:r>
            <a:r>
              <a:rPr lang="en-US" dirty="0" smtClean="0"/>
              <a:t>removed—microprocessor chip</a:t>
            </a:r>
            <a:r>
              <a:rPr lang="en-US" dirty="0"/>
              <a:t>, RAM chips, and various expansion </a:t>
            </a:r>
            <a:r>
              <a:rPr lang="en-US" dirty="0" smtClean="0"/>
              <a:t>cards.</a:t>
            </a:r>
          </a:p>
          <a:p>
            <a:r>
              <a:rPr lang="en-US" dirty="0" smtClean="0"/>
              <a:t>Many </a:t>
            </a:r>
            <a:r>
              <a:rPr lang="en-US" dirty="0"/>
              <a:t>integrated circuits are etched on it. </a:t>
            </a:r>
          </a:p>
          <a:p>
            <a:r>
              <a:rPr lang="en-US" dirty="0" smtClean="0"/>
              <a:t>Each </a:t>
            </a:r>
            <a:r>
              <a:rPr lang="en-US" dirty="0"/>
              <a:t>IC (integrated circuit) contains millions of transistors which act as switches for electronic signals.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2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92500"/>
          </a:bodyPr>
          <a:lstStyle/>
          <a:p>
            <a:pPr marL="82296" indent="0">
              <a:buNone/>
            </a:pPr>
            <a:r>
              <a:rPr lang="en-US" b="1" dirty="0"/>
              <a:t>THE MICROPROCESSOR CHIP </a:t>
            </a:r>
            <a:endParaRPr lang="en-US" b="1" dirty="0" smtClean="0"/>
          </a:p>
          <a:p>
            <a:r>
              <a:rPr lang="en-US" dirty="0"/>
              <a:t>M</a:t>
            </a:r>
            <a:r>
              <a:rPr lang="en-US" dirty="0" smtClean="0"/>
              <a:t>otherboard may </a:t>
            </a:r>
            <a:r>
              <a:rPr lang="en-US" dirty="0"/>
              <a:t>be thought of as your </a:t>
            </a:r>
            <a:r>
              <a:rPr lang="en-US" dirty="0" smtClean="0"/>
              <a:t>computer’s central </a:t>
            </a:r>
            <a:r>
              <a:rPr lang="en-US" dirty="0"/>
              <a:t>nervous system. </a:t>
            </a:r>
            <a:endParaRPr lang="en-US" dirty="0" smtClean="0"/>
          </a:p>
          <a:p>
            <a:r>
              <a:rPr lang="en-US" dirty="0" smtClean="0"/>
              <a:t>The brain of </a:t>
            </a:r>
            <a:r>
              <a:rPr lang="en-US" dirty="0"/>
              <a:t>your computer is the </a:t>
            </a:r>
            <a:r>
              <a:rPr lang="en-US" dirty="0" smtClean="0"/>
              <a:t>microprocessor chip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stores program instructions </a:t>
            </a:r>
            <a:r>
              <a:rPr lang="en-US" dirty="0" smtClean="0"/>
              <a:t>that process</a:t>
            </a:r>
            <a:r>
              <a:rPr lang="en-US" dirty="0"/>
              <a:t>, or manipulate, data </a:t>
            </a:r>
            <a:r>
              <a:rPr lang="en-US" dirty="0" smtClean="0"/>
              <a:t>into information.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A </a:t>
            </a:r>
            <a:r>
              <a:rPr lang="en-US" i="1" dirty="0"/>
              <a:t>chip, </a:t>
            </a:r>
            <a:r>
              <a:rPr lang="en-US" dirty="0"/>
              <a:t>or </a:t>
            </a:r>
            <a:r>
              <a:rPr lang="en-US" i="1" dirty="0"/>
              <a:t>microchip, </a:t>
            </a:r>
            <a:r>
              <a:rPr lang="en-US" dirty="0"/>
              <a:t>is a tiny piece of silicon that contains millions of </a:t>
            </a:r>
            <a:r>
              <a:rPr lang="en-US" dirty="0" err="1"/>
              <a:t>microminiature</a:t>
            </a:r>
            <a:r>
              <a:rPr lang="en-US" dirty="0"/>
              <a:t> integrated electronic circuits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A </a:t>
            </a:r>
            <a:r>
              <a:rPr lang="en-US" i="1" dirty="0"/>
              <a:t>circuit </a:t>
            </a:r>
            <a:r>
              <a:rPr lang="en-US" dirty="0"/>
              <a:t>is a closed path followed or capable of being followed by an electric current.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46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Transistors—key </a:t>
            </a:r>
            <a:r>
              <a:rPr lang="en-US" b="1" dirty="0"/>
              <a:t>parts of a chip: </a:t>
            </a:r>
            <a:endParaRPr lang="en-US" b="1" dirty="0" smtClean="0"/>
          </a:p>
          <a:p>
            <a:r>
              <a:rPr lang="en-US" dirty="0"/>
              <a:t>The key parts of the </a:t>
            </a:r>
            <a:r>
              <a:rPr lang="en-US" dirty="0" smtClean="0"/>
              <a:t>microprocessor are </a:t>
            </a:r>
            <a:r>
              <a:rPr lang="en-US" dirty="0"/>
              <a:t>transistors. </a:t>
            </a:r>
            <a:endParaRPr lang="en-US" dirty="0" smtClean="0"/>
          </a:p>
          <a:p>
            <a:r>
              <a:rPr lang="en-US" i="1" dirty="0" smtClean="0"/>
              <a:t>Transistors </a:t>
            </a:r>
            <a:r>
              <a:rPr lang="en-US" dirty="0" smtClean="0"/>
              <a:t>are </a:t>
            </a:r>
            <a:r>
              <a:rPr lang="en-US" dirty="0"/>
              <a:t>tiny electronic devices that </a:t>
            </a:r>
            <a:r>
              <a:rPr lang="en-US" dirty="0" smtClean="0"/>
              <a:t>act as </a:t>
            </a:r>
            <a:r>
              <a:rPr lang="en-US" dirty="0"/>
              <a:t>on/off switches, which process the on/off (1/0) bits used to </a:t>
            </a:r>
            <a:r>
              <a:rPr lang="en-US" dirty="0" smtClean="0"/>
              <a:t>represent data.</a:t>
            </a:r>
          </a:p>
          <a:p>
            <a:pPr marL="82296" indent="0">
              <a:buNone/>
            </a:pPr>
            <a:r>
              <a:rPr lang="en-US" b="1" dirty="0"/>
              <a:t>C</a:t>
            </a:r>
            <a:r>
              <a:rPr lang="en-US" b="1" dirty="0" smtClean="0"/>
              <a:t>hipset—chips </a:t>
            </a:r>
            <a:r>
              <a:rPr lang="en-US" b="1" dirty="0"/>
              <a:t>for controlling information among </a:t>
            </a:r>
            <a:r>
              <a:rPr lang="en-US" b="1" dirty="0" smtClean="0"/>
              <a:t>system components</a:t>
            </a:r>
            <a:r>
              <a:rPr lang="en-US" b="1" dirty="0"/>
              <a:t>: </a:t>
            </a:r>
            <a:endParaRPr lang="en-US" b="1" dirty="0" smtClean="0"/>
          </a:p>
          <a:p>
            <a:pPr marL="82296" indent="0">
              <a:buNone/>
            </a:pPr>
            <a:r>
              <a:rPr lang="en-US" b="1" dirty="0"/>
              <a:t>C</a:t>
            </a:r>
            <a:r>
              <a:rPr lang="en-US" b="1" i="1" dirty="0" smtClean="0"/>
              <a:t>hipset </a:t>
            </a:r>
            <a:r>
              <a:rPr lang="en-US" b="1" dirty="0"/>
              <a:t>consists of groups of interconnected </a:t>
            </a:r>
            <a:r>
              <a:rPr lang="en-US" b="1" dirty="0" smtClean="0"/>
              <a:t>chips on </a:t>
            </a:r>
            <a:r>
              <a:rPr lang="en-US" b="1" dirty="0"/>
              <a:t>the motherboard that control the flow of information </a:t>
            </a:r>
            <a:r>
              <a:rPr lang="en-US" b="1" dirty="0" smtClean="0"/>
              <a:t>between the </a:t>
            </a:r>
            <a:r>
              <a:rPr lang="en-US" b="1" dirty="0"/>
              <a:t>microprocessor and other system components connected </a:t>
            </a:r>
            <a:r>
              <a:rPr lang="en-US" b="1" dirty="0" smtClean="0"/>
              <a:t>to the </a:t>
            </a:r>
            <a:r>
              <a:rPr lang="en-US" b="1" dirty="0"/>
              <a:t>motherboard. </a:t>
            </a:r>
            <a:endParaRPr lang="en-US" b="1" dirty="0" smtClean="0"/>
          </a:p>
          <a:p>
            <a:r>
              <a:rPr lang="en-US" dirty="0"/>
              <a:t>The chipset determines what types of </a:t>
            </a:r>
            <a:r>
              <a:rPr lang="en-US" dirty="0" smtClean="0"/>
              <a:t>processors, memory</a:t>
            </a:r>
            <a:r>
              <a:rPr lang="en-US" dirty="0"/>
              <a:t>, and video card ports will work on the same motherboard. </a:t>
            </a:r>
            <a:endParaRPr lang="en-US" dirty="0" smtClean="0"/>
          </a:p>
          <a:p>
            <a:r>
              <a:rPr lang="en-US" dirty="0" smtClean="0"/>
              <a:t>It also establishes </a:t>
            </a:r>
            <a:r>
              <a:rPr lang="en-US" dirty="0"/>
              <a:t>the types of multimedia, storage, network, and other </a:t>
            </a:r>
            <a:r>
              <a:rPr lang="en-US" dirty="0" smtClean="0"/>
              <a:t>hardware the </a:t>
            </a:r>
            <a:r>
              <a:rPr lang="en-US" dirty="0"/>
              <a:t>motherboard supports.</a:t>
            </a:r>
          </a:p>
        </p:txBody>
      </p:sp>
    </p:spTree>
    <p:extLst>
      <p:ext uri="{BB962C8B-B14F-4D97-AF65-F5344CB8AC3E}">
        <p14:creationId xmlns:p14="http://schemas.microsoft.com/office/powerpoint/2010/main" val="3921219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dirty="0" smtClean="0"/>
              <a:t> </a:t>
            </a:r>
            <a:r>
              <a:rPr lang="en-US" sz="4000" b="1" dirty="0"/>
              <a:t>CPU- Central Processing Unit </a:t>
            </a:r>
            <a:endParaRPr lang="en-US" sz="4000" dirty="0"/>
          </a:p>
          <a:p>
            <a:r>
              <a:rPr lang="en-US" dirty="0" smtClean="0"/>
              <a:t>Most PCs use </a:t>
            </a:r>
            <a:r>
              <a:rPr lang="en-US" dirty="0"/>
              <a:t>CPUs manufactured by Intel Corporation or Advanced Micro </a:t>
            </a:r>
            <a:r>
              <a:rPr lang="en-US" dirty="0" smtClean="0"/>
              <a:t>Devices (AMD</a:t>
            </a:r>
            <a:r>
              <a:rPr lang="en-US" dirty="0"/>
              <a:t>). </a:t>
            </a:r>
          </a:p>
          <a:p>
            <a:r>
              <a:rPr lang="en-US" dirty="0" smtClean="0"/>
              <a:t>They </a:t>
            </a:r>
            <a:r>
              <a:rPr lang="en-US" dirty="0"/>
              <a:t>currently fall into three groups: </a:t>
            </a:r>
          </a:p>
          <a:p>
            <a:pPr marL="82296" indent="0">
              <a:buNone/>
            </a:pPr>
            <a:r>
              <a:rPr lang="en-US" dirty="0" smtClean="0"/>
              <a:t>	1</a:t>
            </a:r>
            <a:r>
              <a:rPr lang="en-US" dirty="0"/>
              <a:t>. Intel Pentium series and Intel Celeron </a:t>
            </a:r>
            <a:r>
              <a:rPr lang="en-US" dirty="0" smtClean="0"/>
              <a:t>series </a:t>
            </a:r>
            <a:endParaRPr lang="en-US" dirty="0"/>
          </a:p>
          <a:p>
            <a:pPr marL="82296" indent="0">
              <a:buNone/>
            </a:pPr>
            <a:r>
              <a:rPr lang="en-US" dirty="0" smtClean="0"/>
              <a:t>	2</a:t>
            </a:r>
            <a:r>
              <a:rPr lang="en-US" dirty="0"/>
              <a:t>. Equivalent processors, such as AMD </a:t>
            </a:r>
            <a:r>
              <a:rPr lang="en-US" dirty="0" smtClean="0"/>
              <a:t>	Athlon </a:t>
            </a:r>
            <a:r>
              <a:rPr lang="en-US" dirty="0"/>
              <a:t>series. </a:t>
            </a:r>
          </a:p>
          <a:p>
            <a:pPr marL="82296" indent="0">
              <a:buNone/>
            </a:pPr>
            <a:r>
              <a:rPr lang="en-US" dirty="0" smtClean="0"/>
              <a:t>	3</a:t>
            </a:r>
            <a:r>
              <a:rPr lang="en-US" dirty="0"/>
              <a:t>. Apple G series. </a:t>
            </a:r>
            <a:endParaRPr lang="en-US" dirty="0" smtClean="0"/>
          </a:p>
          <a:p>
            <a:r>
              <a:rPr lang="en-US" dirty="0" smtClean="0"/>
              <a:t>Microsoft </a:t>
            </a:r>
            <a:r>
              <a:rPr lang="en-US" dirty="0"/>
              <a:t>Windows operating system was designed to run on Intel chips. </a:t>
            </a:r>
            <a:endParaRPr lang="en-US" dirty="0" smtClean="0"/>
          </a:p>
          <a:p>
            <a:r>
              <a:rPr lang="en-US" dirty="0"/>
              <a:t>The speed of a processor is measured in Hertz (Hz) where 1 Hz = 1 cycle per second. </a:t>
            </a:r>
            <a:endParaRPr lang="en-US" dirty="0" smtClean="0"/>
          </a:p>
          <a:p>
            <a:r>
              <a:rPr lang="en-US" dirty="0"/>
              <a:t>This refers to fetch execution cycle, which is the process of copying one program instruction from the main memory then carry out the instruction.</a:t>
            </a:r>
          </a:p>
          <a:p>
            <a:r>
              <a:rPr lang="en-US" dirty="0"/>
              <a:t>Today’s processors can carry out many instructions per second. </a:t>
            </a:r>
          </a:p>
          <a:p>
            <a:r>
              <a:rPr lang="en-US" dirty="0"/>
              <a:t>Hence the speed is measured in </a:t>
            </a:r>
            <a:r>
              <a:rPr lang="en-US" dirty="0" smtClean="0"/>
              <a:t>MHz (Megahertz) </a:t>
            </a:r>
            <a:r>
              <a:rPr lang="en-US" dirty="0"/>
              <a:t>or </a:t>
            </a:r>
            <a:r>
              <a:rPr lang="en-US" dirty="0" smtClean="0"/>
              <a:t>GHz (Gigahertz).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59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US" sz="3300" b="1" dirty="0" smtClean="0"/>
              <a:t>PARTS </a:t>
            </a:r>
            <a:r>
              <a:rPr lang="en-US" sz="3300" b="1" dirty="0"/>
              <a:t>OF THE </a:t>
            </a:r>
            <a:r>
              <a:rPr lang="en-US" sz="3300" b="1" dirty="0" smtClean="0"/>
              <a:t>CPU  </a:t>
            </a:r>
          </a:p>
          <a:p>
            <a:r>
              <a:rPr lang="en-US" sz="3300" dirty="0" smtClean="0"/>
              <a:t>A </a:t>
            </a:r>
            <a:r>
              <a:rPr lang="en-US" sz="3300" dirty="0"/>
              <a:t>processor is also called </a:t>
            </a:r>
            <a:r>
              <a:rPr lang="en-US" sz="3300" i="1" dirty="0" smtClean="0"/>
              <a:t>CPU</a:t>
            </a:r>
            <a:r>
              <a:rPr lang="en-US" sz="3300" i="1" dirty="0"/>
              <a:t>, </a:t>
            </a:r>
            <a:r>
              <a:rPr lang="en-US" sz="3300" dirty="0"/>
              <a:t>and it works </a:t>
            </a:r>
            <a:r>
              <a:rPr lang="en-US" sz="3300" dirty="0" smtClean="0"/>
              <a:t>hand in </a:t>
            </a:r>
            <a:r>
              <a:rPr lang="en-US" sz="3300" dirty="0"/>
              <a:t>hand with other circuits </a:t>
            </a:r>
            <a:r>
              <a:rPr lang="en-US" sz="3300" dirty="0" smtClean="0"/>
              <a:t>such as </a:t>
            </a:r>
            <a:r>
              <a:rPr lang="en-US" sz="3300" i="1" dirty="0"/>
              <a:t>main memory </a:t>
            </a:r>
            <a:r>
              <a:rPr lang="en-US" sz="3300" dirty="0"/>
              <a:t>to carry out processing.</a:t>
            </a:r>
          </a:p>
          <a:p>
            <a:r>
              <a:rPr lang="en-US" sz="3300" b="1" i="1" dirty="0" smtClean="0"/>
              <a:t>CPU (central processing unit) </a:t>
            </a:r>
            <a:r>
              <a:rPr lang="en-US" sz="3300" b="1" dirty="0" smtClean="0"/>
              <a:t>is </a:t>
            </a:r>
            <a:r>
              <a:rPr lang="en-US" sz="3300" b="1" dirty="0"/>
              <a:t>the “brain” of the computer; </a:t>
            </a:r>
            <a:endParaRPr lang="en-US" sz="3300" b="1" dirty="0" smtClean="0"/>
          </a:p>
          <a:p>
            <a:r>
              <a:rPr lang="en-US" sz="3300" b="1" dirty="0" smtClean="0"/>
              <a:t>it follows the </a:t>
            </a:r>
            <a:r>
              <a:rPr lang="en-US" sz="3300" b="1" dirty="0"/>
              <a:t>instructions of the software (program) to manipulate data </a:t>
            </a:r>
            <a:r>
              <a:rPr lang="en-US" sz="3300" b="1" dirty="0" smtClean="0"/>
              <a:t>into information</a:t>
            </a:r>
            <a:r>
              <a:rPr lang="en-US" sz="3300" b="1" dirty="0"/>
              <a:t>. </a:t>
            </a:r>
            <a:endParaRPr lang="en-US" dirty="0"/>
          </a:p>
          <a:p>
            <a:r>
              <a:rPr lang="en-US" dirty="0"/>
              <a:t>Impacts on the overall computing power and manages most of the computer </a:t>
            </a:r>
            <a:r>
              <a:rPr lang="en-US" dirty="0" smtClean="0"/>
              <a:t>operations.</a:t>
            </a:r>
            <a:endParaRPr lang="en-US" sz="3300" b="1" dirty="0" smtClean="0"/>
          </a:p>
          <a:p>
            <a:pPr marL="82296" indent="0">
              <a:buNone/>
            </a:pPr>
            <a:r>
              <a:rPr lang="en-US" sz="3300" b="1" dirty="0" smtClean="0"/>
              <a:t>CPU </a:t>
            </a:r>
            <a:r>
              <a:rPr lang="en-US" sz="3300" b="1" dirty="0"/>
              <a:t>consists of two parts</a:t>
            </a:r>
            <a:r>
              <a:rPr lang="en-US" sz="3300" b="1" dirty="0" smtClean="0"/>
              <a:t>—</a:t>
            </a:r>
          </a:p>
          <a:p>
            <a:pPr lvl="1"/>
            <a:r>
              <a:rPr lang="en-US" sz="2900" b="1" dirty="0" smtClean="0"/>
              <a:t>(</a:t>
            </a:r>
            <a:r>
              <a:rPr lang="en-US" sz="2900" b="1" dirty="0"/>
              <a:t>1) the C</a:t>
            </a:r>
            <a:r>
              <a:rPr lang="en-US" sz="2900" b="1" dirty="0" smtClean="0"/>
              <a:t>ontrol </a:t>
            </a:r>
            <a:r>
              <a:rPr lang="en-US" sz="2900" b="1" dirty="0"/>
              <a:t>U</a:t>
            </a:r>
            <a:r>
              <a:rPr lang="en-US" sz="2900" b="1" dirty="0" smtClean="0"/>
              <a:t>nit and (CU)</a:t>
            </a:r>
          </a:p>
          <a:p>
            <a:pPr lvl="1"/>
            <a:r>
              <a:rPr lang="en-US" sz="2900" b="1" dirty="0" smtClean="0"/>
              <a:t>(2</a:t>
            </a:r>
            <a:r>
              <a:rPr lang="en-US" sz="2900" b="1" dirty="0"/>
              <a:t>) the </a:t>
            </a:r>
            <a:r>
              <a:rPr lang="en-US" sz="2900" b="1" dirty="0" smtClean="0"/>
              <a:t>Arithmetic/logic </a:t>
            </a:r>
            <a:r>
              <a:rPr lang="en-US" sz="2900" b="1" dirty="0"/>
              <a:t>unit (ALU),</a:t>
            </a:r>
          </a:p>
          <a:p>
            <a:pPr lvl="1"/>
            <a:r>
              <a:rPr lang="en-US" sz="2900" b="1" dirty="0"/>
              <a:t>contain registers, or high-speed storage </a:t>
            </a:r>
          </a:p>
          <a:p>
            <a:pPr lvl="1"/>
            <a:r>
              <a:rPr lang="en-US" sz="2900" dirty="0"/>
              <a:t>All are linked by an electronic “roadway” called a </a:t>
            </a:r>
            <a:r>
              <a:rPr lang="en-US" sz="2900" i="1" dirty="0"/>
              <a:t>bus.</a:t>
            </a:r>
            <a:endParaRPr lang="en-US" sz="2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677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b="1" dirty="0"/>
              <a:t>1</a:t>
            </a:r>
            <a:r>
              <a:rPr lang="en-US" b="1" dirty="0" smtClean="0"/>
              <a:t>. Control </a:t>
            </a:r>
            <a:r>
              <a:rPr lang="en-US" b="1" dirty="0"/>
              <a:t>unit—for </a:t>
            </a:r>
            <a:r>
              <a:rPr lang="en-US" b="1" dirty="0" smtClean="0"/>
              <a:t>directing electronic </a:t>
            </a:r>
            <a:r>
              <a:rPr lang="en-US" b="1" dirty="0"/>
              <a:t>signals: </a:t>
            </a:r>
            <a:endParaRPr lang="en-US" b="1" dirty="0" smtClean="0"/>
          </a:p>
          <a:p>
            <a:r>
              <a:rPr lang="en-US" dirty="0"/>
              <a:t>C</a:t>
            </a:r>
            <a:r>
              <a:rPr lang="en-US" i="1" dirty="0" smtClean="0"/>
              <a:t>ontrol unit </a:t>
            </a:r>
            <a:r>
              <a:rPr lang="en-US" dirty="0" smtClean="0"/>
              <a:t>deciphers </a:t>
            </a:r>
            <a:r>
              <a:rPr lang="en-US" dirty="0"/>
              <a:t>each instruction </a:t>
            </a:r>
            <a:r>
              <a:rPr lang="en-US" dirty="0" smtClean="0"/>
              <a:t>stored in </a:t>
            </a:r>
            <a:r>
              <a:rPr lang="en-US" dirty="0"/>
              <a:t>the CPU and then carries out </a:t>
            </a:r>
            <a:r>
              <a:rPr lang="en-US" dirty="0" smtClean="0"/>
              <a:t>the instruction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/>
              <a:t>Directs and coordinates most of the operations in a computer </a:t>
            </a:r>
          </a:p>
          <a:p>
            <a:r>
              <a:rPr lang="en-US" dirty="0" smtClean="0"/>
              <a:t>It </a:t>
            </a:r>
            <a:r>
              <a:rPr lang="en-US" dirty="0"/>
              <a:t>directs the </a:t>
            </a:r>
            <a:r>
              <a:rPr lang="en-US" dirty="0" smtClean="0"/>
              <a:t>movement of </a:t>
            </a:r>
            <a:r>
              <a:rPr lang="en-US" dirty="0"/>
              <a:t>electronic signals between </a:t>
            </a:r>
            <a:r>
              <a:rPr lang="en-US" dirty="0" smtClean="0"/>
              <a:t>main memory </a:t>
            </a:r>
            <a:r>
              <a:rPr lang="en-US" dirty="0"/>
              <a:t>and the arithmetic/logic </a:t>
            </a:r>
            <a:r>
              <a:rPr lang="en-US" dirty="0" smtClean="0"/>
              <a:t>unit. </a:t>
            </a:r>
          </a:p>
          <a:p>
            <a:r>
              <a:rPr lang="en-US" dirty="0" smtClean="0"/>
              <a:t>It </a:t>
            </a:r>
            <a:r>
              <a:rPr lang="en-US" dirty="0"/>
              <a:t>also directs these electronic </a:t>
            </a:r>
            <a:r>
              <a:rPr lang="en-US" dirty="0" smtClean="0"/>
              <a:t>signals between </a:t>
            </a:r>
            <a:r>
              <a:rPr lang="en-US" dirty="0"/>
              <a:t>main memory and the </a:t>
            </a:r>
            <a:r>
              <a:rPr lang="en-US" dirty="0" smtClean="0"/>
              <a:t>input and </a:t>
            </a:r>
            <a:r>
              <a:rPr lang="en-US" dirty="0"/>
              <a:t>output </a:t>
            </a:r>
            <a:r>
              <a:rPr lang="en-US" dirty="0" smtClean="0"/>
              <a:t>devices. </a:t>
            </a:r>
          </a:p>
        </p:txBody>
      </p:sp>
    </p:spTree>
    <p:extLst>
      <p:ext uri="{BB962C8B-B14F-4D97-AF65-F5344CB8AC3E}">
        <p14:creationId xmlns:p14="http://schemas.microsoft.com/office/powerpoint/2010/main" val="487688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85800"/>
            <a:ext cx="7498080" cy="5562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For </a:t>
            </a:r>
            <a:r>
              <a:rPr lang="en-US" dirty="0"/>
              <a:t>every instruction, the </a:t>
            </a:r>
            <a:r>
              <a:rPr lang="en-US" dirty="0" smtClean="0"/>
              <a:t>Control </a:t>
            </a:r>
            <a:r>
              <a:rPr lang="en-US" dirty="0"/>
              <a:t>U</a:t>
            </a:r>
            <a:r>
              <a:rPr lang="en-US" dirty="0" smtClean="0"/>
              <a:t>nit </a:t>
            </a:r>
            <a:r>
              <a:rPr lang="en-US" dirty="0"/>
              <a:t>carries out four basic operations, known as the </a:t>
            </a:r>
            <a:r>
              <a:rPr lang="en-US" i="1" dirty="0"/>
              <a:t>machine cycle</a:t>
            </a:r>
            <a:r>
              <a:rPr lang="en-US" i="1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the </a:t>
            </a:r>
            <a:r>
              <a:rPr lang="en-US" b="1" i="1" dirty="0"/>
              <a:t>machine cycle, </a:t>
            </a:r>
            <a:r>
              <a:rPr lang="en-US" b="1" dirty="0"/>
              <a:t>the CPU </a:t>
            </a:r>
          </a:p>
          <a:p>
            <a:pPr lvl="1"/>
            <a:r>
              <a:rPr lang="en-US" b="1" dirty="0" smtClean="0"/>
              <a:t>(1) fetches an instruction or data 	item from the memory, </a:t>
            </a:r>
          </a:p>
          <a:p>
            <a:pPr lvl="1"/>
            <a:r>
              <a:rPr lang="en-US" b="1" dirty="0" smtClean="0"/>
              <a:t>(2) decodes the instruction into a command a computer can understand,</a:t>
            </a:r>
          </a:p>
          <a:p>
            <a:pPr lvl="1"/>
            <a:r>
              <a:rPr lang="en-US" b="1" dirty="0" smtClean="0"/>
              <a:t>(3) executes the instruction or command, and </a:t>
            </a:r>
          </a:p>
          <a:p>
            <a:pPr lvl="1"/>
            <a:r>
              <a:rPr lang="en-US" b="1" dirty="0" smtClean="0"/>
              <a:t>(</a:t>
            </a:r>
            <a:r>
              <a:rPr lang="en-US" b="1" dirty="0"/>
              <a:t>4) stores </a:t>
            </a:r>
            <a:r>
              <a:rPr lang="en-US" b="1" dirty="0" smtClean="0"/>
              <a:t>or write the results to the memory.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715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228600"/>
            <a:ext cx="749808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 some computers, the processor </a:t>
            </a:r>
            <a:r>
              <a:rPr lang="en-US" dirty="0" smtClean="0"/>
              <a:t>fetches, decodes</a:t>
            </a:r>
            <a:r>
              <a:rPr lang="en-US" dirty="0"/>
              <a:t>, executes, and stores only one </a:t>
            </a:r>
            <a:r>
              <a:rPr lang="en-US" dirty="0" smtClean="0"/>
              <a:t>instruction at </a:t>
            </a:r>
            <a:r>
              <a:rPr lang="en-US" dirty="0"/>
              <a:t>a time.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these computers, the </a:t>
            </a:r>
            <a:r>
              <a:rPr lang="en-US" dirty="0" smtClean="0"/>
              <a:t>processor waits </a:t>
            </a:r>
            <a:r>
              <a:rPr lang="en-US" dirty="0"/>
              <a:t>until an instruction completes </a:t>
            </a:r>
            <a:r>
              <a:rPr lang="en-US" dirty="0" smtClean="0"/>
              <a:t>all four </a:t>
            </a:r>
            <a:r>
              <a:rPr lang="en-US" dirty="0"/>
              <a:t>stages of the machine cycle (fetch, </a:t>
            </a:r>
            <a:r>
              <a:rPr lang="en-US" dirty="0" smtClean="0"/>
              <a:t>decode, execute</a:t>
            </a:r>
            <a:r>
              <a:rPr lang="en-US" dirty="0"/>
              <a:t>, and store) before beginning work </a:t>
            </a:r>
            <a:r>
              <a:rPr lang="en-US" dirty="0" smtClean="0"/>
              <a:t>on the </a:t>
            </a:r>
            <a:r>
              <a:rPr lang="en-US" dirty="0"/>
              <a:t>next instruction.</a:t>
            </a:r>
          </a:p>
          <a:p>
            <a:r>
              <a:rPr lang="en-US" dirty="0"/>
              <a:t>Most of today’s personal computers </a:t>
            </a:r>
            <a:r>
              <a:rPr lang="en-US" dirty="0" smtClean="0"/>
              <a:t>support a </a:t>
            </a:r>
            <a:r>
              <a:rPr lang="en-US" dirty="0"/>
              <a:t>concept called pipelining.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i="1" dirty="0"/>
              <a:t>pipelining</a:t>
            </a:r>
            <a:r>
              <a:rPr lang="en-US" dirty="0"/>
              <a:t>, </a:t>
            </a:r>
            <a:r>
              <a:rPr lang="en-US" dirty="0" smtClean="0"/>
              <a:t>the processor </a:t>
            </a:r>
            <a:r>
              <a:rPr lang="en-US" dirty="0"/>
              <a:t>begins fetching a second </a:t>
            </a:r>
            <a:r>
              <a:rPr lang="en-US" dirty="0" smtClean="0"/>
              <a:t>instruction before </a:t>
            </a:r>
            <a:r>
              <a:rPr lang="en-US" dirty="0"/>
              <a:t>it completes the machine cycle for </a:t>
            </a:r>
            <a:r>
              <a:rPr lang="en-US" dirty="0" smtClean="0"/>
              <a:t>the first </a:t>
            </a:r>
            <a:r>
              <a:rPr lang="en-US" dirty="0"/>
              <a:t>instruction. </a:t>
            </a:r>
            <a:endParaRPr lang="en-US" dirty="0" smtClean="0"/>
          </a:p>
          <a:p>
            <a:r>
              <a:rPr lang="en-US" dirty="0" smtClean="0"/>
              <a:t>Processors </a:t>
            </a:r>
            <a:r>
              <a:rPr lang="en-US" dirty="0"/>
              <a:t>that use </a:t>
            </a:r>
            <a:r>
              <a:rPr lang="en-US" dirty="0" smtClean="0"/>
              <a:t>pipelining are </a:t>
            </a:r>
            <a:r>
              <a:rPr lang="en-US" dirty="0"/>
              <a:t>faster because they do not have to wait </a:t>
            </a:r>
            <a:r>
              <a:rPr lang="en-US" dirty="0" smtClean="0"/>
              <a:t>for one </a:t>
            </a:r>
            <a:r>
              <a:rPr lang="en-US" dirty="0"/>
              <a:t>instruction to complete the machine </a:t>
            </a:r>
            <a:r>
              <a:rPr lang="en-US" dirty="0" smtClean="0"/>
              <a:t>cycle before </a:t>
            </a:r>
            <a:r>
              <a:rPr lang="en-US" dirty="0"/>
              <a:t>fetching the next.</a:t>
            </a:r>
          </a:p>
        </p:txBody>
      </p:sp>
    </p:spTree>
    <p:extLst>
      <p:ext uri="{BB962C8B-B14F-4D97-AF65-F5344CB8AC3E}">
        <p14:creationId xmlns:p14="http://schemas.microsoft.com/office/powerpoint/2010/main" val="2939604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85800"/>
            <a:ext cx="7498080" cy="55626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2. The arithmetic/logic unit— for </a:t>
            </a:r>
            <a:r>
              <a:rPr lang="en-US" b="1" dirty="0"/>
              <a:t>arithmetic and </a:t>
            </a:r>
            <a:r>
              <a:rPr lang="en-US" b="1" dirty="0" smtClean="0"/>
              <a:t>logical operations</a:t>
            </a:r>
            <a:r>
              <a:rPr lang="en-US" b="1" dirty="0"/>
              <a:t>: </a:t>
            </a:r>
            <a:endParaRPr lang="en-US" b="1" dirty="0" smtClean="0"/>
          </a:p>
          <a:p>
            <a:r>
              <a:rPr lang="en-US" b="1" i="1" dirty="0" smtClean="0"/>
              <a:t>ALU</a:t>
            </a:r>
            <a:r>
              <a:rPr lang="en-US" b="1" i="1" dirty="0"/>
              <a:t> </a:t>
            </a:r>
            <a:r>
              <a:rPr lang="en-US" b="1" i="1" dirty="0" smtClean="0"/>
              <a:t>- </a:t>
            </a:r>
            <a:r>
              <a:rPr lang="en-US" b="1" dirty="0" smtClean="0"/>
              <a:t>performs arithmetic operations </a:t>
            </a:r>
            <a:r>
              <a:rPr lang="en-US" b="1" dirty="0"/>
              <a:t>and logical </a:t>
            </a:r>
            <a:r>
              <a:rPr lang="en-US" b="1" dirty="0" smtClean="0"/>
              <a:t>operations and </a:t>
            </a:r>
            <a:r>
              <a:rPr lang="en-US" b="1" dirty="0"/>
              <a:t>controls the speed of </a:t>
            </a:r>
            <a:r>
              <a:rPr lang="en-US" b="1" dirty="0" smtClean="0"/>
              <a:t>those operations.</a:t>
            </a:r>
          </a:p>
          <a:p>
            <a:r>
              <a:rPr lang="en-US" dirty="0" smtClean="0"/>
              <a:t>A</a:t>
            </a:r>
            <a:r>
              <a:rPr lang="en-US" i="1" dirty="0" smtClean="0"/>
              <a:t>rithmetic </a:t>
            </a:r>
            <a:r>
              <a:rPr lang="en-US" i="1" dirty="0"/>
              <a:t>operations </a:t>
            </a:r>
            <a:r>
              <a:rPr lang="en-US" dirty="0"/>
              <a:t>are </a:t>
            </a:r>
            <a:r>
              <a:rPr lang="en-US" dirty="0" smtClean="0"/>
              <a:t>major math </a:t>
            </a:r>
            <a:r>
              <a:rPr lang="en-US" dirty="0"/>
              <a:t>operations: addition, subtraction, multiplication, </a:t>
            </a:r>
            <a:r>
              <a:rPr lang="en-US" dirty="0" smtClean="0"/>
              <a:t>and division. </a:t>
            </a:r>
          </a:p>
          <a:p>
            <a:r>
              <a:rPr lang="en-US" i="1" dirty="0" smtClean="0"/>
              <a:t>Logical </a:t>
            </a:r>
            <a:r>
              <a:rPr lang="en-US" i="1" dirty="0"/>
              <a:t>operations </a:t>
            </a:r>
            <a:r>
              <a:rPr lang="en-US" dirty="0"/>
              <a:t>are comparisons. </a:t>
            </a:r>
            <a:endParaRPr lang="en-US" dirty="0" smtClean="0"/>
          </a:p>
          <a:p>
            <a:r>
              <a:rPr lang="en-US" dirty="0" smtClean="0"/>
              <a:t>That </a:t>
            </a:r>
            <a:r>
              <a:rPr lang="en-US" dirty="0"/>
              <a:t>is, </a:t>
            </a:r>
            <a:r>
              <a:rPr lang="en-US" dirty="0" smtClean="0"/>
              <a:t>ALU </a:t>
            </a:r>
            <a:r>
              <a:rPr lang="en-US" dirty="0"/>
              <a:t>compares </a:t>
            </a:r>
            <a:r>
              <a:rPr lang="en-US" dirty="0" smtClean="0"/>
              <a:t>two pieces </a:t>
            </a:r>
            <a:r>
              <a:rPr lang="en-US" dirty="0"/>
              <a:t>of data to see whether one is equal to </a:t>
            </a:r>
            <a:r>
              <a:rPr lang="en-US" dirty="0" smtClean="0"/>
              <a:t>(=), </a:t>
            </a:r>
            <a:r>
              <a:rPr lang="en-US" dirty="0"/>
              <a:t>greater than (&gt;), </a:t>
            </a:r>
            <a:r>
              <a:rPr lang="en-US" dirty="0" smtClean="0"/>
              <a:t>greater than </a:t>
            </a:r>
            <a:r>
              <a:rPr lang="en-US" dirty="0"/>
              <a:t>or equal to </a:t>
            </a:r>
            <a:r>
              <a:rPr lang="en-US" dirty="0" smtClean="0"/>
              <a:t>(&gt;=), </a:t>
            </a:r>
            <a:r>
              <a:rPr lang="en-US" dirty="0"/>
              <a:t>less than (&lt;), less than or equal to </a:t>
            </a:r>
            <a:r>
              <a:rPr lang="en-US" dirty="0" smtClean="0"/>
              <a:t>(&lt;=), </a:t>
            </a:r>
            <a:r>
              <a:rPr lang="en-US" dirty="0"/>
              <a:t>or not </a:t>
            </a:r>
            <a:r>
              <a:rPr lang="en-US" dirty="0" smtClean="0"/>
              <a:t>equal to </a:t>
            </a:r>
            <a:r>
              <a:rPr lang="en-US" dirty="0"/>
              <a:t>(≠) the other</a:t>
            </a:r>
            <a:r>
              <a:rPr lang="en-US" dirty="0" smtClean="0"/>
              <a:t>.</a:t>
            </a:r>
          </a:p>
          <a:p>
            <a:r>
              <a:rPr lang="en-US" dirty="0" smtClean="0"/>
              <a:t>ALU - Performs </a:t>
            </a:r>
            <a:r>
              <a:rPr lang="en-US" dirty="0"/>
              <a:t>the execution part of the machine cycle.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043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Registers—small </a:t>
            </a:r>
            <a:r>
              <a:rPr lang="en-US" b="1" dirty="0"/>
              <a:t>high-speed storage areas that temporarily store data during processing. </a:t>
            </a:r>
            <a:endParaRPr lang="en-US" b="1" dirty="0" smtClean="0"/>
          </a:p>
          <a:p>
            <a:r>
              <a:rPr lang="en-US" dirty="0" smtClean="0"/>
              <a:t>Control </a:t>
            </a:r>
            <a:r>
              <a:rPr lang="en-US" dirty="0"/>
              <a:t>U</a:t>
            </a:r>
            <a:r>
              <a:rPr lang="en-US" dirty="0" smtClean="0"/>
              <a:t>nit </a:t>
            </a:r>
            <a:r>
              <a:rPr lang="en-US" dirty="0"/>
              <a:t>and </a:t>
            </a:r>
            <a:r>
              <a:rPr lang="en-US" dirty="0" smtClean="0"/>
              <a:t>the ALU </a:t>
            </a:r>
            <a:r>
              <a:rPr lang="en-US" dirty="0"/>
              <a:t>also use registers, </a:t>
            </a:r>
            <a:r>
              <a:rPr lang="en-US" dirty="0" smtClean="0"/>
              <a:t>Registers enhance </a:t>
            </a:r>
            <a:r>
              <a:rPr lang="en-US" dirty="0"/>
              <a:t>the </a:t>
            </a:r>
            <a:r>
              <a:rPr lang="en-US" dirty="0" smtClean="0"/>
              <a:t>computer’s performance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Registers </a:t>
            </a:r>
            <a:r>
              <a:rPr lang="en-US" dirty="0"/>
              <a:t>are part of </a:t>
            </a:r>
            <a:r>
              <a:rPr lang="en-US" dirty="0" smtClean="0"/>
              <a:t>the processor</a:t>
            </a:r>
            <a:r>
              <a:rPr lang="en-US" dirty="0"/>
              <a:t>, not part of memory or a </a:t>
            </a:r>
            <a:r>
              <a:rPr lang="en-US" dirty="0" smtClean="0"/>
              <a:t>permanent storage </a:t>
            </a:r>
            <a:r>
              <a:rPr lang="en-US" dirty="0"/>
              <a:t>device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are different types </a:t>
            </a:r>
            <a:r>
              <a:rPr lang="en-US" dirty="0"/>
              <a:t>of </a:t>
            </a:r>
            <a:r>
              <a:rPr lang="en-US" dirty="0" smtClean="0"/>
              <a:t>registers each </a:t>
            </a:r>
            <a:r>
              <a:rPr lang="en-US" dirty="0"/>
              <a:t>with a specific </a:t>
            </a:r>
            <a:r>
              <a:rPr lang="en-US" dirty="0" smtClean="0"/>
              <a:t>storage function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Register </a:t>
            </a:r>
            <a:r>
              <a:rPr lang="en-US" dirty="0"/>
              <a:t>functions include storing </a:t>
            </a:r>
            <a:r>
              <a:rPr lang="en-US" dirty="0" smtClean="0"/>
              <a:t>the location </a:t>
            </a:r>
            <a:r>
              <a:rPr lang="en-US" dirty="0"/>
              <a:t>from where an instruction was </a:t>
            </a:r>
            <a:r>
              <a:rPr lang="en-US" dirty="0" smtClean="0"/>
              <a:t>fetched, storing </a:t>
            </a:r>
            <a:r>
              <a:rPr lang="en-US" dirty="0"/>
              <a:t>an instruction while the control </a:t>
            </a:r>
            <a:r>
              <a:rPr lang="en-US" dirty="0" smtClean="0"/>
              <a:t>unit decodes </a:t>
            </a:r>
            <a:r>
              <a:rPr lang="en-US" dirty="0"/>
              <a:t>it, storing data while the ALU </a:t>
            </a:r>
            <a:r>
              <a:rPr lang="en-US" dirty="0" smtClean="0"/>
              <a:t>computes it</a:t>
            </a:r>
            <a:r>
              <a:rPr lang="en-US" dirty="0"/>
              <a:t>, and storing the results of a calculation.</a:t>
            </a:r>
            <a:endParaRPr lang="en-US" b="1" dirty="0" smtClean="0"/>
          </a:p>
          <a:p>
            <a:r>
              <a:rPr lang="en-US" dirty="0"/>
              <a:t>There are several types of registers, including </a:t>
            </a:r>
            <a:r>
              <a:rPr lang="en-US" i="1" dirty="0"/>
              <a:t>instruction register, address register, storage register, </a:t>
            </a:r>
            <a:r>
              <a:rPr lang="en-US" dirty="0"/>
              <a:t>and </a:t>
            </a:r>
            <a:r>
              <a:rPr lang="en-US" i="1" dirty="0"/>
              <a:t>accumulator register.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704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r>
              <a:rPr lang="en-US" dirty="0"/>
              <a:t>All data must be represented in a register before it can be processed.</a:t>
            </a:r>
          </a:p>
          <a:p>
            <a:r>
              <a:rPr lang="en-US" dirty="0" smtClean="0"/>
              <a:t>E.g. </a:t>
            </a:r>
            <a:r>
              <a:rPr lang="en-US" dirty="0"/>
              <a:t>if two numbers are to be multiplied, both numbers </a:t>
            </a:r>
            <a:r>
              <a:rPr lang="en-US" dirty="0" smtClean="0"/>
              <a:t>must be </a:t>
            </a:r>
            <a:r>
              <a:rPr lang="en-US" dirty="0"/>
              <a:t>in registers, and the result is also placed in a register.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8649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Processor Cooling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Processor chips generate </a:t>
            </a:r>
            <a:r>
              <a:rPr lang="en-US" dirty="0" smtClean="0"/>
              <a:t>a lot of heat</a:t>
            </a:r>
            <a:r>
              <a:rPr lang="en-US" dirty="0"/>
              <a:t>, which could cause the chip to burn up.</a:t>
            </a:r>
          </a:p>
          <a:p>
            <a:r>
              <a:rPr lang="en-US" dirty="0" smtClean="0"/>
              <a:t>Because of that, computers has a </a:t>
            </a:r>
            <a:r>
              <a:rPr lang="en-US" dirty="0"/>
              <a:t>fan </a:t>
            </a:r>
            <a:r>
              <a:rPr lang="en-US" dirty="0" smtClean="0"/>
              <a:t>that generates airflo</a:t>
            </a:r>
            <a:r>
              <a:rPr lang="en-US" dirty="0" smtClean="0"/>
              <a:t>w but the </a:t>
            </a:r>
            <a:r>
              <a:rPr lang="en-US" dirty="0" smtClean="0"/>
              <a:t>processors </a:t>
            </a:r>
            <a:r>
              <a:rPr lang="en-US" dirty="0" smtClean="0"/>
              <a:t>require </a:t>
            </a:r>
            <a:r>
              <a:rPr lang="en-US" dirty="0"/>
              <a:t>additional cooling. </a:t>
            </a:r>
            <a:endParaRPr lang="en-US" dirty="0" smtClean="0"/>
          </a:p>
          <a:p>
            <a:r>
              <a:rPr lang="en-US" dirty="0" smtClean="0"/>
              <a:t>Heat sinks/ pipes </a:t>
            </a:r>
            <a:r>
              <a:rPr lang="en-US" dirty="0"/>
              <a:t>and liquid cooling technologies often </a:t>
            </a:r>
            <a:r>
              <a:rPr lang="en-US" dirty="0" smtClean="0"/>
              <a:t>are used </a:t>
            </a:r>
            <a:r>
              <a:rPr lang="en-US" dirty="0"/>
              <a:t>to help dissipate </a:t>
            </a:r>
            <a:r>
              <a:rPr lang="en-US" dirty="0" smtClean="0"/>
              <a:t>(drive away,  </a:t>
            </a:r>
            <a:r>
              <a:rPr lang="en-US" dirty="0" err="1" smtClean="0"/>
              <a:t>disolve</a:t>
            </a:r>
            <a:r>
              <a:rPr lang="en-US" dirty="0" smtClean="0"/>
              <a:t>, dispel) </a:t>
            </a:r>
            <a:r>
              <a:rPr lang="en-US" dirty="0" smtClean="0"/>
              <a:t>processor </a:t>
            </a:r>
            <a:r>
              <a:rPr lang="en-US" dirty="0"/>
              <a:t>heat</a:t>
            </a:r>
            <a:r>
              <a:rPr lang="en-US" dirty="0" smtClean="0"/>
              <a:t>.</a:t>
            </a:r>
          </a:p>
          <a:p>
            <a:r>
              <a:rPr lang="en-US" dirty="0"/>
              <a:t>A </a:t>
            </a:r>
            <a:r>
              <a:rPr lang="en-US" i="1" dirty="0"/>
              <a:t>heat sink </a:t>
            </a:r>
            <a:r>
              <a:rPr lang="en-US" dirty="0"/>
              <a:t>is a small ceramic or metal </a:t>
            </a:r>
            <a:r>
              <a:rPr lang="en-US" dirty="0" smtClean="0"/>
              <a:t>component with </a:t>
            </a:r>
            <a:r>
              <a:rPr lang="en-US" dirty="0"/>
              <a:t>fins on its surface that absorbs </a:t>
            </a:r>
            <a:r>
              <a:rPr lang="en-US" dirty="0" smtClean="0"/>
              <a:t>and disperses </a:t>
            </a:r>
            <a:r>
              <a:rPr lang="en-US" dirty="0"/>
              <a:t>heat produced by electrical </a:t>
            </a:r>
            <a:r>
              <a:rPr lang="en-US" dirty="0" smtClean="0"/>
              <a:t>components such </a:t>
            </a:r>
            <a:r>
              <a:rPr lang="en-US" dirty="0"/>
              <a:t>as a processor</a:t>
            </a:r>
          </a:p>
        </p:txBody>
      </p:sp>
    </p:spTree>
    <p:extLst>
      <p:ext uri="{BB962C8B-B14F-4D97-AF65-F5344CB8AC3E}">
        <p14:creationId xmlns:p14="http://schemas.microsoft.com/office/powerpoint/2010/main" val="1911680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Some heat </a:t>
            </a:r>
            <a:r>
              <a:rPr lang="en-US" dirty="0"/>
              <a:t>sinks are packaged as part of a </a:t>
            </a:r>
            <a:r>
              <a:rPr lang="en-US" dirty="0" smtClean="0"/>
              <a:t>processor chip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Others </a:t>
            </a:r>
            <a:r>
              <a:rPr lang="en-US" dirty="0"/>
              <a:t>are installed on the top or the </a:t>
            </a:r>
            <a:r>
              <a:rPr lang="en-US" dirty="0" smtClean="0"/>
              <a:t>side of </a:t>
            </a:r>
            <a:r>
              <a:rPr lang="en-US" dirty="0"/>
              <a:t>the </a:t>
            </a:r>
            <a:r>
              <a:rPr lang="en-US" dirty="0" smtClean="0"/>
              <a:t>processor </a:t>
            </a:r>
            <a:r>
              <a:rPr lang="en-US" dirty="0" smtClean="0"/>
              <a:t>chip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Because </a:t>
            </a:r>
            <a:r>
              <a:rPr lang="en-US" dirty="0"/>
              <a:t>a heat sink consumes </a:t>
            </a:r>
            <a:r>
              <a:rPr lang="en-US" dirty="0" smtClean="0"/>
              <a:t>extra space</a:t>
            </a:r>
            <a:r>
              <a:rPr lang="en-US" dirty="0"/>
              <a:t>, a smaller device called a </a:t>
            </a:r>
            <a:r>
              <a:rPr lang="en-US" i="1" dirty="0"/>
              <a:t>heat pipe </a:t>
            </a:r>
            <a:r>
              <a:rPr lang="en-US" dirty="0" smtClean="0"/>
              <a:t>cools processors </a:t>
            </a:r>
            <a:r>
              <a:rPr lang="en-US" dirty="0"/>
              <a:t>in notebook computers, </a:t>
            </a:r>
            <a:r>
              <a:rPr lang="en-US" dirty="0" smtClean="0"/>
              <a:t>including netbooks </a:t>
            </a:r>
            <a:r>
              <a:rPr lang="en-US" dirty="0"/>
              <a:t>and Tablet PCs.</a:t>
            </a:r>
          </a:p>
          <a:p>
            <a:r>
              <a:rPr lang="en-US" dirty="0"/>
              <a:t>Some computers use liquid cooling </a:t>
            </a:r>
            <a:r>
              <a:rPr lang="en-US" dirty="0" smtClean="0"/>
              <a:t>technology to </a:t>
            </a:r>
            <a:r>
              <a:rPr lang="en-US" dirty="0"/>
              <a:t>reduce the temperature of a processor. </a:t>
            </a:r>
            <a:endParaRPr lang="en-US" dirty="0" smtClean="0"/>
          </a:p>
          <a:p>
            <a:r>
              <a:rPr lang="en-US" i="1" dirty="0" smtClean="0"/>
              <a:t>Liquid</a:t>
            </a:r>
            <a:r>
              <a:rPr lang="en-US" i="1" dirty="0"/>
              <a:t> </a:t>
            </a:r>
            <a:r>
              <a:rPr lang="en-US" i="1" dirty="0" smtClean="0"/>
              <a:t>cooling </a:t>
            </a:r>
            <a:r>
              <a:rPr lang="en-US" i="1" dirty="0"/>
              <a:t>technology </a:t>
            </a:r>
            <a:r>
              <a:rPr lang="en-US" dirty="0"/>
              <a:t>uses a continuous flow </a:t>
            </a:r>
            <a:r>
              <a:rPr lang="en-US" dirty="0" smtClean="0"/>
              <a:t>of fluid(s</a:t>
            </a:r>
            <a:r>
              <a:rPr lang="en-US" dirty="0"/>
              <a:t>), such as water and glycol, in a </a:t>
            </a:r>
            <a:r>
              <a:rPr lang="en-US" dirty="0" smtClean="0"/>
              <a:t>process that </a:t>
            </a:r>
            <a:r>
              <a:rPr lang="en-US" dirty="0"/>
              <a:t>transfers the heated fluid away from the</a:t>
            </a:r>
          </a:p>
        </p:txBody>
      </p:sp>
    </p:spTree>
    <p:extLst>
      <p:ext uri="{BB962C8B-B14F-4D97-AF65-F5344CB8AC3E}">
        <p14:creationId xmlns:p14="http://schemas.microsoft.com/office/powerpoint/2010/main" val="1756207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6019800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Buses </a:t>
            </a:r>
          </a:p>
          <a:p>
            <a:r>
              <a:rPr lang="en-US" b="1" i="1" dirty="0" smtClean="0"/>
              <a:t>Buses </a:t>
            </a:r>
            <a:r>
              <a:rPr lang="en-US" b="1" dirty="0" smtClean="0"/>
              <a:t>or </a:t>
            </a:r>
            <a:r>
              <a:rPr lang="en-US" b="1" i="1" dirty="0"/>
              <a:t>bus lines, </a:t>
            </a:r>
            <a:r>
              <a:rPr lang="en-US" b="1" dirty="0"/>
              <a:t>are electrical </a:t>
            </a:r>
            <a:r>
              <a:rPr lang="en-US" b="1" dirty="0" smtClean="0"/>
              <a:t>data roadways </a:t>
            </a:r>
            <a:r>
              <a:rPr lang="en-US" b="1" dirty="0"/>
              <a:t>through which bits are transmitted within the CPU </a:t>
            </a:r>
            <a:r>
              <a:rPr lang="en-US" b="1" dirty="0" smtClean="0"/>
              <a:t>and between </a:t>
            </a:r>
            <a:r>
              <a:rPr lang="en-US" b="1" dirty="0"/>
              <a:t>the CPU and other components of the motherboard. </a:t>
            </a:r>
            <a:endParaRPr lang="en-US" b="1" dirty="0" smtClean="0"/>
          </a:p>
          <a:p>
            <a:r>
              <a:rPr lang="en-US" dirty="0"/>
              <a:t>A bus is a data path between several hardware components inside or outside a </a:t>
            </a:r>
            <a:r>
              <a:rPr lang="en-US" dirty="0" smtClean="0"/>
              <a:t>computer.</a:t>
            </a:r>
          </a:p>
          <a:p>
            <a:r>
              <a:rPr lang="en-US" dirty="0"/>
              <a:t>It connects parts of a CPU and other hardware. </a:t>
            </a:r>
          </a:p>
          <a:p>
            <a:r>
              <a:rPr lang="en-US" dirty="0"/>
              <a:t>The capacity is expressed in </a:t>
            </a:r>
            <a:r>
              <a:rPr lang="en-US" dirty="0" smtClean="0"/>
              <a:t>bits</a:t>
            </a:r>
            <a:endParaRPr lang="en-US" dirty="0"/>
          </a:p>
          <a:p>
            <a:r>
              <a:rPr lang="en-US" dirty="0"/>
              <a:t>The larger the bus the faster, for example, a 32 bit bus is faster than 8 bit bus. </a:t>
            </a:r>
            <a:endParaRPr lang="en-US" b="1" dirty="0" smtClean="0"/>
          </a:p>
          <a:p>
            <a:r>
              <a:rPr lang="en-US" dirty="0" smtClean="0"/>
              <a:t>A bus </a:t>
            </a:r>
            <a:r>
              <a:rPr lang="en-US" dirty="0"/>
              <a:t>resembles a multilane highway: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more lanes it has, the </a:t>
            </a:r>
            <a:r>
              <a:rPr lang="en-US" dirty="0" smtClean="0"/>
              <a:t>faster the </a:t>
            </a:r>
            <a:r>
              <a:rPr lang="en-US" dirty="0"/>
              <a:t>bits can be transferred. </a:t>
            </a:r>
            <a:endParaRPr lang="en-US" dirty="0" smtClean="0"/>
          </a:p>
          <a:p>
            <a:pPr lvl="1"/>
            <a:r>
              <a:rPr lang="en-US" dirty="0"/>
              <a:t>A </a:t>
            </a:r>
            <a:r>
              <a:rPr lang="en-US" i="1" dirty="0" smtClean="0"/>
              <a:t>bit </a:t>
            </a:r>
            <a:r>
              <a:rPr lang="en-US" dirty="0" smtClean="0"/>
              <a:t>is </a:t>
            </a:r>
            <a:r>
              <a:rPr lang="en-US" dirty="0"/>
              <a:t>the smallest unit of information </a:t>
            </a:r>
            <a:r>
              <a:rPr lang="en-US" dirty="0" smtClean="0"/>
              <a:t>used by </a:t>
            </a:r>
            <a:r>
              <a:rPr lang="en-US" dirty="0"/>
              <a:t>computers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data transmission speeds are measured in </a:t>
            </a:r>
            <a:r>
              <a:rPr lang="en-US" i="1" dirty="0"/>
              <a:t>bits, </a:t>
            </a:r>
            <a:r>
              <a:rPr lang="en-US" i="1" dirty="0" smtClean="0"/>
              <a:t>kilobits, megabits</a:t>
            </a:r>
            <a:r>
              <a:rPr lang="en-US" i="1" dirty="0"/>
              <a:t>, </a:t>
            </a:r>
            <a:r>
              <a:rPr lang="en-US" dirty="0"/>
              <a:t>and </a:t>
            </a:r>
            <a:r>
              <a:rPr lang="en-US" i="1" dirty="0"/>
              <a:t>gigabits </a:t>
            </a:r>
            <a:r>
              <a:rPr lang="en-US" dirty="0"/>
              <a:t>per second</a:t>
            </a:r>
            <a:endParaRPr lang="en-US" dirty="0" smtClean="0"/>
          </a:p>
          <a:p>
            <a:r>
              <a:rPr lang="en-US" dirty="0" smtClean="0"/>
              <a:t>8-bit-word </a:t>
            </a:r>
            <a:r>
              <a:rPr lang="en-US" dirty="0"/>
              <a:t>bus </a:t>
            </a:r>
            <a:r>
              <a:rPr lang="en-US" dirty="0" smtClean="0"/>
              <a:t>of early microprocessors </a:t>
            </a:r>
            <a:r>
              <a:rPr lang="en-US" dirty="0"/>
              <a:t>had only eight pathways.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is transmitted four </a:t>
            </a:r>
            <a:r>
              <a:rPr lang="en-US" dirty="0" smtClean="0"/>
              <a:t>times faster </a:t>
            </a:r>
            <a:r>
              <a:rPr lang="en-US" dirty="0"/>
              <a:t>in a computer with a 32-bit bus, which has 32 pathways, than in </a:t>
            </a:r>
            <a:r>
              <a:rPr lang="en-US" dirty="0" smtClean="0"/>
              <a:t>a computer </a:t>
            </a:r>
            <a:r>
              <a:rPr lang="en-US" dirty="0"/>
              <a:t>with an 8-bit bus. </a:t>
            </a:r>
            <a:endParaRPr lang="en-US" dirty="0" smtClean="0"/>
          </a:p>
          <a:p>
            <a:r>
              <a:rPr lang="en-US" dirty="0" smtClean="0"/>
              <a:t>Supercomputers have 128-bit </a:t>
            </a:r>
            <a:r>
              <a:rPr lang="en-US" dirty="0"/>
              <a:t>processors</a:t>
            </a:r>
            <a:r>
              <a:rPr lang="en-US" dirty="0" smtClean="0"/>
              <a:t>.</a:t>
            </a:r>
          </a:p>
          <a:p>
            <a:r>
              <a:rPr lang="en-US" dirty="0"/>
              <a:t>There are three main bus architectures: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03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dirty="0" smtClean="0"/>
              <a:t>a</a:t>
            </a:r>
            <a:r>
              <a:rPr lang="en-US" dirty="0"/>
              <a:t>. ISA (Industrial Standard Architecture) </a:t>
            </a:r>
          </a:p>
          <a:p>
            <a:r>
              <a:rPr lang="en-US" dirty="0" smtClean="0"/>
              <a:t>This </a:t>
            </a:r>
            <a:r>
              <a:rPr lang="en-US" dirty="0"/>
              <a:t>is the original PC bus architecture </a:t>
            </a:r>
          </a:p>
          <a:p>
            <a:r>
              <a:rPr lang="en-US" dirty="0" smtClean="0"/>
              <a:t>It </a:t>
            </a:r>
            <a:r>
              <a:rPr lang="en-US" dirty="0"/>
              <a:t>includes 8 bit (PC, XT) and 16 bit (AT) buses in IBM personal computer series and compatibles. </a:t>
            </a:r>
          </a:p>
          <a:p>
            <a:r>
              <a:rPr lang="en-US" dirty="0" smtClean="0"/>
              <a:t>Now </a:t>
            </a:r>
            <a:r>
              <a:rPr lang="en-US" dirty="0"/>
              <a:t>it refers to 16 bit AT bus. 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b. MCA (Micro Channel Architecture) </a:t>
            </a:r>
          </a:p>
          <a:p>
            <a:r>
              <a:rPr lang="en-US" dirty="0" smtClean="0"/>
              <a:t>A </a:t>
            </a:r>
            <a:r>
              <a:rPr lang="en-US" dirty="0"/>
              <a:t>32 bit bus used in IBM P/S 2 series and other IBM modules. </a:t>
            </a:r>
          </a:p>
          <a:p>
            <a:r>
              <a:rPr lang="en-US" dirty="0" smtClean="0"/>
              <a:t>This </a:t>
            </a:r>
            <a:r>
              <a:rPr lang="en-US" dirty="0"/>
              <a:t>architecture allows multiprocessing that allows several processors to work simultaneously. </a:t>
            </a:r>
          </a:p>
          <a:p>
            <a:r>
              <a:rPr lang="en-US" dirty="0" smtClean="0"/>
              <a:t>MCA </a:t>
            </a:r>
            <a:r>
              <a:rPr lang="en-US" dirty="0"/>
              <a:t>is not compatible with PC bus architecture. 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c. EISA (Extended Industrial Standard Architecture) </a:t>
            </a:r>
          </a:p>
          <a:p>
            <a:r>
              <a:rPr lang="en-US" dirty="0" smtClean="0"/>
              <a:t>Extends </a:t>
            </a:r>
            <a:r>
              <a:rPr lang="en-US" dirty="0"/>
              <a:t>AT bus (ISA) architecture to 32 bit bus. </a:t>
            </a:r>
          </a:p>
          <a:p>
            <a:r>
              <a:rPr lang="en-US" dirty="0" smtClean="0"/>
              <a:t>It </a:t>
            </a:r>
            <a:r>
              <a:rPr lang="en-US" dirty="0"/>
              <a:t>allows more than one CPU to share the bus. </a:t>
            </a:r>
          </a:p>
          <a:p>
            <a:r>
              <a:rPr lang="en-US" dirty="0"/>
              <a:t>Extends and amends the old ISA standard so that the existing AT expansion board can work with an EISA slot </a:t>
            </a:r>
          </a:p>
        </p:txBody>
      </p:sp>
    </p:spTree>
    <p:extLst>
      <p:ext uri="{BB962C8B-B14F-4D97-AF65-F5344CB8AC3E}">
        <p14:creationId xmlns:p14="http://schemas.microsoft.com/office/powerpoint/2010/main" val="213150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4. </a:t>
            </a:r>
            <a:r>
              <a:rPr lang="en-US" b="1" dirty="0"/>
              <a:t>Expansion Slots and </a:t>
            </a:r>
            <a:r>
              <a:rPr lang="en-US" b="1" dirty="0" smtClean="0"/>
              <a:t>Adapter Cards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An </a:t>
            </a:r>
            <a:r>
              <a:rPr lang="en-US" b="1" dirty="0"/>
              <a:t>expansion slot </a:t>
            </a:r>
            <a:r>
              <a:rPr lang="en-US" dirty="0"/>
              <a:t>is a socket </a:t>
            </a:r>
            <a:r>
              <a:rPr lang="en-US" dirty="0" smtClean="0"/>
              <a:t>or an opening on the motherboard </a:t>
            </a:r>
            <a:r>
              <a:rPr lang="en-US" dirty="0"/>
              <a:t>that can hold an adapter card.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expansion slot is an opening or a socket where you can insert circuit boards into motherboard. </a:t>
            </a:r>
            <a:endParaRPr lang="en-US" dirty="0" smtClean="0"/>
          </a:p>
          <a:p>
            <a:r>
              <a:rPr lang="en-US" dirty="0"/>
              <a:t>An </a:t>
            </a:r>
            <a:r>
              <a:rPr lang="en-US" b="1" dirty="0"/>
              <a:t>adapter card</a:t>
            </a:r>
            <a:r>
              <a:rPr lang="en-US" dirty="0"/>
              <a:t>, sometimes called an </a:t>
            </a:r>
            <a:r>
              <a:rPr lang="en-US" i="1" dirty="0" smtClean="0"/>
              <a:t>expansion card</a:t>
            </a:r>
            <a:r>
              <a:rPr lang="en-US" dirty="0"/>
              <a:t>, is a circuit board that enhances </a:t>
            </a:r>
            <a:r>
              <a:rPr lang="en-US" dirty="0" smtClean="0"/>
              <a:t>functions of </a:t>
            </a:r>
            <a:r>
              <a:rPr lang="en-US" dirty="0"/>
              <a:t>a component of the system unit and/or </a:t>
            </a:r>
            <a:r>
              <a:rPr lang="en-US" dirty="0" smtClean="0"/>
              <a:t>provides connections </a:t>
            </a:r>
            <a:r>
              <a:rPr lang="en-US" dirty="0"/>
              <a:t>to peripherals.</a:t>
            </a:r>
          </a:p>
          <a:p>
            <a:r>
              <a:rPr lang="en-US" dirty="0" smtClean="0"/>
              <a:t>These </a:t>
            </a:r>
            <a:r>
              <a:rPr lang="en-US" dirty="0"/>
              <a:t>circuit boards called cards, expansion cards, boards, expansion boards, adapters, adapter cards; interface cards, add-ins or add-ons add new devices or capabilities to a computer. </a:t>
            </a:r>
          </a:p>
          <a:p>
            <a:r>
              <a:rPr lang="en-US" dirty="0" smtClean="0"/>
              <a:t>Four </a:t>
            </a:r>
            <a:r>
              <a:rPr lang="en-US" dirty="0"/>
              <a:t>types of expansion cards found in computers are: video card, sound card, network interface card and modem card.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18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Types Of Expansion Cards</a:t>
            </a:r>
          </a:p>
          <a:p>
            <a:r>
              <a:rPr lang="en-US" b="1" dirty="0"/>
              <a:t>Graphics cards</a:t>
            </a:r>
            <a:r>
              <a:rPr lang="en-US" dirty="0"/>
              <a:t>—for monitors: Graphics cards are included in all PCs.</a:t>
            </a:r>
          </a:p>
          <a:p>
            <a:r>
              <a:rPr lang="en-US" dirty="0"/>
              <a:t>Also called a </a:t>
            </a:r>
            <a:r>
              <a:rPr lang="en-US" i="1" dirty="0"/>
              <a:t>video card, video RAM (VRAM), </a:t>
            </a:r>
            <a:r>
              <a:rPr lang="en-US" dirty="0"/>
              <a:t>or </a:t>
            </a:r>
            <a:r>
              <a:rPr lang="en-US" i="1" dirty="0"/>
              <a:t>video adapter, </a:t>
            </a:r>
            <a:r>
              <a:rPr lang="en-US" dirty="0"/>
              <a:t>a </a:t>
            </a:r>
            <a:r>
              <a:rPr lang="en-US" i="1" dirty="0" smtClean="0"/>
              <a:t>graphics card </a:t>
            </a:r>
            <a:r>
              <a:rPr lang="en-US" dirty="0"/>
              <a:t>converts signals from the computer into video signals </a:t>
            </a:r>
            <a:r>
              <a:rPr lang="en-US" dirty="0" smtClean="0"/>
              <a:t>that can </a:t>
            </a:r>
            <a:r>
              <a:rPr lang="en-US" dirty="0"/>
              <a:t>be displayed as images on a monitor</a:t>
            </a:r>
            <a:r>
              <a:rPr lang="en-US" dirty="0" smtClean="0"/>
              <a:t>.</a:t>
            </a:r>
          </a:p>
          <a:p>
            <a:r>
              <a:rPr lang="en-US" b="1" dirty="0"/>
              <a:t>Sound cards</a:t>
            </a:r>
            <a:r>
              <a:rPr lang="en-US" dirty="0"/>
              <a:t>—for speakers and audio output: A </a:t>
            </a:r>
            <a:r>
              <a:rPr lang="en-US" i="1" dirty="0"/>
              <a:t>sound card </a:t>
            </a:r>
            <a:r>
              <a:rPr lang="en-US" dirty="0"/>
              <a:t>is </a:t>
            </a:r>
            <a:r>
              <a:rPr lang="en-US" dirty="0" smtClean="0"/>
              <a:t>used to </a:t>
            </a:r>
            <a:r>
              <a:rPr lang="en-US" dirty="0"/>
              <a:t>convert and transmit digital sounds through analog </a:t>
            </a:r>
            <a:r>
              <a:rPr lang="en-US" dirty="0" smtClean="0"/>
              <a:t>speakers, microphones</a:t>
            </a:r>
            <a:r>
              <a:rPr lang="en-US" dirty="0"/>
              <a:t>, and headsets</a:t>
            </a:r>
            <a:r>
              <a:rPr lang="en-US" dirty="0" smtClean="0"/>
              <a:t>.</a:t>
            </a:r>
          </a:p>
          <a:p>
            <a:r>
              <a:rPr lang="en-US" b="1" dirty="0"/>
              <a:t>Modem cards</a:t>
            </a:r>
            <a:r>
              <a:rPr lang="en-US" dirty="0"/>
              <a:t>—for remote communication via </a:t>
            </a:r>
            <a:r>
              <a:rPr lang="en-US" dirty="0" smtClean="0"/>
              <a:t>phone lines.</a:t>
            </a:r>
          </a:p>
          <a:p>
            <a:r>
              <a:rPr lang="en-US" b="1" dirty="0"/>
              <a:t>Network interface </a:t>
            </a:r>
            <a:r>
              <a:rPr lang="en-US" b="1" dirty="0" smtClean="0"/>
              <a:t>cards</a:t>
            </a:r>
            <a:r>
              <a:rPr lang="en-US" dirty="0" smtClean="0"/>
              <a:t>—for remote </a:t>
            </a:r>
            <a:r>
              <a:rPr lang="en-US" dirty="0"/>
              <a:t>communication </a:t>
            </a:r>
            <a:r>
              <a:rPr lang="en-US" dirty="0" smtClean="0"/>
              <a:t>via cable</a:t>
            </a:r>
            <a:r>
              <a:rPr lang="en-US" dirty="0"/>
              <a:t>: A </a:t>
            </a:r>
            <a:r>
              <a:rPr lang="en-US" i="1" dirty="0"/>
              <a:t>network interface </a:t>
            </a:r>
            <a:r>
              <a:rPr lang="en-US" i="1" dirty="0" smtClean="0"/>
              <a:t>card (NIC</a:t>
            </a:r>
            <a:r>
              <a:rPr lang="en-US" i="1" dirty="0"/>
              <a:t>) </a:t>
            </a:r>
            <a:r>
              <a:rPr lang="en-US" dirty="0"/>
              <a:t>allows the </a:t>
            </a:r>
            <a:r>
              <a:rPr lang="en-US" dirty="0" smtClean="0"/>
              <a:t>transmission of </a:t>
            </a:r>
            <a:r>
              <a:rPr lang="en-US" dirty="0"/>
              <a:t>data over a cable </a:t>
            </a:r>
            <a:r>
              <a:rPr lang="en-US" dirty="0" smtClean="0"/>
              <a:t>network.</a:t>
            </a:r>
          </a:p>
          <a:p>
            <a:r>
              <a:rPr lang="en-US" b="1" dirty="0"/>
              <a:t>PC cards</a:t>
            </a:r>
            <a:r>
              <a:rPr lang="en-US" dirty="0"/>
              <a:t>—for </a:t>
            </a:r>
            <a:r>
              <a:rPr lang="en-US" dirty="0" smtClean="0"/>
              <a:t>laptop computers</a:t>
            </a:r>
            <a:r>
              <a:rPr lang="en-US" dirty="0"/>
              <a:t>: Originally </a:t>
            </a:r>
            <a:r>
              <a:rPr lang="en-US" dirty="0" smtClean="0"/>
              <a:t>called </a:t>
            </a:r>
            <a:r>
              <a:rPr lang="en-US" i="1" dirty="0" smtClean="0"/>
              <a:t>PCMCIA </a:t>
            </a:r>
            <a:r>
              <a:rPr lang="en-US" i="1" dirty="0"/>
              <a:t>cards </a:t>
            </a:r>
            <a:r>
              <a:rPr lang="en-US" dirty="0"/>
              <a:t>(for the </a:t>
            </a:r>
            <a:r>
              <a:rPr lang="en-US" dirty="0" smtClean="0"/>
              <a:t>Personal Computer </a:t>
            </a:r>
            <a:r>
              <a:rPr lang="en-US" dirty="0"/>
              <a:t>Memory </a:t>
            </a:r>
            <a:r>
              <a:rPr lang="en-US" dirty="0" smtClean="0"/>
              <a:t>Card International </a:t>
            </a:r>
            <a:r>
              <a:rPr lang="en-US" dirty="0"/>
              <a:t>Association), </a:t>
            </a:r>
            <a:endParaRPr lang="en-US" dirty="0" smtClean="0"/>
          </a:p>
          <a:p>
            <a:r>
              <a:rPr lang="en-US" i="1" dirty="0" smtClean="0"/>
              <a:t>PC</a:t>
            </a:r>
            <a:r>
              <a:rPr lang="en-US" i="1" dirty="0"/>
              <a:t> </a:t>
            </a:r>
            <a:r>
              <a:rPr lang="en-US" i="1" dirty="0" smtClean="0"/>
              <a:t>cards </a:t>
            </a:r>
            <a:r>
              <a:rPr lang="en-US" dirty="0"/>
              <a:t>are thin, credit </a:t>
            </a:r>
            <a:r>
              <a:rPr lang="en-US" dirty="0" smtClean="0"/>
              <a:t>card–size flash </a:t>
            </a:r>
            <a:r>
              <a:rPr lang="en-US" dirty="0"/>
              <a:t>memory devices </a:t>
            </a:r>
            <a:r>
              <a:rPr lang="en-US" dirty="0" smtClean="0"/>
              <a:t>used principally </a:t>
            </a:r>
            <a:r>
              <a:rPr lang="en-US" dirty="0"/>
              <a:t>on laptop </a:t>
            </a:r>
            <a:r>
              <a:rPr lang="en-US" dirty="0" smtClean="0"/>
              <a:t>computers to </a:t>
            </a:r>
            <a:r>
              <a:rPr lang="en-US" dirty="0"/>
              <a:t>expand capabilities</a:t>
            </a:r>
            <a:r>
              <a:rPr lang="en-US" b="1" dirty="0"/>
              <a:t>, </a:t>
            </a:r>
            <a:r>
              <a:rPr lang="en-US" dirty="0"/>
              <a:t>such </a:t>
            </a:r>
            <a:r>
              <a:rPr lang="en-US" dirty="0" smtClean="0"/>
              <a:t>as to </a:t>
            </a:r>
            <a:r>
              <a:rPr lang="en-US" dirty="0"/>
              <a:t>access the internet wirelessly.</a:t>
            </a:r>
          </a:p>
        </p:txBody>
      </p:sp>
    </p:spTree>
    <p:extLst>
      <p:ext uri="{BB962C8B-B14F-4D97-AF65-F5344CB8AC3E}">
        <p14:creationId xmlns:p14="http://schemas.microsoft.com/office/powerpoint/2010/main" val="2093782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5. </a:t>
            </a:r>
            <a:r>
              <a:rPr lang="en-US" b="1" dirty="0"/>
              <a:t>Ports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port is an external connecting socket on the outside of the computer. </a:t>
            </a:r>
          </a:p>
          <a:p>
            <a:r>
              <a:rPr lang="en-US" dirty="0" smtClean="0"/>
              <a:t>This </a:t>
            </a:r>
            <a:r>
              <a:rPr lang="en-US" dirty="0"/>
              <a:t>is a pathway into and out of a computer. </a:t>
            </a:r>
          </a:p>
          <a:p>
            <a:r>
              <a:rPr lang="en-US" dirty="0" smtClean="0"/>
              <a:t>A </a:t>
            </a:r>
            <a:r>
              <a:rPr lang="en-US" dirty="0"/>
              <a:t>port lets users plug in outside peripherals such as monitors, scanners and printers. </a:t>
            </a:r>
          </a:p>
          <a:p>
            <a:r>
              <a:rPr lang="en-US" dirty="0" smtClean="0"/>
              <a:t>There </a:t>
            </a:r>
            <a:r>
              <a:rPr lang="en-US" dirty="0"/>
              <a:t>are two types of ports: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76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04800"/>
            <a:ext cx="7498080" cy="5943600"/>
          </a:xfrm>
        </p:spPr>
        <p:txBody>
          <a:bodyPr>
            <a:normAutofit fontScale="92500" lnSpcReduction="20000"/>
          </a:bodyPr>
          <a:lstStyle/>
          <a:p>
            <a:pPr marL="82296" indent="0">
              <a:buNone/>
            </a:pPr>
            <a:r>
              <a:rPr lang="en-US" dirty="0" smtClean="0"/>
              <a:t>a</a:t>
            </a:r>
            <a:r>
              <a:rPr lang="en-US" dirty="0"/>
              <a:t>. Serial ports </a:t>
            </a:r>
          </a:p>
          <a:p>
            <a:r>
              <a:rPr lang="en-US" dirty="0" smtClean="0"/>
              <a:t>External </a:t>
            </a:r>
            <a:r>
              <a:rPr lang="en-US" dirty="0"/>
              <a:t>I/O connector used to attach modems, scanners or other serial interface devices to the computer. </a:t>
            </a:r>
          </a:p>
          <a:p>
            <a:r>
              <a:rPr lang="en-US" dirty="0" smtClean="0"/>
              <a:t>They </a:t>
            </a:r>
            <a:r>
              <a:rPr lang="en-US" dirty="0"/>
              <a:t>typically use a 9 pin DB-9 or a 25 pin DB-25 connectors. </a:t>
            </a:r>
          </a:p>
          <a:p>
            <a:r>
              <a:rPr lang="en-US" dirty="0" smtClean="0"/>
              <a:t>Serial </a:t>
            </a:r>
            <a:r>
              <a:rPr lang="en-US" dirty="0"/>
              <a:t>lines are used to link equipment that is not located close by. </a:t>
            </a:r>
          </a:p>
          <a:p>
            <a:pPr marL="82296" indent="0">
              <a:buNone/>
            </a:pPr>
            <a:r>
              <a:rPr lang="en-US" dirty="0"/>
              <a:t>b. Parallel Ports </a:t>
            </a:r>
          </a:p>
          <a:p>
            <a:r>
              <a:rPr lang="en-US" dirty="0" smtClean="0"/>
              <a:t>External </a:t>
            </a:r>
            <a:r>
              <a:rPr lang="en-US" dirty="0"/>
              <a:t>I/O connectors used to hook up printers and other parallel interface devices. </a:t>
            </a:r>
          </a:p>
          <a:p>
            <a:r>
              <a:rPr lang="en-US" dirty="0" smtClean="0"/>
              <a:t>It </a:t>
            </a:r>
            <a:r>
              <a:rPr lang="en-US" dirty="0"/>
              <a:t>transmits several bits simultaneously. </a:t>
            </a:r>
          </a:p>
          <a:p>
            <a:r>
              <a:rPr lang="en-US" dirty="0" smtClean="0"/>
              <a:t>Moves </a:t>
            </a:r>
            <a:r>
              <a:rPr lang="en-US" dirty="0"/>
              <a:t>information faster than serial.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17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62500" lnSpcReduction="20000"/>
          </a:bodyPr>
          <a:lstStyle/>
          <a:p>
            <a:pPr marL="82296" indent="0">
              <a:buNone/>
            </a:pPr>
            <a:r>
              <a:rPr lang="en-US" b="1" dirty="0"/>
              <a:t>Memory</a:t>
            </a:r>
          </a:p>
          <a:p>
            <a:r>
              <a:rPr lang="en-US" b="1" dirty="0" smtClean="0"/>
              <a:t>Memory </a:t>
            </a:r>
            <a:r>
              <a:rPr lang="en-US" dirty="0"/>
              <a:t>consists of electronic </a:t>
            </a:r>
            <a:r>
              <a:rPr lang="en-US" dirty="0" smtClean="0"/>
              <a:t>components that </a:t>
            </a:r>
            <a:r>
              <a:rPr lang="en-US" dirty="0"/>
              <a:t>store instructions waiting to be </a:t>
            </a:r>
            <a:r>
              <a:rPr lang="en-US" dirty="0" smtClean="0"/>
              <a:t>executed by </a:t>
            </a:r>
            <a:r>
              <a:rPr lang="en-US" dirty="0"/>
              <a:t>the processor, data needed by those </a:t>
            </a:r>
            <a:r>
              <a:rPr lang="en-US" dirty="0" smtClean="0"/>
              <a:t>instructions, and </a:t>
            </a:r>
            <a:r>
              <a:rPr lang="en-US" dirty="0"/>
              <a:t>the results of processing the </a:t>
            </a:r>
            <a:r>
              <a:rPr lang="en-US" dirty="0" smtClean="0"/>
              <a:t>data (information</a:t>
            </a:r>
            <a:r>
              <a:rPr lang="en-US" dirty="0"/>
              <a:t>). </a:t>
            </a:r>
          </a:p>
          <a:p>
            <a:r>
              <a:rPr lang="en-US" dirty="0"/>
              <a:t>This is a temporary storage of data, instructions and information </a:t>
            </a:r>
            <a:endParaRPr lang="en-US" dirty="0" smtClean="0"/>
          </a:p>
          <a:p>
            <a:r>
              <a:rPr lang="en-US" dirty="0" smtClean="0"/>
              <a:t>Memory </a:t>
            </a:r>
            <a:r>
              <a:rPr lang="en-US" dirty="0"/>
              <a:t>stores three basic categories </a:t>
            </a:r>
            <a:r>
              <a:rPr lang="en-US" dirty="0" smtClean="0"/>
              <a:t>of </a:t>
            </a:r>
            <a:r>
              <a:rPr lang="en-US" dirty="0" smtClean="0"/>
              <a:t>data</a:t>
            </a:r>
            <a:r>
              <a:rPr lang="en-US" dirty="0" smtClean="0"/>
              <a:t>: </a:t>
            </a:r>
            <a:endParaRPr lang="en-US" dirty="0" smtClean="0"/>
          </a:p>
          <a:p>
            <a:pPr lvl="1"/>
            <a:r>
              <a:rPr lang="en-US" dirty="0" smtClean="0"/>
              <a:t>(</a:t>
            </a:r>
            <a:r>
              <a:rPr lang="en-US" dirty="0"/>
              <a:t>1) the operating system and </a:t>
            </a:r>
            <a:r>
              <a:rPr lang="en-US" dirty="0" smtClean="0"/>
              <a:t>other system </a:t>
            </a:r>
            <a:r>
              <a:rPr lang="en-US" dirty="0"/>
              <a:t>software that control or maintain </a:t>
            </a:r>
            <a:r>
              <a:rPr lang="en-US" dirty="0" smtClean="0"/>
              <a:t>the computer </a:t>
            </a:r>
            <a:r>
              <a:rPr lang="en-US" dirty="0"/>
              <a:t>and its devices</a:t>
            </a:r>
            <a:r>
              <a:rPr lang="en-US" dirty="0" smtClean="0"/>
              <a:t>;</a:t>
            </a:r>
          </a:p>
          <a:p>
            <a:pPr lvl="1"/>
            <a:r>
              <a:rPr lang="en-US" dirty="0" smtClean="0"/>
              <a:t>(</a:t>
            </a:r>
            <a:r>
              <a:rPr lang="en-US" dirty="0"/>
              <a:t>2) application </a:t>
            </a:r>
            <a:r>
              <a:rPr lang="en-US" dirty="0" smtClean="0"/>
              <a:t>programs that </a:t>
            </a:r>
            <a:r>
              <a:rPr lang="en-US" dirty="0"/>
              <a:t>carry out a specific task such </a:t>
            </a:r>
            <a:r>
              <a:rPr lang="en-US" dirty="0" smtClean="0"/>
              <a:t>as word </a:t>
            </a:r>
            <a:r>
              <a:rPr lang="en-US" dirty="0"/>
              <a:t>processing; and </a:t>
            </a:r>
            <a:endParaRPr lang="en-US" dirty="0" smtClean="0"/>
          </a:p>
          <a:p>
            <a:pPr lvl="1"/>
            <a:r>
              <a:rPr lang="en-US" dirty="0" smtClean="0"/>
              <a:t>(</a:t>
            </a:r>
            <a:r>
              <a:rPr lang="en-US" dirty="0"/>
              <a:t>3) the data being </a:t>
            </a:r>
            <a:r>
              <a:rPr lang="en-US" dirty="0" smtClean="0"/>
              <a:t>processed by </a:t>
            </a:r>
            <a:r>
              <a:rPr lang="en-US" dirty="0"/>
              <a:t>the application programs and </a:t>
            </a:r>
            <a:r>
              <a:rPr lang="en-US" dirty="0" smtClean="0"/>
              <a:t>resulting information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This </a:t>
            </a:r>
            <a:r>
              <a:rPr lang="en-US" dirty="0"/>
              <a:t>role of memory to </a:t>
            </a:r>
            <a:r>
              <a:rPr lang="en-US" dirty="0" smtClean="0"/>
              <a:t>store both </a:t>
            </a:r>
            <a:r>
              <a:rPr lang="en-US" dirty="0"/>
              <a:t>data and programs is known as the </a:t>
            </a:r>
            <a:r>
              <a:rPr lang="en-US" i="1" dirty="0" smtClean="0"/>
              <a:t>stored program </a:t>
            </a:r>
            <a:r>
              <a:rPr lang="en-US" i="1" dirty="0"/>
              <a:t>concept</a:t>
            </a:r>
            <a:r>
              <a:rPr lang="en-US" dirty="0" smtClean="0"/>
              <a:t>.</a:t>
            </a:r>
          </a:p>
          <a:p>
            <a:pPr marL="402336" lvl="1" indent="0">
              <a:buNone/>
            </a:pPr>
            <a:r>
              <a:rPr lang="en-US" dirty="0"/>
              <a:t>A byte (character) is the basic storage unit in memory</a:t>
            </a:r>
            <a:r>
              <a:rPr lang="en-US" dirty="0" smtClean="0"/>
              <a:t>.</a:t>
            </a:r>
            <a:r>
              <a:rPr lang="en-US" dirty="0" smtClean="0"/>
              <a:t> </a:t>
            </a:r>
            <a:endParaRPr lang="en-US" dirty="0"/>
          </a:p>
          <a:p>
            <a:pPr lvl="1"/>
            <a:r>
              <a:rPr lang="en-US" dirty="0"/>
              <a:t>A group of 8 bits is called a byte. </a:t>
            </a:r>
          </a:p>
          <a:p>
            <a:pPr lvl="1"/>
            <a:r>
              <a:rPr lang="en-US" dirty="0"/>
              <a:t>1 byte can store one alphabetical letter, single digit or single character symbol such as #. 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Large number of bytes can be expressed in kilobytes and megabytes. </a:t>
            </a:r>
          </a:p>
          <a:p>
            <a:pPr lvl="1"/>
            <a:endParaRPr lang="en-US" dirty="0"/>
          </a:p>
          <a:p>
            <a:pPr marL="402336" lvl="1" indent="0">
              <a:buNone/>
            </a:pPr>
            <a:endParaRPr lang="en-US" dirty="0"/>
          </a:p>
          <a:p>
            <a:pPr marL="40233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225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Types of Memory</a:t>
            </a:r>
          </a:p>
          <a:p>
            <a:r>
              <a:rPr lang="en-US" dirty="0"/>
              <a:t>The system unit contains two types of </a:t>
            </a:r>
            <a:r>
              <a:rPr lang="en-US" dirty="0" smtClean="0"/>
              <a:t>memory:</a:t>
            </a:r>
          </a:p>
          <a:p>
            <a:pPr lvl="1"/>
            <a:r>
              <a:rPr lang="en-US" dirty="0" smtClean="0"/>
              <a:t>volatile </a:t>
            </a:r>
            <a:r>
              <a:rPr lang="en-US" dirty="0"/>
              <a:t>and nonvolatile. 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the </a:t>
            </a:r>
            <a:r>
              <a:rPr lang="en-US" dirty="0" smtClean="0"/>
              <a:t>computer’s power </a:t>
            </a:r>
            <a:r>
              <a:rPr lang="en-US" dirty="0"/>
              <a:t>is turned off, </a:t>
            </a:r>
            <a:r>
              <a:rPr lang="en-US" i="1" dirty="0"/>
              <a:t>volatile memory </a:t>
            </a:r>
            <a:r>
              <a:rPr lang="en-US" dirty="0"/>
              <a:t>loses its contents.</a:t>
            </a:r>
          </a:p>
          <a:p>
            <a:r>
              <a:rPr lang="en-US" i="1" dirty="0"/>
              <a:t>Nonvolatile </a:t>
            </a:r>
            <a:r>
              <a:rPr lang="en-US" i="1" dirty="0" smtClean="0"/>
              <a:t>memory</a:t>
            </a:r>
            <a:r>
              <a:rPr lang="en-US" dirty="0"/>
              <a:t> </a:t>
            </a:r>
            <a:r>
              <a:rPr lang="en-US" dirty="0" smtClean="0"/>
              <a:t>does not lose </a:t>
            </a:r>
            <a:r>
              <a:rPr lang="en-US" dirty="0"/>
              <a:t>its contents when power is removed from </a:t>
            </a:r>
            <a:r>
              <a:rPr lang="en-US" dirty="0" smtClean="0"/>
              <a:t>the computer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Therefore, </a:t>
            </a:r>
            <a:r>
              <a:rPr lang="en-US" dirty="0"/>
              <a:t>volatile memory is </a:t>
            </a:r>
            <a:r>
              <a:rPr lang="en-US" dirty="0" smtClean="0"/>
              <a:t>temporary and </a:t>
            </a:r>
            <a:r>
              <a:rPr lang="en-US" dirty="0"/>
              <a:t>nonvolatile memory is permanent. </a:t>
            </a:r>
            <a:endParaRPr lang="en-US" dirty="0" smtClean="0"/>
          </a:p>
          <a:p>
            <a:r>
              <a:rPr lang="en-US" dirty="0" smtClean="0"/>
              <a:t>RAM</a:t>
            </a:r>
            <a:r>
              <a:rPr lang="en-US" dirty="0"/>
              <a:t> </a:t>
            </a:r>
            <a:r>
              <a:rPr lang="en-US" dirty="0" smtClean="0"/>
              <a:t>is </a:t>
            </a:r>
            <a:r>
              <a:rPr lang="en-US" dirty="0"/>
              <a:t>the most common type of volatile memory.</a:t>
            </a:r>
          </a:p>
          <a:p>
            <a:r>
              <a:rPr lang="en-US" dirty="0"/>
              <a:t>Examples of nonvolatile memory include </a:t>
            </a:r>
            <a:r>
              <a:rPr lang="en-US" dirty="0" smtClean="0"/>
              <a:t>ROM, flash </a:t>
            </a:r>
            <a:r>
              <a:rPr lang="en-US" dirty="0"/>
              <a:t>memory, and CMOS. </a:t>
            </a:r>
            <a:endParaRPr lang="en-US" dirty="0" smtClean="0"/>
          </a:p>
          <a:p>
            <a:r>
              <a:rPr lang="en-US" dirty="0" smtClean="0"/>
              <a:t>The following sections </a:t>
            </a:r>
            <a:r>
              <a:rPr lang="en-US" dirty="0"/>
              <a:t>discuss these types of memory.</a:t>
            </a:r>
          </a:p>
        </p:txBody>
      </p:sp>
    </p:spTree>
    <p:extLst>
      <p:ext uri="{BB962C8B-B14F-4D97-AF65-F5344CB8AC3E}">
        <p14:creationId xmlns:p14="http://schemas.microsoft.com/office/powerpoint/2010/main" val="3020566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6019800"/>
          </a:xfrm>
        </p:spPr>
        <p:txBody>
          <a:bodyPr>
            <a:normAutofit fontScale="62500" lnSpcReduction="20000"/>
          </a:bodyPr>
          <a:lstStyle/>
          <a:p>
            <a:r>
              <a:rPr lang="en-US" b="1" i="1" dirty="0"/>
              <a:t>RAM (random access memory) chips </a:t>
            </a:r>
            <a:endParaRPr lang="en-US" b="1" i="1" dirty="0" smtClean="0"/>
          </a:p>
          <a:p>
            <a:pPr lvl="1"/>
            <a:r>
              <a:rPr lang="en-US" b="1" dirty="0" smtClean="0"/>
              <a:t>temporarily </a:t>
            </a:r>
            <a:r>
              <a:rPr lang="en-US" b="1" dirty="0"/>
              <a:t>hold (1) </a:t>
            </a:r>
            <a:r>
              <a:rPr lang="en-US" b="1" dirty="0" smtClean="0"/>
              <a:t>software instructions </a:t>
            </a:r>
            <a:r>
              <a:rPr lang="en-US" b="1" dirty="0"/>
              <a:t>and (2) data before and after it is processed by the CPU.</a:t>
            </a:r>
          </a:p>
          <a:p>
            <a:r>
              <a:rPr lang="en-US" dirty="0"/>
              <a:t>Think of RAM as the primary workspace inside your computer. </a:t>
            </a:r>
            <a:endParaRPr lang="en-US" dirty="0" smtClean="0"/>
          </a:p>
          <a:p>
            <a:r>
              <a:rPr lang="en-US" dirty="0" smtClean="0"/>
              <a:t>When you open </a:t>
            </a:r>
            <a:r>
              <a:rPr lang="en-US" dirty="0"/>
              <a:t>a file, a copy of the file transfers from the hard disk to RAM, and </a:t>
            </a:r>
            <a:r>
              <a:rPr lang="en-US" dirty="0" smtClean="0"/>
              <a:t>this copy </a:t>
            </a:r>
            <a:r>
              <a:rPr lang="en-US" dirty="0"/>
              <a:t>in RAM is the one that changes as you work with the file. </a:t>
            </a:r>
            <a:endParaRPr lang="en-US" dirty="0" smtClean="0"/>
          </a:p>
          <a:p>
            <a:r>
              <a:rPr lang="en-US" dirty="0" smtClean="0"/>
              <a:t>When you activate </a:t>
            </a:r>
            <a:r>
              <a:rPr lang="en-US" dirty="0"/>
              <a:t>the Save command, the changed copy transfers from RAM back </a:t>
            </a:r>
            <a:r>
              <a:rPr lang="en-US" dirty="0" smtClean="0"/>
              <a:t>to permanent </a:t>
            </a:r>
            <a:r>
              <a:rPr lang="en-US" dirty="0"/>
              <a:t>storage on the hard drive.</a:t>
            </a:r>
          </a:p>
          <a:p>
            <a:r>
              <a:rPr lang="en-US" dirty="0"/>
              <a:t>Because its contents are temporary, RAM is said to be </a:t>
            </a:r>
            <a:r>
              <a:rPr lang="en-US" b="1" i="1" dirty="0"/>
              <a:t>volatile </a:t>
            </a:r>
            <a:r>
              <a:rPr lang="en-US" b="1" dirty="0"/>
              <a:t>—the </a:t>
            </a:r>
            <a:r>
              <a:rPr lang="en-US" b="1" dirty="0" smtClean="0"/>
              <a:t>contents are </a:t>
            </a:r>
            <a:r>
              <a:rPr lang="en-US" b="1" dirty="0"/>
              <a:t>lost when the power goes off or is turned off. </a:t>
            </a:r>
            <a:endParaRPr lang="en-US" b="1" dirty="0" smtClean="0"/>
          </a:p>
          <a:p>
            <a:r>
              <a:rPr lang="en-US" dirty="0" smtClean="0"/>
              <a:t>This </a:t>
            </a:r>
            <a:r>
              <a:rPr lang="en-US" dirty="0"/>
              <a:t>is why </a:t>
            </a:r>
            <a:r>
              <a:rPr lang="en-US" dirty="0" smtClean="0"/>
              <a:t>you should </a:t>
            </a:r>
            <a:r>
              <a:rPr lang="en-US" i="1" dirty="0"/>
              <a:t>frequently </a:t>
            </a:r>
            <a:r>
              <a:rPr lang="en-US" dirty="0"/>
              <a:t>—every 5–10 minutes, </a:t>
            </a:r>
            <a:r>
              <a:rPr lang="en-US" dirty="0" smtClean="0"/>
              <a:t>—transfer </a:t>
            </a:r>
            <a:r>
              <a:rPr lang="en-US" dirty="0"/>
              <a:t>(save) your work to </a:t>
            </a:r>
            <a:r>
              <a:rPr lang="en-US" dirty="0" smtClean="0"/>
              <a:t>a secondary </a:t>
            </a:r>
            <a:r>
              <a:rPr lang="en-US" dirty="0"/>
              <a:t>storage medium such as your hard disk, in case the electricity </a:t>
            </a:r>
            <a:r>
              <a:rPr lang="en-US" dirty="0" smtClean="0"/>
              <a:t>goes off </a:t>
            </a:r>
            <a:r>
              <a:rPr lang="en-US" dirty="0"/>
              <a:t>while you’re working. </a:t>
            </a:r>
            <a:endParaRPr lang="en-US" dirty="0" smtClean="0"/>
          </a:p>
          <a:p>
            <a:r>
              <a:rPr lang="en-US" dirty="0"/>
              <a:t>Saving is the process </a:t>
            </a:r>
            <a:r>
              <a:rPr lang="en-US" dirty="0" smtClean="0"/>
              <a:t>of copying </a:t>
            </a:r>
            <a:r>
              <a:rPr lang="en-US" dirty="0"/>
              <a:t>data, instructions, and information </a:t>
            </a:r>
            <a:r>
              <a:rPr lang="en-US" dirty="0" smtClean="0"/>
              <a:t>from RAM to a storage device such as a hard disk.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61565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85800"/>
            <a:ext cx="7498080" cy="5562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Several types of RAM chips are used in personal </a:t>
            </a:r>
            <a:r>
              <a:rPr lang="en-US" dirty="0" smtClean="0"/>
              <a:t>computers— </a:t>
            </a:r>
          </a:p>
          <a:p>
            <a:pPr lvl="1"/>
            <a:r>
              <a:rPr lang="en-US" b="1" dirty="0" smtClean="0"/>
              <a:t>DRAM</a:t>
            </a:r>
            <a:r>
              <a:rPr lang="en-US" b="1" dirty="0"/>
              <a:t>: </a:t>
            </a:r>
            <a:r>
              <a:rPr lang="en-US" dirty="0" smtClean="0"/>
              <a:t>(</a:t>
            </a:r>
            <a:r>
              <a:rPr lang="en-US" dirty="0"/>
              <a:t>pronounced “</a:t>
            </a:r>
            <a:r>
              <a:rPr lang="en-US" dirty="0" err="1"/>
              <a:t>dee</a:t>
            </a:r>
            <a:r>
              <a:rPr lang="en-US" dirty="0"/>
              <a:t>-ram”), </a:t>
            </a:r>
            <a:r>
              <a:rPr lang="en-US" i="1" dirty="0"/>
              <a:t>DRAM (dynamic RAM</a:t>
            </a:r>
            <a:r>
              <a:rPr lang="en-US" i="1" dirty="0" smtClean="0"/>
              <a:t>), </a:t>
            </a:r>
            <a:r>
              <a:rPr lang="en-US" dirty="0" smtClean="0"/>
              <a:t>must </a:t>
            </a:r>
            <a:r>
              <a:rPr lang="en-US" dirty="0"/>
              <a:t>be constantly refreshed </a:t>
            </a:r>
            <a:r>
              <a:rPr lang="en-US" dirty="0" smtClean="0"/>
              <a:t>or re-energized by </a:t>
            </a:r>
            <a:r>
              <a:rPr lang="en-US" dirty="0"/>
              <a:t>the CPU or it will lose its contents.</a:t>
            </a:r>
          </a:p>
          <a:p>
            <a:pPr lvl="1"/>
            <a:r>
              <a:rPr lang="en-US" b="1" dirty="0" smtClean="0"/>
              <a:t>SDRAM</a:t>
            </a:r>
            <a:r>
              <a:rPr lang="en-US" b="1" dirty="0"/>
              <a:t>: </a:t>
            </a:r>
            <a:r>
              <a:rPr lang="en-US" i="1" dirty="0" smtClean="0"/>
              <a:t> </a:t>
            </a:r>
            <a:r>
              <a:rPr lang="en-US" i="1" dirty="0"/>
              <a:t>(synchronous </a:t>
            </a:r>
            <a:r>
              <a:rPr lang="en-US" i="1" dirty="0" smtClean="0"/>
              <a:t>dynamic RAM</a:t>
            </a:r>
            <a:r>
              <a:rPr lang="en-US" i="1" dirty="0"/>
              <a:t>), </a:t>
            </a:r>
            <a:r>
              <a:rPr lang="en-US" dirty="0"/>
              <a:t>which is synchronized by the system clock and is much </a:t>
            </a:r>
            <a:r>
              <a:rPr lang="en-US" dirty="0" smtClean="0"/>
              <a:t>faster than </a:t>
            </a:r>
            <a:r>
              <a:rPr lang="en-US" dirty="0"/>
              <a:t>DRAM. </a:t>
            </a:r>
            <a:endParaRPr lang="en-US" dirty="0" smtClean="0"/>
          </a:p>
          <a:p>
            <a:pPr lvl="1"/>
            <a:r>
              <a:rPr lang="en-US" b="1" dirty="0"/>
              <a:t>SRAM: </a:t>
            </a:r>
            <a:r>
              <a:rPr lang="en-US" dirty="0"/>
              <a:t> </a:t>
            </a:r>
            <a:r>
              <a:rPr lang="en-US" i="1" dirty="0"/>
              <a:t>static RAM, </a:t>
            </a:r>
            <a:r>
              <a:rPr lang="en-US" dirty="0"/>
              <a:t>or </a:t>
            </a:r>
            <a:r>
              <a:rPr lang="en-US" i="1" dirty="0"/>
              <a:t>SRAM </a:t>
            </a:r>
            <a:r>
              <a:rPr lang="en-US" dirty="0"/>
              <a:t>is faster than DRAM and retains its contents without having to be refreshed by the CPU.</a:t>
            </a:r>
          </a:p>
          <a:p>
            <a:pPr lvl="1"/>
            <a:r>
              <a:rPr lang="en-US" b="1" dirty="0"/>
              <a:t>DDR-SDRAM: </a:t>
            </a:r>
            <a:r>
              <a:rPr lang="en-US" i="1" dirty="0"/>
              <a:t> (double-data rate synchronous dynamic RAM), </a:t>
            </a:r>
            <a:r>
              <a:rPr lang="en-US" dirty="0"/>
              <a:t>is the current standard of RAM chip in PCs used at home; </a:t>
            </a:r>
          </a:p>
          <a:p>
            <a:pPr lvl="1"/>
            <a:r>
              <a:rPr lang="en-US" dirty="0"/>
              <a:t>the speed is measured in megahertz.  </a:t>
            </a:r>
          </a:p>
          <a:p>
            <a:pPr lvl="1"/>
            <a:r>
              <a:rPr lang="en-US" dirty="0"/>
              <a:t>A faster version is </a:t>
            </a:r>
            <a:r>
              <a:rPr lang="en-US" i="1" dirty="0"/>
              <a:t>DDR2 SDRAM, </a:t>
            </a:r>
            <a:r>
              <a:rPr lang="en-US" dirty="0"/>
              <a:t>which is found on gaming machines and multimedia machines, where speed is needed.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37482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/>
          </a:bodyPr>
          <a:lstStyle/>
          <a:p>
            <a:r>
              <a:rPr lang="en-US" dirty="0"/>
              <a:t>Microcomputers come with different amounts of RAM, which is </a:t>
            </a:r>
            <a:r>
              <a:rPr lang="en-US" dirty="0" smtClean="0"/>
              <a:t>measured </a:t>
            </a:r>
            <a:r>
              <a:rPr lang="en-US" dirty="0"/>
              <a:t>in megabytes or gigabytes.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more RAM you have, the more efficiently the computer </a:t>
            </a:r>
            <a:r>
              <a:rPr lang="en-US" dirty="0" smtClean="0"/>
              <a:t>operates and </a:t>
            </a:r>
            <a:r>
              <a:rPr lang="en-US" dirty="0"/>
              <a:t>the better your software performs. </a:t>
            </a:r>
            <a:endParaRPr lang="en-US" dirty="0" smtClean="0"/>
          </a:p>
          <a:p>
            <a:r>
              <a:rPr lang="en-US" dirty="0" smtClean="0"/>
              <a:t>Before </a:t>
            </a:r>
            <a:r>
              <a:rPr lang="en-US" dirty="0"/>
              <a:t>you buy a software package, </a:t>
            </a:r>
            <a:r>
              <a:rPr lang="en-US" dirty="0" smtClean="0"/>
              <a:t>check how </a:t>
            </a:r>
            <a:r>
              <a:rPr lang="en-US" dirty="0"/>
              <a:t>much RAM is required. </a:t>
            </a:r>
            <a:endParaRPr lang="en-US" dirty="0" smtClean="0"/>
          </a:p>
          <a:p>
            <a:pPr lvl="1"/>
            <a:r>
              <a:rPr lang="en-US" dirty="0" smtClean="0"/>
              <a:t>E.g. Windows7,  </a:t>
            </a:r>
            <a:r>
              <a:rPr lang="en-US" dirty="0"/>
              <a:t>Vista requires 512 </a:t>
            </a:r>
            <a:r>
              <a:rPr lang="en-US" dirty="0" smtClean="0"/>
              <a:t>megabytes </a:t>
            </a:r>
            <a:r>
              <a:rPr lang="pt-BR" dirty="0" smtClean="0"/>
              <a:t>to </a:t>
            </a:r>
            <a:r>
              <a:rPr lang="pt-BR" dirty="0"/>
              <a:t>1 gigabyte minimum </a:t>
            </a:r>
            <a:r>
              <a:rPr lang="pt-BR" dirty="0" smtClean="0"/>
              <a:t>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441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RAM chips </a:t>
            </a:r>
            <a:r>
              <a:rPr lang="en-US" dirty="0" smtClean="0"/>
              <a:t>reside on </a:t>
            </a:r>
            <a:r>
              <a:rPr lang="en-US" dirty="0"/>
              <a:t>a </a:t>
            </a:r>
            <a:r>
              <a:rPr lang="en-US" b="1" dirty="0"/>
              <a:t>memory </a:t>
            </a:r>
            <a:r>
              <a:rPr lang="en-US" b="1" dirty="0" smtClean="0"/>
              <a:t>module</a:t>
            </a:r>
            <a:r>
              <a:rPr lang="en-US" dirty="0" smtClean="0"/>
              <a:t>.</a:t>
            </a:r>
          </a:p>
          <a:p>
            <a:r>
              <a:rPr lang="en-US" b="1" dirty="0"/>
              <a:t>Memory slots </a:t>
            </a:r>
            <a:r>
              <a:rPr lang="en-US" dirty="0"/>
              <a:t>on the </a:t>
            </a:r>
            <a:r>
              <a:rPr lang="en-US" dirty="0" smtClean="0"/>
              <a:t>motherboard hold </a:t>
            </a:r>
            <a:r>
              <a:rPr lang="en-US" dirty="0"/>
              <a:t>memory </a:t>
            </a:r>
            <a:r>
              <a:rPr lang="en-US" dirty="0" smtClean="0"/>
              <a:t>modules.</a:t>
            </a:r>
          </a:p>
          <a:p>
            <a:r>
              <a:rPr lang="en-US" dirty="0"/>
              <a:t>Three types </a:t>
            </a:r>
            <a:r>
              <a:rPr lang="en-US" dirty="0" smtClean="0"/>
              <a:t>of memory </a:t>
            </a:r>
            <a:r>
              <a:rPr lang="en-US" dirty="0"/>
              <a:t>modules are SIMMs,</a:t>
            </a:r>
          </a:p>
          <a:p>
            <a:r>
              <a:rPr lang="en-US" dirty="0"/>
              <a:t>DIMMs, and RIMMs. A </a:t>
            </a:r>
            <a:r>
              <a:rPr lang="en-US" i="1" dirty="0" smtClean="0"/>
              <a:t>SIMM </a:t>
            </a:r>
            <a:r>
              <a:rPr lang="en-US" dirty="0" smtClean="0"/>
              <a:t>(</a:t>
            </a:r>
            <a:r>
              <a:rPr lang="en-US" i="1" dirty="0" smtClean="0"/>
              <a:t>single </a:t>
            </a:r>
            <a:r>
              <a:rPr lang="en-US" i="1" dirty="0"/>
              <a:t>inline memory </a:t>
            </a:r>
            <a:r>
              <a:rPr lang="en-US" i="1" dirty="0" smtClean="0"/>
              <a:t>module</a:t>
            </a:r>
            <a:r>
              <a:rPr lang="en-US" dirty="0" smtClean="0"/>
              <a:t>) has </a:t>
            </a:r>
            <a:r>
              <a:rPr lang="en-US" dirty="0"/>
              <a:t>pins on opposite sides </a:t>
            </a:r>
            <a:r>
              <a:rPr lang="en-US" dirty="0" smtClean="0"/>
              <a:t>of the </a:t>
            </a:r>
            <a:r>
              <a:rPr lang="en-US" dirty="0"/>
              <a:t>circuit board that </a:t>
            </a:r>
            <a:r>
              <a:rPr lang="en-US" dirty="0" smtClean="0"/>
              <a:t>connect together </a:t>
            </a:r>
            <a:r>
              <a:rPr lang="en-US" dirty="0"/>
              <a:t>to form a single </a:t>
            </a:r>
            <a:r>
              <a:rPr lang="en-US" dirty="0" smtClean="0"/>
              <a:t>set of </a:t>
            </a:r>
            <a:r>
              <a:rPr lang="en-US" dirty="0"/>
              <a:t>contacts.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a </a:t>
            </a:r>
            <a:r>
              <a:rPr lang="en-US" i="1" dirty="0" smtClean="0"/>
              <a:t>DIMM </a:t>
            </a:r>
            <a:r>
              <a:rPr lang="en-US" dirty="0" smtClean="0"/>
              <a:t>(</a:t>
            </a:r>
            <a:r>
              <a:rPr lang="en-US" i="1" dirty="0" smtClean="0"/>
              <a:t>dual </a:t>
            </a:r>
            <a:r>
              <a:rPr lang="en-US" i="1" dirty="0"/>
              <a:t>inline memory module</a:t>
            </a:r>
            <a:r>
              <a:rPr lang="en-US" dirty="0" smtClean="0"/>
              <a:t>),  </a:t>
            </a:r>
            <a:r>
              <a:rPr lang="en-US" dirty="0"/>
              <a:t>the pins on opposite sides of </a:t>
            </a:r>
            <a:r>
              <a:rPr lang="en-US" dirty="0" smtClean="0"/>
              <a:t>the circuit </a:t>
            </a:r>
            <a:r>
              <a:rPr lang="en-US" dirty="0"/>
              <a:t>board do not connect and thus form </a:t>
            </a:r>
            <a:r>
              <a:rPr lang="en-US" dirty="0" smtClean="0"/>
              <a:t>two sets </a:t>
            </a:r>
            <a:r>
              <a:rPr lang="en-US" dirty="0"/>
              <a:t>of contacts. </a:t>
            </a:r>
            <a:endParaRPr lang="en-US" dirty="0" smtClean="0"/>
          </a:p>
          <a:p>
            <a:r>
              <a:rPr lang="en-US" dirty="0" smtClean="0"/>
              <a:t>SIMMs </a:t>
            </a:r>
            <a:r>
              <a:rPr lang="en-US" dirty="0"/>
              <a:t>and </a:t>
            </a:r>
            <a:r>
              <a:rPr lang="en-US" dirty="0" smtClean="0"/>
              <a:t>DIMMs hold </a:t>
            </a:r>
            <a:r>
              <a:rPr lang="en-US" dirty="0"/>
              <a:t>SDRAM chips.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i="1" dirty="0"/>
              <a:t>RIMM </a:t>
            </a:r>
            <a:r>
              <a:rPr lang="en-US" dirty="0"/>
              <a:t>(</a:t>
            </a:r>
            <a:r>
              <a:rPr lang="en-US" i="1" dirty="0"/>
              <a:t>Rambus </a:t>
            </a:r>
            <a:r>
              <a:rPr lang="en-US" i="1" dirty="0" smtClean="0"/>
              <a:t>inline memory </a:t>
            </a:r>
            <a:r>
              <a:rPr lang="en-US" i="1" dirty="0"/>
              <a:t>module</a:t>
            </a:r>
            <a:r>
              <a:rPr lang="en-US" dirty="0"/>
              <a:t>) houses RDRAM chips.</a:t>
            </a:r>
          </a:p>
        </p:txBody>
      </p:sp>
    </p:spTree>
    <p:extLst>
      <p:ext uri="{BB962C8B-B14F-4D97-AF65-F5344CB8AC3E}">
        <p14:creationId xmlns:p14="http://schemas.microsoft.com/office/powerpoint/2010/main" val="974620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6096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If you’re short on memory capacity, you </a:t>
            </a:r>
            <a:r>
              <a:rPr lang="en-US" dirty="0" smtClean="0"/>
              <a:t>can </a:t>
            </a:r>
            <a:r>
              <a:rPr lang="en-US" dirty="0"/>
              <a:t>add more RAM </a:t>
            </a:r>
            <a:r>
              <a:rPr lang="en-US" dirty="0" smtClean="0"/>
              <a:t>chips by </a:t>
            </a:r>
            <a:r>
              <a:rPr lang="en-US" dirty="0"/>
              <a:t>plugging a RAM </a:t>
            </a:r>
            <a:r>
              <a:rPr lang="en-US" i="1" dirty="0"/>
              <a:t>memory module </a:t>
            </a:r>
            <a:r>
              <a:rPr lang="en-US" dirty="0"/>
              <a:t>into the motherboard.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memory </a:t>
            </a:r>
            <a:r>
              <a:rPr lang="en-US" dirty="0" smtClean="0"/>
              <a:t>module is </a:t>
            </a:r>
            <a:r>
              <a:rPr lang="en-US" dirty="0"/>
              <a:t>a small fiberglass circuit board that can be plugged into an </a:t>
            </a:r>
            <a:r>
              <a:rPr lang="en-US" dirty="0" smtClean="0"/>
              <a:t>expansion slot </a:t>
            </a:r>
            <a:r>
              <a:rPr lang="en-US" dirty="0"/>
              <a:t>on the motherboard. </a:t>
            </a:r>
            <a:endParaRPr lang="en-US" dirty="0" smtClean="0"/>
          </a:p>
          <a:p>
            <a:pPr lvl="1"/>
            <a:r>
              <a:rPr lang="en-US" dirty="0"/>
              <a:t>A </a:t>
            </a:r>
            <a:r>
              <a:rPr lang="en-US" i="1" dirty="0"/>
              <a:t>circuit </a:t>
            </a:r>
            <a:r>
              <a:rPr lang="en-US" dirty="0"/>
              <a:t>is a closed path followed or capable of being followed by an electric </a:t>
            </a:r>
            <a:r>
              <a:rPr lang="en-US" dirty="0" smtClean="0"/>
              <a:t>current.</a:t>
            </a:r>
          </a:p>
          <a:p>
            <a:r>
              <a:rPr lang="en-US" dirty="0" smtClean="0"/>
              <a:t>There </a:t>
            </a:r>
            <a:r>
              <a:rPr lang="en-US" dirty="0"/>
              <a:t>are two types of </a:t>
            </a:r>
            <a:r>
              <a:rPr lang="en-US" dirty="0" smtClean="0"/>
              <a:t>memory </a:t>
            </a:r>
            <a:r>
              <a:rPr lang="en-US" dirty="0"/>
              <a:t>modules: </a:t>
            </a:r>
            <a:endParaRPr lang="en-US" dirty="0" smtClean="0"/>
          </a:p>
          <a:p>
            <a:pPr lvl="1"/>
            <a:r>
              <a:rPr lang="en-US" dirty="0" smtClean="0"/>
              <a:t>SIMMs and </a:t>
            </a:r>
            <a:r>
              <a:rPr lang="en-US" dirty="0"/>
              <a:t>the newer DIMMs</a:t>
            </a:r>
            <a:r>
              <a:rPr lang="en-US" dirty="0" smtClean="0"/>
              <a:t>. </a:t>
            </a:r>
          </a:p>
          <a:p>
            <a:pPr lvl="1"/>
            <a:r>
              <a:rPr lang="en-US" b="1" dirty="0" smtClean="0"/>
              <a:t>SIMM</a:t>
            </a:r>
            <a:r>
              <a:rPr lang="en-US" b="1" dirty="0"/>
              <a:t>: </a:t>
            </a:r>
            <a:r>
              <a:rPr lang="en-US" dirty="0"/>
              <a:t>A </a:t>
            </a:r>
            <a:r>
              <a:rPr lang="en-US" i="1" dirty="0"/>
              <a:t>SIMM (single inline memory module) </a:t>
            </a:r>
            <a:r>
              <a:rPr lang="en-US" dirty="0"/>
              <a:t>has RAM chips </a:t>
            </a:r>
            <a:r>
              <a:rPr lang="en-US" dirty="0" smtClean="0"/>
              <a:t>on only </a:t>
            </a:r>
            <a:r>
              <a:rPr lang="en-US" dirty="0"/>
              <a:t>one side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SIMMs </a:t>
            </a:r>
            <a:r>
              <a:rPr lang="en-US" dirty="0"/>
              <a:t>are available in either FPM (fast page </a:t>
            </a:r>
            <a:r>
              <a:rPr lang="en-US" dirty="0" smtClean="0"/>
              <a:t>mode) or </a:t>
            </a:r>
            <a:r>
              <a:rPr lang="en-US" dirty="0"/>
              <a:t>EDO (extended data output) speeds, with EDO being the faster </a:t>
            </a:r>
            <a:r>
              <a:rPr lang="en-US" dirty="0" smtClean="0"/>
              <a:t>of the </a:t>
            </a:r>
            <a:r>
              <a:rPr lang="en-US" dirty="0"/>
              <a:t>two. </a:t>
            </a:r>
            <a:endParaRPr lang="en-US" dirty="0" smtClean="0"/>
          </a:p>
          <a:p>
            <a:pPr lvl="1"/>
            <a:r>
              <a:rPr lang="en-US" dirty="0" smtClean="0"/>
              <a:t>SIMMs </a:t>
            </a:r>
            <a:r>
              <a:rPr lang="en-US" dirty="0"/>
              <a:t>are more expensive than modern memory </a:t>
            </a:r>
            <a:r>
              <a:rPr lang="en-US" dirty="0" smtClean="0"/>
              <a:t>modules because </a:t>
            </a:r>
            <a:r>
              <a:rPr lang="en-US" dirty="0"/>
              <a:t>they are no longer in demand, which also makes </a:t>
            </a:r>
            <a:r>
              <a:rPr lang="en-US" dirty="0" smtClean="0"/>
              <a:t>them difficult </a:t>
            </a:r>
            <a:r>
              <a:rPr lang="en-US" dirty="0"/>
              <a:t>to obtain</a:t>
            </a:r>
            <a:r>
              <a:rPr lang="en-US" dirty="0" smtClean="0"/>
              <a:t>. </a:t>
            </a:r>
          </a:p>
          <a:p>
            <a:pPr lvl="1"/>
            <a:r>
              <a:rPr lang="en-US" b="1" dirty="0" smtClean="0"/>
              <a:t>DIMM</a:t>
            </a:r>
            <a:r>
              <a:rPr lang="en-US" b="1" dirty="0"/>
              <a:t>: </a:t>
            </a:r>
            <a:r>
              <a:rPr lang="en-US" dirty="0"/>
              <a:t>A </a:t>
            </a:r>
            <a:r>
              <a:rPr lang="en-US" i="1" dirty="0"/>
              <a:t>DIMM (dual inline memory module) </a:t>
            </a:r>
            <a:r>
              <a:rPr lang="en-US" dirty="0"/>
              <a:t>has RAM chips </a:t>
            </a:r>
            <a:r>
              <a:rPr lang="en-US" dirty="0" smtClean="0"/>
              <a:t>on both </a:t>
            </a:r>
            <a:r>
              <a:rPr lang="en-US" dirty="0"/>
              <a:t>sides. </a:t>
            </a:r>
            <a:endParaRPr lang="en-US" dirty="0" smtClean="0"/>
          </a:p>
          <a:p>
            <a:r>
              <a:rPr lang="en-US" dirty="0" smtClean="0"/>
              <a:t>DIMMs </a:t>
            </a:r>
            <a:r>
              <a:rPr lang="en-US" dirty="0"/>
              <a:t>are the most popular and common type of </a:t>
            </a:r>
            <a:r>
              <a:rPr lang="en-US" dirty="0" smtClean="0"/>
              <a:t>RAM used </a:t>
            </a:r>
            <a:r>
              <a:rPr lang="en-US" dirty="0"/>
              <a:t>today.</a:t>
            </a:r>
          </a:p>
        </p:txBody>
      </p:sp>
    </p:spTree>
    <p:extLst>
      <p:ext uri="{BB962C8B-B14F-4D97-AF65-F5344CB8AC3E}">
        <p14:creationId xmlns:p14="http://schemas.microsoft.com/office/powerpoint/2010/main" val="2992184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63246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ROM Chips—to Store Fixed Start-up Instructions </a:t>
            </a:r>
          </a:p>
          <a:p>
            <a:r>
              <a:rPr lang="en-US" dirty="0"/>
              <a:t>R</a:t>
            </a:r>
            <a:r>
              <a:rPr lang="en-US" dirty="0" smtClean="0"/>
              <a:t>ead-only </a:t>
            </a:r>
            <a:r>
              <a:rPr lang="en-US" dirty="0"/>
              <a:t>memory (ROM) stores information that can only be </a:t>
            </a:r>
            <a:r>
              <a:rPr lang="en-US" dirty="0" smtClean="0"/>
              <a:t>read and not modified.</a:t>
            </a:r>
          </a:p>
          <a:p>
            <a:r>
              <a:rPr lang="en-US" dirty="0" smtClean="0"/>
              <a:t>Modifying </a:t>
            </a:r>
            <a:r>
              <a:rPr lang="en-US" dirty="0"/>
              <a:t>it is either impossible or very difficult. </a:t>
            </a:r>
            <a:endParaRPr lang="en-US" dirty="0" smtClean="0"/>
          </a:p>
          <a:p>
            <a:r>
              <a:rPr lang="en-US" dirty="0" smtClean="0"/>
              <a:t>ROM is </a:t>
            </a:r>
            <a:r>
              <a:rPr lang="en-US" dirty="0"/>
              <a:t>a type of </a:t>
            </a:r>
            <a:r>
              <a:rPr lang="en-US" b="1" dirty="0"/>
              <a:t>non-volatile</a:t>
            </a:r>
            <a:r>
              <a:rPr lang="en-US" dirty="0"/>
              <a:t> storage, which means that the information is maintained even if the component loses power.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a </a:t>
            </a:r>
            <a:r>
              <a:rPr lang="en-US" dirty="0" smtClean="0"/>
              <a:t>computer </a:t>
            </a:r>
            <a:r>
              <a:rPr lang="en-US" dirty="0"/>
              <a:t>system, ROM is located on the motherboard.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contains </a:t>
            </a:r>
            <a:r>
              <a:rPr lang="en-US" dirty="0" smtClean="0"/>
              <a:t>basic instructions </a:t>
            </a:r>
            <a:r>
              <a:rPr lang="en-US" dirty="0"/>
              <a:t>for what needs to happen when a computer is powered on.</a:t>
            </a:r>
            <a:endParaRPr lang="en-US" dirty="0" smtClean="0"/>
          </a:p>
          <a:p>
            <a:r>
              <a:rPr lang="en-US" b="1" i="1" dirty="0" smtClean="0"/>
              <a:t>ROM </a:t>
            </a:r>
            <a:r>
              <a:rPr lang="en-US" b="1" i="1" dirty="0"/>
              <a:t>(</a:t>
            </a:r>
            <a:r>
              <a:rPr lang="en-US" b="1" i="1" dirty="0" smtClean="0"/>
              <a:t>read-only memory</a:t>
            </a:r>
            <a:r>
              <a:rPr lang="en-US" b="1" i="1" dirty="0"/>
              <a:t>) </a:t>
            </a:r>
            <a:r>
              <a:rPr lang="en-US" b="1" dirty="0"/>
              <a:t>cannot be written on or erased by </a:t>
            </a:r>
            <a:r>
              <a:rPr lang="en-US" b="1" dirty="0" smtClean="0"/>
              <a:t>computer </a:t>
            </a:r>
            <a:r>
              <a:rPr lang="en-US" b="1" dirty="0"/>
              <a:t>user </a:t>
            </a:r>
            <a:r>
              <a:rPr lang="en-US" b="1" dirty="0" smtClean="0"/>
              <a:t>without special </a:t>
            </a:r>
            <a:r>
              <a:rPr lang="en-US" b="1" dirty="0"/>
              <a:t>equipment. </a:t>
            </a:r>
            <a:endParaRPr lang="en-US" dirty="0"/>
          </a:p>
          <a:p>
            <a:r>
              <a:rPr lang="en-US" dirty="0"/>
              <a:t>Memory that can only be read i.e. it cannot be modified. </a:t>
            </a:r>
          </a:p>
          <a:p>
            <a:r>
              <a:rPr lang="en-US" dirty="0" smtClean="0"/>
              <a:t>ROM </a:t>
            </a:r>
            <a:r>
              <a:rPr lang="en-US" dirty="0"/>
              <a:t>chips are loaded, at the factory, with programs </a:t>
            </a:r>
            <a:r>
              <a:rPr lang="en-US" dirty="0" smtClean="0"/>
              <a:t>containing special </a:t>
            </a:r>
            <a:r>
              <a:rPr lang="en-US" dirty="0"/>
              <a:t>instructions for basic computer operations, such as those that start </a:t>
            </a:r>
            <a:r>
              <a:rPr lang="en-US" dirty="0" smtClean="0"/>
              <a:t>the computer </a:t>
            </a:r>
            <a:r>
              <a:rPr lang="en-US" dirty="0"/>
              <a:t>(BIOS) or put characters on the screen. </a:t>
            </a:r>
            <a:endParaRPr lang="en-US" dirty="0" smtClean="0"/>
          </a:p>
          <a:p>
            <a:r>
              <a:rPr lang="en-US" dirty="0"/>
              <a:t>ROM plays a critical part in starting up your computer. This is also referred to as </a:t>
            </a:r>
            <a:r>
              <a:rPr lang="en-US" b="1" dirty="0"/>
              <a:t>booting up</a:t>
            </a:r>
            <a:r>
              <a:rPr lang="en-US" dirty="0"/>
              <a:t> your computer.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4832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computer terminology, </a:t>
            </a:r>
            <a:r>
              <a:rPr lang="en-US" b="1" i="1" dirty="0"/>
              <a:t>read </a:t>
            </a:r>
            <a:r>
              <a:rPr lang="en-US" b="1" dirty="0"/>
              <a:t>means to transfer data from an input source into the computer’s memory or CPU. </a:t>
            </a:r>
          </a:p>
          <a:p>
            <a:r>
              <a:rPr lang="en-US" b="1" dirty="0"/>
              <a:t>The opposite is </a:t>
            </a:r>
            <a:r>
              <a:rPr lang="en-US" b="1" i="1" dirty="0"/>
              <a:t>write </a:t>
            </a:r>
            <a:r>
              <a:rPr lang="en-US" b="1" dirty="0"/>
              <a:t>—to transfer data from the computer’s CPU or memory to an output device</a:t>
            </a:r>
            <a:r>
              <a:rPr lang="en-US" b="1" dirty="0" smtClean="0"/>
              <a:t>.</a:t>
            </a:r>
            <a:endParaRPr lang="en-US" dirty="0" smtClean="0"/>
          </a:p>
          <a:p>
            <a:r>
              <a:rPr lang="en-US" dirty="0" smtClean="0"/>
              <a:t>ROM, </a:t>
            </a:r>
            <a:r>
              <a:rPr lang="en-US" i="1" dirty="0"/>
              <a:t>read-only </a:t>
            </a:r>
            <a:r>
              <a:rPr lang="en-US" dirty="0"/>
              <a:t>means that the CPU can retrieve </a:t>
            </a:r>
            <a:r>
              <a:rPr lang="en-US" dirty="0" smtClean="0"/>
              <a:t>programs from </a:t>
            </a:r>
            <a:r>
              <a:rPr lang="en-US" dirty="0"/>
              <a:t>the ROM chip but cannot modify or add to those programs. </a:t>
            </a:r>
            <a:endParaRPr lang="en-US" dirty="0" smtClean="0"/>
          </a:p>
          <a:p>
            <a:r>
              <a:rPr lang="en-US" dirty="0" smtClean="0"/>
              <a:t>A variation is </a:t>
            </a:r>
            <a:r>
              <a:rPr lang="en-US" i="1" dirty="0"/>
              <a:t>PROM (programmable read-only memory), </a:t>
            </a:r>
            <a:r>
              <a:rPr lang="en-US" dirty="0"/>
              <a:t>which is a ROM chip that </a:t>
            </a:r>
            <a:r>
              <a:rPr lang="en-US" dirty="0" smtClean="0"/>
              <a:t>allows </a:t>
            </a:r>
            <a:r>
              <a:rPr lang="en-US" dirty="0"/>
              <a:t>the user, to load read-only programs and </a:t>
            </a:r>
            <a:r>
              <a:rPr lang="en-US" dirty="0" smtClean="0"/>
              <a:t>data, this </a:t>
            </a:r>
            <a:r>
              <a:rPr lang="en-US" dirty="0"/>
              <a:t>can be </a:t>
            </a:r>
            <a:r>
              <a:rPr lang="en-US" dirty="0" smtClean="0"/>
              <a:t>done only </a:t>
            </a:r>
            <a:r>
              <a:rPr lang="en-US" dirty="0"/>
              <a:t>once</a:t>
            </a:r>
            <a:r>
              <a:rPr lang="en-US" dirty="0" smtClean="0"/>
              <a:t>.</a:t>
            </a:r>
          </a:p>
          <a:p>
            <a:r>
              <a:rPr lang="en-US" dirty="0"/>
              <a:t>A variation of the PROM chip, called </a:t>
            </a:r>
            <a:r>
              <a:rPr lang="en-US" dirty="0" smtClean="0"/>
              <a:t>an </a:t>
            </a:r>
            <a:r>
              <a:rPr lang="en-US" i="1" dirty="0" smtClean="0"/>
              <a:t>EEPROM </a:t>
            </a:r>
            <a:r>
              <a:rPr lang="en-US" dirty="0"/>
              <a:t>(electrically erasable </a:t>
            </a:r>
            <a:r>
              <a:rPr lang="en-US" dirty="0" smtClean="0"/>
              <a:t>programmable </a:t>
            </a:r>
            <a:r>
              <a:rPr lang="en-US" dirty="0"/>
              <a:t>read-only memory) </a:t>
            </a:r>
            <a:r>
              <a:rPr lang="en-US" i="1" dirty="0"/>
              <a:t>chip</a:t>
            </a:r>
            <a:r>
              <a:rPr lang="en-US" dirty="0"/>
              <a:t>, allows a </a:t>
            </a:r>
            <a:r>
              <a:rPr lang="en-US" dirty="0" smtClean="0"/>
              <a:t>programmer to </a:t>
            </a:r>
            <a:r>
              <a:rPr lang="en-US" dirty="0"/>
              <a:t>erase the microcode with an electric signal.</a:t>
            </a:r>
          </a:p>
        </p:txBody>
      </p:sp>
    </p:spTree>
    <p:extLst>
      <p:ext uri="{BB962C8B-B14F-4D97-AF65-F5344CB8AC3E}">
        <p14:creationId xmlns:p14="http://schemas.microsoft.com/office/powerpoint/2010/main" val="12476187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85800"/>
            <a:ext cx="7498080" cy="55626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/>
              <a:t>CMOS </a:t>
            </a:r>
            <a:r>
              <a:rPr lang="en-US" b="1" dirty="0" smtClean="0"/>
              <a:t>Chips— </a:t>
            </a:r>
            <a:r>
              <a:rPr lang="en-US" dirty="0" smtClean="0"/>
              <a:t>Pronounced´“ </a:t>
            </a:r>
            <a:r>
              <a:rPr lang="en-US" i="1" dirty="0"/>
              <a:t>see </a:t>
            </a:r>
            <a:r>
              <a:rPr lang="en-US" dirty="0"/>
              <a:t>-moss,” </a:t>
            </a:r>
            <a:endParaRPr lang="en-US" dirty="0" smtClean="0"/>
          </a:p>
          <a:p>
            <a:r>
              <a:rPr lang="en-US" b="1" i="1" dirty="0" smtClean="0"/>
              <a:t>CMOS </a:t>
            </a:r>
            <a:r>
              <a:rPr lang="en-US" b="1" i="1" dirty="0"/>
              <a:t>(complementary metal-oxide semiconductor) chips </a:t>
            </a:r>
            <a:r>
              <a:rPr lang="en-US" b="1" dirty="0" smtClean="0"/>
              <a:t>are powered </a:t>
            </a:r>
            <a:r>
              <a:rPr lang="en-US" b="1" dirty="0"/>
              <a:t>by a battery </a:t>
            </a:r>
            <a:r>
              <a:rPr lang="en-US" b="1" dirty="0" smtClean="0"/>
              <a:t>therefore don’t </a:t>
            </a:r>
            <a:r>
              <a:rPr lang="en-US" b="1" dirty="0"/>
              <a:t>lose their contents when the </a:t>
            </a:r>
            <a:r>
              <a:rPr lang="en-US" b="1" dirty="0" smtClean="0"/>
              <a:t>power is </a:t>
            </a:r>
            <a:r>
              <a:rPr lang="en-US" b="1" dirty="0"/>
              <a:t>turned off. </a:t>
            </a:r>
            <a:endParaRPr lang="en-US" b="1" dirty="0" smtClean="0"/>
          </a:p>
          <a:p>
            <a:r>
              <a:rPr lang="en-US" dirty="0" smtClean="0"/>
              <a:t>CMOS </a:t>
            </a:r>
            <a:r>
              <a:rPr lang="en-US" dirty="0"/>
              <a:t>chips contain flexible start-up instructions—such </a:t>
            </a:r>
            <a:r>
              <a:rPr lang="en-US" dirty="0" smtClean="0"/>
              <a:t>as time</a:t>
            </a:r>
            <a:r>
              <a:rPr lang="en-US" dirty="0"/>
              <a:t>, date, and calendar—that must be kept current even when the </a:t>
            </a:r>
            <a:r>
              <a:rPr lang="en-US" dirty="0" smtClean="0"/>
              <a:t>computer is </a:t>
            </a:r>
            <a:r>
              <a:rPr lang="en-US" dirty="0"/>
              <a:t>turned off. </a:t>
            </a:r>
            <a:endParaRPr lang="en-US" dirty="0" smtClean="0"/>
          </a:p>
          <a:p>
            <a:r>
              <a:rPr lang="en-US" dirty="0" smtClean="0"/>
              <a:t>CMOS </a:t>
            </a:r>
            <a:r>
              <a:rPr lang="en-US" dirty="0"/>
              <a:t>chips can be </a:t>
            </a:r>
            <a:r>
              <a:rPr lang="en-US" dirty="0" smtClean="0"/>
              <a:t>reprogrammed when you </a:t>
            </a:r>
            <a:r>
              <a:rPr lang="en-US" dirty="0"/>
              <a:t>need to change the time for daylight savings time. </a:t>
            </a:r>
            <a:endParaRPr lang="en-US" b="1" dirty="0" smtClean="0"/>
          </a:p>
          <a:p>
            <a:r>
              <a:rPr lang="en-US" dirty="0" smtClean="0"/>
              <a:t>Memory </a:t>
            </a:r>
            <a:r>
              <a:rPr lang="en-US" dirty="0"/>
              <a:t>chip that stores configuration information of a computer. </a:t>
            </a:r>
          </a:p>
          <a:p>
            <a:r>
              <a:rPr lang="en-US" dirty="0" smtClean="0"/>
              <a:t>Uses </a:t>
            </a:r>
            <a:r>
              <a:rPr lang="en-US" dirty="0"/>
              <a:t>battery power to retain the information when the computer is switched </a:t>
            </a:r>
            <a:r>
              <a:rPr lang="en-US" dirty="0" smtClean="0"/>
              <a:t>off.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678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 fontScale="55000" lnSpcReduction="20000"/>
          </a:bodyPr>
          <a:lstStyle/>
          <a:p>
            <a:pPr marL="82296" indent="0">
              <a:buNone/>
            </a:pPr>
            <a:r>
              <a:rPr lang="en-US" b="1" dirty="0"/>
              <a:t>FLASH </a:t>
            </a:r>
            <a:r>
              <a:rPr lang="en-US" b="1" dirty="0" smtClean="0"/>
              <a:t>MEMORY</a:t>
            </a:r>
          </a:p>
          <a:p>
            <a:r>
              <a:rPr lang="en-US" b="1" dirty="0"/>
              <a:t>Flash memory </a:t>
            </a:r>
            <a:r>
              <a:rPr lang="en-US" dirty="0"/>
              <a:t>is a type of </a:t>
            </a:r>
            <a:r>
              <a:rPr lang="en-US" dirty="0" smtClean="0"/>
              <a:t>nonvolatile memory </a:t>
            </a:r>
            <a:r>
              <a:rPr lang="en-US" dirty="0"/>
              <a:t>that can be erased electronically </a:t>
            </a:r>
            <a:r>
              <a:rPr lang="en-US" dirty="0" smtClean="0"/>
              <a:t>and rewritten</a:t>
            </a:r>
            <a:r>
              <a:rPr lang="en-US" dirty="0"/>
              <a:t>, similar to EEPROM.</a:t>
            </a:r>
            <a:endParaRPr lang="en-US" dirty="0" smtClean="0"/>
          </a:p>
          <a:p>
            <a:r>
              <a:rPr lang="en-US" dirty="0" smtClean="0"/>
              <a:t>A nonvolatile form </a:t>
            </a:r>
            <a:r>
              <a:rPr lang="en-US" dirty="0"/>
              <a:t>of memory, </a:t>
            </a:r>
            <a:r>
              <a:rPr lang="en-US" b="1" i="1" dirty="0"/>
              <a:t>flash memory chips </a:t>
            </a:r>
            <a:r>
              <a:rPr lang="en-US" b="1" dirty="0"/>
              <a:t>can be erased and </a:t>
            </a:r>
            <a:r>
              <a:rPr lang="en-US" b="1" dirty="0" smtClean="0"/>
              <a:t>reprogrammed more </a:t>
            </a:r>
            <a:r>
              <a:rPr lang="en-US" b="1" dirty="0"/>
              <a:t>than once </a:t>
            </a:r>
            <a:endParaRPr lang="en-US" b="1" dirty="0" smtClean="0"/>
          </a:p>
          <a:p>
            <a:pPr lvl="1"/>
            <a:r>
              <a:rPr lang="en-US" dirty="0" smtClean="0"/>
              <a:t>(</a:t>
            </a:r>
            <a:r>
              <a:rPr lang="en-US" dirty="0"/>
              <a:t>unlike PROM chips, which can be programmed only once</a:t>
            </a:r>
            <a:r>
              <a:rPr lang="en-US" dirty="0" smtClean="0"/>
              <a:t>). </a:t>
            </a:r>
          </a:p>
          <a:p>
            <a:r>
              <a:rPr lang="en-US" dirty="0" smtClean="0"/>
              <a:t>Flash memory </a:t>
            </a:r>
            <a:r>
              <a:rPr lang="en-US" dirty="0"/>
              <a:t>doesn’t require a battery </a:t>
            </a:r>
            <a:r>
              <a:rPr lang="en-US" dirty="0" smtClean="0"/>
              <a:t>and </a:t>
            </a:r>
            <a:r>
              <a:rPr lang="en-US" dirty="0"/>
              <a:t>can range </a:t>
            </a:r>
            <a:r>
              <a:rPr lang="en-US" dirty="0" smtClean="0"/>
              <a:t>from 128 </a:t>
            </a:r>
            <a:r>
              <a:rPr lang="en-US" dirty="0"/>
              <a:t>megabytes to 32 gigabytes and up in capacity, </a:t>
            </a:r>
            <a:endParaRPr lang="en-US" dirty="0" smtClean="0"/>
          </a:p>
          <a:p>
            <a:r>
              <a:rPr lang="en-US" dirty="0"/>
              <a:t>Flash memory chips also store data and </a:t>
            </a:r>
            <a:r>
              <a:rPr lang="en-US" dirty="0" smtClean="0"/>
              <a:t>programs on </a:t>
            </a:r>
            <a:r>
              <a:rPr lang="en-US" dirty="0"/>
              <a:t>many mobile computers and </a:t>
            </a:r>
            <a:r>
              <a:rPr lang="en-US" dirty="0" smtClean="0"/>
              <a:t>devices, such </a:t>
            </a:r>
            <a:r>
              <a:rPr lang="en-US" dirty="0"/>
              <a:t>as smart phones, portable media </a:t>
            </a:r>
            <a:r>
              <a:rPr lang="en-US" dirty="0" smtClean="0"/>
              <a:t>players, PDAs</a:t>
            </a:r>
            <a:r>
              <a:rPr lang="en-US" dirty="0"/>
              <a:t>, printers, digital cameras, </a:t>
            </a:r>
            <a:r>
              <a:rPr lang="en-US" dirty="0" smtClean="0"/>
              <a:t>automotive devices</a:t>
            </a:r>
            <a:r>
              <a:rPr lang="en-US" dirty="0"/>
              <a:t>, digital voice recorders, and pagers</a:t>
            </a:r>
            <a:r>
              <a:rPr lang="en-US" dirty="0" smtClean="0"/>
              <a:t>.</a:t>
            </a:r>
          </a:p>
          <a:p>
            <a:r>
              <a:rPr lang="en-US" i="1" dirty="0" smtClean="0"/>
              <a:t>Flash </a:t>
            </a:r>
            <a:r>
              <a:rPr lang="en-US" i="1" dirty="0"/>
              <a:t>memory</a:t>
            </a:r>
            <a:r>
              <a:rPr lang="en-US" dirty="0"/>
              <a:t> is an electronic non-volatile computer storage medium that can be electrically erased and reprogrammed</a:t>
            </a:r>
            <a:r>
              <a:rPr lang="en-US" dirty="0" smtClean="0"/>
              <a:t>.</a:t>
            </a:r>
          </a:p>
          <a:p>
            <a:r>
              <a:rPr lang="en-US" dirty="0"/>
              <a:t>When you enter names and addresses in a </a:t>
            </a:r>
            <a:r>
              <a:rPr lang="en-US" dirty="0" smtClean="0"/>
              <a:t>smart phone </a:t>
            </a:r>
            <a:r>
              <a:rPr lang="en-US" dirty="0"/>
              <a:t>or </a:t>
            </a:r>
            <a:r>
              <a:rPr lang="en-US" dirty="0" smtClean="0"/>
              <a:t>PDA</a:t>
            </a:r>
            <a:r>
              <a:rPr lang="en-US" dirty="0"/>
              <a:t>, a flash memory chip stores </a:t>
            </a:r>
            <a:r>
              <a:rPr lang="en-US" dirty="0" smtClean="0"/>
              <a:t>the data.</a:t>
            </a:r>
          </a:p>
          <a:p>
            <a:r>
              <a:rPr lang="en-US" dirty="0"/>
              <a:t>Some portable media players store </a:t>
            </a:r>
            <a:r>
              <a:rPr lang="en-US" dirty="0" smtClean="0"/>
              <a:t>music on </a:t>
            </a:r>
            <a:r>
              <a:rPr lang="en-US" dirty="0"/>
              <a:t>flash memory chips (Figure 4-23); others </a:t>
            </a:r>
            <a:r>
              <a:rPr lang="en-US" dirty="0" smtClean="0"/>
              <a:t>store music </a:t>
            </a:r>
            <a:r>
              <a:rPr lang="en-US" dirty="0"/>
              <a:t>on tiny hard disks or flash memory cards.</a:t>
            </a:r>
          </a:p>
          <a:p>
            <a:r>
              <a:rPr lang="en-US" dirty="0"/>
              <a:t>Flash memory cards contain flash </a:t>
            </a:r>
            <a:r>
              <a:rPr lang="en-US" dirty="0" smtClean="0"/>
              <a:t>memory on </a:t>
            </a:r>
            <a:r>
              <a:rPr lang="en-US" dirty="0"/>
              <a:t>a removable device instead of a chip.</a:t>
            </a:r>
          </a:p>
        </p:txBody>
      </p:sp>
    </p:spTree>
    <p:extLst>
      <p:ext uri="{BB962C8B-B14F-4D97-AF65-F5344CB8AC3E}">
        <p14:creationId xmlns:p14="http://schemas.microsoft.com/office/powerpoint/2010/main" val="42595003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b="1" dirty="0"/>
              <a:t>Removable Flash </a:t>
            </a:r>
            <a:r>
              <a:rPr lang="en-US" b="1" dirty="0" smtClean="0"/>
              <a:t>Memory</a:t>
            </a:r>
          </a:p>
          <a:p>
            <a:r>
              <a:rPr lang="en-US" dirty="0"/>
              <a:t>Removable flash memory </a:t>
            </a:r>
            <a:r>
              <a:rPr lang="en-US" dirty="0" smtClean="0"/>
              <a:t>includes memory </a:t>
            </a:r>
            <a:r>
              <a:rPr lang="en-US" dirty="0"/>
              <a:t>cards, USB flash drives, and PC </a:t>
            </a:r>
            <a:r>
              <a:rPr lang="en-US" dirty="0" smtClean="0"/>
              <a:t>Cards/</a:t>
            </a:r>
            <a:r>
              <a:rPr lang="en-US" dirty="0" err="1" smtClean="0"/>
              <a:t>ExpressCard</a:t>
            </a:r>
            <a:r>
              <a:rPr lang="en-US" dirty="0" smtClean="0"/>
              <a:t> module.</a:t>
            </a:r>
          </a:p>
          <a:p>
            <a:r>
              <a:rPr lang="en-US" dirty="0"/>
              <a:t>A </a:t>
            </a:r>
            <a:r>
              <a:rPr lang="en-US" b="1" dirty="0"/>
              <a:t>memory card </a:t>
            </a:r>
            <a:r>
              <a:rPr lang="en-US" dirty="0"/>
              <a:t>is a removable flash </a:t>
            </a:r>
            <a:r>
              <a:rPr lang="en-US" dirty="0" smtClean="0"/>
              <a:t>memory device</a:t>
            </a:r>
            <a:r>
              <a:rPr lang="en-US" dirty="0"/>
              <a:t>, usually no bigger than 1.5" in height </a:t>
            </a:r>
            <a:r>
              <a:rPr lang="en-US" dirty="0" smtClean="0"/>
              <a:t>or width</a:t>
            </a:r>
            <a:r>
              <a:rPr lang="en-US" dirty="0"/>
              <a:t>, that you insert and remove from a </a:t>
            </a:r>
            <a:r>
              <a:rPr lang="en-US" dirty="0" smtClean="0"/>
              <a:t>slot </a:t>
            </a:r>
            <a:r>
              <a:rPr lang="it-IT" dirty="0" smtClean="0"/>
              <a:t>in </a:t>
            </a:r>
            <a:r>
              <a:rPr lang="it-IT" dirty="0"/>
              <a:t>a personal computer, game console, </a:t>
            </a:r>
            <a:r>
              <a:rPr lang="it-IT" dirty="0" smtClean="0"/>
              <a:t>mobile </a:t>
            </a:r>
            <a:r>
              <a:rPr lang="en-US" dirty="0" smtClean="0"/>
              <a:t>device</a:t>
            </a:r>
            <a:r>
              <a:rPr lang="en-US" dirty="0"/>
              <a:t>, or card reader/writer</a:t>
            </a:r>
          </a:p>
        </p:txBody>
      </p:sp>
    </p:spTree>
    <p:extLst>
      <p:ext uri="{BB962C8B-B14F-4D97-AF65-F5344CB8AC3E}">
        <p14:creationId xmlns:p14="http://schemas.microsoft.com/office/powerpoint/2010/main" val="2111296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85000" lnSpcReduction="20000"/>
          </a:bodyPr>
          <a:lstStyle/>
          <a:p>
            <a:pPr marL="82296" indent="0">
              <a:buNone/>
            </a:pPr>
            <a:r>
              <a:rPr lang="en-US" b="1" dirty="0" smtClean="0"/>
              <a:t>Cache (pronounced as cash)</a:t>
            </a:r>
            <a:endParaRPr lang="en-US" b="1" dirty="0"/>
          </a:p>
          <a:p>
            <a:r>
              <a:rPr lang="en-US" b="1" i="1" dirty="0"/>
              <a:t>Cache </a:t>
            </a:r>
            <a:r>
              <a:rPr lang="en-US" b="1" dirty="0"/>
              <a:t>temporarily stores instructions and data that the processor is likely to use frequently. </a:t>
            </a:r>
            <a:endParaRPr lang="en-US" b="1" dirty="0" smtClean="0"/>
          </a:p>
          <a:p>
            <a:r>
              <a:rPr lang="en-US" b="1" dirty="0" smtClean="0"/>
              <a:t>Memory </a:t>
            </a:r>
            <a:r>
              <a:rPr lang="en-US" b="1" dirty="0"/>
              <a:t>cache </a:t>
            </a:r>
            <a:r>
              <a:rPr lang="en-US" dirty="0" smtClean="0"/>
              <a:t>help to speed </a:t>
            </a:r>
            <a:r>
              <a:rPr lang="en-US" dirty="0"/>
              <a:t>the </a:t>
            </a:r>
            <a:r>
              <a:rPr lang="en-US" dirty="0" smtClean="0"/>
              <a:t>processes of </a:t>
            </a:r>
            <a:r>
              <a:rPr lang="en-US" dirty="0"/>
              <a:t>the computer because it stores frequently used</a:t>
            </a:r>
          </a:p>
          <a:p>
            <a:r>
              <a:rPr lang="en-US" dirty="0" smtClean="0"/>
              <a:t>Cache </a:t>
            </a:r>
            <a:r>
              <a:rPr lang="en-US" dirty="0"/>
              <a:t>speeds up </a:t>
            </a:r>
            <a:r>
              <a:rPr lang="en-US" dirty="0" smtClean="0"/>
              <a:t>processing, improves </a:t>
            </a:r>
            <a:r>
              <a:rPr lang="en-US" dirty="0"/>
              <a:t>processing time </a:t>
            </a:r>
            <a:r>
              <a:rPr lang="en-US" dirty="0" smtClean="0"/>
              <a:t>because it stores </a:t>
            </a:r>
            <a:r>
              <a:rPr lang="en-US" dirty="0"/>
              <a:t>frequently used instructions or data</a:t>
            </a:r>
            <a:r>
              <a:rPr lang="en-US" dirty="0" smtClean="0"/>
              <a:t>.</a:t>
            </a:r>
          </a:p>
          <a:p>
            <a:r>
              <a:rPr lang="en-US" dirty="0"/>
              <a:t>Most personal </a:t>
            </a:r>
            <a:r>
              <a:rPr lang="en-US" dirty="0" smtClean="0"/>
              <a:t>computers today </a:t>
            </a:r>
            <a:r>
              <a:rPr lang="en-US" dirty="0"/>
              <a:t>have two types of memory cache: L1 </a:t>
            </a:r>
            <a:r>
              <a:rPr lang="en-US" dirty="0" smtClean="0"/>
              <a:t>cache and </a:t>
            </a:r>
            <a:r>
              <a:rPr lang="en-US" dirty="0"/>
              <a:t>L2 cache. Some also have L3 cache.</a:t>
            </a:r>
            <a:r>
              <a:rPr lang="en-US" dirty="0" smtClean="0"/>
              <a:t> </a:t>
            </a:r>
            <a:endParaRPr lang="en-US" b="1" dirty="0"/>
          </a:p>
          <a:p>
            <a:r>
              <a:rPr lang="en-US" dirty="0"/>
              <a:t>SRAM chips are commonly used for cache</a:t>
            </a:r>
            <a:r>
              <a:rPr lang="en-US" dirty="0" smtClean="0"/>
              <a:t>.</a:t>
            </a:r>
          </a:p>
          <a:p>
            <a:r>
              <a:rPr lang="en-US" dirty="0"/>
              <a:t>computers improve </a:t>
            </a:r>
            <a:r>
              <a:rPr lang="en-US" dirty="0" smtClean="0"/>
              <a:t>their processing </a:t>
            </a:r>
            <a:r>
              <a:rPr lang="en-US" dirty="0"/>
              <a:t>times with </a:t>
            </a:r>
            <a:r>
              <a:rPr lang="en-US" b="1" dirty="0" smtClean="0"/>
              <a:t>cache.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2012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Power Supply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E</a:t>
            </a:r>
            <a:r>
              <a:rPr lang="en-US" dirty="0" smtClean="0"/>
              <a:t>lectricity from </a:t>
            </a:r>
            <a:r>
              <a:rPr lang="en-US" dirty="0"/>
              <a:t>a </a:t>
            </a:r>
            <a:r>
              <a:rPr lang="en-US" dirty="0" smtClean="0"/>
              <a:t>wall </a:t>
            </a:r>
            <a:r>
              <a:rPr lang="en-US" dirty="0"/>
              <a:t>outlet is alternating </a:t>
            </a:r>
            <a:r>
              <a:rPr lang="en-US" dirty="0" smtClean="0"/>
              <a:t>current (AC</a:t>
            </a:r>
            <a:r>
              <a:rPr lang="en-US" dirty="0"/>
              <a:t>) of 115 to 120 </a:t>
            </a:r>
            <a:r>
              <a:rPr lang="en-US" dirty="0" smtClean="0"/>
              <a:t>volts, but </a:t>
            </a:r>
            <a:r>
              <a:rPr lang="en-US" dirty="0"/>
              <a:t>a microcomputer runs on direct current (DC) ranging from 5 to more than 15 volts. </a:t>
            </a:r>
            <a:endParaRPr lang="en-US" dirty="0" smtClean="0"/>
          </a:p>
          <a:p>
            <a:pPr lvl="1"/>
            <a:r>
              <a:rPr lang="en-US" dirty="0"/>
              <a:t>DC - electrical </a:t>
            </a:r>
            <a:r>
              <a:rPr lang="en-US" u="sng" dirty="0"/>
              <a:t>current </a:t>
            </a:r>
            <a:r>
              <a:rPr lang="en-US" dirty="0"/>
              <a:t>which moves in one direction </a:t>
            </a:r>
            <a:r>
              <a:rPr lang="en-US" dirty="0" smtClean="0"/>
              <a:t>only.</a:t>
            </a:r>
          </a:p>
          <a:p>
            <a:pPr lvl="1"/>
            <a:r>
              <a:rPr lang="en-US" dirty="0" smtClean="0"/>
              <a:t>AC - </a:t>
            </a:r>
            <a:r>
              <a:rPr lang="en-US" dirty="0"/>
              <a:t>electrical </a:t>
            </a:r>
            <a:r>
              <a:rPr lang="en-US" u="sng" dirty="0"/>
              <a:t>current </a:t>
            </a:r>
            <a:r>
              <a:rPr lang="en-US" dirty="0"/>
              <a:t>which regularly changes the direction in which it moves </a:t>
            </a:r>
            <a:r>
              <a:rPr lang="en-US" dirty="0" smtClean="0"/>
              <a:t>.</a:t>
            </a:r>
          </a:p>
          <a:p>
            <a:r>
              <a:rPr lang="en-US" b="1" i="1" dirty="0" smtClean="0"/>
              <a:t>Power supply </a:t>
            </a:r>
            <a:r>
              <a:rPr lang="en-US" b="1" dirty="0" smtClean="0"/>
              <a:t>is </a:t>
            </a:r>
            <a:r>
              <a:rPr lang="en-US" b="1" dirty="0"/>
              <a:t>a device that converts AC to DC to run the computer. </a:t>
            </a:r>
            <a:endParaRPr lang="en-US" b="1" dirty="0" smtClean="0"/>
          </a:p>
          <a:p>
            <a:r>
              <a:rPr lang="en-US" dirty="0"/>
              <a:t>The </a:t>
            </a:r>
            <a:r>
              <a:rPr lang="en-US" b="1" dirty="0"/>
              <a:t>power supply </a:t>
            </a:r>
            <a:r>
              <a:rPr lang="en-US" dirty="0"/>
              <a:t>is the component of the system unit that converts the wall outlet AC power into DC power.</a:t>
            </a:r>
            <a:endParaRPr lang="en-US" b="1" dirty="0" smtClean="0"/>
          </a:p>
          <a:p>
            <a:r>
              <a:rPr lang="en-US" dirty="0" smtClean="0"/>
              <a:t>Because </a:t>
            </a:r>
            <a:r>
              <a:rPr lang="en-US" dirty="0"/>
              <a:t>electricity can generate a lot of heat, a fan inside the computer </a:t>
            </a:r>
            <a:r>
              <a:rPr lang="en-US" dirty="0" smtClean="0"/>
              <a:t>keeps the </a:t>
            </a:r>
            <a:r>
              <a:rPr lang="en-US" dirty="0"/>
              <a:t>power supply and other components from becoming too hot</a:t>
            </a:r>
            <a:r>
              <a:rPr lang="en-US" dirty="0" smtClean="0"/>
              <a:t>.</a:t>
            </a:r>
          </a:p>
          <a:p>
            <a:r>
              <a:rPr lang="en-US" dirty="0"/>
              <a:t>Electrical power </a:t>
            </a:r>
            <a:r>
              <a:rPr lang="en-US" dirty="0" smtClean="0"/>
              <a:t>drawn from </a:t>
            </a:r>
            <a:r>
              <a:rPr lang="en-US" dirty="0"/>
              <a:t>a standard AC outlet can be </a:t>
            </a:r>
            <a:r>
              <a:rPr lang="en-US" dirty="0" smtClean="0"/>
              <a:t>quite uneven.</a:t>
            </a:r>
          </a:p>
          <a:p>
            <a:r>
              <a:rPr lang="en-US" dirty="0" smtClean="0"/>
              <a:t>For </a:t>
            </a:r>
            <a:r>
              <a:rPr lang="en-US" dirty="0"/>
              <a:t>example, a sudden surge, or “spike,” in AC voltage </a:t>
            </a:r>
            <a:r>
              <a:rPr lang="en-US" dirty="0" smtClean="0"/>
              <a:t>can burn </a:t>
            </a:r>
            <a:r>
              <a:rPr lang="en-US" dirty="0"/>
              <a:t>out the low-voltage DC circuitry in your computer (“fry </a:t>
            </a:r>
            <a:r>
              <a:rPr lang="en-US" dirty="0" smtClean="0"/>
              <a:t>the motherboard”).</a:t>
            </a:r>
          </a:p>
          <a:p>
            <a:r>
              <a:rPr lang="en-US" dirty="0" smtClean="0"/>
              <a:t>Instead </a:t>
            </a:r>
            <a:r>
              <a:rPr lang="en-US" dirty="0"/>
              <a:t>of plugging your computer directly into </a:t>
            </a:r>
            <a:r>
              <a:rPr lang="en-US" dirty="0" smtClean="0"/>
              <a:t>a wall </a:t>
            </a:r>
            <a:r>
              <a:rPr lang="en-US" dirty="0"/>
              <a:t>electrical outlet, it’s a good idea to plug it into a power </a:t>
            </a:r>
            <a:r>
              <a:rPr lang="en-US" dirty="0" smtClean="0"/>
              <a:t>protection device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three principal types are surge protectors, </a:t>
            </a:r>
            <a:r>
              <a:rPr lang="en-US" dirty="0" smtClean="0"/>
              <a:t>voltage regulators, and UPS units. </a:t>
            </a:r>
          </a:p>
          <a:p>
            <a:pPr lvl="1"/>
            <a:r>
              <a:rPr lang="en-US" i="1" dirty="0"/>
              <a:t>UPS (uninterruptible power supply)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92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Different motherboards and computers require different wattages on the power supply. </a:t>
            </a:r>
          </a:p>
          <a:p>
            <a:r>
              <a:rPr lang="en-US" dirty="0" smtClean="0"/>
              <a:t>Notebook computers, and Tablet PCs, can run using either batteries or a power supply. </a:t>
            </a:r>
          </a:p>
          <a:p>
            <a:r>
              <a:rPr lang="en-US" dirty="0" smtClean="0"/>
              <a:t>If a power supply is not providing the necessary power, the computer will not function properly.</a:t>
            </a:r>
          </a:p>
          <a:p>
            <a:r>
              <a:rPr lang="en-US" dirty="0" smtClean="0"/>
              <a:t>Built into the power supply is a fan that keeps the power supply cool. </a:t>
            </a:r>
          </a:p>
          <a:p>
            <a:r>
              <a:rPr lang="en-US" dirty="0" smtClean="0"/>
              <a:t>Some have variable speed fans that change speed or stop running, depending on temperature in the system unit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576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70000" lnSpcReduction="20000"/>
          </a:bodyPr>
          <a:lstStyle/>
          <a:p>
            <a:pPr marL="82296" indent="0">
              <a:buNone/>
            </a:pPr>
            <a:r>
              <a:rPr lang="en-US" b="1" dirty="0"/>
              <a:t>Port and </a:t>
            </a:r>
            <a:r>
              <a:rPr lang="en-US" b="1" dirty="0" smtClean="0"/>
              <a:t>connectors</a:t>
            </a:r>
            <a:endParaRPr lang="en-US" dirty="0"/>
          </a:p>
          <a:p>
            <a:r>
              <a:rPr lang="en-US" dirty="0"/>
              <a:t>A port is an external connecting socket on the outside of the computer. </a:t>
            </a:r>
          </a:p>
          <a:p>
            <a:r>
              <a:rPr lang="en-US" dirty="0"/>
              <a:t>This is a pathway into and out of a computer. </a:t>
            </a:r>
          </a:p>
          <a:p>
            <a:r>
              <a:rPr lang="en-US" dirty="0"/>
              <a:t>A port lets users plug in outside peripherals such as monitors, scanners and printers.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/>
              <a:t>port </a:t>
            </a:r>
            <a:r>
              <a:rPr lang="en-US" dirty="0"/>
              <a:t>is the point at which a peripheral </a:t>
            </a:r>
            <a:r>
              <a:rPr lang="en-US" dirty="0" smtClean="0"/>
              <a:t>attaches to </a:t>
            </a:r>
            <a:r>
              <a:rPr lang="en-US" dirty="0"/>
              <a:t>or communicates with a system unit so that </a:t>
            </a:r>
            <a:r>
              <a:rPr lang="en-US" dirty="0" smtClean="0"/>
              <a:t>the peripheral </a:t>
            </a:r>
            <a:r>
              <a:rPr lang="en-US" dirty="0"/>
              <a:t>can send data to or receive </a:t>
            </a:r>
            <a:r>
              <a:rPr lang="en-US" dirty="0" smtClean="0"/>
              <a:t>information from </a:t>
            </a:r>
            <a:r>
              <a:rPr lang="en-US" dirty="0"/>
              <a:t>the computer. </a:t>
            </a:r>
            <a:endParaRPr lang="en-US" dirty="0" smtClean="0"/>
          </a:p>
          <a:p>
            <a:r>
              <a:rPr lang="en-US" dirty="0" smtClean="0"/>
              <a:t>An </a:t>
            </a:r>
            <a:r>
              <a:rPr lang="en-US" dirty="0"/>
              <a:t>external device, such </a:t>
            </a:r>
            <a:r>
              <a:rPr lang="en-US" dirty="0" smtClean="0"/>
              <a:t>as a </a:t>
            </a:r>
            <a:r>
              <a:rPr lang="en-US" dirty="0"/>
              <a:t>keyboard, monitor, printer, mouse, and </a:t>
            </a:r>
            <a:r>
              <a:rPr lang="en-US" dirty="0" smtClean="0"/>
              <a:t>microphone, often </a:t>
            </a:r>
            <a:r>
              <a:rPr lang="en-US" dirty="0"/>
              <a:t>attaches by a cable to a port on </a:t>
            </a:r>
            <a:r>
              <a:rPr lang="en-US" dirty="0" smtClean="0"/>
              <a:t>the system </a:t>
            </a:r>
            <a:r>
              <a:rPr lang="en-US" dirty="0"/>
              <a:t>unit. </a:t>
            </a:r>
            <a:endParaRPr lang="en-US" dirty="0" smtClean="0"/>
          </a:p>
          <a:p>
            <a:r>
              <a:rPr lang="en-US" dirty="0" smtClean="0"/>
              <a:t>Instead </a:t>
            </a:r>
            <a:r>
              <a:rPr lang="en-US" dirty="0"/>
              <a:t>of port, the term </a:t>
            </a:r>
            <a:r>
              <a:rPr lang="en-US" b="1" dirty="0"/>
              <a:t>jack </a:t>
            </a:r>
            <a:r>
              <a:rPr lang="en-US" dirty="0" smtClean="0"/>
              <a:t>sometimes is </a:t>
            </a:r>
            <a:r>
              <a:rPr lang="en-US" dirty="0"/>
              <a:t>used to identify audio and video ports.</a:t>
            </a:r>
          </a:p>
          <a:p>
            <a:r>
              <a:rPr lang="en-US" dirty="0"/>
              <a:t>The front and back of a system unit on a </a:t>
            </a:r>
            <a:r>
              <a:rPr lang="en-US" dirty="0" smtClean="0"/>
              <a:t>desktop personal </a:t>
            </a:r>
            <a:r>
              <a:rPr lang="en-US" dirty="0"/>
              <a:t>computer contain many </a:t>
            </a:r>
            <a:r>
              <a:rPr lang="en-US" dirty="0" smtClean="0"/>
              <a:t>ports.</a:t>
            </a:r>
          </a:p>
          <a:p>
            <a:r>
              <a:rPr lang="en-US" dirty="0"/>
              <a:t>On notebook computers, including </a:t>
            </a:r>
            <a:r>
              <a:rPr lang="en-US" dirty="0" smtClean="0"/>
              <a:t>netbooks and </a:t>
            </a:r>
            <a:r>
              <a:rPr lang="en-US" dirty="0"/>
              <a:t>Tablet PCs, the ports are on the </a:t>
            </a:r>
            <a:r>
              <a:rPr lang="en-US" dirty="0" smtClean="0"/>
              <a:t>back, front</a:t>
            </a:r>
            <a:r>
              <a:rPr lang="en-US" dirty="0"/>
              <a:t>, and/or </a:t>
            </a:r>
            <a:r>
              <a:rPr lang="en-US" dirty="0" smtClean="0"/>
              <a:t>side.</a:t>
            </a:r>
          </a:p>
        </p:txBody>
      </p:sp>
    </p:spTree>
    <p:extLst>
      <p:ext uri="{BB962C8B-B14F-4D97-AF65-F5344CB8AC3E}">
        <p14:creationId xmlns:p14="http://schemas.microsoft.com/office/powerpoint/2010/main" val="42185135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457200"/>
            <a:ext cx="7498080" cy="5791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There </a:t>
            </a:r>
            <a:r>
              <a:rPr lang="en-US" dirty="0"/>
              <a:t>are two types of ports: </a:t>
            </a:r>
            <a:endParaRPr lang="en-US" dirty="0" smtClean="0"/>
          </a:p>
          <a:p>
            <a:pPr lvl="1"/>
            <a:r>
              <a:rPr lang="en-US" dirty="0" smtClean="0"/>
              <a:t>a</a:t>
            </a:r>
            <a:r>
              <a:rPr lang="en-US" dirty="0"/>
              <a:t>. Serial ports </a:t>
            </a:r>
            <a:endParaRPr lang="en-US" dirty="0" smtClean="0"/>
          </a:p>
          <a:p>
            <a:pPr lvl="2"/>
            <a:r>
              <a:rPr lang="en-US" dirty="0" smtClean="0"/>
              <a:t>External </a:t>
            </a:r>
            <a:r>
              <a:rPr lang="en-US" dirty="0"/>
              <a:t>I/O connector used to attach modems, scanners or other serial interface devices to the computer. </a:t>
            </a:r>
            <a:endParaRPr lang="en-US" dirty="0" smtClean="0"/>
          </a:p>
          <a:p>
            <a:pPr lvl="2"/>
            <a:r>
              <a:rPr lang="en-US" dirty="0" smtClean="0"/>
              <a:t>They </a:t>
            </a:r>
            <a:r>
              <a:rPr lang="en-US" dirty="0"/>
              <a:t>typically use a 9 pin DB-9 or a 25 pin DB-25 connectors. </a:t>
            </a:r>
            <a:endParaRPr lang="en-US" dirty="0" smtClean="0"/>
          </a:p>
          <a:p>
            <a:pPr lvl="2"/>
            <a:r>
              <a:rPr lang="en-US" dirty="0" smtClean="0"/>
              <a:t>Serial </a:t>
            </a:r>
            <a:r>
              <a:rPr lang="en-US" dirty="0"/>
              <a:t>lines are used to link equipment that is not located close by. </a:t>
            </a:r>
          </a:p>
          <a:p>
            <a:pPr lvl="1"/>
            <a:r>
              <a:rPr lang="en-US" dirty="0" smtClean="0"/>
              <a:t>b</a:t>
            </a:r>
            <a:r>
              <a:rPr lang="en-US" dirty="0"/>
              <a:t>. Parallel Ports </a:t>
            </a:r>
            <a:endParaRPr lang="en-US" dirty="0" smtClean="0"/>
          </a:p>
          <a:p>
            <a:pPr lvl="1"/>
            <a:r>
              <a:rPr lang="en-US" dirty="0" smtClean="0"/>
              <a:t>External </a:t>
            </a:r>
            <a:r>
              <a:rPr lang="en-US" dirty="0"/>
              <a:t>I/O connectors used to hook up printers and other parallel interface devices.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transmits several bits simultaneously. </a:t>
            </a:r>
            <a:endParaRPr lang="en-US" dirty="0" smtClean="0"/>
          </a:p>
          <a:p>
            <a:pPr lvl="1"/>
            <a:r>
              <a:rPr lang="en-US" dirty="0" smtClean="0"/>
              <a:t>Moves </a:t>
            </a:r>
            <a:r>
              <a:rPr lang="en-US" dirty="0"/>
              <a:t>information faster than serial.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882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609600"/>
            <a:ext cx="7498080" cy="5638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connector </a:t>
            </a:r>
            <a:r>
              <a:rPr lang="en-US" dirty="0"/>
              <a:t>joins a cable to a port. A connector at one end of a cable attaches to a port on the </a:t>
            </a:r>
            <a:r>
              <a:rPr lang="en-US" dirty="0" err="1"/>
              <a:t>the</a:t>
            </a:r>
            <a:r>
              <a:rPr lang="en-US" dirty="0"/>
              <a:t> cable attaches to a port on the peripheral.</a:t>
            </a:r>
          </a:p>
          <a:p>
            <a:r>
              <a:rPr lang="en-US" dirty="0"/>
              <a:t>Most connectors and ports are available in one of two genders: male or female. </a:t>
            </a:r>
          </a:p>
          <a:p>
            <a:r>
              <a:rPr lang="en-US" dirty="0"/>
              <a:t>Male connectors and ports have one or more exposed pins, like the end of an electrical cord you plug in the wall. </a:t>
            </a:r>
          </a:p>
          <a:p>
            <a:r>
              <a:rPr lang="en-US" dirty="0"/>
              <a:t>Female connectors and ports have matching holes to accept the pins on a male connector or port, like an electrical wall outlet.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2609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533400"/>
            <a:ext cx="7498080" cy="5715000"/>
          </a:xfrm>
        </p:spPr>
        <p:txBody>
          <a:bodyPr>
            <a:normAutofit/>
          </a:bodyPr>
          <a:lstStyle/>
          <a:p>
            <a:r>
              <a:rPr lang="en-US" dirty="0"/>
              <a:t>Sometimes, you cannot attach a new </a:t>
            </a:r>
            <a:r>
              <a:rPr lang="en-US" dirty="0" smtClean="0"/>
              <a:t>peripheral to </a:t>
            </a:r>
            <a:r>
              <a:rPr lang="en-US" dirty="0"/>
              <a:t>the computer because the port on the </a:t>
            </a:r>
            <a:r>
              <a:rPr lang="en-US" dirty="0" smtClean="0"/>
              <a:t>system unit </a:t>
            </a:r>
            <a:r>
              <a:rPr lang="en-US" dirty="0"/>
              <a:t>is the same gender as the connector on </a:t>
            </a:r>
            <a:r>
              <a:rPr lang="en-US" dirty="0" smtClean="0"/>
              <a:t>the cable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this case, purchasing a gender </a:t>
            </a:r>
            <a:r>
              <a:rPr lang="en-US" dirty="0" smtClean="0"/>
              <a:t>changer solves </a:t>
            </a:r>
            <a:r>
              <a:rPr lang="en-US" dirty="0"/>
              <a:t>this problem.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i="1" dirty="0"/>
              <a:t>gender changer </a:t>
            </a:r>
            <a:r>
              <a:rPr lang="en-US" dirty="0"/>
              <a:t>is a </a:t>
            </a:r>
            <a:r>
              <a:rPr lang="en-US" dirty="0" smtClean="0"/>
              <a:t>device that </a:t>
            </a:r>
            <a:r>
              <a:rPr lang="en-US" dirty="0"/>
              <a:t>enables you to join a port and a </a:t>
            </a:r>
            <a:r>
              <a:rPr lang="en-US" dirty="0" smtClean="0"/>
              <a:t>connector that </a:t>
            </a:r>
            <a:r>
              <a:rPr lang="en-US" dirty="0"/>
              <a:t>are both female or both male.</a:t>
            </a:r>
          </a:p>
        </p:txBody>
      </p:sp>
    </p:spTree>
    <p:extLst>
      <p:ext uri="{BB962C8B-B14F-4D97-AF65-F5344CB8AC3E}">
        <p14:creationId xmlns:p14="http://schemas.microsoft.com/office/powerpoint/2010/main" val="3694519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381000"/>
            <a:ext cx="7498080" cy="5867400"/>
          </a:xfrm>
        </p:spPr>
        <p:txBody>
          <a:bodyPr>
            <a:normAutofit fontScale="77500" lnSpcReduction="20000"/>
          </a:bodyPr>
          <a:lstStyle/>
          <a:p>
            <a:pPr marL="82296" indent="0">
              <a:buNone/>
            </a:pPr>
            <a:r>
              <a:rPr lang="en-US" b="1" dirty="0"/>
              <a:t>Bays</a:t>
            </a:r>
          </a:p>
          <a:p>
            <a:r>
              <a:rPr lang="en-US" dirty="0" smtClean="0"/>
              <a:t>A </a:t>
            </a:r>
            <a:r>
              <a:rPr lang="en-US" b="1" dirty="0"/>
              <a:t>bay </a:t>
            </a:r>
            <a:r>
              <a:rPr lang="en-US" dirty="0"/>
              <a:t>is an opening inside </a:t>
            </a:r>
            <a:r>
              <a:rPr lang="en-US" dirty="0" smtClean="0"/>
              <a:t>the system </a:t>
            </a:r>
            <a:r>
              <a:rPr lang="en-US" dirty="0"/>
              <a:t>unit in which you can install </a:t>
            </a:r>
            <a:r>
              <a:rPr lang="en-US" dirty="0" smtClean="0"/>
              <a:t>additional equipment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bay is different from a slot on </a:t>
            </a:r>
            <a:r>
              <a:rPr lang="en-US" dirty="0" smtClean="0"/>
              <a:t>the motherboard</a:t>
            </a:r>
            <a:r>
              <a:rPr lang="en-US" dirty="0"/>
              <a:t>, which is used for the </a:t>
            </a:r>
            <a:r>
              <a:rPr lang="en-US" dirty="0" smtClean="0"/>
              <a:t>installation of </a:t>
            </a:r>
            <a:r>
              <a:rPr lang="en-US" dirty="0"/>
              <a:t>adapter cards.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b="1" dirty="0"/>
              <a:t>drive bay </a:t>
            </a:r>
            <a:r>
              <a:rPr lang="en-US" dirty="0"/>
              <a:t>is a </a:t>
            </a:r>
            <a:r>
              <a:rPr lang="en-US" dirty="0" smtClean="0"/>
              <a:t>rectangular opening </a:t>
            </a:r>
            <a:r>
              <a:rPr lang="en-US" dirty="0"/>
              <a:t>that typically holds disk drives. </a:t>
            </a:r>
            <a:endParaRPr lang="en-US" dirty="0" smtClean="0"/>
          </a:p>
          <a:p>
            <a:r>
              <a:rPr lang="en-US" dirty="0" smtClean="0"/>
              <a:t>Other bays </a:t>
            </a:r>
            <a:r>
              <a:rPr lang="en-US" dirty="0"/>
              <a:t>house card readers and widely used </a:t>
            </a:r>
            <a:r>
              <a:rPr lang="en-US" dirty="0" smtClean="0"/>
              <a:t>ports such </a:t>
            </a:r>
            <a:r>
              <a:rPr lang="en-US" dirty="0"/>
              <a:t>as USB, FireWire, and audio ports.</a:t>
            </a:r>
          </a:p>
          <a:p>
            <a:r>
              <a:rPr lang="en-US" dirty="0"/>
              <a:t>An </a:t>
            </a:r>
            <a:r>
              <a:rPr lang="en-US" i="1" dirty="0"/>
              <a:t>external bay </a:t>
            </a:r>
            <a:r>
              <a:rPr lang="en-US" dirty="0"/>
              <a:t>allows a user to </a:t>
            </a:r>
            <a:r>
              <a:rPr lang="en-US" dirty="0" smtClean="0"/>
              <a:t>access openings </a:t>
            </a:r>
            <a:r>
              <a:rPr lang="en-US" dirty="0"/>
              <a:t>in the bay from outside the </a:t>
            </a:r>
            <a:r>
              <a:rPr lang="en-US" dirty="0" smtClean="0"/>
              <a:t>system unit. </a:t>
            </a:r>
          </a:p>
          <a:p>
            <a:r>
              <a:rPr lang="en-US" dirty="0" smtClean="0"/>
              <a:t>Optical </a:t>
            </a:r>
            <a:r>
              <a:rPr lang="en-US" dirty="0"/>
              <a:t>disc drives </a:t>
            </a:r>
            <a:r>
              <a:rPr lang="en-US" dirty="0" smtClean="0"/>
              <a:t>are examples </a:t>
            </a:r>
            <a:r>
              <a:rPr lang="en-US" dirty="0"/>
              <a:t>of devices installed in external bays.</a:t>
            </a:r>
          </a:p>
          <a:p>
            <a:r>
              <a:rPr lang="en-US" dirty="0"/>
              <a:t>An </a:t>
            </a:r>
            <a:r>
              <a:rPr lang="en-US" i="1" dirty="0"/>
              <a:t>internal bay </a:t>
            </a:r>
            <a:r>
              <a:rPr lang="en-US" dirty="0"/>
              <a:t>is concealed entirely within </a:t>
            </a:r>
            <a:r>
              <a:rPr lang="en-US" dirty="0" smtClean="0"/>
              <a:t>the system </a:t>
            </a:r>
            <a:r>
              <a:rPr lang="en-US" dirty="0"/>
              <a:t>unit. </a:t>
            </a:r>
            <a:endParaRPr lang="en-US" dirty="0" smtClean="0"/>
          </a:p>
          <a:p>
            <a:r>
              <a:rPr lang="en-US" dirty="0" smtClean="0"/>
              <a:t>Hard </a:t>
            </a:r>
            <a:r>
              <a:rPr lang="en-US" dirty="0"/>
              <a:t>disk drives are installed </a:t>
            </a:r>
            <a:r>
              <a:rPr lang="en-US" dirty="0" smtClean="0"/>
              <a:t>in internal </a:t>
            </a:r>
            <a:r>
              <a:rPr lang="en-US" dirty="0"/>
              <a:t>bays.</a:t>
            </a:r>
          </a:p>
        </p:txBody>
      </p:sp>
    </p:spTree>
    <p:extLst>
      <p:ext uri="{BB962C8B-B14F-4D97-AF65-F5344CB8AC3E}">
        <p14:creationId xmlns:p14="http://schemas.microsoft.com/office/powerpoint/2010/main" val="1922680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1375</TotalTime>
  <Words>4433</Words>
  <Application>Microsoft Office PowerPoint</Application>
  <PresentationFormat>On-screen Show (4:3)</PresentationFormat>
  <Paragraphs>297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Solstice</vt:lpstr>
      <vt:lpstr>SYSTEM UNIT CPU &amp; MAIN MEMORY</vt:lpstr>
      <vt:lpstr>System unit</vt:lpstr>
      <vt:lpstr>   1. The motherboard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Processor Cooling</vt:lpstr>
      <vt:lpstr>PowerPoint Presentation</vt:lpstr>
      <vt:lpstr>PowerPoint Presentation</vt:lpstr>
      <vt:lpstr>PowerPoint Presentation</vt:lpstr>
      <vt:lpstr> 4. Expansion Slots and Adapter Cards  </vt:lpstr>
      <vt:lpstr>PowerPoint Presentation</vt:lpstr>
      <vt:lpstr> 5. Ports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 Supply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FAIR</dc:creator>
  <cp:lastModifiedBy>ismail - [2010]</cp:lastModifiedBy>
  <cp:revision>91</cp:revision>
  <dcterms:created xsi:type="dcterms:W3CDTF">2014-11-22T18:09:47Z</dcterms:created>
  <dcterms:modified xsi:type="dcterms:W3CDTF">2015-05-10T08:39:30Z</dcterms:modified>
</cp:coreProperties>
</file>