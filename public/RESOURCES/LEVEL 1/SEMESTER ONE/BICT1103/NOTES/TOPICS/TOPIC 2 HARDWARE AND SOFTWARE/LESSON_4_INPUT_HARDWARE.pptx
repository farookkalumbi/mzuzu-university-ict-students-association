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73" r:id="rId5"/>
    <p:sldId id="261" r:id="rId6"/>
    <p:sldId id="262" r:id="rId7"/>
    <p:sldId id="259" r:id="rId8"/>
    <p:sldId id="260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164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87B6DCA-485C-4AC1-809A-ED4B7556C431}" type="datetimeFigureOut">
              <a:rPr lang="en-US" smtClean="0"/>
              <a:t>09-May-2015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56E567-0A4A-4399-ADD7-05508374D6E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87B6DCA-485C-4AC1-809A-ED4B7556C431}" type="datetimeFigureOut">
              <a:rPr lang="en-US" smtClean="0"/>
              <a:t>09-May-2015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56E567-0A4A-4399-ADD7-05508374D6E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87B6DCA-485C-4AC1-809A-ED4B7556C431}" type="datetimeFigureOut">
              <a:rPr lang="en-US" smtClean="0"/>
              <a:t>09-May-2015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56E567-0A4A-4399-ADD7-05508374D6E7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87B6DCA-485C-4AC1-809A-ED4B7556C431}" type="datetimeFigureOut">
              <a:rPr lang="en-US" smtClean="0"/>
              <a:t>09-May-2015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56E567-0A4A-4399-ADD7-05508374D6E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87B6DCA-485C-4AC1-809A-ED4B7556C431}" type="datetimeFigureOut">
              <a:rPr lang="en-US" smtClean="0"/>
              <a:t>09-May-2015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56E567-0A4A-4399-ADD7-05508374D6E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87B6DCA-485C-4AC1-809A-ED4B7556C431}" type="datetimeFigureOut">
              <a:rPr lang="en-US" smtClean="0"/>
              <a:t>09-May-2015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56E567-0A4A-4399-ADD7-05508374D6E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87B6DCA-485C-4AC1-809A-ED4B7556C431}" type="datetimeFigureOut">
              <a:rPr lang="en-US" smtClean="0"/>
              <a:t>09-May-2015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56E567-0A4A-4399-ADD7-05508374D6E7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87B6DCA-485C-4AC1-809A-ED4B7556C431}" type="datetimeFigureOut">
              <a:rPr lang="en-US" smtClean="0"/>
              <a:t>09-May-2015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56E567-0A4A-4399-ADD7-05508374D6E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87B6DCA-485C-4AC1-809A-ED4B7556C431}" type="datetimeFigureOut">
              <a:rPr lang="en-US" smtClean="0"/>
              <a:t>09-May-2015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56E567-0A4A-4399-ADD7-05508374D6E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87B6DCA-485C-4AC1-809A-ED4B7556C431}" type="datetimeFigureOut">
              <a:rPr lang="en-US" smtClean="0"/>
              <a:t>09-May-2015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56E567-0A4A-4399-ADD7-05508374D6E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87B6DCA-485C-4AC1-809A-ED4B7556C431}" type="datetimeFigureOut">
              <a:rPr lang="en-US" smtClean="0"/>
              <a:t>09-May-2015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56E567-0A4A-4399-ADD7-05508374D6E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C87B6DCA-485C-4AC1-809A-ED4B7556C431}" type="datetimeFigureOut">
              <a:rPr lang="en-US" smtClean="0"/>
              <a:t>09-May-2015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7256E567-0A4A-4399-ADD7-05508374D6E7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Input hardware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586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533400"/>
            <a:ext cx="7498080" cy="5715000"/>
          </a:xfrm>
        </p:spPr>
        <p:txBody>
          <a:bodyPr>
            <a:normAutofit/>
          </a:bodyPr>
          <a:lstStyle/>
          <a:p>
            <a:r>
              <a:rPr lang="en-US" b="1" dirty="0"/>
              <a:t>Input </a:t>
            </a:r>
            <a:r>
              <a:rPr lang="en-US" dirty="0"/>
              <a:t>is any data and instructions </a:t>
            </a:r>
            <a:r>
              <a:rPr lang="en-US" dirty="0" smtClean="0"/>
              <a:t>entered </a:t>
            </a:r>
            <a:r>
              <a:rPr lang="en-US" dirty="0"/>
              <a:t>into </a:t>
            </a:r>
            <a:r>
              <a:rPr lang="en-US" dirty="0" smtClean="0"/>
              <a:t>the memory </a:t>
            </a:r>
            <a:r>
              <a:rPr lang="en-US" dirty="0"/>
              <a:t>of a computer</a:t>
            </a:r>
            <a:r>
              <a:rPr lang="en-US" dirty="0" smtClean="0"/>
              <a:t>.</a:t>
            </a:r>
          </a:p>
          <a:p>
            <a:r>
              <a:rPr lang="en-US" dirty="0"/>
              <a:t>An </a:t>
            </a:r>
            <a:r>
              <a:rPr lang="en-US" b="1" dirty="0"/>
              <a:t>input device </a:t>
            </a:r>
            <a:r>
              <a:rPr lang="en-US" dirty="0"/>
              <a:t>is any hardware </a:t>
            </a:r>
            <a:r>
              <a:rPr lang="en-US" dirty="0" smtClean="0"/>
              <a:t>component that </a:t>
            </a:r>
            <a:r>
              <a:rPr lang="en-US" dirty="0"/>
              <a:t>allows users to enter data and </a:t>
            </a:r>
            <a:r>
              <a:rPr lang="en-US" dirty="0" smtClean="0"/>
              <a:t>instructions (programs</a:t>
            </a:r>
            <a:r>
              <a:rPr lang="en-US" dirty="0"/>
              <a:t>, commands, and user responses) </a:t>
            </a:r>
            <a:r>
              <a:rPr lang="en-US" dirty="0" smtClean="0"/>
              <a:t>into a computer.</a:t>
            </a:r>
          </a:p>
          <a:p>
            <a:pPr marL="365760" lvl="1" indent="-283464">
              <a:spcBef>
                <a:spcPts val="600"/>
              </a:spcBef>
              <a:buSzPct val="80000"/>
              <a:buFont typeface="Wingdings 2"/>
              <a:buChar char=""/>
            </a:pPr>
            <a:r>
              <a:rPr kumimoji="1" lang="en-US" sz="2600" b="1" dirty="0">
                <a:latin typeface="Times New Roman" pitchFamily="18" charset="0"/>
              </a:rPr>
              <a:t>Input device </a:t>
            </a:r>
            <a:r>
              <a:rPr kumimoji="1" lang="en-US" sz="2600" b="1" dirty="0">
                <a:solidFill>
                  <a:srgbClr val="000000"/>
                </a:solidFill>
                <a:latin typeface="Times New Roman" pitchFamily="18" charset="0"/>
              </a:rPr>
              <a:t>is </a:t>
            </a:r>
            <a:r>
              <a:rPr kumimoji="1" lang="en-US" sz="2600" b="1" dirty="0" smtClean="0">
                <a:solidFill>
                  <a:srgbClr val="000000"/>
                </a:solidFill>
                <a:latin typeface="Times New Roman" pitchFamily="18" charset="0"/>
              </a:rPr>
              <a:t> any </a:t>
            </a:r>
            <a:r>
              <a:rPr kumimoji="1" lang="en-US" sz="2600" b="1" dirty="0">
                <a:solidFill>
                  <a:srgbClr val="000000"/>
                </a:solidFill>
                <a:latin typeface="Times New Roman" pitchFamily="18" charset="0"/>
              </a:rPr>
              <a:t>hardware component used </a:t>
            </a:r>
            <a:br>
              <a:rPr kumimoji="1" lang="en-US" sz="2600" b="1" dirty="0">
                <a:solidFill>
                  <a:srgbClr val="000000"/>
                </a:solidFill>
                <a:latin typeface="Times New Roman" pitchFamily="18" charset="0"/>
              </a:rPr>
            </a:br>
            <a:r>
              <a:rPr kumimoji="1" lang="en-US" sz="2600" b="1" dirty="0">
                <a:solidFill>
                  <a:srgbClr val="000000"/>
                </a:solidFill>
                <a:latin typeface="Times New Roman" pitchFamily="18" charset="0"/>
              </a:rPr>
              <a:t>to enter data or </a:t>
            </a:r>
            <a:r>
              <a:rPr kumimoji="1" lang="en-US" sz="2600" b="1" dirty="0" smtClean="0">
                <a:solidFill>
                  <a:srgbClr val="000000"/>
                </a:solidFill>
                <a:latin typeface="Times New Roman" pitchFamily="18" charset="0"/>
              </a:rPr>
              <a:t>instructions</a:t>
            </a:r>
            <a:endParaRPr lang="en-US" dirty="0" smtClean="0"/>
          </a:p>
          <a:p>
            <a:r>
              <a:rPr lang="en-US" dirty="0"/>
              <a:t>The following </a:t>
            </a:r>
            <a:r>
              <a:rPr lang="en-US" dirty="0" smtClean="0"/>
              <a:t>are a </a:t>
            </a:r>
            <a:r>
              <a:rPr lang="en-US" dirty="0"/>
              <a:t>variety of input </a:t>
            </a:r>
            <a:r>
              <a:rPr lang="en-US" dirty="0" smtClean="0"/>
              <a:t>devices: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24316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457200"/>
            <a:ext cx="7498080" cy="5791200"/>
          </a:xfrm>
        </p:spPr>
        <p:txBody>
          <a:bodyPr>
            <a:normAutofit lnSpcReduction="10000"/>
          </a:bodyPr>
          <a:lstStyle/>
          <a:p>
            <a:pPr marL="82296" indent="0">
              <a:buNone/>
            </a:pPr>
            <a:r>
              <a:rPr lang="en-US" b="1" dirty="0" smtClean="0"/>
              <a:t>Keyboard</a:t>
            </a:r>
            <a:endParaRPr lang="en-US" b="1" dirty="0"/>
          </a:p>
          <a:p>
            <a:r>
              <a:rPr lang="en-US" dirty="0"/>
              <a:t>Many people use a keyboard as one of </a:t>
            </a:r>
            <a:r>
              <a:rPr lang="en-US" dirty="0" smtClean="0"/>
              <a:t>their input </a:t>
            </a:r>
            <a:r>
              <a:rPr lang="en-US" dirty="0"/>
              <a:t>devices. </a:t>
            </a:r>
            <a:endParaRPr lang="en-US" dirty="0" smtClean="0"/>
          </a:p>
          <a:p>
            <a:r>
              <a:rPr lang="en-US" dirty="0" smtClean="0"/>
              <a:t>A </a:t>
            </a:r>
            <a:r>
              <a:rPr lang="en-US" b="1" dirty="0"/>
              <a:t>keyboard </a:t>
            </a:r>
            <a:r>
              <a:rPr lang="en-US" dirty="0"/>
              <a:t>is an input </a:t>
            </a:r>
            <a:r>
              <a:rPr lang="en-US" dirty="0" smtClean="0"/>
              <a:t>device that </a:t>
            </a:r>
            <a:r>
              <a:rPr lang="en-US" dirty="0"/>
              <a:t>contains keys users press to enter data </a:t>
            </a:r>
            <a:r>
              <a:rPr lang="en-US" dirty="0" smtClean="0"/>
              <a:t>and instructions </a:t>
            </a:r>
            <a:r>
              <a:rPr lang="en-US" dirty="0"/>
              <a:t>into a </a:t>
            </a:r>
            <a:r>
              <a:rPr lang="en-US" dirty="0" smtClean="0"/>
              <a:t>computer.</a:t>
            </a:r>
          </a:p>
          <a:p>
            <a:r>
              <a:rPr lang="en-US" dirty="0" smtClean="0"/>
              <a:t>Desktop </a:t>
            </a:r>
            <a:r>
              <a:rPr lang="en-US" dirty="0"/>
              <a:t>computer keyboards typically </a:t>
            </a:r>
            <a:r>
              <a:rPr lang="en-US" dirty="0" smtClean="0"/>
              <a:t>have from 101 to 105 keys.</a:t>
            </a:r>
          </a:p>
          <a:p>
            <a:r>
              <a:rPr lang="en-US" dirty="0" smtClean="0"/>
              <a:t>Types of keyboards:</a:t>
            </a:r>
          </a:p>
          <a:p>
            <a:pPr lvl="1"/>
            <a:r>
              <a:rPr lang="en-US" dirty="0" smtClean="0"/>
              <a:t>Standard USB or PSI</a:t>
            </a:r>
          </a:p>
          <a:p>
            <a:pPr lvl="1"/>
            <a:r>
              <a:rPr lang="en-US" dirty="0" smtClean="0"/>
              <a:t>Wireless (communicates via a receiver)</a:t>
            </a:r>
          </a:p>
          <a:p>
            <a:pPr lvl="1"/>
            <a:r>
              <a:rPr lang="en-US" dirty="0" smtClean="0"/>
              <a:t>Built-in keyboards (notebooks)</a:t>
            </a:r>
          </a:p>
          <a:p>
            <a:pPr lvl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20175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381000"/>
            <a:ext cx="7498080" cy="5867400"/>
          </a:xfrm>
        </p:spPr>
        <p:txBody>
          <a:bodyPr>
            <a:normAutofit fontScale="92500" lnSpcReduction="10000"/>
          </a:bodyPr>
          <a:lstStyle/>
          <a:p>
            <a:pPr marL="82296" indent="0">
              <a:buNone/>
            </a:pPr>
            <a:r>
              <a:rPr lang="en-US" b="1" dirty="0"/>
              <a:t>Mouse</a:t>
            </a:r>
          </a:p>
          <a:p>
            <a:r>
              <a:rPr lang="en-US" dirty="0"/>
              <a:t>A </a:t>
            </a:r>
            <a:r>
              <a:rPr lang="en-US" b="1" dirty="0"/>
              <a:t>mouse </a:t>
            </a:r>
            <a:r>
              <a:rPr lang="en-US" dirty="0"/>
              <a:t>is a pointing device that fits under the palm of your hand. </a:t>
            </a:r>
          </a:p>
          <a:p>
            <a:r>
              <a:rPr lang="en-US" dirty="0"/>
              <a:t>Mouse is the most widely used pointing device on desktop computers</a:t>
            </a:r>
            <a:r>
              <a:rPr lang="en-US" dirty="0" smtClean="0"/>
              <a:t>.</a:t>
            </a:r>
          </a:p>
          <a:p>
            <a:pPr marL="365760" lvl="1" indent="-283464">
              <a:spcBef>
                <a:spcPts val="600"/>
              </a:spcBef>
              <a:buSzPct val="80000"/>
              <a:buFont typeface="Wingdings 2"/>
              <a:buChar char=""/>
            </a:pPr>
            <a:r>
              <a:rPr kumimoji="1" lang="en-US" sz="3200" b="1" dirty="0"/>
              <a:t>Mechanical mouse</a:t>
            </a:r>
            <a:r>
              <a:rPr kumimoji="1" lang="en-US" sz="3200" dirty="0"/>
              <a:t> </a:t>
            </a:r>
            <a:r>
              <a:rPr kumimoji="1" lang="en-US" sz="3200" dirty="0" smtClean="0"/>
              <a:t> has </a:t>
            </a:r>
            <a:r>
              <a:rPr kumimoji="1" lang="en-US" sz="3200" dirty="0"/>
              <a:t>rubber or metal </a:t>
            </a:r>
            <a:r>
              <a:rPr kumimoji="1" lang="en-US" sz="3200" dirty="0" smtClean="0"/>
              <a:t> ball </a:t>
            </a:r>
            <a:r>
              <a:rPr kumimoji="1" lang="en-US" sz="3200" dirty="0"/>
              <a:t>on </a:t>
            </a:r>
            <a:r>
              <a:rPr kumimoji="1" lang="en-US" sz="3200" dirty="0" smtClean="0"/>
              <a:t>underside</a:t>
            </a:r>
          </a:p>
          <a:p>
            <a:pPr marL="365760" lvl="1" indent="-283464">
              <a:spcBef>
                <a:spcPts val="600"/>
              </a:spcBef>
              <a:buSzPct val="80000"/>
              <a:buFont typeface="Wingdings 2"/>
              <a:buChar char=""/>
            </a:pPr>
            <a:r>
              <a:rPr kumimoji="1" lang="en-US" sz="3200" b="1" dirty="0" smtClean="0">
                <a:solidFill>
                  <a:srgbClr val="000000"/>
                </a:solidFill>
              </a:rPr>
              <a:t>Optical mouse </a:t>
            </a:r>
            <a:r>
              <a:rPr kumimoji="1" lang="en-US" sz="3200" dirty="0" smtClean="0">
                <a:solidFill>
                  <a:srgbClr val="000000"/>
                </a:solidFill>
              </a:rPr>
              <a:t>- No </a:t>
            </a:r>
            <a:r>
              <a:rPr kumimoji="1" lang="en-US" sz="3200" dirty="0">
                <a:solidFill>
                  <a:srgbClr val="000000"/>
                </a:solidFill>
              </a:rPr>
              <a:t>moving mechanical parts </a:t>
            </a:r>
            <a:r>
              <a:rPr kumimoji="1" lang="en-US" sz="3200" dirty="0" smtClean="0">
                <a:solidFill>
                  <a:srgbClr val="000000"/>
                </a:solidFill>
              </a:rPr>
              <a:t>inside . Senses </a:t>
            </a:r>
            <a:r>
              <a:rPr kumimoji="1" lang="en-US" sz="3200" dirty="0">
                <a:solidFill>
                  <a:srgbClr val="000000"/>
                </a:solidFill>
              </a:rPr>
              <a:t>light to detect mouse’s </a:t>
            </a:r>
            <a:r>
              <a:rPr kumimoji="1" lang="en-US" sz="3200" dirty="0" smtClean="0">
                <a:solidFill>
                  <a:srgbClr val="000000"/>
                </a:solidFill>
              </a:rPr>
              <a:t>movement.</a:t>
            </a:r>
          </a:p>
          <a:p>
            <a:pPr marL="365760" lvl="1" indent="-283464">
              <a:spcBef>
                <a:spcPts val="600"/>
              </a:spcBef>
              <a:buSzPct val="80000"/>
              <a:buFont typeface="Wingdings 2"/>
              <a:buChar char=""/>
            </a:pPr>
            <a:r>
              <a:rPr kumimoji="1" lang="en-US" sz="3200" dirty="0" smtClean="0">
                <a:solidFill>
                  <a:srgbClr val="000000"/>
                </a:solidFill>
              </a:rPr>
              <a:t>More </a:t>
            </a:r>
            <a:r>
              <a:rPr kumimoji="1" lang="en-US" sz="3200" dirty="0">
                <a:solidFill>
                  <a:srgbClr val="000000"/>
                </a:solidFill>
              </a:rPr>
              <a:t>precise than mechanical </a:t>
            </a:r>
            <a:r>
              <a:rPr kumimoji="1" lang="en-US" sz="3200" dirty="0" smtClean="0">
                <a:solidFill>
                  <a:srgbClr val="000000"/>
                </a:solidFill>
              </a:rPr>
              <a:t>mouse.</a:t>
            </a:r>
          </a:p>
          <a:p>
            <a:pPr marL="365760" lvl="1" indent="-283464">
              <a:spcBef>
                <a:spcPts val="600"/>
              </a:spcBef>
              <a:buSzPct val="80000"/>
              <a:buFont typeface="Wingdings 2"/>
              <a:buChar char=""/>
            </a:pPr>
            <a:r>
              <a:rPr kumimoji="1" lang="en-US" sz="3200" dirty="0" smtClean="0">
                <a:solidFill>
                  <a:srgbClr val="000000"/>
                </a:solidFill>
              </a:rPr>
              <a:t>Connects </a:t>
            </a:r>
            <a:r>
              <a:rPr kumimoji="1" lang="en-US" sz="3200" dirty="0">
                <a:solidFill>
                  <a:srgbClr val="000000"/>
                </a:solidFill>
              </a:rPr>
              <a:t>using a </a:t>
            </a:r>
            <a:r>
              <a:rPr kumimoji="1" lang="en-US" sz="3200" dirty="0" smtClean="0">
                <a:solidFill>
                  <a:srgbClr val="000000"/>
                </a:solidFill>
              </a:rPr>
              <a:t> cable</a:t>
            </a:r>
            <a:r>
              <a:rPr kumimoji="1" lang="en-US" sz="3200" dirty="0">
                <a:solidFill>
                  <a:srgbClr val="000000"/>
                </a:solidFill>
              </a:rPr>
              <a:t>, or </a:t>
            </a:r>
            <a:r>
              <a:rPr kumimoji="1" lang="en-US" sz="3200" dirty="0" smtClean="0">
                <a:solidFill>
                  <a:srgbClr val="000000"/>
                </a:solidFill>
              </a:rPr>
              <a:t>wireless.</a:t>
            </a:r>
            <a:endParaRPr kumimoji="1" lang="en-US" sz="32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3526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Digital Cameras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 </a:t>
            </a:r>
            <a:r>
              <a:rPr lang="en-US" b="1" dirty="0"/>
              <a:t>digital camera </a:t>
            </a:r>
            <a:r>
              <a:rPr lang="en-US" dirty="0"/>
              <a:t>is </a:t>
            </a:r>
            <a:r>
              <a:rPr lang="en-US" dirty="0" smtClean="0"/>
              <a:t>a mobile </a:t>
            </a:r>
            <a:r>
              <a:rPr lang="en-US" dirty="0"/>
              <a:t>device that allows users to take pictures </a:t>
            </a:r>
            <a:r>
              <a:rPr lang="en-US" dirty="0" smtClean="0"/>
              <a:t>and store </a:t>
            </a:r>
            <a:r>
              <a:rPr lang="en-US" dirty="0"/>
              <a:t>the photographed images digitally, </a:t>
            </a:r>
            <a:r>
              <a:rPr lang="en-US" dirty="0" smtClean="0"/>
              <a:t>instead of </a:t>
            </a:r>
            <a:r>
              <a:rPr lang="en-US" dirty="0"/>
              <a:t>on traditional film. </a:t>
            </a:r>
            <a:endParaRPr lang="en-US" dirty="0" smtClean="0"/>
          </a:p>
          <a:p>
            <a:r>
              <a:rPr lang="en-US" dirty="0" smtClean="0"/>
              <a:t>Mobile users </a:t>
            </a:r>
            <a:r>
              <a:rPr lang="en-US" dirty="0"/>
              <a:t>such as real estate agents, insurance </a:t>
            </a:r>
            <a:r>
              <a:rPr lang="en-US" dirty="0" smtClean="0"/>
              <a:t>agents, general </a:t>
            </a:r>
            <a:r>
              <a:rPr lang="en-US" dirty="0"/>
              <a:t>contractors, and photojournalists use </a:t>
            </a:r>
            <a:r>
              <a:rPr lang="en-US" dirty="0" smtClean="0"/>
              <a:t>digital cameras </a:t>
            </a:r>
            <a:r>
              <a:rPr lang="en-US" dirty="0"/>
              <a:t>so that they immediately can view </a:t>
            </a:r>
            <a:r>
              <a:rPr lang="en-US" dirty="0" smtClean="0"/>
              <a:t>photographed images </a:t>
            </a:r>
            <a:r>
              <a:rPr lang="en-US" dirty="0"/>
              <a:t>on the camera. </a:t>
            </a:r>
            <a:endParaRPr lang="en-US" dirty="0" smtClean="0"/>
          </a:p>
          <a:p>
            <a:r>
              <a:rPr lang="en-US" dirty="0" smtClean="0"/>
              <a:t>Home </a:t>
            </a:r>
            <a:r>
              <a:rPr lang="en-US" dirty="0"/>
              <a:t>and </a:t>
            </a:r>
            <a:r>
              <a:rPr lang="en-US" dirty="0" smtClean="0"/>
              <a:t>business users </a:t>
            </a:r>
            <a:r>
              <a:rPr lang="en-US" dirty="0"/>
              <a:t>have digital cameras to save the expense </a:t>
            </a:r>
            <a:r>
              <a:rPr lang="en-US" dirty="0" smtClean="0"/>
              <a:t>of film </a:t>
            </a:r>
            <a:r>
              <a:rPr lang="en-US" dirty="0"/>
              <a:t>developing, duplication, and postage.</a:t>
            </a:r>
          </a:p>
        </p:txBody>
      </p:sp>
    </p:spTree>
    <p:extLst>
      <p:ext uri="{BB962C8B-B14F-4D97-AF65-F5344CB8AC3E}">
        <p14:creationId xmlns:p14="http://schemas.microsoft.com/office/powerpoint/2010/main" val="2448942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Some users </a:t>
            </a:r>
            <a:r>
              <a:rPr lang="en-US" dirty="0"/>
              <a:t>prefer to </a:t>
            </a:r>
            <a:r>
              <a:rPr lang="en-US" i="1" dirty="0"/>
              <a:t>download</a:t>
            </a:r>
            <a:r>
              <a:rPr lang="en-US" dirty="0"/>
              <a:t>, or transfer </a:t>
            </a:r>
            <a:r>
              <a:rPr lang="en-US" dirty="0" smtClean="0"/>
              <a:t>a copy </a:t>
            </a:r>
            <a:r>
              <a:rPr lang="en-US" dirty="0"/>
              <a:t>of, the images from the digital camera to </a:t>
            </a:r>
            <a:r>
              <a:rPr lang="en-US" dirty="0" smtClean="0"/>
              <a:t>the computer’s </a:t>
            </a:r>
            <a:r>
              <a:rPr lang="en-US" dirty="0"/>
              <a:t>hard disk.</a:t>
            </a:r>
          </a:p>
        </p:txBody>
      </p:sp>
    </p:spTree>
    <p:extLst>
      <p:ext uri="{BB962C8B-B14F-4D97-AF65-F5344CB8AC3E}">
        <p14:creationId xmlns:p14="http://schemas.microsoft.com/office/powerpoint/2010/main" val="4002105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Pen Input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With </a:t>
            </a:r>
            <a:r>
              <a:rPr lang="en-US" b="1" dirty="0"/>
              <a:t>pen input</a:t>
            </a:r>
            <a:r>
              <a:rPr lang="en-US" dirty="0"/>
              <a:t>, you touch a stylus or </a:t>
            </a:r>
            <a:r>
              <a:rPr lang="en-US" dirty="0" smtClean="0"/>
              <a:t>digital pen </a:t>
            </a:r>
            <a:r>
              <a:rPr lang="en-US" dirty="0"/>
              <a:t>on a flat surface to write, draw, or </a:t>
            </a:r>
            <a:r>
              <a:rPr lang="en-US" dirty="0" smtClean="0"/>
              <a:t>make selections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flat surface may be a screen </a:t>
            </a:r>
            <a:r>
              <a:rPr lang="en-US" dirty="0" smtClean="0"/>
              <a:t>on a </a:t>
            </a:r>
            <a:r>
              <a:rPr lang="en-US" dirty="0"/>
              <a:t>monitor or mobile device, a signature </a:t>
            </a:r>
            <a:r>
              <a:rPr lang="en-US" dirty="0" smtClean="0"/>
              <a:t>capture pad</a:t>
            </a:r>
            <a:r>
              <a:rPr lang="en-US" dirty="0"/>
              <a:t>, or a graphics tablet </a:t>
            </a:r>
            <a:r>
              <a:rPr lang="en-US" dirty="0" smtClean="0"/>
              <a:t>. </a:t>
            </a:r>
          </a:p>
          <a:p>
            <a:r>
              <a:rPr lang="en-US" dirty="0" smtClean="0"/>
              <a:t>A </a:t>
            </a:r>
            <a:r>
              <a:rPr lang="en-US" b="1" dirty="0" smtClean="0"/>
              <a:t>stylus </a:t>
            </a:r>
            <a:r>
              <a:rPr lang="en-US" dirty="0" smtClean="0"/>
              <a:t>is </a:t>
            </a:r>
            <a:r>
              <a:rPr lang="en-US" dirty="0"/>
              <a:t>a small metal or plastic device that looks </a:t>
            </a:r>
            <a:r>
              <a:rPr lang="en-US" dirty="0" smtClean="0"/>
              <a:t>like a </a:t>
            </a:r>
            <a:r>
              <a:rPr lang="en-US" dirty="0"/>
              <a:t>tiny ink pen but uses pressure instead of ink. </a:t>
            </a:r>
            <a:endParaRPr lang="en-US" dirty="0" smtClean="0"/>
          </a:p>
          <a:p>
            <a:r>
              <a:rPr lang="en-US" dirty="0" smtClean="0"/>
              <a:t>A</a:t>
            </a:r>
            <a:r>
              <a:rPr lang="en-US" dirty="0"/>
              <a:t> </a:t>
            </a:r>
            <a:r>
              <a:rPr lang="en-US" b="1" dirty="0" smtClean="0"/>
              <a:t>digital </a:t>
            </a:r>
            <a:r>
              <a:rPr lang="en-US" b="1" dirty="0"/>
              <a:t>pen</a:t>
            </a:r>
            <a:r>
              <a:rPr lang="en-US" dirty="0"/>
              <a:t>, which is slightly larger than a </a:t>
            </a:r>
            <a:r>
              <a:rPr lang="en-US" dirty="0" smtClean="0"/>
              <a:t>stylus, </a:t>
            </a:r>
            <a:r>
              <a:rPr lang="en-US" dirty="0"/>
              <a:t>p</a:t>
            </a:r>
            <a:r>
              <a:rPr lang="en-US" dirty="0" smtClean="0"/>
              <a:t>rovides </a:t>
            </a:r>
            <a:r>
              <a:rPr lang="en-US" dirty="0"/>
              <a:t>more functionality than </a:t>
            </a:r>
            <a:r>
              <a:rPr lang="en-US" dirty="0" smtClean="0"/>
              <a:t>a stylus</a:t>
            </a:r>
            <a:r>
              <a:rPr lang="en-US" dirty="0"/>
              <a:t>, featuring electronic erasers and </a:t>
            </a:r>
            <a:r>
              <a:rPr lang="en-US" dirty="0" smtClean="0"/>
              <a:t>programmable buttons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Most </a:t>
            </a:r>
            <a:r>
              <a:rPr lang="en-US" dirty="0"/>
              <a:t>digital pens, often </a:t>
            </a:r>
            <a:r>
              <a:rPr lang="en-US" dirty="0" smtClean="0"/>
              <a:t>called </a:t>
            </a:r>
            <a:r>
              <a:rPr lang="en-US" dirty="0"/>
              <a:t>pens, are pressure-sensitive.</a:t>
            </a:r>
          </a:p>
        </p:txBody>
      </p:sp>
    </p:spTree>
    <p:extLst>
      <p:ext uri="{BB962C8B-B14F-4D97-AF65-F5344CB8AC3E}">
        <p14:creationId xmlns:p14="http://schemas.microsoft.com/office/powerpoint/2010/main" val="16968728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Game Controllers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Video games and computer games use a </a:t>
            </a:r>
            <a:r>
              <a:rPr lang="en-US" b="1" dirty="0" smtClean="0"/>
              <a:t>game controller </a:t>
            </a:r>
            <a:r>
              <a:rPr lang="en-US" dirty="0"/>
              <a:t>as the input device that </a:t>
            </a:r>
            <a:r>
              <a:rPr lang="en-US" dirty="0" smtClean="0"/>
              <a:t>directs movements </a:t>
            </a:r>
            <a:r>
              <a:rPr lang="en-US" dirty="0"/>
              <a:t>and actions of on-screen objects.</a:t>
            </a:r>
          </a:p>
          <a:p>
            <a:r>
              <a:rPr lang="en-US" dirty="0"/>
              <a:t>Game controllers include gamepads, </a:t>
            </a:r>
            <a:r>
              <a:rPr lang="en-US" dirty="0" smtClean="0"/>
              <a:t>joysticks and </a:t>
            </a:r>
            <a:r>
              <a:rPr lang="en-US" dirty="0"/>
              <a:t>wheels, light guns, dance pads, and a </a:t>
            </a:r>
            <a:r>
              <a:rPr lang="en-US" dirty="0" smtClean="0"/>
              <a:t>variety of </a:t>
            </a:r>
            <a:r>
              <a:rPr lang="en-US" dirty="0"/>
              <a:t>motion-sensing </a:t>
            </a:r>
            <a:r>
              <a:rPr lang="en-US" dirty="0" smtClean="0"/>
              <a:t>controllers.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1781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Voice Input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Voice input </a:t>
            </a:r>
            <a:r>
              <a:rPr lang="en-US" dirty="0"/>
              <a:t>is the process of entering input </a:t>
            </a:r>
            <a:r>
              <a:rPr lang="en-US" dirty="0" smtClean="0"/>
              <a:t>by speaking </a:t>
            </a:r>
            <a:r>
              <a:rPr lang="en-US" dirty="0"/>
              <a:t>into a microphone. </a:t>
            </a:r>
            <a:endParaRPr lang="en-US" dirty="0" smtClean="0"/>
          </a:p>
          <a:p>
            <a:r>
              <a:rPr lang="en-US" dirty="0" smtClean="0"/>
              <a:t>The microphone may </a:t>
            </a:r>
            <a:r>
              <a:rPr lang="en-US" dirty="0"/>
              <a:t>be a stand-alone peripheral that sits on </a:t>
            </a:r>
            <a:r>
              <a:rPr lang="en-US" dirty="0" smtClean="0"/>
              <a:t>top of </a:t>
            </a:r>
            <a:r>
              <a:rPr lang="en-US" dirty="0"/>
              <a:t>a desk, or built in </a:t>
            </a:r>
            <a:r>
              <a:rPr lang="en-US" dirty="0" smtClean="0"/>
              <a:t>the computer </a:t>
            </a:r>
            <a:r>
              <a:rPr lang="en-US" dirty="0"/>
              <a:t>or device, </a:t>
            </a:r>
            <a:r>
              <a:rPr lang="en-US" dirty="0" smtClean="0"/>
              <a:t>or in </a:t>
            </a:r>
            <a:r>
              <a:rPr lang="en-US" dirty="0"/>
              <a:t>a headset. </a:t>
            </a:r>
            <a:endParaRPr lang="en-US" dirty="0" smtClean="0"/>
          </a:p>
          <a:p>
            <a:r>
              <a:rPr lang="en-US" dirty="0" smtClean="0"/>
              <a:t>Some </a:t>
            </a:r>
            <a:r>
              <a:rPr lang="en-US" dirty="0"/>
              <a:t>external microphones have </a:t>
            </a:r>
            <a:r>
              <a:rPr lang="en-US" dirty="0" smtClean="0"/>
              <a:t>a cable </a:t>
            </a:r>
            <a:r>
              <a:rPr lang="en-US" dirty="0"/>
              <a:t>that attaches to a port on the sound card </a:t>
            </a:r>
            <a:r>
              <a:rPr lang="en-US" dirty="0" smtClean="0"/>
              <a:t>on the </a:t>
            </a:r>
            <a:r>
              <a:rPr lang="en-US" dirty="0"/>
              <a:t>computer. </a:t>
            </a:r>
            <a:endParaRPr lang="en-US" dirty="0" smtClean="0"/>
          </a:p>
          <a:p>
            <a:r>
              <a:rPr lang="en-US" dirty="0" smtClean="0"/>
              <a:t>Others </a:t>
            </a:r>
            <a:r>
              <a:rPr lang="en-US" dirty="0"/>
              <a:t>communicate using </a:t>
            </a:r>
            <a:r>
              <a:rPr lang="en-US" dirty="0" smtClean="0"/>
              <a:t>wireless technology </a:t>
            </a:r>
            <a:r>
              <a:rPr lang="en-US" dirty="0"/>
              <a:t>such as Bluetooth.</a:t>
            </a:r>
          </a:p>
        </p:txBody>
      </p:sp>
    </p:spTree>
    <p:extLst>
      <p:ext uri="{BB962C8B-B14F-4D97-AF65-F5344CB8AC3E}">
        <p14:creationId xmlns:p14="http://schemas.microsoft.com/office/powerpoint/2010/main" val="3688971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Scanners and Reading Devices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7800" y="1371600"/>
            <a:ext cx="7498080" cy="4800600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T</a:t>
            </a:r>
            <a:r>
              <a:rPr lang="en-US" dirty="0" smtClean="0"/>
              <a:t>hese devices capture </a:t>
            </a:r>
            <a:r>
              <a:rPr lang="en-US" dirty="0"/>
              <a:t>data from a </a:t>
            </a:r>
            <a:r>
              <a:rPr lang="en-US" i="1" dirty="0"/>
              <a:t>source document</a:t>
            </a:r>
            <a:r>
              <a:rPr lang="en-US" dirty="0"/>
              <a:t>, </a:t>
            </a:r>
            <a:r>
              <a:rPr lang="en-US" dirty="0" smtClean="0"/>
              <a:t>which is </a:t>
            </a:r>
            <a:r>
              <a:rPr lang="en-US" dirty="0"/>
              <a:t>the original form of the data. </a:t>
            </a:r>
            <a:endParaRPr lang="en-US" dirty="0" smtClean="0"/>
          </a:p>
          <a:p>
            <a:r>
              <a:rPr lang="en-US" dirty="0" smtClean="0"/>
              <a:t>Examples of </a:t>
            </a:r>
            <a:r>
              <a:rPr lang="en-US" dirty="0"/>
              <a:t>source documents include </a:t>
            </a:r>
            <a:r>
              <a:rPr lang="en-US" dirty="0" smtClean="0"/>
              <a:t>order </a:t>
            </a:r>
            <a:r>
              <a:rPr lang="en-US" dirty="0"/>
              <a:t>forms, invoices, paychecks, </a:t>
            </a:r>
            <a:r>
              <a:rPr lang="en-US" dirty="0" smtClean="0"/>
              <a:t>advertisements, brochures</a:t>
            </a:r>
            <a:r>
              <a:rPr lang="en-US" dirty="0"/>
              <a:t>, photos, </a:t>
            </a:r>
            <a:r>
              <a:rPr lang="en-US" dirty="0" smtClean="0"/>
              <a:t> or </a:t>
            </a:r>
            <a:r>
              <a:rPr lang="en-US" dirty="0"/>
              <a:t>any other document that contains </a:t>
            </a:r>
            <a:r>
              <a:rPr lang="en-US" dirty="0" smtClean="0"/>
              <a:t>data to </a:t>
            </a:r>
            <a:r>
              <a:rPr lang="en-US" dirty="0"/>
              <a:t>be processed.</a:t>
            </a:r>
          </a:p>
          <a:p>
            <a:r>
              <a:rPr lang="en-US" dirty="0"/>
              <a:t>Devices that can capture data </a:t>
            </a:r>
            <a:r>
              <a:rPr lang="en-US" dirty="0" smtClean="0"/>
              <a:t>directly from </a:t>
            </a:r>
            <a:r>
              <a:rPr lang="en-US" dirty="0"/>
              <a:t>a source document include </a:t>
            </a:r>
            <a:r>
              <a:rPr lang="en-US" dirty="0" smtClean="0"/>
              <a:t>optical scanners</a:t>
            </a:r>
            <a:r>
              <a:rPr lang="en-US" dirty="0"/>
              <a:t>, optical readers, bar code </a:t>
            </a:r>
            <a:r>
              <a:rPr lang="en-US" dirty="0" smtClean="0"/>
              <a:t>readers, RFID </a:t>
            </a:r>
            <a:r>
              <a:rPr lang="en-US" dirty="0"/>
              <a:t>readers, magnetic stripe card </a:t>
            </a:r>
            <a:r>
              <a:rPr lang="en-US" dirty="0" smtClean="0"/>
              <a:t>readers, and </a:t>
            </a:r>
            <a:r>
              <a:rPr lang="en-US" dirty="0"/>
              <a:t>magnetic-ink character </a:t>
            </a:r>
            <a:r>
              <a:rPr lang="en-US" dirty="0" smtClean="0"/>
              <a:t>recognition readers</a:t>
            </a:r>
            <a:r>
              <a:rPr lang="en-US" dirty="0"/>
              <a:t>. 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8314317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Collection Devices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</a:t>
            </a:r>
            <a:r>
              <a:rPr lang="en-US" i="1" dirty="0" smtClean="0"/>
              <a:t>ata </a:t>
            </a:r>
            <a:r>
              <a:rPr lang="en-US" i="1" dirty="0"/>
              <a:t>collection device </a:t>
            </a:r>
            <a:r>
              <a:rPr lang="en-US" dirty="0" smtClean="0"/>
              <a:t>obtains data </a:t>
            </a:r>
            <a:r>
              <a:rPr lang="en-US" dirty="0"/>
              <a:t>directly at the location where the </a:t>
            </a:r>
            <a:r>
              <a:rPr lang="en-US" dirty="0" smtClean="0"/>
              <a:t>transaction or </a:t>
            </a:r>
            <a:r>
              <a:rPr lang="en-US" dirty="0"/>
              <a:t>event takes place. </a:t>
            </a:r>
            <a:endParaRPr lang="en-US" dirty="0" smtClean="0"/>
          </a:p>
          <a:p>
            <a:r>
              <a:rPr lang="en-US" dirty="0" smtClean="0"/>
              <a:t>For </a:t>
            </a:r>
            <a:r>
              <a:rPr lang="en-US" dirty="0"/>
              <a:t>example, </a:t>
            </a:r>
            <a:r>
              <a:rPr lang="en-US" dirty="0" smtClean="0"/>
              <a:t>employees use </a:t>
            </a:r>
            <a:r>
              <a:rPr lang="en-US" dirty="0"/>
              <a:t>bar code readers, handheld </a:t>
            </a:r>
            <a:r>
              <a:rPr lang="en-US" dirty="0" smtClean="0"/>
              <a:t>computers, or </a:t>
            </a:r>
            <a:r>
              <a:rPr lang="en-US" dirty="0"/>
              <a:t>other mobile devices to collect data wirelessly</a:t>
            </a:r>
          </a:p>
        </p:txBody>
      </p:sp>
    </p:spTree>
    <p:extLst>
      <p:ext uri="{BB962C8B-B14F-4D97-AF65-F5344CB8AC3E}">
        <p14:creationId xmlns:p14="http://schemas.microsoft.com/office/powerpoint/2010/main" val="33738183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457200"/>
            <a:ext cx="7498080" cy="5791200"/>
          </a:xfrm>
        </p:spPr>
        <p:txBody>
          <a:bodyPr>
            <a:normAutofit fontScale="70000" lnSpcReduction="20000"/>
          </a:bodyPr>
          <a:lstStyle/>
          <a:p>
            <a:pPr marL="82296" indent="0">
              <a:buNone/>
            </a:pPr>
            <a:r>
              <a:rPr lang="en-US" b="1" dirty="0"/>
              <a:t>Biometric Input</a:t>
            </a:r>
          </a:p>
          <a:p>
            <a:r>
              <a:rPr lang="en-US" i="1" dirty="0"/>
              <a:t>Biometrics </a:t>
            </a:r>
            <a:r>
              <a:rPr lang="en-US" dirty="0"/>
              <a:t>is the technology of authenticating </a:t>
            </a:r>
            <a:r>
              <a:rPr lang="en-US" dirty="0" smtClean="0"/>
              <a:t>a person’s </a:t>
            </a:r>
            <a:r>
              <a:rPr lang="en-US" dirty="0"/>
              <a:t>identity by verifying a personal characteristic.</a:t>
            </a:r>
          </a:p>
          <a:p>
            <a:r>
              <a:rPr lang="en-US" dirty="0"/>
              <a:t>Biometric devices grant users </a:t>
            </a:r>
            <a:r>
              <a:rPr lang="en-US" dirty="0" smtClean="0"/>
              <a:t>access to </a:t>
            </a:r>
            <a:r>
              <a:rPr lang="en-US" dirty="0"/>
              <a:t>programs, systems, or rooms by </a:t>
            </a:r>
            <a:r>
              <a:rPr lang="en-US" dirty="0" smtClean="0"/>
              <a:t>analyzing some </a:t>
            </a:r>
            <a:r>
              <a:rPr lang="en-US" dirty="0"/>
              <a:t>biometric identifier. </a:t>
            </a:r>
            <a:endParaRPr lang="en-US" dirty="0" smtClean="0"/>
          </a:p>
          <a:p>
            <a:r>
              <a:rPr lang="en-US" dirty="0"/>
              <a:t>M</a:t>
            </a:r>
            <a:r>
              <a:rPr lang="en-US" dirty="0" smtClean="0"/>
              <a:t>ost </a:t>
            </a:r>
            <a:r>
              <a:rPr lang="en-US" dirty="0"/>
              <a:t>widely used biometric device </a:t>
            </a:r>
            <a:r>
              <a:rPr lang="en-US" dirty="0" smtClean="0"/>
              <a:t>is </a:t>
            </a:r>
            <a:r>
              <a:rPr lang="en-US" dirty="0"/>
              <a:t>a fingerprint reader. </a:t>
            </a:r>
            <a:r>
              <a:rPr lang="en-US" dirty="0" smtClean="0"/>
              <a:t> </a:t>
            </a:r>
          </a:p>
          <a:p>
            <a:r>
              <a:rPr lang="en-US" dirty="0" smtClean="0"/>
              <a:t>A </a:t>
            </a:r>
            <a:r>
              <a:rPr lang="en-US" b="1" dirty="0"/>
              <a:t>fingerprint </a:t>
            </a:r>
            <a:r>
              <a:rPr lang="en-US" b="1" dirty="0" smtClean="0"/>
              <a:t>reader</a:t>
            </a:r>
            <a:r>
              <a:rPr lang="en-US" dirty="0" smtClean="0"/>
              <a:t>, or </a:t>
            </a:r>
            <a:r>
              <a:rPr lang="en-US" dirty="0"/>
              <a:t>scanner, captures curves and indentations </a:t>
            </a:r>
            <a:r>
              <a:rPr lang="en-US" dirty="0" smtClean="0"/>
              <a:t>of a fingerprint.</a:t>
            </a:r>
          </a:p>
          <a:p>
            <a:pPr marL="82296" indent="0">
              <a:buNone/>
            </a:pPr>
            <a:r>
              <a:rPr lang="en-US" dirty="0"/>
              <a:t>A </a:t>
            </a:r>
            <a:r>
              <a:rPr lang="en-US" i="1" dirty="0"/>
              <a:t>face recognition system </a:t>
            </a:r>
            <a:r>
              <a:rPr lang="en-US" dirty="0"/>
              <a:t>captures a live </a:t>
            </a:r>
            <a:r>
              <a:rPr lang="en-US" dirty="0" smtClean="0"/>
              <a:t>face image </a:t>
            </a:r>
            <a:r>
              <a:rPr lang="en-US" dirty="0"/>
              <a:t>and compares it with a stored image </a:t>
            </a:r>
            <a:r>
              <a:rPr lang="en-US" dirty="0" smtClean="0"/>
              <a:t>to determine </a:t>
            </a:r>
            <a:r>
              <a:rPr lang="en-US" dirty="0"/>
              <a:t>if the person is a legitimate user.</a:t>
            </a:r>
          </a:p>
          <a:p>
            <a:r>
              <a:rPr lang="en-US" dirty="0"/>
              <a:t>Some buildings use face recognition </a:t>
            </a:r>
            <a:r>
              <a:rPr lang="en-US" dirty="0" smtClean="0"/>
              <a:t>systems to </a:t>
            </a:r>
            <a:r>
              <a:rPr lang="en-US" dirty="0"/>
              <a:t>secure access to rooms</a:t>
            </a:r>
            <a:r>
              <a:rPr lang="en-US" dirty="0" smtClean="0"/>
              <a:t>.</a:t>
            </a:r>
          </a:p>
          <a:p>
            <a:r>
              <a:rPr lang="en-US" dirty="0"/>
              <a:t>Law </a:t>
            </a:r>
            <a:r>
              <a:rPr lang="en-US" dirty="0" smtClean="0"/>
              <a:t>enforcement, surveillance </a:t>
            </a:r>
            <a:r>
              <a:rPr lang="en-US" dirty="0"/>
              <a:t>systems, and airports use face </a:t>
            </a:r>
            <a:r>
              <a:rPr lang="en-US" dirty="0" smtClean="0"/>
              <a:t>recognition to </a:t>
            </a:r>
            <a:r>
              <a:rPr lang="en-US" dirty="0"/>
              <a:t>protect the public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Some </a:t>
            </a:r>
            <a:r>
              <a:rPr lang="en-US" dirty="0" smtClean="0"/>
              <a:t>notebook computers </a:t>
            </a:r>
            <a:r>
              <a:rPr lang="en-US" dirty="0"/>
              <a:t>use this security technique to </a:t>
            </a:r>
            <a:r>
              <a:rPr lang="en-US" dirty="0" smtClean="0"/>
              <a:t>safeguard a </a:t>
            </a:r>
            <a:r>
              <a:rPr lang="en-US" dirty="0"/>
              <a:t>computer. The computer will not </a:t>
            </a:r>
            <a:r>
              <a:rPr lang="en-US" dirty="0" smtClean="0"/>
              <a:t>start unless </a:t>
            </a:r>
            <a:r>
              <a:rPr lang="en-US" dirty="0"/>
              <a:t>the user is legitimate.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1947662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457200"/>
            <a:ext cx="7498080" cy="5791200"/>
          </a:xfrm>
        </p:spPr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b="1" i="1" dirty="0"/>
              <a:t>voice verification system </a:t>
            </a:r>
            <a:r>
              <a:rPr lang="en-US" dirty="0"/>
              <a:t>compares a </a:t>
            </a:r>
            <a:r>
              <a:rPr lang="en-US" dirty="0" smtClean="0"/>
              <a:t>person’s live </a:t>
            </a:r>
            <a:r>
              <a:rPr lang="en-US" dirty="0"/>
              <a:t>speech with their stored voice pattern.</a:t>
            </a:r>
          </a:p>
          <a:p>
            <a:r>
              <a:rPr lang="en-US" dirty="0"/>
              <a:t>Larger organizations sometimes use </a:t>
            </a:r>
            <a:r>
              <a:rPr lang="en-US" dirty="0" smtClean="0"/>
              <a:t>voice verification </a:t>
            </a:r>
            <a:r>
              <a:rPr lang="en-US" dirty="0"/>
              <a:t>systems as time and </a:t>
            </a:r>
            <a:r>
              <a:rPr lang="en-US" dirty="0" smtClean="0"/>
              <a:t>attendance devices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Many </a:t>
            </a:r>
            <a:r>
              <a:rPr lang="en-US" dirty="0"/>
              <a:t>companies </a:t>
            </a:r>
            <a:r>
              <a:rPr lang="en-US" dirty="0" smtClean="0"/>
              <a:t>use </a:t>
            </a:r>
            <a:r>
              <a:rPr lang="en-US" dirty="0"/>
              <a:t>this </a:t>
            </a:r>
            <a:r>
              <a:rPr lang="en-US" dirty="0" smtClean="0"/>
              <a:t>technology for </a:t>
            </a:r>
            <a:r>
              <a:rPr lang="en-US" dirty="0"/>
              <a:t>access to sensitive files </a:t>
            </a:r>
            <a:r>
              <a:rPr lang="en-US" dirty="0" smtClean="0"/>
              <a:t>and networks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Some </a:t>
            </a:r>
            <a:r>
              <a:rPr lang="en-US" dirty="0"/>
              <a:t>financial services use </a:t>
            </a:r>
            <a:r>
              <a:rPr lang="en-US" dirty="0" smtClean="0"/>
              <a:t>voice verification </a:t>
            </a:r>
            <a:r>
              <a:rPr lang="en-US" dirty="0"/>
              <a:t>systems to secure </a:t>
            </a:r>
            <a:r>
              <a:rPr lang="en-US" dirty="0" smtClean="0"/>
              <a:t>telephone banking </a:t>
            </a:r>
            <a:r>
              <a:rPr lang="en-US" dirty="0"/>
              <a:t>transactions.</a:t>
            </a:r>
          </a:p>
        </p:txBody>
      </p:sp>
    </p:spTree>
    <p:extLst>
      <p:ext uri="{BB962C8B-B14F-4D97-AF65-F5344CB8AC3E}">
        <p14:creationId xmlns:p14="http://schemas.microsoft.com/office/powerpoint/2010/main" val="2567767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381000"/>
            <a:ext cx="7498080" cy="586740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 </a:t>
            </a:r>
            <a:r>
              <a:rPr lang="en-US" i="1" dirty="0"/>
              <a:t>signature verification system </a:t>
            </a:r>
            <a:r>
              <a:rPr lang="en-US" dirty="0"/>
              <a:t>recognizes </a:t>
            </a:r>
            <a:r>
              <a:rPr lang="en-US" dirty="0" smtClean="0"/>
              <a:t>the shape </a:t>
            </a:r>
            <a:r>
              <a:rPr lang="en-US" dirty="0"/>
              <a:t>of your handwritten signature, as well </a:t>
            </a:r>
            <a:r>
              <a:rPr lang="en-US" dirty="0" smtClean="0"/>
              <a:t>as measures </a:t>
            </a:r>
            <a:r>
              <a:rPr lang="en-US" dirty="0"/>
              <a:t>the pressure exerted and the </a:t>
            </a:r>
            <a:r>
              <a:rPr lang="en-US" dirty="0" smtClean="0"/>
              <a:t>motion used </a:t>
            </a:r>
            <a:r>
              <a:rPr lang="en-US" dirty="0"/>
              <a:t>to write the signature. </a:t>
            </a:r>
            <a:endParaRPr lang="en-US" dirty="0" smtClean="0"/>
          </a:p>
          <a:p>
            <a:r>
              <a:rPr lang="en-US" dirty="0" smtClean="0"/>
              <a:t>Signature verification systems </a:t>
            </a:r>
            <a:r>
              <a:rPr lang="en-US" dirty="0"/>
              <a:t>use a specialized pen and tablet</a:t>
            </a:r>
            <a:r>
              <a:rPr lang="en-US" dirty="0" smtClean="0"/>
              <a:t>.</a:t>
            </a:r>
          </a:p>
          <a:p>
            <a:r>
              <a:rPr lang="en-US" dirty="0"/>
              <a:t>High security areas use </a:t>
            </a:r>
            <a:r>
              <a:rPr lang="en-US" b="1" i="1" dirty="0"/>
              <a:t>iris </a:t>
            </a:r>
            <a:r>
              <a:rPr lang="en-US" b="1" i="1" dirty="0" smtClean="0"/>
              <a:t>recognition systems</a:t>
            </a:r>
            <a:r>
              <a:rPr lang="en-US" dirty="0" smtClean="0"/>
              <a:t>.</a:t>
            </a:r>
          </a:p>
          <a:p>
            <a:r>
              <a:rPr lang="en-US" dirty="0"/>
              <a:t>C</a:t>
            </a:r>
            <a:r>
              <a:rPr lang="en-US" dirty="0" smtClean="0"/>
              <a:t>amera </a:t>
            </a:r>
            <a:r>
              <a:rPr lang="en-US" dirty="0"/>
              <a:t>in an </a:t>
            </a:r>
            <a:r>
              <a:rPr lang="en-US" i="1" dirty="0" smtClean="0"/>
              <a:t>iris </a:t>
            </a:r>
            <a:r>
              <a:rPr lang="fr-FR" i="1" dirty="0" smtClean="0"/>
              <a:t>recognition </a:t>
            </a:r>
            <a:r>
              <a:rPr lang="fr-FR" i="1" dirty="0"/>
              <a:t>system </a:t>
            </a:r>
            <a:r>
              <a:rPr lang="fr-FR" dirty="0"/>
              <a:t>uses iris </a:t>
            </a:r>
            <a:r>
              <a:rPr lang="fr-FR" dirty="0" smtClean="0"/>
              <a:t>recognition </a:t>
            </a:r>
            <a:r>
              <a:rPr lang="en-US" dirty="0" smtClean="0"/>
              <a:t>technology </a:t>
            </a:r>
            <a:r>
              <a:rPr lang="en-US" dirty="0"/>
              <a:t>to read patterns in the </a:t>
            </a:r>
            <a:r>
              <a:rPr lang="en-US" dirty="0" smtClean="0"/>
              <a:t>iris of </a:t>
            </a:r>
            <a:r>
              <a:rPr lang="en-US" dirty="0"/>
              <a:t>the </a:t>
            </a:r>
            <a:r>
              <a:rPr lang="en-US" dirty="0" smtClean="0"/>
              <a:t>eye.</a:t>
            </a:r>
          </a:p>
          <a:p>
            <a:r>
              <a:rPr lang="en-US" dirty="0" smtClean="0"/>
              <a:t>These patterns are </a:t>
            </a:r>
            <a:r>
              <a:rPr lang="en-US" dirty="0"/>
              <a:t>as unique as a fingerprint.</a:t>
            </a:r>
          </a:p>
          <a:p>
            <a:r>
              <a:rPr lang="en-US" dirty="0"/>
              <a:t>Iris recognition systems are </a:t>
            </a:r>
            <a:r>
              <a:rPr lang="en-US" dirty="0" smtClean="0"/>
              <a:t>quite expensive </a:t>
            </a:r>
            <a:r>
              <a:rPr lang="en-US" dirty="0"/>
              <a:t>and are used by </a:t>
            </a:r>
            <a:r>
              <a:rPr lang="en-US" dirty="0" smtClean="0"/>
              <a:t>government security </a:t>
            </a:r>
            <a:r>
              <a:rPr lang="en-US" dirty="0"/>
              <a:t>organizations, the </a:t>
            </a:r>
            <a:r>
              <a:rPr lang="en-US" dirty="0" smtClean="0"/>
              <a:t>military, and </a:t>
            </a:r>
            <a:r>
              <a:rPr lang="en-US" dirty="0"/>
              <a:t>financial institutions </a:t>
            </a:r>
            <a:r>
              <a:rPr lang="en-US" dirty="0" smtClean="0"/>
              <a:t>that deal </a:t>
            </a:r>
            <a:r>
              <a:rPr lang="en-US" dirty="0"/>
              <a:t>with highly sensitive data.</a:t>
            </a:r>
          </a:p>
        </p:txBody>
      </p:sp>
    </p:spTree>
    <p:extLst>
      <p:ext uri="{BB962C8B-B14F-4D97-AF65-F5344CB8AC3E}">
        <p14:creationId xmlns:p14="http://schemas.microsoft.com/office/powerpoint/2010/main" val="38554595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Terminals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A </a:t>
            </a:r>
            <a:r>
              <a:rPr lang="en-US" i="1" dirty="0"/>
              <a:t>terminal </a:t>
            </a:r>
            <a:r>
              <a:rPr lang="en-US" dirty="0"/>
              <a:t>is a </a:t>
            </a:r>
            <a:r>
              <a:rPr lang="en-US" dirty="0" smtClean="0"/>
              <a:t>computer with limited processing </a:t>
            </a:r>
            <a:r>
              <a:rPr lang="en-US" dirty="0"/>
              <a:t>power, that enables users to send </a:t>
            </a:r>
            <a:r>
              <a:rPr lang="en-US" dirty="0" smtClean="0"/>
              <a:t>data to </a:t>
            </a:r>
            <a:r>
              <a:rPr lang="en-US" dirty="0"/>
              <a:t>and/or receive information from a host computer.</a:t>
            </a:r>
          </a:p>
          <a:p>
            <a:r>
              <a:rPr lang="en-US" dirty="0"/>
              <a:t>H</a:t>
            </a:r>
            <a:r>
              <a:rPr lang="en-US" dirty="0" smtClean="0"/>
              <a:t>ost </a:t>
            </a:r>
            <a:r>
              <a:rPr lang="en-US" dirty="0"/>
              <a:t>computer processes </a:t>
            </a:r>
            <a:r>
              <a:rPr lang="en-US" dirty="0" smtClean="0"/>
              <a:t>data and then</a:t>
            </a:r>
            <a:r>
              <a:rPr lang="en-US" dirty="0"/>
              <a:t>, if necessary, sends information (</a:t>
            </a:r>
            <a:r>
              <a:rPr lang="en-US" dirty="0" smtClean="0"/>
              <a:t>output) back </a:t>
            </a:r>
            <a:r>
              <a:rPr lang="en-US" dirty="0"/>
              <a:t>to the terminal.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host computer </a:t>
            </a:r>
            <a:r>
              <a:rPr lang="en-US" dirty="0" smtClean="0"/>
              <a:t>usually is </a:t>
            </a:r>
            <a:r>
              <a:rPr lang="en-US" dirty="0"/>
              <a:t>a server or mainframe.</a:t>
            </a:r>
          </a:p>
          <a:p>
            <a:r>
              <a:rPr lang="en-US" dirty="0"/>
              <a:t>Special-purpose terminals perform specific </a:t>
            </a:r>
            <a:r>
              <a:rPr lang="en-US" dirty="0" smtClean="0"/>
              <a:t>tasks and </a:t>
            </a:r>
            <a:r>
              <a:rPr lang="en-US" dirty="0"/>
              <a:t>contain features uniquely designed for use </a:t>
            </a:r>
            <a:r>
              <a:rPr lang="en-US" dirty="0" smtClean="0"/>
              <a:t>in a </a:t>
            </a:r>
            <a:r>
              <a:rPr lang="en-US" dirty="0"/>
              <a:t>particular industry. </a:t>
            </a:r>
            <a:endParaRPr lang="en-US" dirty="0" smtClean="0"/>
          </a:p>
          <a:p>
            <a:r>
              <a:rPr lang="en-US" dirty="0" smtClean="0"/>
              <a:t>Three </a:t>
            </a:r>
            <a:r>
              <a:rPr lang="en-US" dirty="0"/>
              <a:t>widely used </a:t>
            </a:r>
            <a:r>
              <a:rPr lang="en-US" dirty="0" smtClean="0"/>
              <a:t>special purpose</a:t>
            </a:r>
            <a:r>
              <a:rPr lang="en-US" dirty="0"/>
              <a:t> </a:t>
            </a:r>
            <a:r>
              <a:rPr lang="en-US" dirty="0" smtClean="0"/>
              <a:t>terminals </a:t>
            </a:r>
            <a:r>
              <a:rPr lang="en-US" dirty="0"/>
              <a:t>are point-of-sale (POS) </a:t>
            </a:r>
            <a:r>
              <a:rPr lang="en-US" dirty="0" smtClean="0"/>
              <a:t>terminals, automated </a:t>
            </a:r>
            <a:r>
              <a:rPr lang="en-US" dirty="0"/>
              <a:t>teller machines, and DVD kiosks.</a:t>
            </a:r>
          </a:p>
        </p:txBody>
      </p:sp>
    </p:spTree>
    <p:extLst>
      <p:ext uri="{BB962C8B-B14F-4D97-AF65-F5344CB8AC3E}">
        <p14:creationId xmlns:p14="http://schemas.microsoft.com/office/powerpoint/2010/main" val="7474621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381000"/>
            <a:ext cx="7498080" cy="5867400"/>
          </a:xfrm>
        </p:spPr>
        <p:txBody>
          <a:bodyPr>
            <a:normAutofit fontScale="70000" lnSpcReduction="20000"/>
          </a:bodyPr>
          <a:lstStyle/>
          <a:p>
            <a:pPr marL="82296" indent="0">
              <a:buNone/>
            </a:pPr>
            <a:r>
              <a:rPr lang="en-US" b="1" dirty="0"/>
              <a:t>Point-of-Sale Terminals</a:t>
            </a:r>
          </a:p>
          <a:p>
            <a:r>
              <a:rPr lang="en-US" dirty="0"/>
              <a:t>The location in a retail or grocery store where </a:t>
            </a:r>
            <a:r>
              <a:rPr lang="en-US" dirty="0" smtClean="0"/>
              <a:t>a consumer </a:t>
            </a:r>
            <a:r>
              <a:rPr lang="en-US" dirty="0"/>
              <a:t>pays for goods or services is the point </a:t>
            </a:r>
            <a:r>
              <a:rPr lang="en-US" dirty="0" smtClean="0"/>
              <a:t>of sale </a:t>
            </a:r>
            <a:r>
              <a:rPr lang="en-US" dirty="0"/>
              <a:t>(POS). </a:t>
            </a:r>
            <a:endParaRPr lang="en-US" dirty="0" smtClean="0"/>
          </a:p>
          <a:p>
            <a:r>
              <a:rPr lang="en-US" dirty="0" smtClean="0"/>
              <a:t>Most </a:t>
            </a:r>
            <a:r>
              <a:rPr lang="en-US" dirty="0"/>
              <a:t>retail stores use a </a:t>
            </a:r>
            <a:r>
              <a:rPr lang="en-US" b="1" dirty="0"/>
              <a:t>POS </a:t>
            </a:r>
            <a:r>
              <a:rPr lang="en-US" b="1" dirty="0" smtClean="0"/>
              <a:t>terminal </a:t>
            </a:r>
            <a:r>
              <a:rPr lang="en-US" dirty="0" smtClean="0"/>
              <a:t>to </a:t>
            </a:r>
            <a:r>
              <a:rPr lang="en-US" dirty="0"/>
              <a:t>record purchases, process credit or debit </a:t>
            </a:r>
            <a:r>
              <a:rPr lang="en-US" dirty="0" smtClean="0"/>
              <a:t>cards, and </a:t>
            </a:r>
            <a:r>
              <a:rPr lang="en-US" dirty="0"/>
              <a:t>update inventory</a:t>
            </a:r>
            <a:r>
              <a:rPr lang="en-US" dirty="0" smtClean="0"/>
              <a:t>.</a:t>
            </a:r>
          </a:p>
          <a:p>
            <a:r>
              <a:rPr lang="en-US" dirty="0"/>
              <a:t>In a grocery store, the POS terminal is a </a:t>
            </a:r>
            <a:r>
              <a:rPr lang="en-US" dirty="0" smtClean="0"/>
              <a:t>combination of </a:t>
            </a:r>
            <a:r>
              <a:rPr lang="en-US" dirty="0"/>
              <a:t>an electronic cash register, bar </a:t>
            </a:r>
            <a:r>
              <a:rPr lang="en-US" dirty="0" smtClean="0"/>
              <a:t>code reader</a:t>
            </a:r>
            <a:r>
              <a:rPr lang="en-US" dirty="0"/>
              <a:t>, and </a:t>
            </a:r>
            <a:r>
              <a:rPr lang="en-US" dirty="0" smtClean="0"/>
              <a:t>printer.</a:t>
            </a:r>
          </a:p>
          <a:p>
            <a:pPr marL="82296" indent="0">
              <a:buNone/>
            </a:pPr>
            <a:r>
              <a:rPr lang="en-US" b="1" dirty="0"/>
              <a:t>Automated Teller Machines</a:t>
            </a:r>
          </a:p>
          <a:p>
            <a:r>
              <a:rPr lang="en-US" dirty="0"/>
              <a:t>An </a:t>
            </a:r>
            <a:r>
              <a:rPr lang="en-US" b="1" dirty="0"/>
              <a:t>automated teller machine </a:t>
            </a:r>
            <a:r>
              <a:rPr lang="en-US" dirty="0"/>
              <a:t>(</a:t>
            </a:r>
            <a:r>
              <a:rPr lang="en-US" b="1" dirty="0"/>
              <a:t>ATM</a:t>
            </a:r>
            <a:r>
              <a:rPr lang="en-US" dirty="0"/>
              <a:t>) is </a:t>
            </a:r>
            <a:r>
              <a:rPr lang="en-US" dirty="0" smtClean="0"/>
              <a:t>a self-service </a:t>
            </a:r>
            <a:r>
              <a:rPr lang="en-US" dirty="0"/>
              <a:t>banking machine that connects to </a:t>
            </a:r>
            <a:r>
              <a:rPr lang="en-US" dirty="0" smtClean="0"/>
              <a:t>a host </a:t>
            </a:r>
            <a:r>
              <a:rPr lang="en-US" dirty="0"/>
              <a:t>computer through a </a:t>
            </a:r>
            <a:r>
              <a:rPr lang="en-US" dirty="0" smtClean="0"/>
              <a:t>network.</a:t>
            </a:r>
            <a:endParaRPr lang="en-US" dirty="0"/>
          </a:p>
          <a:p>
            <a:r>
              <a:rPr lang="en-US" dirty="0"/>
              <a:t>Banks place ATMs in convenient locations, </a:t>
            </a:r>
            <a:r>
              <a:rPr lang="en-US" dirty="0" smtClean="0"/>
              <a:t>including grocery </a:t>
            </a:r>
            <a:r>
              <a:rPr lang="en-US" dirty="0"/>
              <a:t>stores, convenience stores, retail </a:t>
            </a:r>
            <a:r>
              <a:rPr lang="en-US" dirty="0" smtClean="0"/>
              <a:t>outlets, shopping </a:t>
            </a:r>
            <a:r>
              <a:rPr lang="en-US" dirty="0"/>
              <a:t>malls, sports and concert venues, and </a:t>
            </a:r>
            <a:r>
              <a:rPr lang="en-US" dirty="0" smtClean="0"/>
              <a:t>gas stations</a:t>
            </a:r>
            <a:r>
              <a:rPr lang="en-US" dirty="0"/>
              <a:t>, so that customers </a:t>
            </a:r>
            <a:r>
              <a:rPr lang="en-US" dirty="0" smtClean="0"/>
              <a:t>can access their </a:t>
            </a:r>
            <a:r>
              <a:rPr lang="en-US" dirty="0"/>
              <a:t>bank accounts</a:t>
            </a:r>
            <a:r>
              <a:rPr lang="en-US" dirty="0" smtClean="0"/>
              <a:t>.</a:t>
            </a:r>
          </a:p>
          <a:p>
            <a:r>
              <a:rPr lang="en-US" dirty="0"/>
              <a:t>Using an ATM, people withdraw cash, </a:t>
            </a:r>
            <a:r>
              <a:rPr lang="en-US" dirty="0" smtClean="0"/>
              <a:t>deposit money</a:t>
            </a:r>
            <a:r>
              <a:rPr lang="en-US" dirty="0"/>
              <a:t>, transfer funds, or inquire about an </a:t>
            </a:r>
            <a:r>
              <a:rPr lang="en-US" dirty="0" smtClean="0"/>
              <a:t>account balance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Some </a:t>
            </a:r>
            <a:r>
              <a:rPr lang="en-US" dirty="0"/>
              <a:t>ATMs have a touch screen; </a:t>
            </a:r>
            <a:r>
              <a:rPr lang="en-US" dirty="0" smtClean="0"/>
              <a:t>others have </a:t>
            </a:r>
            <a:r>
              <a:rPr lang="en-US" dirty="0"/>
              <a:t>special buttons or keypads for entering input.</a:t>
            </a:r>
          </a:p>
        </p:txBody>
      </p:sp>
    </p:spTree>
    <p:extLst>
      <p:ext uri="{BB962C8B-B14F-4D97-AF65-F5344CB8AC3E}">
        <p14:creationId xmlns:p14="http://schemas.microsoft.com/office/powerpoint/2010/main" val="12666403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457200"/>
            <a:ext cx="7498080" cy="5791200"/>
          </a:xfrm>
        </p:spPr>
        <p:txBody>
          <a:bodyPr>
            <a:normAutofit fontScale="85000" lnSpcReduction="20000"/>
          </a:bodyPr>
          <a:lstStyle/>
          <a:p>
            <a:pPr marL="82296" indent="0">
              <a:buNone/>
            </a:pPr>
            <a:r>
              <a:rPr lang="en-US" b="1" dirty="0"/>
              <a:t>DVD Kiosks</a:t>
            </a:r>
          </a:p>
          <a:p>
            <a:r>
              <a:rPr lang="en-US" dirty="0"/>
              <a:t>A </a:t>
            </a:r>
            <a:r>
              <a:rPr lang="en-US" b="1" dirty="0"/>
              <a:t>DVD kiosk </a:t>
            </a:r>
            <a:r>
              <a:rPr lang="en-US" dirty="0"/>
              <a:t>is a self-service DVD </a:t>
            </a:r>
            <a:r>
              <a:rPr lang="en-US" dirty="0" smtClean="0"/>
              <a:t>rental machine </a:t>
            </a:r>
            <a:r>
              <a:rPr lang="en-US" dirty="0"/>
              <a:t>that connects to a host computer </a:t>
            </a:r>
            <a:r>
              <a:rPr lang="en-US" dirty="0" smtClean="0"/>
              <a:t>through a </a:t>
            </a:r>
            <a:r>
              <a:rPr lang="en-US" dirty="0"/>
              <a:t>network </a:t>
            </a:r>
            <a:r>
              <a:rPr lang="en-US" dirty="0" smtClean="0"/>
              <a:t>.</a:t>
            </a:r>
          </a:p>
          <a:p>
            <a:r>
              <a:rPr lang="en-US" dirty="0" smtClean="0"/>
              <a:t>DVD </a:t>
            </a:r>
            <a:r>
              <a:rPr lang="en-US" dirty="0"/>
              <a:t>kiosks, </a:t>
            </a:r>
            <a:r>
              <a:rPr lang="en-US" dirty="0" smtClean="0"/>
              <a:t>some of </a:t>
            </a:r>
            <a:r>
              <a:rPr lang="en-US" dirty="0"/>
              <a:t>which can hold more than 600 DVDs, </a:t>
            </a:r>
            <a:r>
              <a:rPr lang="en-US" dirty="0" smtClean="0"/>
              <a:t>are located </a:t>
            </a:r>
            <a:r>
              <a:rPr lang="en-US" dirty="0"/>
              <a:t>nationwide at retail stores, </a:t>
            </a:r>
            <a:r>
              <a:rPr lang="en-US" dirty="0" smtClean="0"/>
              <a:t>fast-food restaurants</a:t>
            </a:r>
            <a:r>
              <a:rPr lang="en-US" dirty="0"/>
              <a:t>, grocery stores, airports, and </a:t>
            </a:r>
            <a:r>
              <a:rPr lang="en-US" dirty="0" smtClean="0"/>
              <a:t>other convenient </a:t>
            </a:r>
            <a:r>
              <a:rPr lang="en-US" dirty="0"/>
              <a:t>public locations</a:t>
            </a:r>
            <a:r>
              <a:rPr lang="en-US" dirty="0" smtClean="0"/>
              <a:t>.</a:t>
            </a:r>
          </a:p>
          <a:p>
            <a:r>
              <a:rPr lang="en-US" dirty="0"/>
              <a:t>A DVD kiosk is associated with a </a:t>
            </a:r>
            <a:r>
              <a:rPr lang="en-US" dirty="0" smtClean="0"/>
              <a:t>particular vendor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To </a:t>
            </a:r>
            <a:r>
              <a:rPr lang="en-US" dirty="0"/>
              <a:t>rent a movie online, for example, a </a:t>
            </a:r>
            <a:r>
              <a:rPr lang="en-US" dirty="0" smtClean="0"/>
              <a:t>customer visits </a:t>
            </a:r>
            <a:r>
              <a:rPr lang="en-US" dirty="0"/>
              <a:t>the vendor’s Web site, establishes </a:t>
            </a:r>
            <a:r>
              <a:rPr lang="en-US" dirty="0" smtClean="0"/>
              <a:t>an account </a:t>
            </a:r>
            <a:r>
              <a:rPr lang="en-US" dirty="0"/>
              <a:t>or connects to an existing account, </a:t>
            </a:r>
            <a:r>
              <a:rPr lang="en-US" dirty="0" smtClean="0"/>
              <a:t>selects the </a:t>
            </a:r>
            <a:r>
              <a:rPr lang="en-US" dirty="0"/>
              <a:t>desired movie, and then chooses a nearby </a:t>
            </a:r>
            <a:r>
              <a:rPr lang="en-US" dirty="0" smtClean="0"/>
              <a:t>DVD kiosk </a:t>
            </a:r>
            <a:r>
              <a:rPr lang="en-US" dirty="0"/>
              <a:t>where the movie will be picked up.</a:t>
            </a:r>
          </a:p>
        </p:txBody>
      </p:sp>
    </p:spTree>
    <p:extLst>
      <p:ext uri="{BB962C8B-B14F-4D97-AF65-F5344CB8AC3E}">
        <p14:creationId xmlns:p14="http://schemas.microsoft.com/office/powerpoint/2010/main" val="37804844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381000"/>
            <a:ext cx="7498080" cy="5867400"/>
          </a:xfrm>
        </p:spPr>
        <p:txBody>
          <a:bodyPr/>
          <a:lstStyle/>
          <a:p>
            <a:pPr marL="82296" indent="0">
              <a:buNone/>
            </a:pPr>
            <a:r>
              <a:rPr lang="en-US" b="1" dirty="0"/>
              <a:t>Input Devices for </a:t>
            </a:r>
            <a:r>
              <a:rPr lang="en-US" b="1" dirty="0" smtClean="0"/>
              <a:t>Physically Challenged </a:t>
            </a:r>
            <a:r>
              <a:rPr lang="en-US" b="1" dirty="0"/>
              <a:t>Users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891333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219</TotalTime>
  <Words>1317</Words>
  <Application>Microsoft Office PowerPoint</Application>
  <PresentationFormat>On-screen Show (4:3)</PresentationFormat>
  <Paragraphs>86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Solstice</vt:lpstr>
      <vt:lpstr>Input hardware</vt:lpstr>
      <vt:lpstr>PowerPoint Presentation</vt:lpstr>
      <vt:lpstr>PowerPoint Presentation</vt:lpstr>
      <vt:lpstr>PowerPoint Presentation</vt:lpstr>
      <vt:lpstr>Digital Cameras</vt:lpstr>
      <vt:lpstr>PowerPoint Presentation</vt:lpstr>
      <vt:lpstr>Pen Input</vt:lpstr>
      <vt:lpstr>Game Controllers</vt:lpstr>
      <vt:lpstr>Voice Input</vt:lpstr>
      <vt:lpstr>Scanners and Reading Devices</vt:lpstr>
      <vt:lpstr>Data Collection Devices</vt:lpstr>
      <vt:lpstr>PowerPoint Presentation</vt:lpstr>
      <vt:lpstr>PowerPoint Presentation</vt:lpstr>
      <vt:lpstr>PowerPoint Presentation</vt:lpstr>
      <vt:lpstr>Terminals</vt:lpstr>
      <vt:lpstr>PowerPoint Presentation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ismail - [2010]</dc:creator>
  <cp:lastModifiedBy>ismail - [2010]</cp:lastModifiedBy>
  <cp:revision>11</cp:revision>
  <dcterms:created xsi:type="dcterms:W3CDTF">2015-04-24T09:05:26Z</dcterms:created>
  <dcterms:modified xsi:type="dcterms:W3CDTF">2015-05-09T09:21:54Z</dcterms:modified>
</cp:coreProperties>
</file>