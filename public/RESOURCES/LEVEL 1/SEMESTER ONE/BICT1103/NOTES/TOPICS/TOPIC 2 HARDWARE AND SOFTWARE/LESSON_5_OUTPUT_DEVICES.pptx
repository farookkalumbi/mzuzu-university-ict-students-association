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1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60C31BB-F274-4C25-A7A6-4A001C11A265}" type="datetimeFigureOut">
              <a:rPr lang="en-US" smtClean="0"/>
              <a:t>5/29/2015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8860329-59D5-4545-954A-B64528EEE3B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Output devices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Output </a:t>
            </a:r>
            <a:r>
              <a:rPr lang="en-US" dirty="0"/>
              <a:t>is data that has been processed into </a:t>
            </a:r>
            <a:r>
              <a:rPr lang="en-US" dirty="0" smtClean="0"/>
              <a:t>a useful form called information. </a:t>
            </a:r>
          </a:p>
          <a:p>
            <a:r>
              <a:rPr lang="en-US" dirty="0" smtClean="0"/>
              <a:t>Computers </a:t>
            </a:r>
            <a:r>
              <a:rPr lang="en-US" dirty="0"/>
              <a:t>process </a:t>
            </a:r>
            <a:r>
              <a:rPr lang="en-US" dirty="0" smtClean="0"/>
              <a:t>data (input</a:t>
            </a:r>
            <a:r>
              <a:rPr lang="en-US" dirty="0"/>
              <a:t>) into information (output).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form </a:t>
            </a:r>
            <a:r>
              <a:rPr lang="en-US" dirty="0" smtClean="0"/>
              <a:t>of output </a:t>
            </a:r>
            <a:r>
              <a:rPr lang="en-US" dirty="0"/>
              <a:t>varies, depending on the hardware </a:t>
            </a:r>
            <a:r>
              <a:rPr lang="en-US" dirty="0" smtClean="0"/>
              <a:t>and software </a:t>
            </a:r>
            <a:r>
              <a:rPr lang="en-US" dirty="0"/>
              <a:t>being used and </a:t>
            </a:r>
            <a:r>
              <a:rPr lang="en-US" dirty="0" smtClean="0"/>
              <a:t>the </a:t>
            </a:r>
            <a:r>
              <a:rPr lang="en-US" dirty="0"/>
              <a:t>requirements of </a:t>
            </a:r>
            <a:r>
              <a:rPr lang="en-US" dirty="0" smtClean="0"/>
              <a:t>the user.</a:t>
            </a:r>
          </a:p>
          <a:p>
            <a:r>
              <a:rPr lang="en-US" dirty="0"/>
              <a:t>Monitors, </a:t>
            </a:r>
            <a:r>
              <a:rPr lang="en-US" dirty="0" smtClean="0"/>
              <a:t>laptop computers, Tablet </a:t>
            </a:r>
            <a:r>
              <a:rPr lang="en-US" dirty="0"/>
              <a:t>PCs, portable media </a:t>
            </a:r>
            <a:r>
              <a:rPr lang="en-US" dirty="0" smtClean="0"/>
              <a:t>players, smart </a:t>
            </a:r>
            <a:r>
              <a:rPr lang="en-US" dirty="0"/>
              <a:t>phones, digital cameras, and other </a:t>
            </a:r>
            <a:r>
              <a:rPr lang="en-US" dirty="0" smtClean="0"/>
              <a:t>mobile devices </a:t>
            </a:r>
            <a:r>
              <a:rPr lang="en-US" dirty="0"/>
              <a:t>have screens that allow users to </a:t>
            </a:r>
            <a:r>
              <a:rPr lang="en-US" dirty="0" smtClean="0"/>
              <a:t>view </a:t>
            </a:r>
            <a:r>
              <a:rPr lang="fr-FR" dirty="0" smtClean="0"/>
              <a:t>documents</a:t>
            </a:r>
            <a:r>
              <a:rPr lang="fr-FR" dirty="0"/>
              <a:t>, Web sites, e-mail messages, </a:t>
            </a:r>
            <a:r>
              <a:rPr lang="fr-FR" dirty="0" smtClean="0"/>
              <a:t>photos, </a:t>
            </a:r>
            <a:r>
              <a:rPr lang="en-US" dirty="0" smtClean="0"/>
              <a:t>videos</a:t>
            </a:r>
            <a:r>
              <a:rPr lang="en-US" dirty="0"/>
              <a:t>, and movies.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printers enable </a:t>
            </a:r>
            <a:r>
              <a:rPr lang="en-US" dirty="0" smtClean="0"/>
              <a:t>users to </a:t>
            </a:r>
            <a:r>
              <a:rPr lang="en-US" dirty="0"/>
              <a:t>print color documents and photos. </a:t>
            </a:r>
            <a:endParaRPr lang="en-US" dirty="0" smtClean="0"/>
          </a:p>
          <a:p>
            <a:r>
              <a:rPr lang="en-US" dirty="0" smtClean="0"/>
              <a:t>Through the </a:t>
            </a:r>
            <a:r>
              <a:rPr lang="en-US" dirty="0"/>
              <a:t>computer’s speakers, headphones, or </a:t>
            </a:r>
            <a:r>
              <a:rPr lang="en-US" dirty="0" err="1" smtClean="0"/>
              <a:t>earbuds</a:t>
            </a:r>
            <a:r>
              <a:rPr lang="en-US" dirty="0" smtClean="0"/>
              <a:t>, users </a:t>
            </a:r>
            <a:r>
              <a:rPr lang="en-US" dirty="0"/>
              <a:t>listen to sounds, music, and voice messages.</a:t>
            </a:r>
          </a:p>
        </p:txBody>
      </p:sp>
    </p:spTree>
    <p:extLst>
      <p:ext uri="{BB962C8B-B14F-4D97-AF65-F5344CB8AC3E}">
        <p14:creationId xmlns:p14="http://schemas.microsoft.com/office/powerpoint/2010/main" val="39423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output device </a:t>
            </a:r>
            <a:r>
              <a:rPr lang="en-US" dirty="0"/>
              <a:t>is any type of </a:t>
            </a:r>
            <a:r>
              <a:rPr lang="en-US" dirty="0" smtClean="0"/>
              <a:t>hardware component </a:t>
            </a:r>
            <a:r>
              <a:rPr lang="en-US" dirty="0"/>
              <a:t>that conveys information to one </a:t>
            </a:r>
            <a:r>
              <a:rPr lang="en-US" dirty="0" smtClean="0"/>
              <a:t>or more people (user).</a:t>
            </a:r>
          </a:p>
          <a:p>
            <a:r>
              <a:rPr lang="en-US" dirty="0" smtClean="0"/>
              <a:t>Commonly </a:t>
            </a:r>
            <a:r>
              <a:rPr lang="en-US" dirty="0"/>
              <a:t>used output </a:t>
            </a:r>
            <a:r>
              <a:rPr lang="en-US" dirty="0" smtClean="0"/>
              <a:t>devices include </a:t>
            </a:r>
            <a:r>
              <a:rPr lang="en-US" dirty="0"/>
              <a:t>display devices; printers; speakers, </a:t>
            </a:r>
            <a:r>
              <a:rPr lang="en-US" dirty="0" smtClean="0"/>
              <a:t>headphones, and </a:t>
            </a:r>
            <a:r>
              <a:rPr lang="en-US" dirty="0" err="1"/>
              <a:t>earbuds</a:t>
            </a:r>
            <a:r>
              <a:rPr lang="en-US" dirty="0"/>
              <a:t>; data projectors; </a:t>
            </a:r>
            <a:r>
              <a:rPr lang="en-US" dirty="0" smtClean="0"/>
              <a:t>interactive whiteboards</a:t>
            </a:r>
            <a:r>
              <a:rPr lang="en-US" dirty="0"/>
              <a:t>; and force-feedback game </a:t>
            </a:r>
            <a:r>
              <a:rPr lang="en-US" dirty="0" smtClean="0"/>
              <a:t>controllers and </a:t>
            </a:r>
            <a:r>
              <a:rPr lang="en-US" dirty="0"/>
              <a:t>tactile output.</a:t>
            </a:r>
          </a:p>
        </p:txBody>
      </p:sp>
    </p:spTree>
    <p:extLst>
      <p:ext uri="{BB962C8B-B14F-4D97-AF65-F5344CB8AC3E}">
        <p14:creationId xmlns:p14="http://schemas.microsoft.com/office/powerpoint/2010/main" val="116843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display device</a:t>
            </a:r>
            <a:r>
              <a:rPr lang="en-US" dirty="0"/>
              <a:t>, or simply </a:t>
            </a:r>
            <a:r>
              <a:rPr lang="en-US" i="1" dirty="0"/>
              <a:t>display</a:t>
            </a:r>
            <a:r>
              <a:rPr lang="en-US" dirty="0"/>
              <a:t>, is an </a:t>
            </a:r>
            <a:r>
              <a:rPr lang="en-US" dirty="0" smtClean="0"/>
              <a:t>output device that </a:t>
            </a:r>
            <a:r>
              <a:rPr lang="en-US" dirty="0"/>
              <a:t>conveys text, </a:t>
            </a:r>
            <a:r>
              <a:rPr lang="en-US" dirty="0" smtClean="0"/>
              <a:t>graphics, and </a:t>
            </a:r>
            <a:r>
              <a:rPr lang="en-US" dirty="0"/>
              <a:t>video </a:t>
            </a:r>
            <a:r>
              <a:rPr lang="en-US" dirty="0" smtClean="0"/>
              <a:t>information.</a:t>
            </a:r>
          </a:p>
          <a:p>
            <a:r>
              <a:rPr lang="en-US" dirty="0" smtClean="0"/>
              <a:t>Information </a:t>
            </a:r>
            <a:r>
              <a:rPr lang="en-US" dirty="0"/>
              <a:t>on a </a:t>
            </a:r>
            <a:r>
              <a:rPr lang="en-US" dirty="0" smtClean="0"/>
              <a:t>display device, sometimes </a:t>
            </a:r>
            <a:r>
              <a:rPr lang="en-US" dirty="0"/>
              <a:t>called </a:t>
            </a:r>
            <a:r>
              <a:rPr lang="en-US" i="1" dirty="0"/>
              <a:t>soft copy</a:t>
            </a:r>
            <a:r>
              <a:rPr lang="en-US" dirty="0"/>
              <a:t>, </a:t>
            </a:r>
            <a:r>
              <a:rPr lang="en-US" dirty="0" smtClean="0"/>
              <a:t>exists electronically </a:t>
            </a:r>
            <a:r>
              <a:rPr lang="en-US" dirty="0"/>
              <a:t>and appears for a temporary period</a:t>
            </a:r>
            <a:r>
              <a:rPr lang="en-US" dirty="0" smtClean="0"/>
              <a:t>.</a:t>
            </a:r>
          </a:p>
          <a:p>
            <a:r>
              <a:rPr lang="en-US" dirty="0"/>
              <a:t>Display devices consist of a screen and </a:t>
            </a:r>
            <a:r>
              <a:rPr lang="en-US" dirty="0" smtClean="0"/>
              <a:t>the components </a:t>
            </a:r>
            <a:r>
              <a:rPr lang="en-US" dirty="0"/>
              <a:t>that produce the information </a:t>
            </a:r>
            <a:r>
              <a:rPr lang="en-US" dirty="0" smtClean="0"/>
              <a:t>on the </a:t>
            </a:r>
            <a:r>
              <a:rPr lang="en-US" dirty="0"/>
              <a:t>screen. </a:t>
            </a:r>
            <a:endParaRPr lang="en-US" dirty="0" smtClean="0"/>
          </a:p>
          <a:p>
            <a:r>
              <a:rPr lang="en-US" dirty="0" smtClean="0"/>
              <a:t>Desktop </a:t>
            </a:r>
            <a:r>
              <a:rPr lang="en-US" dirty="0"/>
              <a:t>computers </a:t>
            </a:r>
            <a:r>
              <a:rPr lang="en-US" dirty="0" smtClean="0"/>
              <a:t>use a monitor </a:t>
            </a:r>
            <a:r>
              <a:rPr lang="en-US" dirty="0"/>
              <a:t>as their display device.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/>
              <a:t>monitor </a:t>
            </a:r>
            <a:r>
              <a:rPr lang="en-US" dirty="0" smtClean="0"/>
              <a:t>is a </a:t>
            </a:r>
            <a:r>
              <a:rPr lang="en-US" dirty="0"/>
              <a:t>display device that is packaged as a </a:t>
            </a:r>
            <a:r>
              <a:rPr lang="en-US" dirty="0" smtClean="0"/>
              <a:t>separate peripheral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882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Two types of display devices are </a:t>
            </a:r>
            <a:r>
              <a:rPr lang="en-US" dirty="0" smtClean="0"/>
              <a:t>flat-panel displays </a:t>
            </a:r>
            <a:r>
              <a:rPr lang="en-US" dirty="0"/>
              <a:t>and CRT monitors. </a:t>
            </a:r>
            <a:r>
              <a:rPr lang="en-US" dirty="0" smtClean="0"/>
              <a:t> (Cathode-ray tube).</a:t>
            </a:r>
          </a:p>
          <a:p>
            <a:r>
              <a:rPr lang="en-US" dirty="0" smtClean="0"/>
              <a:t>A </a:t>
            </a:r>
            <a:r>
              <a:rPr lang="en-US" i="1" dirty="0"/>
              <a:t>flat-panel </a:t>
            </a:r>
            <a:r>
              <a:rPr lang="en-US" i="1" dirty="0" smtClean="0"/>
              <a:t>display </a:t>
            </a:r>
            <a:r>
              <a:rPr lang="en-US" dirty="0" smtClean="0"/>
              <a:t>is </a:t>
            </a:r>
            <a:r>
              <a:rPr lang="en-US" dirty="0"/>
              <a:t>a lightweight display device with a </a:t>
            </a:r>
            <a:r>
              <a:rPr lang="en-US" dirty="0" smtClean="0"/>
              <a:t>shallow depth </a:t>
            </a:r>
            <a:r>
              <a:rPr lang="en-US" dirty="0"/>
              <a:t>and flat screen that </a:t>
            </a:r>
            <a:r>
              <a:rPr lang="en-US" dirty="0" smtClean="0"/>
              <a:t>uses LCD (liquid </a:t>
            </a:r>
            <a:r>
              <a:rPr lang="en-US" dirty="0"/>
              <a:t>crystal display) or gas plasma technology.</a:t>
            </a:r>
          </a:p>
          <a:p>
            <a:r>
              <a:rPr lang="en-US" dirty="0"/>
              <a:t>Types of flat-panel displays include </a:t>
            </a:r>
            <a:r>
              <a:rPr lang="en-US" dirty="0" smtClean="0"/>
              <a:t>LCD monitors</a:t>
            </a:r>
            <a:r>
              <a:rPr lang="en-US" dirty="0"/>
              <a:t>, LCD screens, and plasma monitors.</a:t>
            </a:r>
          </a:p>
          <a:p>
            <a:r>
              <a:rPr lang="en-US" dirty="0"/>
              <a:t>All flat-panel displays and some CRT </a:t>
            </a:r>
            <a:r>
              <a:rPr lang="en-US" dirty="0" smtClean="0"/>
              <a:t>monitors have </a:t>
            </a:r>
            <a:r>
              <a:rPr lang="en-US" dirty="0"/>
              <a:t>a flat screen.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term, flat screen, </a:t>
            </a:r>
            <a:r>
              <a:rPr lang="en-US" dirty="0" smtClean="0"/>
              <a:t>means the </a:t>
            </a:r>
            <a:r>
              <a:rPr lang="en-US" dirty="0"/>
              <a:t>screen is not curved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r>
              <a:rPr lang="en-US" b="1" dirty="0"/>
              <a:t>Plasma Monitors</a:t>
            </a:r>
          </a:p>
          <a:p>
            <a:r>
              <a:rPr lang="en-US" dirty="0"/>
              <a:t>A </a:t>
            </a:r>
            <a:r>
              <a:rPr lang="en-US" b="1" dirty="0"/>
              <a:t>plasma monitor </a:t>
            </a:r>
            <a:r>
              <a:rPr lang="en-US" dirty="0"/>
              <a:t>is a display device </a:t>
            </a:r>
            <a:r>
              <a:rPr lang="en-US" dirty="0" smtClean="0"/>
              <a:t>that uses </a:t>
            </a:r>
            <a:r>
              <a:rPr lang="en-US" dirty="0"/>
              <a:t>gas plasma technology, which </a:t>
            </a:r>
            <a:r>
              <a:rPr lang="en-US" dirty="0" smtClean="0"/>
              <a:t>sandwiches a </a:t>
            </a:r>
            <a:r>
              <a:rPr lang="en-US" dirty="0"/>
              <a:t>layer of gas between two glass plates (</a:t>
            </a:r>
            <a:r>
              <a:rPr lang="en-US" dirty="0" smtClean="0"/>
              <a:t>Figure 6-8</a:t>
            </a:r>
            <a:r>
              <a:rPr lang="en-US" dirty="0"/>
              <a:t>). When voltage is applied, the gas </a:t>
            </a:r>
            <a:r>
              <a:rPr lang="en-US" dirty="0" smtClean="0"/>
              <a:t>releases ultraviolet </a:t>
            </a:r>
            <a:r>
              <a:rPr lang="en-US" dirty="0"/>
              <a:t>(UV) light.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UV light </a:t>
            </a:r>
            <a:r>
              <a:rPr lang="en-US" dirty="0" smtClean="0"/>
              <a:t>causes the </a:t>
            </a:r>
            <a:r>
              <a:rPr lang="en-US" dirty="0"/>
              <a:t>pixels on the screen to glow and </a:t>
            </a:r>
            <a:r>
              <a:rPr lang="en-US" dirty="0" smtClean="0"/>
              <a:t>form an </a:t>
            </a:r>
            <a:r>
              <a:rPr lang="en-US" dirty="0"/>
              <a:t>image.</a:t>
            </a:r>
          </a:p>
        </p:txBody>
      </p:sp>
    </p:spTree>
    <p:extLst>
      <p:ext uri="{BB962C8B-B14F-4D97-AF65-F5344CB8AC3E}">
        <p14:creationId xmlns:p14="http://schemas.microsoft.com/office/powerpoint/2010/main" val="257348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Televisions</a:t>
            </a:r>
          </a:p>
          <a:p>
            <a:r>
              <a:rPr lang="en-US" dirty="0"/>
              <a:t>Home users sometimes use their television </a:t>
            </a:r>
            <a:r>
              <a:rPr lang="en-US" dirty="0" smtClean="0"/>
              <a:t>as a </a:t>
            </a:r>
            <a:r>
              <a:rPr lang="en-US" dirty="0"/>
              <a:t>display device. </a:t>
            </a:r>
            <a:endParaRPr lang="en-US" dirty="0" smtClean="0"/>
          </a:p>
          <a:p>
            <a:r>
              <a:rPr lang="en-US" dirty="0" smtClean="0"/>
              <a:t>Connecting </a:t>
            </a:r>
            <a:r>
              <a:rPr lang="en-US" dirty="0"/>
              <a:t>a computer to </a:t>
            </a:r>
            <a:r>
              <a:rPr lang="en-US" dirty="0" smtClean="0"/>
              <a:t>an analog </a:t>
            </a:r>
            <a:r>
              <a:rPr lang="en-US" dirty="0"/>
              <a:t>television requires a converter that </a:t>
            </a:r>
            <a:r>
              <a:rPr lang="en-US" dirty="0" smtClean="0"/>
              <a:t>translates the </a:t>
            </a:r>
            <a:r>
              <a:rPr lang="en-US" dirty="0"/>
              <a:t>digital signal from the computer </a:t>
            </a:r>
            <a:r>
              <a:rPr lang="en-US" dirty="0" smtClean="0"/>
              <a:t>into an </a:t>
            </a:r>
            <a:r>
              <a:rPr lang="en-US" dirty="0"/>
              <a:t>analog signal that the television </a:t>
            </a:r>
            <a:r>
              <a:rPr lang="en-US" dirty="0" smtClean="0"/>
              <a:t>can </a:t>
            </a:r>
            <a:r>
              <a:rPr lang="en-US" dirty="0"/>
              <a:t>display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6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CRT </a:t>
            </a:r>
            <a:r>
              <a:rPr lang="en-US" b="1" dirty="0" smtClean="0"/>
              <a:t>Monitors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/>
              <a:t>CRT monitor </a:t>
            </a:r>
            <a:r>
              <a:rPr lang="en-US" dirty="0"/>
              <a:t>is a desktop monitor </a:t>
            </a:r>
            <a:r>
              <a:rPr lang="en-US" dirty="0" smtClean="0"/>
              <a:t>that contains </a:t>
            </a:r>
            <a:r>
              <a:rPr lang="en-US" dirty="0"/>
              <a:t>a cathode-ray </a:t>
            </a:r>
            <a:r>
              <a:rPr lang="en-US" dirty="0" smtClean="0"/>
              <a:t>tube. </a:t>
            </a:r>
          </a:p>
          <a:p>
            <a:r>
              <a:rPr lang="en-US" dirty="0" smtClean="0"/>
              <a:t>A </a:t>
            </a:r>
            <a:r>
              <a:rPr lang="en-US" i="1" dirty="0" smtClean="0"/>
              <a:t>cathode-ray </a:t>
            </a:r>
            <a:r>
              <a:rPr lang="en-US" i="1" dirty="0"/>
              <a:t>tube </a:t>
            </a:r>
            <a:r>
              <a:rPr lang="en-US" dirty="0"/>
              <a:t>(</a:t>
            </a:r>
            <a:r>
              <a:rPr lang="en-US" i="1" dirty="0"/>
              <a:t>CRT </a:t>
            </a:r>
            <a:r>
              <a:rPr lang="en-US" dirty="0"/>
              <a:t>) is a large, sealed </a:t>
            </a:r>
            <a:r>
              <a:rPr lang="en-US" dirty="0" smtClean="0"/>
              <a:t>glass tube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front of the tube is the screen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Tiny dots </a:t>
            </a:r>
            <a:r>
              <a:rPr lang="en-US" dirty="0"/>
              <a:t>of phosphor material coat the </a:t>
            </a:r>
            <a:r>
              <a:rPr lang="en-US" dirty="0" smtClean="0"/>
              <a:t>screen on </a:t>
            </a:r>
            <a:r>
              <a:rPr lang="en-US" dirty="0"/>
              <a:t>a CRT. </a:t>
            </a:r>
            <a:endParaRPr lang="en-US" dirty="0" smtClean="0"/>
          </a:p>
          <a:p>
            <a:r>
              <a:rPr lang="en-US" dirty="0" smtClean="0"/>
              <a:t>Inside </a:t>
            </a:r>
            <a:r>
              <a:rPr lang="en-US" dirty="0"/>
              <a:t>the CRT, an electron </a:t>
            </a:r>
            <a:r>
              <a:rPr lang="en-US" dirty="0" smtClean="0"/>
              <a:t>beam moves </a:t>
            </a:r>
            <a:r>
              <a:rPr lang="en-US" dirty="0"/>
              <a:t>back and forth across the back of </a:t>
            </a:r>
            <a:r>
              <a:rPr lang="en-US" dirty="0" smtClean="0"/>
              <a:t>the screen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causes the dots on the front </a:t>
            </a:r>
            <a:r>
              <a:rPr lang="en-US" dirty="0" smtClean="0"/>
              <a:t>of the </a:t>
            </a:r>
            <a:r>
              <a:rPr lang="en-US" dirty="0"/>
              <a:t>screen to glow, which produces an </a:t>
            </a:r>
            <a:r>
              <a:rPr lang="en-US" dirty="0" smtClean="0"/>
              <a:t>image on </a:t>
            </a:r>
            <a:r>
              <a:rPr lang="en-US" dirty="0"/>
              <a:t>the screen.</a:t>
            </a:r>
          </a:p>
          <a:p>
            <a:r>
              <a:rPr lang="en-US" dirty="0"/>
              <a:t>CRT monitors have a much larger </a:t>
            </a:r>
            <a:r>
              <a:rPr lang="en-US" dirty="0" smtClean="0"/>
              <a:t>footprint than </a:t>
            </a:r>
            <a:r>
              <a:rPr lang="en-US" dirty="0"/>
              <a:t>do LCD monitors; that is, they take </a:t>
            </a:r>
            <a:r>
              <a:rPr lang="en-US" dirty="0" smtClean="0"/>
              <a:t>up more </a:t>
            </a:r>
            <a:r>
              <a:rPr lang="en-US" dirty="0"/>
              <a:t>desk space and thus are not used </a:t>
            </a:r>
            <a:r>
              <a:rPr lang="en-US" dirty="0" smtClean="0"/>
              <a:t>much today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85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/>
              <a:t>printer </a:t>
            </a:r>
            <a:r>
              <a:rPr lang="en-US" dirty="0"/>
              <a:t>is an output device that </a:t>
            </a:r>
            <a:r>
              <a:rPr lang="en-US" dirty="0" smtClean="0"/>
              <a:t>produces text </a:t>
            </a:r>
            <a:r>
              <a:rPr lang="en-US" dirty="0"/>
              <a:t>and graphics on a physical medium </a:t>
            </a:r>
            <a:r>
              <a:rPr lang="en-US" dirty="0" smtClean="0"/>
              <a:t>such as </a:t>
            </a:r>
            <a:r>
              <a:rPr lang="en-US" dirty="0"/>
              <a:t>paper. </a:t>
            </a:r>
            <a:endParaRPr lang="en-US" dirty="0" smtClean="0"/>
          </a:p>
          <a:p>
            <a:r>
              <a:rPr lang="en-US" dirty="0" smtClean="0"/>
              <a:t>Printed </a:t>
            </a:r>
            <a:r>
              <a:rPr lang="en-US" dirty="0"/>
              <a:t>information, called </a:t>
            </a:r>
            <a:r>
              <a:rPr lang="en-US" i="1" dirty="0"/>
              <a:t>hard </a:t>
            </a:r>
            <a:r>
              <a:rPr lang="en-US" i="1" dirty="0" smtClean="0"/>
              <a:t>copy</a:t>
            </a:r>
            <a:r>
              <a:rPr lang="en-US" dirty="0" smtClean="0"/>
              <a:t>, exists </a:t>
            </a:r>
            <a:r>
              <a:rPr lang="en-US" dirty="0"/>
              <a:t>physically and is a more permanent </a:t>
            </a:r>
            <a:r>
              <a:rPr lang="en-US" dirty="0" smtClean="0"/>
              <a:t>form of </a:t>
            </a:r>
            <a:r>
              <a:rPr lang="en-US" dirty="0"/>
              <a:t>output than that presented on a display </a:t>
            </a:r>
            <a:r>
              <a:rPr lang="en-US" dirty="0" smtClean="0"/>
              <a:t>device (soft </a:t>
            </a:r>
            <a:r>
              <a:rPr lang="en-US" dirty="0"/>
              <a:t>copy</a:t>
            </a:r>
            <a:r>
              <a:rPr lang="en-US" dirty="0" smtClean="0"/>
              <a:t>).</a:t>
            </a:r>
          </a:p>
          <a:p>
            <a:r>
              <a:rPr lang="en-US" dirty="0"/>
              <a:t>A hard copy, also called a </a:t>
            </a:r>
            <a:r>
              <a:rPr lang="en-US" i="1" dirty="0" smtClean="0"/>
              <a:t>printout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731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 smtClean="0"/>
              <a:t>Nonimpact </a:t>
            </a:r>
            <a:r>
              <a:rPr lang="en-US" b="1" dirty="0"/>
              <a:t>Printers</a:t>
            </a:r>
          </a:p>
          <a:p>
            <a:r>
              <a:rPr lang="en-US" dirty="0"/>
              <a:t>A </a:t>
            </a:r>
            <a:r>
              <a:rPr lang="en-US" b="1" dirty="0"/>
              <a:t>nonimpact printer </a:t>
            </a:r>
            <a:r>
              <a:rPr lang="en-US" dirty="0"/>
              <a:t>forms characters </a:t>
            </a:r>
            <a:r>
              <a:rPr lang="en-US" dirty="0" smtClean="0"/>
              <a:t>and graphics </a:t>
            </a:r>
            <a:r>
              <a:rPr lang="en-US" dirty="0"/>
              <a:t>on a piece of paper without </a:t>
            </a:r>
            <a:r>
              <a:rPr lang="en-US" dirty="0" smtClean="0"/>
              <a:t>striking </a:t>
            </a:r>
            <a:r>
              <a:rPr lang="en-US" dirty="0"/>
              <a:t>the paper.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spray ink, while </a:t>
            </a:r>
            <a:r>
              <a:rPr lang="en-US" dirty="0" smtClean="0"/>
              <a:t>others use </a:t>
            </a:r>
            <a:r>
              <a:rPr lang="en-US" dirty="0"/>
              <a:t>heat or pressure to create images.</a:t>
            </a:r>
          </a:p>
          <a:p>
            <a:r>
              <a:rPr lang="en-US" dirty="0"/>
              <a:t>Commonly used nonimpact printers </a:t>
            </a:r>
            <a:r>
              <a:rPr lang="en-US" dirty="0" smtClean="0"/>
              <a:t>are </a:t>
            </a:r>
            <a:r>
              <a:rPr lang="nb-NO" dirty="0" smtClean="0"/>
              <a:t>ink-jet </a:t>
            </a:r>
            <a:r>
              <a:rPr lang="nb-NO" dirty="0"/>
              <a:t>printers, photo printers, laser </a:t>
            </a:r>
            <a:r>
              <a:rPr lang="nb-NO" dirty="0" smtClean="0"/>
              <a:t>printers, </a:t>
            </a:r>
            <a:r>
              <a:rPr lang="en-US" dirty="0" smtClean="0"/>
              <a:t>thermal </a:t>
            </a:r>
            <a:r>
              <a:rPr lang="en-US" dirty="0"/>
              <a:t>printers, mobile printers, label </a:t>
            </a:r>
            <a:r>
              <a:rPr lang="en-US" dirty="0" smtClean="0"/>
              <a:t>and postage </a:t>
            </a:r>
            <a:r>
              <a:rPr lang="en-US" dirty="0"/>
              <a:t>printers, plotters, and </a:t>
            </a:r>
            <a:r>
              <a:rPr lang="en-US" dirty="0" smtClean="0"/>
              <a:t>large-format printers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3708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b="1" dirty="0"/>
              <a:t>Ink-Jet Printers</a:t>
            </a:r>
          </a:p>
          <a:p>
            <a:r>
              <a:rPr lang="en-US" dirty="0"/>
              <a:t>An </a:t>
            </a:r>
            <a:r>
              <a:rPr lang="en-US" b="1" dirty="0"/>
              <a:t>ink-jet printer </a:t>
            </a:r>
            <a:r>
              <a:rPr lang="en-US" dirty="0"/>
              <a:t>is a type of </a:t>
            </a:r>
            <a:r>
              <a:rPr lang="en-US" dirty="0" smtClean="0"/>
              <a:t>nonimpact printer </a:t>
            </a:r>
            <a:r>
              <a:rPr lang="en-US" dirty="0"/>
              <a:t>that forms characters and graphics </a:t>
            </a:r>
            <a:r>
              <a:rPr lang="en-US" dirty="0" smtClean="0"/>
              <a:t>by spraying </a:t>
            </a:r>
            <a:r>
              <a:rPr lang="en-US" dirty="0"/>
              <a:t>tiny drops of liquid ink onto a piece </a:t>
            </a:r>
            <a:r>
              <a:rPr lang="en-US" dirty="0" smtClean="0"/>
              <a:t>of paper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Ink-jet </a:t>
            </a:r>
            <a:r>
              <a:rPr lang="en-US" dirty="0"/>
              <a:t>printers have become a popular </a:t>
            </a:r>
            <a:r>
              <a:rPr lang="en-US" dirty="0" smtClean="0"/>
              <a:t>type of </a:t>
            </a:r>
            <a:r>
              <a:rPr lang="en-US" dirty="0"/>
              <a:t>color </a:t>
            </a:r>
            <a:r>
              <a:rPr lang="en-US" dirty="0" smtClean="0"/>
              <a:t>printer </a:t>
            </a:r>
            <a:r>
              <a:rPr lang="en-US" dirty="0"/>
              <a:t>for use in the home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Companies may </a:t>
            </a:r>
            <a:r>
              <a:rPr lang="en-US" dirty="0"/>
              <a:t>use impact printers for routine jobs </a:t>
            </a:r>
            <a:r>
              <a:rPr lang="en-US" dirty="0" smtClean="0"/>
              <a:t>such </a:t>
            </a:r>
            <a:r>
              <a:rPr lang="en-US" dirty="0"/>
              <a:t>as printing labels. </a:t>
            </a:r>
            <a:endParaRPr lang="en-US" dirty="0" smtClean="0"/>
          </a:p>
          <a:p>
            <a:r>
              <a:rPr lang="en-US" dirty="0" smtClean="0"/>
              <a:t>Impact </a:t>
            </a:r>
            <a:r>
              <a:rPr lang="en-US" dirty="0"/>
              <a:t>printers are ideal </a:t>
            </a:r>
            <a:r>
              <a:rPr lang="en-US" dirty="0" smtClean="0"/>
              <a:t>for printing </a:t>
            </a:r>
            <a:r>
              <a:rPr lang="en-US" dirty="0"/>
              <a:t>multipart forms because they </a:t>
            </a:r>
            <a:r>
              <a:rPr lang="en-US" dirty="0" smtClean="0"/>
              <a:t>easily print </a:t>
            </a:r>
            <a:r>
              <a:rPr lang="en-US" dirty="0"/>
              <a:t>through many layers of paper. </a:t>
            </a:r>
            <a:endParaRPr lang="en-US" dirty="0" smtClean="0"/>
          </a:p>
          <a:p>
            <a:r>
              <a:rPr lang="en-US" dirty="0" smtClean="0"/>
              <a:t>Factories, warehouses</a:t>
            </a:r>
            <a:r>
              <a:rPr lang="en-US" dirty="0"/>
              <a:t>, and retail counters may use </a:t>
            </a:r>
            <a:r>
              <a:rPr lang="en-US" dirty="0" smtClean="0"/>
              <a:t>impact printers </a:t>
            </a:r>
            <a:r>
              <a:rPr lang="en-US" dirty="0"/>
              <a:t>because these printers </a:t>
            </a:r>
            <a:r>
              <a:rPr lang="en-US" dirty="0" smtClean="0"/>
              <a:t>withstand dusty </a:t>
            </a:r>
            <a:r>
              <a:rPr lang="en-US" dirty="0"/>
              <a:t>environments, vibrations, and </a:t>
            </a:r>
            <a:r>
              <a:rPr lang="en-US" dirty="0" smtClean="0"/>
              <a:t>extreme temperatures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Two </a:t>
            </a:r>
            <a:r>
              <a:rPr lang="en-US" dirty="0"/>
              <a:t>commonly used types </a:t>
            </a:r>
            <a:r>
              <a:rPr lang="en-US" dirty="0" smtClean="0"/>
              <a:t>of impact </a:t>
            </a:r>
            <a:r>
              <a:rPr lang="en-US" dirty="0"/>
              <a:t>printers are dot-matrix printers and </a:t>
            </a:r>
            <a:r>
              <a:rPr lang="en-US" dirty="0" smtClean="0"/>
              <a:t>line printers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58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/>
          <a:lstStyle/>
          <a:p>
            <a:r>
              <a:rPr lang="en-US" dirty="0" smtClean="0"/>
              <a:t>Laser printer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High-speed, high-quality nonimpact printer</a:t>
            </a:r>
            <a:r>
              <a:rPr kumimoji="1" lang="en-US" dirty="0">
                <a:solidFill>
                  <a:srgbClr val="000000"/>
                </a:solidFill>
                <a:latin typeface="Arial Unicode MS" pitchFamily="34" charset="-128"/>
              </a:rPr>
              <a:t>.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Prints text and graphics in very high-quality resolution, ranging from 600 to 2,400 dpi</a:t>
            </a:r>
            <a:r>
              <a:rPr kumimoji="1" lang="en-US" dirty="0">
                <a:solidFill>
                  <a:srgbClr val="000000"/>
                </a:solidFill>
                <a:latin typeface="Arial Unicode MS" pitchFamily="34" charset="-128"/>
              </a:rPr>
              <a:t>.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Typically costs more than 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ink-jet printer, but is much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faster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hermal printer</a:t>
            </a:r>
            <a:endParaRPr lang="en-US" dirty="0">
              <a:latin typeface="Arial Unicode MS" pitchFamily="34" charset="-128"/>
            </a:endParaRPr>
          </a:p>
          <a:p>
            <a:pPr marL="609600" lvl="1" indent="-495300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Char char="Ø"/>
            </a:pPr>
            <a:r>
              <a:rPr kumimoji="1" lang="en-US" sz="2600" dirty="0">
                <a:solidFill>
                  <a:srgbClr val="000000"/>
                </a:solidFill>
                <a:latin typeface="Times New Roman" charset="0"/>
              </a:rPr>
              <a:t>Generates images by pushing electrically heated pins against heat-sensitive paper</a:t>
            </a:r>
            <a:endParaRPr kumimoji="1" lang="en-US" sz="2600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1028700" lvl="2" indent="-457200">
              <a:buClr>
                <a:srgbClr val="D94439"/>
              </a:buClr>
              <a:buFont typeface="Wingdings" pitchFamily="2" charset="2"/>
              <a:buChar char="§"/>
            </a:pPr>
            <a:r>
              <a:rPr kumimoji="1" lang="en-US" dirty="0">
                <a:latin typeface="Times New Roman" charset="0"/>
              </a:rPr>
              <a:t>Dye-sublimation printer, (also called a digital photo printer) uses heat to transfer dye to specially coated paper</a:t>
            </a:r>
          </a:p>
          <a:p>
            <a:pPr lvl="1"/>
            <a:endParaRPr lang="en-US" dirty="0" smtClean="0"/>
          </a:p>
          <a:p>
            <a:pPr marL="402336" lvl="1" indent="0">
              <a:buNone/>
            </a:pP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55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/>
          </a:bodyPr>
          <a:lstStyle/>
          <a:p>
            <a:r>
              <a:rPr lang="en-US" dirty="0"/>
              <a:t>Mobile printer</a:t>
            </a:r>
            <a:endParaRPr lang="en-US" dirty="0">
              <a:solidFill>
                <a:schemeClr val="hlink"/>
              </a:solidFill>
            </a:endParaRP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Small, lightweight, battery-powered printer that allows mobile user to print from notebook computer, Tablet PC, or PDA while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traveling</a:t>
            </a:r>
          </a:p>
          <a:p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Label printer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Small printer that prints on adhesive-type material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Most also print bar codes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2"/>
            <a:r>
              <a:rPr kumimoji="1" lang="en-US" dirty="0">
                <a:latin typeface="Times New Roman" charset="0"/>
              </a:rPr>
              <a:t>Postage printer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has built-in digital scale and prints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postage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stamps</a:t>
            </a:r>
            <a:r>
              <a:rPr lang="en-US" dirty="0" smtClean="0"/>
              <a:t>.</a:t>
            </a:r>
            <a:endParaRPr lang="en-US" dirty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520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Plotter</a:t>
            </a:r>
          </a:p>
          <a:p>
            <a:pPr marL="609600" lvl="1" indent="-495300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Char char="Ø"/>
            </a:pP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Sophisticated printer used to produce high-quality drawings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609600" lvl="1" indent="-495300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Char char="Ø"/>
            </a:pPr>
            <a:r>
              <a:rPr kumimoji="1" lang="en-US" dirty="0">
                <a:solidFill>
                  <a:schemeClr val="hlink"/>
                </a:solidFill>
                <a:latin typeface="Times New Roman" charset="0"/>
              </a:rPr>
              <a:t>Large-format printer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 creates photo-realistic-quality color prints</a:t>
            </a:r>
            <a:endParaRPr lang="en-US" dirty="0"/>
          </a:p>
          <a:p>
            <a:r>
              <a:rPr kumimoji="1" lang="en-US" dirty="0">
                <a:latin typeface="Times New Roman" charset="0"/>
              </a:rPr>
              <a:t>Photo printer</a:t>
            </a:r>
            <a:endParaRPr kumimoji="1" lang="en-US" dirty="0">
              <a:latin typeface="Arial Unicode MS" pitchFamily="34" charset="-128"/>
            </a:endParaRP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Color printer that produces photo-lab-quality pictures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.</a:t>
            </a:r>
            <a:endParaRPr lang="en-US" dirty="0" smtClean="0"/>
          </a:p>
          <a:p>
            <a:r>
              <a:rPr lang="en-US" dirty="0" smtClean="0"/>
              <a:t>Wireless printing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Output transmitted to printer wirelessly via infrared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light waves or radio waves</a:t>
            </a:r>
          </a:p>
          <a:p>
            <a:pPr marL="1028700" lvl="2" indent="-457200">
              <a:buClr>
                <a:srgbClr val="D94439"/>
              </a:buClr>
              <a:buFont typeface="Wingdings" pitchFamily="2" charset="2"/>
              <a:buChar char="§"/>
            </a:pPr>
            <a:r>
              <a:rPr kumimoji="1" lang="en-US" dirty="0">
                <a:latin typeface="Times New Roman" charset="0"/>
              </a:rPr>
              <a:t>Bluetooth printing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uses radio waves</a:t>
            </a:r>
          </a:p>
          <a:p>
            <a:pPr marL="1028700" lvl="2" indent="-457200">
              <a:buClr>
                <a:srgbClr val="D94439"/>
              </a:buClr>
              <a:buFont typeface="Wingdings" pitchFamily="2" charset="2"/>
              <a:buChar char="§"/>
            </a:pP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Devices need to be within 30-foot range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169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b="1" dirty="0"/>
              <a:t>Impact Printers</a:t>
            </a:r>
          </a:p>
          <a:p>
            <a:r>
              <a:rPr lang="en-US" dirty="0"/>
              <a:t>An </a:t>
            </a:r>
            <a:r>
              <a:rPr lang="en-US" b="1" dirty="0"/>
              <a:t>impact printer </a:t>
            </a:r>
            <a:r>
              <a:rPr lang="en-US" dirty="0"/>
              <a:t>forms characters </a:t>
            </a:r>
            <a:r>
              <a:rPr lang="en-US" dirty="0" smtClean="0"/>
              <a:t>and graphics </a:t>
            </a:r>
            <a:r>
              <a:rPr lang="en-US" dirty="0"/>
              <a:t>on a piece of paper by striking </a:t>
            </a:r>
            <a:r>
              <a:rPr lang="en-US" dirty="0" smtClean="0"/>
              <a:t>a mechanism </a:t>
            </a:r>
            <a:r>
              <a:rPr lang="en-US" dirty="0"/>
              <a:t>against an inked ribbon </a:t>
            </a:r>
            <a:r>
              <a:rPr lang="en-US" dirty="0" smtClean="0"/>
              <a:t>that physically </a:t>
            </a:r>
            <a:r>
              <a:rPr lang="en-US" dirty="0"/>
              <a:t>contacts the paper. </a:t>
            </a:r>
            <a:endParaRPr lang="en-US" dirty="0" smtClean="0"/>
          </a:p>
          <a:p>
            <a:r>
              <a:rPr lang="en-US" dirty="0" smtClean="0"/>
              <a:t>Impact printers characteristically </a:t>
            </a:r>
            <a:r>
              <a:rPr lang="en-US" dirty="0"/>
              <a:t>are noisy because of </a:t>
            </a:r>
            <a:r>
              <a:rPr lang="en-US" dirty="0" smtClean="0"/>
              <a:t>this striking </a:t>
            </a:r>
            <a:r>
              <a:rPr lang="en-US" dirty="0"/>
              <a:t>activity. </a:t>
            </a:r>
            <a:endParaRPr lang="en-US" dirty="0" smtClean="0"/>
          </a:p>
          <a:p>
            <a:r>
              <a:rPr lang="en-US" dirty="0"/>
              <a:t>Dot-matrix </a:t>
            </a:r>
            <a:r>
              <a:rPr lang="en-US" dirty="0" smtClean="0"/>
              <a:t>printer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Impact printer that produces printed images when tiny wire pins strike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ribbon</a:t>
            </a:r>
            <a:endParaRPr lang="en-US" dirty="0">
              <a:latin typeface="Arial Unicode MS" pitchFamily="34" charset="-128"/>
            </a:endParaRPr>
          </a:p>
          <a:p>
            <a:r>
              <a:rPr kumimoji="1" lang="en-US" dirty="0">
                <a:latin typeface="Times New Roman" charset="0"/>
              </a:rPr>
              <a:t>Line </a:t>
            </a:r>
            <a:r>
              <a:rPr kumimoji="1" lang="en-US" dirty="0" smtClean="0">
                <a:latin typeface="Times New Roman" charset="0"/>
              </a:rPr>
              <a:t>printer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High-speed impact printer that prints entire line at a time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1"/>
            <a:endParaRPr kumimoji="1" lang="en-US" dirty="0">
              <a:latin typeface="Arial Unicode MS" pitchFamily="34" charset="-128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7219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Speakers and Headsets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Audio </a:t>
            </a:r>
            <a:r>
              <a:rPr lang="en-US" dirty="0"/>
              <a:t>output </a:t>
            </a:r>
            <a:r>
              <a:rPr lang="en-US" dirty="0" smtClean="0"/>
              <a:t>device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Computer component that produces music, speech, or other sounds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Speakers and headsets are common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devices.</a:t>
            </a:r>
            <a:endParaRPr lang="en-US" dirty="0" smtClean="0"/>
          </a:p>
          <a:p>
            <a:r>
              <a:rPr kumimoji="1" lang="en-US" dirty="0">
                <a:latin typeface="Times New Roman" charset="0"/>
              </a:rPr>
              <a:t>Voice output </a:t>
            </a:r>
            <a:endParaRPr kumimoji="1" lang="en-US" dirty="0">
              <a:latin typeface="Arial Unicode MS" pitchFamily="34" charset="-128"/>
            </a:endParaRPr>
          </a:p>
          <a:p>
            <a:pPr lvl="1"/>
            <a:r>
              <a:rPr kumimoji="1" lang="en-US" dirty="0">
                <a:latin typeface="Times New Roman" charset="0"/>
              </a:rPr>
              <a:t>Internet telephony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allows you to have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conversation over Web.</a:t>
            </a:r>
            <a:endParaRPr kumimoji="1" lang="en-US" dirty="0">
              <a:solidFill>
                <a:srgbClr val="000000"/>
              </a:solidFill>
              <a:latin typeface="Times New Roman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735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Other 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 projector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2200" dirty="0">
                <a:solidFill>
                  <a:srgbClr val="000000"/>
                </a:solidFill>
                <a:latin typeface="Times New Roman" charset="0"/>
              </a:rPr>
              <a:t>Device that takes image from computer screen and projects it onto larger </a:t>
            </a:r>
            <a:r>
              <a:rPr kumimoji="1" lang="en-US" sz="2200" dirty="0" smtClean="0">
                <a:solidFill>
                  <a:srgbClr val="000000"/>
                </a:solidFill>
                <a:latin typeface="Times New Roman" charset="0"/>
              </a:rPr>
              <a:t>screen</a:t>
            </a:r>
            <a:endParaRPr kumimoji="1" lang="en-US" b="1" dirty="0" smtClean="0">
              <a:latin typeface="Times New Roman" charset="0"/>
            </a:endParaRPr>
          </a:p>
          <a:p>
            <a:r>
              <a:rPr kumimoji="1" lang="en-US" b="1" dirty="0" smtClean="0">
                <a:latin typeface="Times New Roman" charset="0"/>
              </a:rPr>
              <a:t>Facsimile (Fax</a:t>
            </a:r>
            <a:r>
              <a:rPr kumimoji="1" lang="en-US" b="1" dirty="0">
                <a:latin typeface="Times New Roman" charset="0"/>
              </a:rPr>
              <a:t>) </a:t>
            </a:r>
            <a:r>
              <a:rPr kumimoji="1" lang="en-US" b="1" dirty="0" smtClean="0">
                <a:latin typeface="Times New Roman" charset="0"/>
              </a:rPr>
              <a:t>machine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Device that transmits and receives documents over telephone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lines.</a:t>
            </a:r>
            <a:endParaRPr kumimoji="1" lang="en-US" dirty="0" smtClean="0">
              <a:latin typeface="Times New Roman" charset="0"/>
            </a:endParaRPr>
          </a:p>
          <a:p>
            <a:r>
              <a:rPr lang="en-US" b="1" dirty="0" smtClean="0"/>
              <a:t>Fax modem</a:t>
            </a:r>
          </a:p>
          <a:p>
            <a:pPr lvl="1"/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Modem that allows you to send and receive electronic documents as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faxes.</a:t>
            </a:r>
            <a:endParaRPr kumimoji="1" lang="en-US" dirty="0">
              <a:solidFill>
                <a:srgbClr val="000000"/>
              </a:solidFill>
              <a:latin typeface="Times New Roman" charset="0"/>
            </a:endParaRP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2091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effectLst/>
              </a:rPr>
              <a:t>Output Devices for Physically Challenged </a:t>
            </a:r>
            <a:r>
              <a:rPr lang="en-US" sz="4400" b="1" dirty="0" smtClean="0">
                <a:solidFill>
                  <a:schemeClr val="tx1"/>
                </a:solidFill>
                <a:effectLst/>
              </a:rPr>
              <a:t>Users.</a:t>
            </a:r>
            <a:endParaRPr lang="en-US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options are available for visually impaired users?</a:t>
            </a:r>
            <a:endParaRPr lang="en-US" dirty="0">
              <a:latin typeface="Arial Unicode MS" pitchFamily="34" charset="-128"/>
            </a:endParaRP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Windows Magnifier command enlarges text 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and other items on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screen.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Change Window settings,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 such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as increasing size or 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changing color of text to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make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words easier to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read.</a:t>
            </a:r>
          </a:p>
          <a:p>
            <a:pPr marL="596900" lvl="1" indent="-482600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Char char="Ø"/>
            </a:pP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Blind users can work with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voice output.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596900" lvl="1" indent="-482600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Char char="Ø"/>
            </a:pPr>
            <a:r>
              <a:rPr kumimoji="1" lang="en-US" dirty="0">
                <a:latin typeface="Times New Roman" charset="0"/>
              </a:rPr>
              <a:t>Braille printer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outputs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information 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in Braille </a:t>
            </a:r>
            <a:br>
              <a:rPr kumimoji="1" lang="en-US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onto </a:t>
            </a:r>
            <a:r>
              <a:rPr kumimoji="1" lang="en-US" dirty="0" smtClean="0">
                <a:solidFill>
                  <a:srgbClr val="000000"/>
                </a:solidFill>
                <a:latin typeface="Times New Roman" charset="0"/>
              </a:rPr>
              <a:t>paper.</a:t>
            </a: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kumimoji="1"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kumimoji="1" lang="en-US" dirty="0">
              <a:solidFill>
                <a:srgbClr val="000000"/>
              </a:solidFill>
              <a:latin typeface="Times New Roman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980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193</TotalTime>
  <Words>1074</Words>
  <Application>Microsoft Office PowerPoint</Application>
  <PresentationFormat>On-screen Show (4:3)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Unicode MS</vt:lpstr>
      <vt:lpstr>Gill Sans MT</vt:lpstr>
      <vt:lpstr>Times New Roman</vt:lpstr>
      <vt:lpstr>Verdana</vt:lpstr>
      <vt:lpstr>Wingdings</vt:lpstr>
      <vt:lpstr>Wingdings 2</vt:lpstr>
      <vt:lpstr>Solstice</vt:lpstr>
      <vt:lpstr>Output devices </vt:lpstr>
      <vt:lpstr>PowerPoint Presentation</vt:lpstr>
      <vt:lpstr>PowerPoint Presentation</vt:lpstr>
      <vt:lpstr>Display Devices</vt:lpstr>
      <vt:lpstr>PowerPoint Presentation</vt:lpstr>
      <vt:lpstr>PowerPoint Presentation</vt:lpstr>
      <vt:lpstr>CRT Monitors</vt:lpstr>
      <vt:lpstr>Printers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Speakers and Headsets</vt:lpstr>
      <vt:lpstr>Other Output Devices</vt:lpstr>
      <vt:lpstr>Output Devices for Physically Challenged Users.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ismail - [2010]</dc:creator>
  <cp:lastModifiedBy>kondwani</cp:lastModifiedBy>
  <cp:revision>15</cp:revision>
  <dcterms:created xsi:type="dcterms:W3CDTF">2015-04-24T10:10:38Z</dcterms:created>
  <dcterms:modified xsi:type="dcterms:W3CDTF">2015-05-30T04:08:34Z</dcterms:modified>
</cp:coreProperties>
</file>