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C084A78-5A81-4528-97E5-ABC63834A202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BB8AEF1-AFDA-4A70-A461-0907701CB0A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STORAGE MEDIA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7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What is storage?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257800"/>
          </a:xfrm>
        </p:spPr>
        <p:txBody>
          <a:bodyPr>
            <a:normAutofit fontScale="77500" lnSpcReduction="20000"/>
          </a:bodyPr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Holds data, instructions, and information for future use</a:t>
            </a:r>
          </a:p>
          <a:p>
            <a:r>
              <a:rPr kumimoji="1" lang="en-US" b="1" dirty="0">
                <a:solidFill>
                  <a:srgbClr val="D94439"/>
                </a:solidFill>
                <a:latin typeface="Times New Roman" charset="0"/>
              </a:rPr>
              <a:t>Storage medium</a:t>
            </a:r>
            <a:r>
              <a:rPr kumimoji="1" lang="en-US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is physical material used for </a:t>
            </a:r>
            <a:r>
              <a:rPr kumimoji="1" lang="en-US" b="1" dirty="0" smtClean="0">
                <a:solidFill>
                  <a:srgbClr val="000000"/>
                </a:solidFill>
                <a:latin typeface="Times New Roman" charset="0"/>
              </a:rPr>
              <a:t>storage.</a:t>
            </a:r>
          </a:p>
          <a:p>
            <a:pPr lvl="1"/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Also called secondary </a:t>
            </a:r>
            <a:r>
              <a:rPr kumimoji="1" lang="en-US" b="1" dirty="0" smtClean="0">
                <a:solidFill>
                  <a:srgbClr val="000000"/>
                </a:solidFill>
                <a:latin typeface="Times New Roman" charset="0"/>
              </a:rPr>
              <a:t>storage</a:t>
            </a:r>
          </a:p>
          <a:p>
            <a:r>
              <a:rPr lang="en-US" dirty="0"/>
              <a:t>What is </a:t>
            </a:r>
            <a:r>
              <a:rPr lang="en-US" dirty="0">
                <a:solidFill>
                  <a:srgbClr val="D94439"/>
                </a:solidFill>
              </a:rPr>
              <a:t>capacity</a:t>
            </a:r>
            <a:r>
              <a:rPr lang="en-US" dirty="0"/>
              <a:t>?</a:t>
            </a:r>
            <a:endParaRPr lang="en-US" sz="3600" dirty="0">
              <a:latin typeface="Arial Unicode MS" pitchFamily="34" charset="-128"/>
            </a:endParaRP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Number of bytes (characters) a storage medium can </a:t>
            </a:r>
            <a:r>
              <a:rPr kumimoji="1" lang="en-US" b="1" dirty="0" smtClean="0">
                <a:solidFill>
                  <a:srgbClr val="000000"/>
                </a:solidFill>
                <a:latin typeface="Times New Roman" charset="0"/>
              </a:rPr>
              <a:t>hold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Kilobyte (KB) 1 thousand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Megabyte (MB) 1 million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Gigabyte (GB) 1 billion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Terabyte (TB) 1 trillion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Petabyte (PB) 1 quardrillion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Exabyte (EB) 1 quintillion 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Zettabyte (ZB) 1 sextillion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kumimoji="1" lang="da-DK" b="1" dirty="0" smtClean="0">
                <a:solidFill>
                  <a:srgbClr val="000000"/>
                </a:solidFill>
                <a:latin typeface="Times New Roman" charset="0"/>
              </a:rPr>
              <a:t>Yotabyte (YB) 1 septillion</a:t>
            </a:r>
            <a:endParaRPr kumimoji="1" lang="en-US" b="1" dirty="0">
              <a:solidFill>
                <a:srgbClr val="000000"/>
              </a:solidFill>
              <a:latin typeface="Arial Unicode MS" pitchFamily="34" charset="-128"/>
            </a:endParaRPr>
          </a:p>
          <a:p>
            <a:endParaRPr kumimoji="1" lang="en-US" b="1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1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 smtClean="0"/>
              <a:t>Primary storage – data and instructions are loaded into memory such as random access memory.</a:t>
            </a:r>
          </a:p>
          <a:p>
            <a:pPr lvl="1"/>
            <a:r>
              <a:rPr lang="da-DK" dirty="0" smtClean="0"/>
              <a:t>Such storage is temporary</a:t>
            </a:r>
          </a:p>
          <a:p>
            <a:pPr lvl="1"/>
            <a:r>
              <a:rPr lang="da-DK" dirty="0" smtClean="0"/>
              <a:t>Also called Internal memory, main memory, primary memory</a:t>
            </a:r>
          </a:p>
          <a:p>
            <a:pPr lvl="1"/>
            <a:r>
              <a:rPr lang="da-DK" dirty="0" smtClean="0"/>
              <a:t>E.g. Random Access Memory (RAM)</a:t>
            </a:r>
          </a:p>
          <a:p>
            <a:r>
              <a:rPr lang="da-DK" dirty="0" smtClean="0"/>
              <a:t>Secondary storage – floppy disks and hard disks are secondary storage which provides permanent storage.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7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Secondary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dirty="0"/>
              <a:t>S</a:t>
            </a:r>
            <a:r>
              <a:rPr lang="en-US" b="1" i="1" dirty="0" smtClean="0"/>
              <a:t>econdary </a:t>
            </a:r>
            <a:r>
              <a:rPr lang="en-US" b="1" i="1" dirty="0"/>
              <a:t>storage </a:t>
            </a:r>
            <a:r>
              <a:rPr lang="en-US" b="1" i="1" dirty="0" smtClean="0"/>
              <a:t>hardware are </a:t>
            </a:r>
            <a:r>
              <a:rPr lang="en-US" b="1" dirty="0" smtClean="0"/>
              <a:t>devices </a:t>
            </a:r>
            <a:r>
              <a:rPr lang="en-US" b="1" dirty="0"/>
              <a:t>that permanently hold data and information as well as programs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Examples of </a:t>
            </a:r>
            <a:r>
              <a:rPr lang="en-US" dirty="0"/>
              <a:t>secondary storage devices:</a:t>
            </a:r>
          </a:p>
          <a:p>
            <a:pPr lvl="1"/>
            <a:r>
              <a:rPr lang="en-US" dirty="0" smtClean="0"/>
              <a:t>Floppy </a:t>
            </a:r>
            <a:r>
              <a:rPr lang="en-US" dirty="0"/>
              <a:t>disks</a:t>
            </a:r>
          </a:p>
          <a:p>
            <a:pPr lvl="1"/>
            <a:r>
              <a:rPr lang="en-US" dirty="0" smtClean="0"/>
              <a:t>Hard </a:t>
            </a:r>
            <a:r>
              <a:rPr lang="en-US" dirty="0"/>
              <a:t>disks</a:t>
            </a:r>
          </a:p>
          <a:p>
            <a:pPr lvl="1"/>
            <a:r>
              <a:rPr lang="en-US" dirty="0" smtClean="0"/>
              <a:t>Optical </a:t>
            </a:r>
            <a:r>
              <a:rPr lang="en-US" dirty="0"/>
              <a:t>disks</a:t>
            </a:r>
          </a:p>
          <a:p>
            <a:pPr lvl="1"/>
            <a:r>
              <a:rPr lang="en-US" dirty="0" smtClean="0"/>
              <a:t>Magnetic </a:t>
            </a:r>
            <a:r>
              <a:rPr lang="en-US" dirty="0"/>
              <a:t>tape</a:t>
            </a:r>
          </a:p>
          <a:p>
            <a:pPr lvl="1"/>
            <a:r>
              <a:rPr lang="en-US" dirty="0" smtClean="0"/>
              <a:t>Smart </a:t>
            </a:r>
            <a:r>
              <a:rPr lang="en-US" dirty="0"/>
              <a:t>cards</a:t>
            </a:r>
          </a:p>
          <a:p>
            <a:pPr lvl="1"/>
            <a:r>
              <a:rPr lang="en-US" dirty="0" smtClean="0"/>
              <a:t>Flash </a:t>
            </a:r>
            <a:r>
              <a:rPr lang="en-US" dirty="0"/>
              <a:t>memory</a:t>
            </a:r>
          </a:p>
          <a:p>
            <a:pPr lvl="1"/>
            <a:r>
              <a:rPr lang="en-US" dirty="0" smtClean="0"/>
              <a:t>Online </a:t>
            </a:r>
            <a:r>
              <a:rPr lang="en-US" dirty="0"/>
              <a:t>secondary storage</a:t>
            </a:r>
          </a:p>
        </p:txBody>
      </p:sp>
    </p:spTree>
    <p:extLst>
      <p:ext uri="{BB962C8B-B14F-4D97-AF65-F5344CB8AC3E}">
        <p14:creationId xmlns:p14="http://schemas.microsoft.com/office/powerpoint/2010/main" val="111767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762000"/>
            <a:ext cx="7498080" cy="54864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b="1" dirty="0"/>
              <a:t>Floppy </a:t>
            </a:r>
            <a:r>
              <a:rPr lang="en-US" b="1" dirty="0" smtClean="0"/>
              <a:t>Disks</a:t>
            </a:r>
          </a:p>
          <a:p>
            <a:r>
              <a:rPr lang="en-US" dirty="0"/>
              <a:t>F</a:t>
            </a:r>
            <a:r>
              <a:rPr lang="en-US" dirty="0" smtClean="0"/>
              <a:t>loppy </a:t>
            </a:r>
            <a:r>
              <a:rPr lang="en-US" dirty="0"/>
              <a:t>disks are almost obsolete,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ome computers still have an </a:t>
            </a:r>
            <a:r>
              <a:rPr lang="en-US" dirty="0"/>
              <a:t>internal floppy disk drive, </a:t>
            </a:r>
            <a:r>
              <a:rPr lang="en-US" dirty="0" smtClean="0"/>
              <a:t>or </a:t>
            </a:r>
            <a:r>
              <a:rPr lang="en-US" dirty="0"/>
              <a:t>external floppy </a:t>
            </a:r>
            <a:r>
              <a:rPr lang="en-US" dirty="0" smtClean="0"/>
              <a:t>disk drives. </a:t>
            </a:r>
          </a:p>
          <a:p>
            <a:r>
              <a:rPr lang="en-US" dirty="0" smtClean="0"/>
              <a:t>Floppies </a:t>
            </a:r>
            <a:r>
              <a:rPr lang="en-US" dirty="0"/>
              <a:t>are still used for </a:t>
            </a:r>
            <a:r>
              <a:rPr lang="en-US" dirty="0" smtClean="0"/>
              <a:t>emergency boots </a:t>
            </a:r>
            <a:r>
              <a:rPr lang="en-US" dirty="0"/>
              <a:t>in aging systems that may lack support for CD-ROMs </a:t>
            </a:r>
            <a:r>
              <a:rPr lang="en-US" dirty="0" smtClean="0"/>
              <a:t>and USB </a:t>
            </a:r>
            <a:r>
              <a:rPr lang="en-US" dirty="0"/>
              <a:t>devices,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you may come across them in older (</a:t>
            </a:r>
            <a:r>
              <a:rPr lang="en-US" dirty="0" smtClean="0"/>
              <a:t>legacy)computer </a:t>
            </a:r>
            <a:r>
              <a:rPr lang="en-US" dirty="0"/>
              <a:t>systems used by certain companies.</a:t>
            </a:r>
          </a:p>
        </p:txBody>
      </p:sp>
    </p:spTree>
    <p:extLst>
      <p:ext uri="{BB962C8B-B14F-4D97-AF65-F5344CB8AC3E}">
        <p14:creationId xmlns:p14="http://schemas.microsoft.com/office/powerpoint/2010/main" val="32528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i="1" dirty="0"/>
              <a:t>floppy </a:t>
            </a:r>
            <a:r>
              <a:rPr lang="en-US" i="1" dirty="0" smtClean="0"/>
              <a:t>disk also </a:t>
            </a:r>
            <a:r>
              <a:rPr lang="en-US" dirty="0" smtClean="0"/>
              <a:t>called </a:t>
            </a:r>
            <a:r>
              <a:rPr lang="en-US" dirty="0"/>
              <a:t>a </a:t>
            </a:r>
            <a:r>
              <a:rPr lang="en-US" i="1" dirty="0"/>
              <a:t>diskette </a:t>
            </a:r>
            <a:r>
              <a:rPr lang="en-US" dirty="0" smtClean="0"/>
              <a:t>or </a:t>
            </a:r>
            <a:r>
              <a:rPr lang="en-US" dirty="0"/>
              <a:t>a </a:t>
            </a:r>
            <a:r>
              <a:rPr lang="en-US" i="1" dirty="0"/>
              <a:t>disk, </a:t>
            </a:r>
            <a:r>
              <a:rPr lang="en-US" dirty="0"/>
              <a:t>is </a:t>
            </a:r>
            <a:r>
              <a:rPr lang="en-US" dirty="0" smtClean="0"/>
              <a:t>a removable </a:t>
            </a:r>
            <a:r>
              <a:rPr lang="en-US" dirty="0"/>
              <a:t>flat piece of </a:t>
            </a:r>
            <a:r>
              <a:rPr lang="en-US" dirty="0" err="1"/>
              <a:t>mylar</a:t>
            </a:r>
            <a:r>
              <a:rPr lang="en-US" dirty="0"/>
              <a:t> </a:t>
            </a:r>
            <a:r>
              <a:rPr lang="en-US" dirty="0" smtClean="0"/>
              <a:t>plastic </a:t>
            </a:r>
            <a:r>
              <a:rPr lang="en-US" dirty="0"/>
              <a:t>in a </a:t>
            </a:r>
            <a:r>
              <a:rPr lang="en-US" dirty="0" smtClean="0"/>
              <a:t>3.5-inch plastic </a:t>
            </a:r>
            <a:r>
              <a:rPr lang="en-US" dirty="0"/>
              <a:t>case. </a:t>
            </a:r>
            <a:endParaRPr lang="en-US" dirty="0" smtClean="0"/>
          </a:p>
          <a:p>
            <a:pPr lvl="1"/>
            <a:r>
              <a:rPr lang="en-US" i="1" dirty="0"/>
              <a:t>Mylar</a:t>
            </a:r>
            <a:r>
              <a:rPr lang="en-US" dirty="0"/>
              <a:t> is </a:t>
            </a:r>
            <a:r>
              <a:rPr lang="en-US" dirty="0" smtClean="0"/>
              <a:t>used </a:t>
            </a:r>
            <a:r>
              <a:rPr lang="en-US" dirty="0"/>
              <a:t>to </a:t>
            </a:r>
            <a:r>
              <a:rPr lang="en-US" dirty="0" smtClean="0"/>
              <a:t>refer </a:t>
            </a:r>
            <a:r>
              <a:rPr lang="en-US" dirty="0"/>
              <a:t>to polyester film or plastic sheet</a:t>
            </a:r>
            <a:r>
              <a:rPr lang="en-US" dirty="0" smtClean="0"/>
              <a:t>.</a:t>
            </a:r>
          </a:p>
          <a:p>
            <a:pPr lvl="1"/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Thin, circular, flexible film enclosed</a:t>
            </a:r>
            <a:br>
              <a:rPr kumimoji="1" lang="en-US" b="1" dirty="0">
                <a:solidFill>
                  <a:srgbClr val="000000"/>
                </a:solidFill>
                <a:latin typeface="Times New Roman" charset="0"/>
              </a:rPr>
            </a:br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in 3.5” wide plastic </a:t>
            </a:r>
            <a:r>
              <a:rPr kumimoji="1" lang="en-US" b="1" dirty="0" smtClean="0">
                <a:solidFill>
                  <a:srgbClr val="000000"/>
                </a:solidFill>
                <a:latin typeface="Times New Roman" charset="0"/>
              </a:rPr>
              <a:t>shell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and programs are stored on the disk’s </a:t>
            </a:r>
            <a:r>
              <a:rPr lang="en-US" dirty="0" smtClean="0"/>
              <a:t>coating by </a:t>
            </a:r>
            <a:r>
              <a:rPr lang="en-US" dirty="0"/>
              <a:t>means of magnetized spots,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plastic </a:t>
            </a:r>
            <a:r>
              <a:rPr lang="en-US" dirty="0" smtClean="0"/>
              <a:t>case protects </a:t>
            </a:r>
            <a:r>
              <a:rPr lang="en-US" dirty="0"/>
              <a:t>the </a:t>
            </a:r>
            <a:r>
              <a:rPr lang="en-US" dirty="0" err="1"/>
              <a:t>mylar</a:t>
            </a:r>
            <a:r>
              <a:rPr lang="en-US" dirty="0"/>
              <a:t> disk from being touched by human hands.</a:t>
            </a:r>
          </a:p>
          <a:p>
            <a:r>
              <a:rPr lang="en-US" dirty="0" smtClean="0"/>
              <a:t>Originally diskettes </a:t>
            </a:r>
            <a:r>
              <a:rPr lang="en-US" dirty="0"/>
              <a:t>were larger (5.25 inches) and </a:t>
            </a:r>
            <a:r>
              <a:rPr lang="en-US" dirty="0" smtClean="0"/>
              <a:t>covered in </a:t>
            </a:r>
            <a:r>
              <a:rPr lang="en-US" dirty="0"/>
              <a:t>paper,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disks </a:t>
            </a:r>
            <a:r>
              <a:rPr lang="en-US" dirty="0" smtClean="0"/>
              <a:t>were </a:t>
            </a:r>
            <a:r>
              <a:rPr lang="en-US" dirty="0"/>
              <a:t>“floppy”; now only the </a:t>
            </a:r>
            <a:r>
              <a:rPr lang="en-US" dirty="0" smtClean="0"/>
              <a:t>disk inside </a:t>
            </a:r>
            <a:r>
              <a:rPr lang="en-US" dirty="0"/>
              <a:t>the rigid plastic case is flexible, or floppy. </a:t>
            </a:r>
            <a:endParaRPr lang="en-US" dirty="0" smtClean="0"/>
          </a:p>
          <a:p>
            <a:r>
              <a:rPr lang="en-US" dirty="0" smtClean="0"/>
              <a:t>Floppy </a:t>
            </a:r>
            <a:r>
              <a:rPr lang="en-US" dirty="0"/>
              <a:t>disks </a:t>
            </a:r>
            <a:r>
              <a:rPr lang="en-US" dirty="0" smtClean="0"/>
              <a:t>can store about 1.44 </a:t>
            </a:r>
            <a:r>
              <a:rPr lang="en-US" dirty="0"/>
              <a:t>megabytes, the equivalent of 400 typewritten pages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Because of their limited space, they are not frequently used nowadays.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Hard </a:t>
            </a:r>
            <a:r>
              <a:rPr lang="en-US" b="1" dirty="0" smtClean="0"/>
              <a:t>Disks</a:t>
            </a:r>
          </a:p>
          <a:p>
            <a:r>
              <a:rPr lang="en-US" b="1" i="1" dirty="0"/>
              <a:t>Hard </a:t>
            </a:r>
            <a:r>
              <a:rPr lang="en-US" b="1" i="1" dirty="0" smtClean="0"/>
              <a:t>disks </a:t>
            </a:r>
            <a:r>
              <a:rPr lang="en-US" b="1" dirty="0" smtClean="0"/>
              <a:t>are thin rigid </a:t>
            </a:r>
            <a:r>
              <a:rPr lang="en-US" b="1" dirty="0"/>
              <a:t>metal, glass, or ceramic platters covered with a </a:t>
            </a:r>
            <a:r>
              <a:rPr lang="en-US" b="1" dirty="0" smtClean="0"/>
              <a:t>substance that </a:t>
            </a:r>
            <a:r>
              <a:rPr lang="en-US" b="1" dirty="0"/>
              <a:t>allows data to be held in the form of magnetized spots</a:t>
            </a:r>
            <a:r>
              <a:rPr lang="en-US" b="1" dirty="0" smtClean="0"/>
              <a:t>.</a:t>
            </a:r>
            <a:endParaRPr lang="en-US" dirty="0"/>
          </a:p>
          <a:p>
            <a:r>
              <a:rPr lang="en-US" i="1" dirty="0"/>
              <a:t>Hard disk – </a:t>
            </a:r>
            <a:r>
              <a:rPr lang="en-US" dirty="0"/>
              <a:t>are magnetic read / write media. </a:t>
            </a:r>
            <a:endParaRPr lang="en-US" dirty="0" smtClean="0"/>
          </a:p>
          <a:p>
            <a:r>
              <a:rPr lang="en-US" dirty="0" smtClean="0"/>
              <a:t>They have </a:t>
            </a:r>
            <a:r>
              <a:rPr lang="en-US" dirty="0"/>
              <a:t>high capacity and are used as main backing storage for </a:t>
            </a:r>
            <a:r>
              <a:rPr lang="en-US" dirty="0" smtClean="0"/>
              <a:t>all </a:t>
            </a:r>
            <a:r>
              <a:rPr lang="en-US" dirty="0"/>
              <a:t>computer systems. </a:t>
            </a:r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5991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Optical Disks: CDs &amp; </a:t>
            </a:r>
            <a:r>
              <a:rPr lang="en-US" b="1" dirty="0" smtClean="0"/>
              <a:t>DVDs</a:t>
            </a:r>
          </a:p>
          <a:p>
            <a:r>
              <a:rPr lang="en-US" dirty="0"/>
              <a:t>Everyone who has ever played an audio CD is familiar with optical disks. </a:t>
            </a:r>
            <a:endParaRPr lang="en-US" dirty="0" smtClean="0"/>
          </a:p>
          <a:p>
            <a:r>
              <a:rPr lang="en-US" b="1" dirty="0" smtClean="0"/>
              <a:t>An</a:t>
            </a:r>
            <a:r>
              <a:rPr lang="en-US" b="1" dirty="0"/>
              <a:t> </a:t>
            </a:r>
            <a:r>
              <a:rPr lang="en-US" b="1" i="1" dirty="0" smtClean="0"/>
              <a:t>optical </a:t>
            </a:r>
            <a:r>
              <a:rPr lang="en-US" b="1" i="1" dirty="0"/>
              <a:t>disk </a:t>
            </a:r>
            <a:r>
              <a:rPr lang="en-US" b="1" dirty="0"/>
              <a:t>is a removable </a:t>
            </a:r>
            <a:r>
              <a:rPr lang="en-US" b="1" dirty="0" smtClean="0"/>
              <a:t>disk </a:t>
            </a:r>
            <a:r>
              <a:rPr lang="en-US" b="1" dirty="0"/>
              <a:t>4.75 inches in diameter and </a:t>
            </a:r>
            <a:r>
              <a:rPr lang="en-US" b="1" dirty="0" smtClean="0"/>
              <a:t>less </a:t>
            </a:r>
            <a:r>
              <a:rPr lang="en-US" b="1" dirty="0"/>
              <a:t>than one-twentieth of an inch thick, on which data is </a:t>
            </a:r>
            <a:r>
              <a:rPr lang="en-US" b="1" dirty="0" smtClean="0"/>
              <a:t>written and </a:t>
            </a:r>
            <a:r>
              <a:rPr lang="en-US" b="1" dirty="0"/>
              <a:t>read through the use of laser beams. </a:t>
            </a:r>
            <a:endParaRPr lang="en-US" b="1" dirty="0" smtClean="0"/>
          </a:p>
          <a:p>
            <a:r>
              <a:rPr lang="en-US" dirty="0" smtClean="0"/>
              <a:t>An </a:t>
            </a:r>
            <a:r>
              <a:rPr lang="en-US" dirty="0"/>
              <a:t>audio CD holds </a:t>
            </a:r>
            <a:r>
              <a:rPr lang="en-US" dirty="0" smtClean="0"/>
              <a:t>up to </a:t>
            </a:r>
            <a:r>
              <a:rPr lang="en-US" dirty="0"/>
              <a:t>74 minutes (2 billion bits’ worth) of high-fidelity stereo sound.</a:t>
            </a:r>
          </a:p>
          <a:p>
            <a:r>
              <a:rPr lang="en-US" dirty="0"/>
              <a:t>Some optical disks are used strictly for digital data storage, </a:t>
            </a:r>
            <a:endParaRPr lang="en-US" dirty="0" smtClean="0"/>
          </a:p>
          <a:p>
            <a:pPr lvl="1"/>
            <a:r>
              <a:rPr lang="en-US" dirty="0" smtClean="0"/>
              <a:t>but many </a:t>
            </a:r>
            <a:r>
              <a:rPr lang="en-US" dirty="0"/>
              <a:t>are used to distribute multimedia programs that </a:t>
            </a:r>
            <a:r>
              <a:rPr lang="en-US" dirty="0" smtClean="0"/>
              <a:t>combine text</a:t>
            </a:r>
            <a:r>
              <a:rPr lang="en-US" dirty="0"/>
              <a:t>, visuals, and sound.</a:t>
            </a:r>
          </a:p>
        </p:txBody>
      </p:sp>
    </p:spTree>
    <p:extLst>
      <p:ext uri="{BB962C8B-B14F-4D97-AF65-F5344CB8AC3E}">
        <p14:creationId xmlns:p14="http://schemas.microsoft.com/office/powerpoint/2010/main" val="376362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CD-ROM—FOR READING ONLY </a:t>
            </a:r>
            <a:endParaRPr lang="en-US" b="1" dirty="0" smtClean="0"/>
          </a:p>
          <a:p>
            <a:r>
              <a:rPr lang="en-US" dirty="0" smtClean="0"/>
              <a:t>The </a:t>
            </a:r>
            <a:r>
              <a:rPr lang="en-US" dirty="0"/>
              <a:t>first kind of optical disk for </a:t>
            </a:r>
            <a:r>
              <a:rPr lang="en-US" dirty="0" smtClean="0"/>
              <a:t>microcomputers was </a:t>
            </a:r>
            <a:r>
              <a:rPr lang="en-US" dirty="0"/>
              <a:t>the CD-ROM. </a:t>
            </a:r>
            <a:endParaRPr lang="en-US" dirty="0" smtClean="0"/>
          </a:p>
          <a:p>
            <a:r>
              <a:rPr lang="en-US" b="1" i="1" dirty="0" smtClean="0"/>
              <a:t>CD-ROM </a:t>
            </a:r>
            <a:r>
              <a:rPr lang="en-US" b="1" i="1" dirty="0"/>
              <a:t>(compact disk read-only memory) </a:t>
            </a:r>
            <a:r>
              <a:rPr lang="en-US" b="1" dirty="0"/>
              <a:t>is </a:t>
            </a:r>
            <a:r>
              <a:rPr lang="en-US" b="1" dirty="0" smtClean="0"/>
              <a:t>an </a:t>
            </a:r>
            <a:r>
              <a:rPr lang="en-US" b="1" dirty="0"/>
              <a:t>optical-disk format that is used to hold </a:t>
            </a:r>
            <a:r>
              <a:rPr lang="en-US" b="1" dirty="0" smtClean="0"/>
              <a:t>pre-recorded </a:t>
            </a:r>
            <a:r>
              <a:rPr lang="en-US" b="1" dirty="0"/>
              <a:t>text, graphics, </a:t>
            </a:r>
            <a:r>
              <a:rPr lang="en-US" b="1" dirty="0" smtClean="0"/>
              <a:t>and sound</a:t>
            </a:r>
            <a:r>
              <a:rPr lang="en-US" b="1" dirty="0"/>
              <a:t>. </a:t>
            </a:r>
            <a:endParaRPr lang="en-US" b="1" dirty="0" smtClean="0"/>
          </a:p>
          <a:p>
            <a:r>
              <a:rPr lang="en-US" dirty="0" smtClean="0"/>
              <a:t>Like </a:t>
            </a:r>
            <a:r>
              <a:rPr lang="en-US" dirty="0"/>
              <a:t>music CDs, a CD-ROM is a read-only disk. </a:t>
            </a:r>
            <a:endParaRPr lang="en-US" dirty="0" smtClean="0"/>
          </a:p>
          <a:p>
            <a:r>
              <a:rPr lang="en-US" i="1" dirty="0" smtClean="0"/>
              <a:t>Read-only </a:t>
            </a:r>
            <a:r>
              <a:rPr lang="en-US" dirty="0"/>
              <a:t>means </a:t>
            </a:r>
            <a:r>
              <a:rPr lang="en-US" dirty="0" smtClean="0"/>
              <a:t>the disk’s </a:t>
            </a:r>
            <a:r>
              <a:rPr lang="en-US" dirty="0"/>
              <a:t>content is recorded at the time of manufacture and cannot be written </a:t>
            </a:r>
            <a:r>
              <a:rPr lang="en-US" dirty="0" smtClean="0"/>
              <a:t>on or </a:t>
            </a:r>
            <a:r>
              <a:rPr lang="en-US" dirty="0"/>
              <a:t>erased by the user.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the user, you have access only to the data </a:t>
            </a:r>
            <a:r>
              <a:rPr lang="en-US" dirty="0" smtClean="0"/>
              <a:t>imprinted by </a:t>
            </a:r>
            <a:r>
              <a:rPr lang="en-US" dirty="0"/>
              <a:t>the disk’s manufacturer.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CD-ROM disk can hold up to 650 megabytes </a:t>
            </a:r>
            <a:r>
              <a:rPr lang="en-US" dirty="0" smtClean="0"/>
              <a:t>of data</a:t>
            </a:r>
            <a:r>
              <a:rPr lang="en-US" dirty="0"/>
              <a:t>, equal to over 300,000 pages of text.</a:t>
            </a:r>
          </a:p>
        </p:txBody>
      </p:sp>
    </p:spTree>
    <p:extLst>
      <p:ext uri="{BB962C8B-B14F-4D97-AF65-F5344CB8AC3E}">
        <p14:creationId xmlns:p14="http://schemas.microsoft.com/office/powerpoint/2010/main" val="274578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CD-R—FOR RECORDING ONLY ONCE </a:t>
            </a:r>
            <a:r>
              <a:rPr lang="en-US" b="1" i="1" dirty="0"/>
              <a:t>CD-R (compact disk–recordable)</a:t>
            </a:r>
          </a:p>
          <a:p>
            <a:r>
              <a:rPr lang="en-US" b="1" i="1" dirty="0"/>
              <a:t>disks </a:t>
            </a:r>
            <a:r>
              <a:rPr lang="en-US" b="1" dirty="0"/>
              <a:t>can be written to only once but can be read many times. </a:t>
            </a:r>
            <a:endParaRPr lang="en-US" b="1" dirty="0" smtClean="0"/>
          </a:p>
          <a:p>
            <a:r>
              <a:rPr lang="en-US" dirty="0" smtClean="0"/>
              <a:t>This allows users </a:t>
            </a:r>
            <a:r>
              <a:rPr lang="en-US" dirty="0"/>
              <a:t>to make their own CD disks. </a:t>
            </a:r>
            <a:endParaRPr lang="en-US" dirty="0" smtClean="0"/>
          </a:p>
          <a:p>
            <a:r>
              <a:rPr lang="en-US" dirty="0" smtClean="0"/>
              <a:t>Once </a:t>
            </a:r>
            <a:r>
              <a:rPr lang="en-US" dirty="0"/>
              <a:t>recorded, the information cannot </a:t>
            </a:r>
            <a:r>
              <a:rPr lang="en-US" dirty="0" smtClean="0"/>
              <a:t>be erased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CD-R </a:t>
            </a:r>
            <a:r>
              <a:rPr lang="en-US" dirty="0"/>
              <a:t>is often used by companies for archiving—that is, to store </a:t>
            </a:r>
            <a:r>
              <a:rPr lang="en-US" dirty="0" smtClean="0"/>
              <a:t>huge amounts </a:t>
            </a:r>
            <a:r>
              <a:rPr lang="en-US" dirty="0"/>
              <a:t>of information.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you’re still using a film camera, for example, </a:t>
            </a:r>
            <a:r>
              <a:rPr lang="en-US" dirty="0" smtClean="0"/>
              <a:t>once you’ve </a:t>
            </a:r>
            <a:r>
              <a:rPr lang="en-US" dirty="0"/>
              <a:t>shot a roll of color film, you can take it for processing to a photo </a:t>
            </a:r>
            <a:r>
              <a:rPr lang="en-US" dirty="0" smtClean="0"/>
              <a:t>shop, which </a:t>
            </a:r>
            <a:r>
              <a:rPr lang="en-US" dirty="0"/>
              <a:t>can produce a disk containing your images.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view the disk </a:t>
            </a:r>
            <a:r>
              <a:rPr lang="en-US" dirty="0" smtClean="0"/>
              <a:t>on any </a:t>
            </a:r>
            <a:r>
              <a:rPr lang="en-US" dirty="0"/>
              <a:t>personal computer with a CD-ROM drive and the right software.</a:t>
            </a:r>
          </a:p>
        </p:txBody>
      </p:sp>
    </p:spTree>
    <p:extLst>
      <p:ext uri="{BB962C8B-B14F-4D97-AF65-F5344CB8AC3E}">
        <p14:creationId xmlns:p14="http://schemas.microsoft.com/office/powerpoint/2010/main" val="380685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CD-RW—FOR REWRITING MANY TIMES A </a:t>
            </a:r>
            <a:r>
              <a:rPr lang="en-US" b="1" i="1" dirty="0"/>
              <a:t>CD-RW (compact disk–rewritable)</a:t>
            </a:r>
          </a:p>
          <a:p>
            <a:r>
              <a:rPr lang="en-US" b="1" i="1" dirty="0"/>
              <a:t>disk, </a:t>
            </a:r>
            <a:r>
              <a:rPr lang="en-US" b="1" dirty="0"/>
              <a:t>also known as an </a:t>
            </a:r>
            <a:r>
              <a:rPr lang="en-US" b="1" i="1" dirty="0"/>
              <a:t>erasable optical disk, </a:t>
            </a:r>
            <a:r>
              <a:rPr lang="en-US" b="1" dirty="0"/>
              <a:t>allows users to record </a:t>
            </a:r>
            <a:r>
              <a:rPr lang="en-US" b="1" dirty="0" smtClean="0"/>
              <a:t>and erase </a:t>
            </a:r>
            <a:r>
              <a:rPr lang="en-US" b="1" dirty="0"/>
              <a:t>data, so the disk can be used over and over again. </a:t>
            </a:r>
            <a:endParaRPr lang="en-US" b="1" dirty="0" smtClean="0"/>
          </a:p>
          <a:p>
            <a:r>
              <a:rPr lang="en-US" dirty="0" smtClean="0"/>
              <a:t>CD-RW drives are </a:t>
            </a:r>
            <a:r>
              <a:rPr lang="en-US" dirty="0"/>
              <a:t>becoming more common on microcomputers. </a:t>
            </a:r>
            <a:endParaRPr lang="en-US" dirty="0" smtClean="0"/>
          </a:p>
          <a:p>
            <a:r>
              <a:rPr lang="en-US" dirty="0" smtClean="0"/>
              <a:t>CD-RW </a:t>
            </a:r>
            <a:r>
              <a:rPr lang="en-US" dirty="0"/>
              <a:t>disks are </a:t>
            </a:r>
            <a:r>
              <a:rPr lang="en-US" dirty="0" smtClean="0"/>
              <a:t>useful for </a:t>
            </a:r>
            <a:r>
              <a:rPr lang="en-US" dirty="0"/>
              <a:t>archiving and backing up large amounts of data or work in </a:t>
            </a:r>
            <a:r>
              <a:rPr lang="en-US" dirty="0" smtClean="0"/>
              <a:t>multimedia production </a:t>
            </a:r>
            <a:r>
              <a:rPr lang="en-US" dirty="0"/>
              <a:t>or desktop publishing. </a:t>
            </a:r>
            <a:endParaRPr lang="en-US" dirty="0" smtClean="0"/>
          </a:p>
          <a:p>
            <a:r>
              <a:rPr lang="en-US" dirty="0" smtClean="0"/>
              <a:t>CD-RW </a:t>
            </a:r>
            <a:r>
              <a:rPr lang="en-US" dirty="0"/>
              <a:t>disks cannot be read by </a:t>
            </a:r>
            <a:r>
              <a:rPr lang="en-US" dirty="0" smtClean="0"/>
              <a:t>CD-ROM drives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CD-RW </a:t>
            </a:r>
            <a:r>
              <a:rPr lang="en-US" dirty="0"/>
              <a:t>disks </a:t>
            </a:r>
            <a:r>
              <a:rPr lang="en-US" dirty="0" smtClean="0"/>
              <a:t>some have </a:t>
            </a:r>
            <a:r>
              <a:rPr lang="en-US" dirty="0"/>
              <a:t>a capacity of 650–700 megabytes.</a:t>
            </a:r>
          </a:p>
        </p:txBody>
      </p:sp>
    </p:spTree>
    <p:extLst>
      <p:ext uri="{BB962C8B-B14F-4D97-AF65-F5344CB8AC3E}">
        <p14:creationId xmlns:p14="http://schemas.microsoft.com/office/powerpoint/2010/main" val="86669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nn-NO" b="1" dirty="0" smtClean="0"/>
              <a:t>DVD-ROM — THE </a:t>
            </a:r>
            <a:r>
              <a:rPr lang="nn-NO" b="1" dirty="0"/>
              <a:t>VERSATILE VIDEO DISK A </a:t>
            </a:r>
            <a:r>
              <a:rPr lang="nn-NO" b="1" i="1" dirty="0"/>
              <a:t>DVD-ROM </a:t>
            </a:r>
            <a:endParaRPr lang="nn-NO" b="1" i="1" dirty="0" smtClean="0"/>
          </a:p>
          <a:p>
            <a:pPr marL="82296" indent="0">
              <a:buNone/>
            </a:pPr>
            <a:r>
              <a:rPr lang="nn-NO" b="1" i="1" dirty="0" smtClean="0"/>
              <a:t>(</a:t>
            </a:r>
            <a:r>
              <a:rPr lang="nn-NO" b="1" i="1" dirty="0"/>
              <a:t>digital versatile </a:t>
            </a:r>
            <a:r>
              <a:rPr lang="nn-NO" b="1" i="1" dirty="0" smtClean="0"/>
              <a:t>disk </a:t>
            </a:r>
            <a:r>
              <a:rPr lang="en-US" b="1" dirty="0" smtClean="0"/>
              <a:t>or </a:t>
            </a:r>
            <a:r>
              <a:rPr lang="en-US" b="1" i="1" dirty="0"/>
              <a:t>digital video disk, with read-only memory) </a:t>
            </a:r>
            <a:r>
              <a:rPr lang="en-US" b="1" dirty="0"/>
              <a:t>is a CD-style disk </a:t>
            </a:r>
            <a:r>
              <a:rPr lang="en-US" b="1" dirty="0" smtClean="0"/>
              <a:t>with extremely </a:t>
            </a:r>
            <a:r>
              <a:rPr lang="en-US" b="1" dirty="0"/>
              <a:t>high capacity, able to store 9.4 or more gigabytes.</a:t>
            </a:r>
          </a:p>
          <a:p>
            <a:r>
              <a:rPr lang="en-US" dirty="0" smtClean="0"/>
              <a:t>Like </a:t>
            </a:r>
            <a:r>
              <a:rPr lang="en-US" dirty="0"/>
              <a:t>a CD or CD-ROM, the surface of a </a:t>
            </a:r>
            <a:r>
              <a:rPr lang="en-US" dirty="0" smtClean="0"/>
              <a:t>DVD contains </a:t>
            </a:r>
            <a:r>
              <a:rPr lang="en-US" dirty="0"/>
              <a:t>microscopic pits, which represent the 0s and 1s of </a:t>
            </a:r>
            <a:r>
              <a:rPr lang="en-US" dirty="0" smtClean="0"/>
              <a:t>digital code </a:t>
            </a:r>
            <a:r>
              <a:rPr lang="en-US" dirty="0"/>
              <a:t>that can be read by a laser.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pits on the DVD, </a:t>
            </a:r>
            <a:r>
              <a:rPr lang="en-US" dirty="0" smtClean="0"/>
              <a:t>are much </a:t>
            </a:r>
            <a:r>
              <a:rPr lang="en-US" dirty="0"/>
              <a:t>smaller and grouped more closely together than those on </a:t>
            </a:r>
            <a:r>
              <a:rPr lang="en-US" dirty="0" smtClean="0"/>
              <a:t>a CD</a:t>
            </a:r>
            <a:r>
              <a:rPr lang="en-US" dirty="0"/>
              <a:t>, allowing far more information to be represented</a:t>
            </a:r>
            <a:r>
              <a:rPr lang="en-US" dirty="0" smtClean="0"/>
              <a:t>.</a:t>
            </a:r>
          </a:p>
          <a:p>
            <a:r>
              <a:rPr lang="en-US" dirty="0"/>
              <a:t>Also, the </a:t>
            </a:r>
            <a:r>
              <a:rPr lang="en-US" dirty="0" smtClean="0"/>
              <a:t>laser beam </a:t>
            </a:r>
            <a:r>
              <a:rPr lang="en-US" dirty="0"/>
              <a:t>used focuses on pits roughly half the size of those on </a:t>
            </a:r>
            <a:r>
              <a:rPr lang="en-US" dirty="0" smtClean="0"/>
              <a:t>current audio </a:t>
            </a:r>
            <a:r>
              <a:rPr lang="en-US" dirty="0"/>
              <a:t>CDs.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addition, </a:t>
            </a:r>
            <a:r>
              <a:rPr lang="en-US" dirty="0" smtClean="0"/>
              <a:t>DVD </a:t>
            </a:r>
            <a:r>
              <a:rPr lang="en-US" dirty="0"/>
              <a:t>format allows for two layers of </a:t>
            </a:r>
            <a:r>
              <a:rPr lang="en-US" dirty="0" smtClean="0"/>
              <a:t>data-defining pits</a:t>
            </a:r>
            <a:r>
              <a:rPr lang="en-US" dirty="0"/>
              <a:t>, not just one. </a:t>
            </a:r>
            <a:endParaRPr lang="en-US" dirty="0" smtClean="0"/>
          </a:p>
          <a:p>
            <a:r>
              <a:rPr lang="en-US" dirty="0" smtClean="0"/>
              <a:t>Finally</a:t>
            </a:r>
            <a:r>
              <a:rPr lang="en-US" dirty="0"/>
              <a:t>, engineers have succeeded in squeezing more </a:t>
            </a:r>
            <a:r>
              <a:rPr lang="en-US" dirty="0" smtClean="0"/>
              <a:t>data into </a:t>
            </a:r>
            <a:r>
              <a:rPr lang="en-US" dirty="0"/>
              <a:t>fewer pits, principally </a:t>
            </a:r>
            <a:r>
              <a:rPr lang="en-US" dirty="0" smtClean="0"/>
              <a:t>through data </a:t>
            </a:r>
            <a:r>
              <a:rPr lang="en-US" dirty="0"/>
              <a:t>compression.</a:t>
            </a:r>
          </a:p>
        </p:txBody>
      </p:sp>
    </p:spTree>
    <p:extLst>
      <p:ext uri="{BB962C8B-B14F-4D97-AF65-F5344CB8AC3E}">
        <p14:creationId xmlns:p14="http://schemas.microsoft.com/office/powerpoint/2010/main" val="43885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DVD-R—recordable DVDs: </a:t>
            </a:r>
            <a:endParaRPr lang="en-US" b="1" i="1" dirty="0"/>
          </a:p>
          <a:p>
            <a:pPr marL="82296" indent="0">
              <a:buNone/>
            </a:pPr>
            <a:r>
              <a:rPr lang="en-US" b="1" i="1" dirty="0" smtClean="0"/>
              <a:t>(DVD-recordable</a:t>
            </a:r>
            <a:r>
              <a:rPr lang="en-US" b="1" i="1" dirty="0"/>
              <a:t>) disks </a:t>
            </a:r>
            <a:r>
              <a:rPr lang="en-US" b="1" dirty="0"/>
              <a:t>allow </a:t>
            </a:r>
            <a:r>
              <a:rPr lang="en-US" b="1" dirty="0" smtClean="0"/>
              <a:t>onetime recording </a:t>
            </a:r>
            <a:r>
              <a:rPr lang="en-US" b="1" dirty="0"/>
              <a:t>by the user. </a:t>
            </a:r>
            <a:endParaRPr lang="en-US" b="1" dirty="0" smtClean="0"/>
          </a:p>
          <a:p>
            <a:r>
              <a:rPr lang="en-US" dirty="0" smtClean="0"/>
              <a:t>That </a:t>
            </a:r>
            <a:r>
              <a:rPr lang="en-US" dirty="0"/>
              <a:t>is, they cannot be reused—written </a:t>
            </a:r>
            <a:r>
              <a:rPr lang="en-US" dirty="0" smtClean="0"/>
              <a:t>on more </a:t>
            </a:r>
            <a:r>
              <a:rPr lang="en-US" dirty="0"/>
              <a:t>than once.</a:t>
            </a:r>
          </a:p>
          <a:p>
            <a:pPr marL="82296" indent="0">
              <a:buNone/>
            </a:pPr>
            <a:r>
              <a:rPr lang="en-US" b="1" dirty="0" smtClean="0"/>
              <a:t>DVD-RW</a:t>
            </a:r>
            <a:r>
              <a:rPr lang="en-US" b="1" dirty="0"/>
              <a:t>, DVD-RAM, DVD </a:t>
            </a:r>
            <a:r>
              <a:rPr lang="en-US" dirty="0"/>
              <a:t> </a:t>
            </a:r>
            <a:r>
              <a:rPr lang="en-US" b="1" dirty="0"/>
              <a:t>RW—reusable DVDs: </a:t>
            </a:r>
            <a:endParaRPr lang="en-US" b="1" dirty="0" smtClean="0"/>
          </a:p>
          <a:p>
            <a:r>
              <a:rPr lang="en-US" dirty="0" smtClean="0"/>
              <a:t>Three </a:t>
            </a:r>
            <a:r>
              <a:rPr lang="en-US" dirty="0"/>
              <a:t>types </a:t>
            </a:r>
            <a:r>
              <a:rPr lang="en-US" dirty="0" smtClean="0"/>
              <a:t>of reusable </a:t>
            </a:r>
            <a:r>
              <a:rPr lang="en-US" dirty="0"/>
              <a:t>disks are </a:t>
            </a:r>
            <a:endParaRPr lang="en-US" dirty="0" smtClean="0"/>
          </a:p>
          <a:p>
            <a:pPr lvl="1"/>
            <a:r>
              <a:rPr lang="en-US" i="1" dirty="0" smtClean="0"/>
              <a:t>DVD-RW </a:t>
            </a:r>
            <a:r>
              <a:rPr lang="en-US" i="1" dirty="0"/>
              <a:t>(DVD-rewritable), </a:t>
            </a:r>
            <a:endParaRPr lang="en-US" i="1" dirty="0" smtClean="0"/>
          </a:p>
          <a:p>
            <a:pPr lvl="1"/>
            <a:r>
              <a:rPr lang="en-US" i="1" dirty="0" smtClean="0"/>
              <a:t>DVD-RAM </a:t>
            </a:r>
            <a:r>
              <a:rPr lang="en-US" i="1" dirty="0"/>
              <a:t>(</a:t>
            </a:r>
            <a:r>
              <a:rPr lang="en-US" i="1" dirty="0" smtClean="0"/>
              <a:t>DVD–random access </a:t>
            </a:r>
            <a:r>
              <a:rPr lang="en-US" i="1" dirty="0"/>
              <a:t>memory), </a:t>
            </a:r>
            <a:r>
              <a:rPr lang="en-US" dirty="0"/>
              <a:t>and </a:t>
            </a:r>
            <a:endParaRPr lang="en-US" dirty="0" smtClean="0"/>
          </a:p>
          <a:p>
            <a:pPr lvl="1"/>
            <a:r>
              <a:rPr lang="en-US" i="1" dirty="0" smtClean="0"/>
              <a:t>DVD </a:t>
            </a:r>
            <a:r>
              <a:rPr lang="en-US" dirty="0" smtClean="0"/>
              <a:t> </a:t>
            </a:r>
            <a:r>
              <a:rPr lang="en-US" i="1" dirty="0"/>
              <a:t>RW </a:t>
            </a:r>
            <a:r>
              <a:rPr lang="en-US" dirty="0"/>
              <a:t>( </a:t>
            </a:r>
            <a:r>
              <a:rPr lang="en-US" i="1" dirty="0"/>
              <a:t>DVD </a:t>
            </a:r>
            <a:r>
              <a:rPr lang="en-US" dirty="0"/>
              <a:t> </a:t>
            </a:r>
            <a:r>
              <a:rPr lang="en-US" i="1" dirty="0"/>
              <a:t>rewritable </a:t>
            </a:r>
            <a:r>
              <a:rPr lang="en-US" dirty="0"/>
              <a:t>), all of which can </a:t>
            </a:r>
            <a:r>
              <a:rPr lang="en-US" dirty="0" smtClean="0"/>
              <a:t>be recorded </a:t>
            </a:r>
            <a:r>
              <a:rPr lang="en-US" dirty="0"/>
              <a:t>on and erased (except for video) many times. </a:t>
            </a:r>
            <a:endParaRPr lang="en-US" dirty="0" smtClean="0"/>
          </a:p>
          <a:p>
            <a:pPr lvl="1"/>
            <a:r>
              <a:rPr lang="en-US" dirty="0" smtClean="0"/>
              <a:t>DVD-R </a:t>
            </a:r>
            <a:r>
              <a:rPr lang="en-US" dirty="0"/>
              <a:t>disks have </a:t>
            </a:r>
            <a:r>
              <a:rPr lang="en-US" dirty="0" smtClean="0"/>
              <a:t>a capacity </a:t>
            </a:r>
            <a:r>
              <a:rPr lang="en-US" dirty="0"/>
              <a:t>of 4.7 (single-sided) to 9.4 (double-sided) gigabytes.</a:t>
            </a:r>
          </a:p>
        </p:txBody>
      </p:sp>
    </p:spTree>
    <p:extLst>
      <p:ext uri="{BB962C8B-B14F-4D97-AF65-F5344CB8AC3E}">
        <p14:creationId xmlns:p14="http://schemas.microsoft.com/office/powerpoint/2010/main" val="3251377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/>
              <a:t>Magnetic Tape</a:t>
            </a:r>
          </a:p>
          <a:p>
            <a:r>
              <a:rPr lang="en-US" dirty="0" smtClean="0"/>
              <a:t>Similar </a:t>
            </a:r>
            <a:r>
              <a:rPr lang="en-US" dirty="0"/>
              <a:t>to </a:t>
            </a:r>
            <a:r>
              <a:rPr lang="en-US" dirty="0" smtClean="0"/>
              <a:t>tapes </a:t>
            </a:r>
            <a:r>
              <a:rPr lang="en-US" dirty="0"/>
              <a:t>used on an audio tape recorder (but of higher density),</a:t>
            </a:r>
          </a:p>
          <a:p>
            <a:r>
              <a:rPr lang="en-US" b="1" i="1" dirty="0"/>
              <a:t>magnetic tape </a:t>
            </a:r>
            <a:r>
              <a:rPr lang="en-US" b="1" dirty="0"/>
              <a:t>is thin plastic tape coated with a substance that can </a:t>
            </a:r>
            <a:r>
              <a:rPr lang="en-US" b="1" dirty="0" smtClean="0"/>
              <a:t>be magnetized</a:t>
            </a:r>
            <a:r>
              <a:rPr lang="en-US" b="1" dirty="0"/>
              <a:t>. </a:t>
            </a:r>
            <a:endParaRPr lang="en-US" b="1" dirty="0" smtClean="0"/>
          </a:p>
          <a:p>
            <a:r>
              <a:rPr lang="en-US" b="1" dirty="0" smtClean="0"/>
              <a:t>Data </a:t>
            </a:r>
            <a:r>
              <a:rPr lang="en-US" b="1" dirty="0"/>
              <a:t>is represented by magnetized spots (representing 1s</a:t>
            </a:r>
            <a:r>
              <a:rPr lang="en-US" b="1" dirty="0" smtClean="0"/>
              <a:t>) </a:t>
            </a:r>
            <a:r>
              <a:rPr lang="en-US" b="1" dirty="0"/>
              <a:t>or </a:t>
            </a:r>
            <a:r>
              <a:rPr lang="en-US" b="1" dirty="0" smtClean="0"/>
              <a:t>non magnetized </a:t>
            </a:r>
            <a:r>
              <a:rPr lang="en-US" b="1" dirty="0"/>
              <a:t>spots (representing 0s). </a:t>
            </a:r>
            <a:endParaRPr lang="en-US" b="1" dirty="0" smtClean="0"/>
          </a:p>
          <a:p>
            <a:r>
              <a:rPr lang="en-US" dirty="0" smtClean="0"/>
              <a:t>Today</a:t>
            </a:r>
            <a:r>
              <a:rPr lang="en-US" dirty="0"/>
              <a:t>, “mag tape” is used </a:t>
            </a:r>
            <a:r>
              <a:rPr lang="en-US" dirty="0" smtClean="0"/>
              <a:t>for </a:t>
            </a:r>
            <a:r>
              <a:rPr lang="en-US" dirty="0"/>
              <a:t>backup and archiving—that is, for maintaining historical </a:t>
            </a:r>
            <a:r>
              <a:rPr lang="en-US" dirty="0" smtClean="0"/>
              <a:t>records—where there </a:t>
            </a:r>
            <a:r>
              <a:rPr lang="en-US" dirty="0"/>
              <a:t>is no need for quick access.</a:t>
            </a:r>
          </a:p>
        </p:txBody>
      </p:sp>
    </p:spTree>
    <p:extLst>
      <p:ext uri="{BB962C8B-B14F-4D97-AF65-F5344CB8AC3E}">
        <p14:creationId xmlns:p14="http://schemas.microsoft.com/office/powerpoint/2010/main" val="354881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On large computers, tapes are used on magnetic-tape units or reels and </a:t>
            </a:r>
            <a:r>
              <a:rPr lang="en-US" dirty="0" smtClean="0"/>
              <a:t>in special </a:t>
            </a:r>
            <a:r>
              <a:rPr lang="en-US" dirty="0"/>
              <a:t>cartridges.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tapes offer terabytes of storage. </a:t>
            </a:r>
            <a:endParaRPr lang="en-US" dirty="0" smtClean="0"/>
          </a:p>
          <a:p>
            <a:r>
              <a:rPr lang="en-US" dirty="0" smtClean="0"/>
              <a:t>On microcomputers, tape </a:t>
            </a:r>
            <a:r>
              <a:rPr lang="en-US" dirty="0"/>
              <a:t>is used in the form of </a:t>
            </a:r>
            <a:r>
              <a:rPr lang="en-US" b="1" i="1" dirty="0"/>
              <a:t>tape cartridges, </a:t>
            </a:r>
            <a:r>
              <a:rPr lang="en-US" b="1" dirty="0"/>
              <a:t>modules resembling </a:t>
            </a:r>
            <a:r>
              <a:rPr lang="en-US" b="1" dirty="0" smtClean="0"/>
              <a:t>audiocassettes that </a:t>
            </a:r>
            <a:r>
              <a:rPr lang="en-US" b="1" dirty="0"/>
              <a:t>contain tape in rectangular, plastic housings. </a:t>
            </a:r>
            <a:endParaRPr lang="en-US" b="1" dirty="0" smtClean="0"/>
          </a:p>
          <a:p>
            <a:r>
              <a:rPr lang="en-US" dirty="0" smtClean="0"/>
              <a:t>These cartridges can </a:t>
            </a:r>
            <a:r>
              <a:rPr lang="en-US" dirty="0"/>
              <a:t>store up to 3.2 gigabytes;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groups, or arrays, they can store up to </a:t>
            </a:r>
            <a:r>
              <a:rPr lang="en-US" dirty="0" smtClean="0"/>
              <a:t>about 1.6 </a:t>
            </a:r>
            <a:r>
              <a:rPr lang="en-US" dirty="0"/>
              <a:t>terabytes.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two most common types of tape drives are DAT (</a:t>
            </a:r>
            <a:r>
              <a:rPr lang="en-US" dirty="0" smtClean="0"/>
              <a:t>digital audio </a:t>
            </a:r>
            <a:r>
              <a:rPr lang="en-US" dirty="0"/>
              <a:t>tape) from Hewlett-Packard, Sony, and Maxwell, for example, and </a:t>
            </a:r>
            <a:r>
              <a:rPr lang="en-US" dirty="0" err="1" smtClean="0"/>
              <a:t>Travan</a:t>
            </a:r>
            <a:r>
              <a:rPr lang="en-US" dirty="0"/>
              <a:t> </a:t>
            </a:r>
            <a:r>
              <a:rPr lang="en-US" dirty="0" smtClean="0"/>
              <a:t>TR-3</a:t>
            </a:r>
            <a:r>
              <a:rPr lang="en-US" dirty="0"/>
              <a:t>. </a:t>
            </a:r>
            <a:r>
              <a:rPr lang="en-US" i="1" dirty="0"/>
              <a:t>(• See Panel 4.19. </a:t>
            </a:r>
            <a:r>
              <a:rPr lang="en-US" dirty="0"/>
              <a:t>) An internal or external tape drive is required </a:t>
            </a:r>
            <a:r>
              <a:rPr lang="en-US" dirty="0" smtClean="0"/>
              <a:t>to use </a:t>
            </a:r>
            <a:r>
              <a:rPr lang="en-US" dirty="0"/>
              <a:t>tape media.</a:t>
            </a:r>
          </a:p>
        </p:txBody>
      </p:sp>
    </p:spTree>
    <p:extLst>
      <p:ext uri="{BB962C8B-B14F-4D97-AF65-F5344CB8AC3E}">
        <p14:creationId xmlns:p14="http://schemas.microsoft.com/office/powerpoint/2010/main" val="2952030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b="1" dirty="0"/>
              <a:t>SMART CARDS </a:t>
            </a:r>
            <a:endParaRPr lang="en-US" b="1" dirty="0" smtClean="0"/>
          </a:p>
          <a:p>
            <a:r>
              <a:rPr lang="en-US" b="1" dirty="0" smtClean="0"/>
              <a:t>A </a:t>
            </a:r>
            <a:r>
              <a:rPr lang="en-US" b="1" i="1" dirty="0"/>
              <a:t>smart card </a:t>
            </a:r>
            <a:r>
              <a:rPr lang="en-US" b="1" dirty="0"/>
              <a:t>is a plastic card the size of a credit card </a:t>
            </a:r>
            <a:r>
              <a:rPr lang="en-US" b="1" dirty="0" smtClean="0"/>
              <a:t>with an </a:t>
            </a:r>
            <a:r>
              <a:rPr lang="en-US" b="1" dirty="0"/>
              <a:t>integrated circuit—a microprocessor and memory chips—built into it</a:t>
            </a:r>
            <a:r>
              <a:rPr lang="en-US" b="1" dirty="0" smtClean="0"/>
              <a:t>.</a:t>
            </a:r>
          </a:p>
          <a:p>
            <a:pPr lvl="1"/>
            <a:r>
              <a:rPr kumimoji="1" lang="en-US" b="1" dirty="0">
                <a:solidFill>
                  <a:srgbClr val="000000"/>
                </a:solidFill>
                <a:latin typeface="Times New Roman" charset="0"/>
              </a:rPr>
              <a:t>Stores data on microprocessor embedded in small </a:t>
            </a:r>
            <a:r>
              <a:rPr kumimoji="1" lang="en-US" b="1" dirty="0" smtClean="0">
                <a:solidFill>
                  <a:srgbClr val="000000"/>
                </a:solidFill>
                <a:latin typeface="Times New Roman" charset="0"/>
              </a:rPr>
              <a:t>card</a:t>
            </a:r>
            <a:endParaRPr lang="en-US" b="1" dirty="0"/>
          </a:p>
          <a:p>
            <a:r>
              <a:rPr lang="en-US" dirty="0"/>
              <a:t>Most smart cards have been designed </a:t>
            </a:r>
            <a:r>
              <a:rPr lang="en-US" dirty="0" smtClean="0"/>
              <a:t>like credit </a:t>
            </a:r>
            <a:r>
              <a:rPr lang="en-US" dirty="0"/>
              <a:t>or </a:t>
            </a:r>
            <a:r>
              <a:rPr lang="en-US" dirty="0" smtClean="0"/>
              <a:t>debit card </a:t>
            </a:r>
            <a:r>
              <a:rPr lang="en-US" dirty="0"/>
              <a:t>but can function </a:t>
            </a:r>
            <a:r>
              <a:rPr lang="en-US" dirty="0" smtClean="0"/>
              <a:t>at least on three </a:t>
            </a:r>
            <a:r>
              <a:rPr lang="en-US" dirty="0"/>
              <a:t>levels:  </a:t>
            </a:r>
            <a:r>
              <a:rPr lang="en-US" dirty="0" smtClean="0"/>
              <a:t>credit</a:t>
            </a:r>
            <a:r>
              <a:rPr lang="en-US" dirty="0"/>
              <a:t>, debit, and personal information.</a:t>
            </a:r>
          </a:p>
          <a:p>
            <a:r>
              <a:rPr lang="en-US" dirty="0"/>
              <a:t>Smart cards include data storage capacity of around 10 megabytes.</a:t>
            </a:r>
          </a:p>
          <a:p>
            <a:r>
              <a:rPr lang="en-US" dirty="0" smtClean="0"/>
              <a:t>Due to </a:t>
            </a:r>
            <a:r>
              <a:rPr lang="en-US" dirty="0"/>
              <a:t>portability and </a:t>
            </a:r>
            <a:r>
              <a:rPr lang="en-US" dirty="0" smtClean="0"/>
              <a:t>size </a:t>
            </a:r>
            <a:r>
              <a:rPr lang="en-US" dirty="0"/>
              <a:t>of smart cards, they are seen as the </a:t>
            </a:r>
            <a:r>
              <a:rPr lang="en-US" dirty="0" smtClean="0"/>
              <a:t>next generation </a:t>
            </a:r>
            <a:r>
              <a:rPr lang="en-US" dirty="0"/>
              <a:t>of data exchange.</a:t>
            </a:r>
          </a:p>
        </p:txBody>
      </p:sp>
    </p:spTree>
    <p:extLst>
      <p:ext uri="{BB962C8B-B14F-4D97-AF65-F5344CB8AC3E}">
        <p14:creationId xmlns:p14="http://schemas.microsoft.com/office/powerpoint/2010/main" val="183574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b="1" dirty="0"/>
              <a:t>Flash &amp; Solid State </a:t>
            </a:r>
            <a:r>
              <a:rPr lang="en-US" b="1" dirty="0" smtClean="0"/>
              <a:t>Memory</a:t>
            </a:r>
          </a:p>
          <a:p>
            <a:r>
              <a:rPr lang="en-US" b="1" dirty="0"/>
              <a:t>FLASH MEMORY </a:t>
            </a:r>
            <a:r>
              <a:rPr lang="en-US" b="1" dirty="0" smtClean="0"/>
              <a:t>CARDS</a:t>
            </a:r>
            <a:r>
              <a:rPr lang="en-US" b="1" i="1" dirty="0" smtClean="0"/>
              <a:t>, </a:t>
            </a:r>
            <a:r>
              <a:rPr lang="en-US" b="1" dirty="0"/>
              <a:t>or </a:t>
            </a:r>
            <a:r>
              <a:rPr lang="en-US" b="1" i="1" dirty="0"/>
              <a:t>flash RAM </a:t>
            </a:r>
            <a:r>
              <a:rPr lang="en-US" b="1" i="1" dirty="0" smtClean="0"/>
              <a:t>cards, </a:t>
            </a:r>
            <a:r>
              <a:rPr lang="en-US" b="1" dirty="0" smtClean="0"/>
              <a:t>are </a:t>
            </a:r>
            <a:r>
              <a:rPr lang="en-US" b="1" dirty="0"/>
              <a:t>removable storage media that are inserted into a flash </a:t>
            </a:r>
            <a:r>
              <a:rPr lang="en-US" b="1" dirty="0" smtClean="0"/>
              <a:t>memory port </a:t>
            </a:r>
            <a:r>
              <a:rPr lang="en-US" b="1" dirty="0"/>
              <a:t>in a digital camera, handheld PC, smartphone, or </a:t>
            </a:r>
            <a:r>
              <a:rPr lang="en-US" b="1" dirty="0" smtClean="0"/>
              <a:t>other mobile </a:t>
            </a:r>
            <a:r>
              <a:rPr lang="en-US" b="1" dirty="0"/>
              <a:t>device. </a:t>
            </a:r>
            <a:endParaRPr lang="en-US" b="1" dirty="0" smtClean="0"/>
          </a:p>
          <a:p>
            <a:r>
              <a:rPr lang="en-US" dirty="0" smtClean="0"/>
              <a:t>flash memory </a:t>
            </a:r>
            <a:r>
              <a:rPr lang="en-US" dirty="0"/>
              <a:t>cards have no processor; </a:t>
            </a:r>
            <a:r>
              <a:rPr lang="en-US" dirty="0" smtClean="0"/>
              <a:t>they are </a:t>
            </a:r>
            <a:r>
              <a:rPr lang="en-US" dirty="0"/>
              <a:t>useful only for storage. </a:t>
            </a:r>
            <a:endParaRPr lang="en-US" dirty="0" smtClean="0"/>
          </a:p>
          <a:p>
            <a:r>
              <a:rPr lang="en-US" dirty="0" smtClean="0"/>
              <a:t>Flash memory cards </a:t>
            </a:r>
            <a:r>
              <a:rPr lang="en-US" dirty="0"/>
              <a:t>store up to 16 </a:t>
            </a:r>
            <a:r>
              <a:rPr lang="en-US" dirty="0" smtClean="0"/>
              <a:t>gigabytes.</a:t>
            </a:r>
          </a:p>
          <a:p>
            <a:pPr marL="82296" indent="0">
              <a:buNone/>
            </a:pPr>
            <a:r>
              <a:rPr lang="en-US" b="1" dirty="0"/>
              <a:t>FLASH MEMORY STICKS </a:t>
            </a:r>
            <a:r>
              <a:rPr lang="en-US" dirty="0"/>
              <a:t>Smaller than </a:t>
            </a:r>
            <a:r>
              <a:rPr lang="en-US" dirty="0" smtClean="0"/>
              <a:t>a stick </a:t>
            </a:r>
            <a:r>
              <a:rPr lang="en-US" dirty="0"/>
              <a:t>of chewing gum, </a:t>
            </a:r>
            <a:endParaRPr lang="en-US" dirty="0" smtClean="0"/>
          </a:p>
          <a:p>
            <a:r>
              <a:rPr lang="en-US" b="1" dirty="0" smtClean="0"/>
              <a:t>a </a:t>
            </a:r>
            <a:r>
              <a:rPr lang="en-US" b="1" i="1" dirty="0"/>
              <a:t>flash </a:t>
            </a:r>
            <a:r>
              <a:rPr lang="en-US" b="1" i="1" dirty="0" smtClean="0"/>
              <a:t>memory stick </a:t>
            </a:r>
            <a:r>
              <a:rPr lang="en-US" b="1" dirty="0"/>
              <a:t>is a form of flash memory </a:t>
            </a:r>
            <a:r>
              <a:rPr lang="en-US" b="1" dirty="0" smtClean="0"/>
              <a:t>media </a:t>
            </a:r>
            <a:r>
              <a:rPr lang="en-US" b="1" dirty="0"/>
              <a:t>that plugs into a memory stick port in a </a:t>
            </a:r>
            <a:r>
              <a:rPr lang="en-US" b="1" dirty="0" smtClean="0"/>
              <a:t>digital camera</a:t>
            </a:r>
            <a:r>
              <a:rPr lang="en-US" b="1" dirty="0"/>
              <a:t>, camcorder, notebook PC, </a:t>
            </a:r>
            <a:r>
              <a:rPr lang="en-US" b="1" dirty="0" smtClean="0"/>
              <a:t>photo printer</a:t>
            </a:r>
            <a:r>
              <a:rPr lang="en-US" b="1" dirty="0"/>
              <a:t>, and other devices. </a:t>
            </a:r>
            <a:endParaRPr lang="en-US" b="1" dirty="0" smtClean="0"/>
          </a:p>
          <a:p>
            <a:r>
              <a:rPr lang="en-US" dirty="0" smtClean="0"/>
              <a:t>It </a:t>
            </a:r>
            <a:r>
              <a:rPr lang="en-US" dirty="0"/>
              <a:t>holds up to 4 </a:t>
            </a:r>
            <a:r>
              <a:rPr lang="en-US" dirty="0" smtClean="0"/>
              <a:t>gigabytes of </a:t>
            </a:r>
            <a:r>
              <a:rPr lang="en-US" dirty="0"/>
              <a:t>data.</a:t>
            </a:r>
          </a:p>
        </p:txBody>
      </p:sp>
    </p:spTree>
    <p:extLst>
      <p:ext uri="{BB962C8B-B14F-4D97-AF65-F5344CB8AC3E}">
        <p14:creationId xmlns:p14="http://schemas.microsoft.com/office/powerpoint/2010/main" val="690210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/>
              <a:t>FLASH MEMORY DRIVES A </a:t>
            </a:r>
            <a:r>
              <a:rPr lang="en-US" b="1" i="1" dirty="0"/>
              <a:t>flash memory drive,</a:t>
            </a:r>
          </a:p>
          <a:p>
            <a:pPr marL="82296" indent="0">
              <a:buNone/>
            </a:pPr>
            <a:r>
              <a:rPr lang="en-US" b="1" dirty="0"/>
              <a:t>also called a </a:t>
            </a:r>
            <a:r>
              <a:rPr lang="en-US" b="1" i="1" dirty="0"/>
              <a:t>USB flash drive, keychain drive, </a:t>
            </a:r>
            <a:r>
              <a:rPr lang="en-US" b="1" dirty="0" smtClean="0"/>
              <a:t>or </a:t>
            </a:r>
            <a:r>
              <a:rPr lang="en-US" b="1" i="1" dirty="0" smtClean="0"/>
              <a:t>key </a:t>
            </a:r>
            <a:r>
              <a:rPr lang="en-US" b="1" i="1" dirty="0"/>
              <a:t>drive, </a:t>
            </a:r>
            <a:r>
              <a:rPr lang="en-US" b="1" dirty="0"/>
              <a:t>consists of a finger-size module of </a:t>
            </a:r>
            <a:r>
              <a:rPr lang="en-US" b="1" dirty="0" smtClean="0"/>
              <a:t>flash memory </a:t>
            </a:r>
            <a:r>
              <a:rPr lang="en-US" b="1" dirty="0"/>
              <a:t>that plugs into the USB ports of </a:t>
            </a:r>
            <a:r>
              <a:rPr lang="en-US" b="1" dirty="0" smtClean="0"/>
              <a:t>nearly any PC. </a:t>
            </a:r>
            <a:r>
              <a:rPr lang="en-US" b="1" dirty="0"/>
              <a:t>or Macintosh. </a:t>
            </a:r>
            <a:endParaRPr lang="en-US" b="1" dirty="0" smtClean="0"/>
          </a:p>
          <a:p>
            <a:r>
              <a:rPr lang="en-US" dirty="0" smtClean="0"/>
              <a:t>It </a:t>
            </a:r>
            <a:r>
              <a:rPr lang="en-US" dirty="0"/>
              <a:t>has storage capacities </a:t>
            </a:r>
            <a:r>
              <a:rPr lang="en-US" dirty="0" smtClean="0"/>
              <a:t>up to </a:t>
            </a:r>
            <a:r>
              <a:rPr lang="en-US" dirty="0"/>
              <a:t>64 gigabytes, making the device extremely </a:t>
            </a:r>
            <a:r>
              <a:rPr lang="en-US" dirty="0" smtClean="0"/>
              <a:t>useful if </a:t>
            </a:r>
            <a:r>
              <a:rPr lang="en-US" dirty="0"/>
              <a:t>you’re traveling from home to office, say, and </a:t>
            </a:r>
            <a:r>
              <a:rPr lang="en-US" dirty="0" smtClean="0"/>
              <a:t>don’t want </a:t>
            </a:r>
            <a:r>
              <a:rPr lang="en-US" dirty="0"/>
              <a:t>to carry a laptop.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 plug the device </a:t>
            </a:r>
            <a:r>
              <a:rPr lang="en-US" dirty="0" smtClean="0"/>
              <a:t>into your </a:t>
            </a:r>
            <a:r>
              <a:rPr lang="en-US" dirty="0"/>
              <a:t>USB port, it shows up as an external drive on the computer screen.</a:t>
            </a:r>
          </a:p>
        </p:txBody>
      </p:sp>
    </p:spTree>
    <p:extLst>
      <p:ext uri="{BB962C8B-B14F-4D97-AF65-F5344CB8AC3E}">
        <p14:creationId xmlns:p14="http://schemas.microsoft.com/office/powerpoint/2010/main" val="2387457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Online Secondary </a:t>
            </a:r>
            <a:r>
              <a:rPr lang="en-US" b="1" dirty="0" smtClean="0"/>
              <a:t>Storage</a:t>
            </a:r>
          </a:p>
          <a:p>
            <a:r>
              <a:rPr lang="en-US" dirty="0"/>
              <a:t>Online storage services</a:t>
            </a:r>
            <a:r>
              <a:rPr lang="en-US" dirty="0" smtClean="0"/>
              <a:t>, </a:t>
            </a:r>
            <a:r>
              <a:rPr lang="en-US" dirty="0"/>
              <a:t>allow you </a:t>
            </a:r>
            <a:r>
              <a:rPr lang="en-US" dirty="0" smtClean="0"/>
              <a:t>to use </a:t>
            </a:r>
            <a:r>
              <a:rPr lang="en-US" dirty="0"/>
              <a:t>the internet to back up your data.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services are free; others </a:t>
            </a:r>
            <a:r>
              <a:rPr lang="en-US" dirty="0" smtClean="0"/>
              <a:t>charge a </a:t>
            </a:r>
            <a:r>
              <a:rPr lang="en-US" dirty="0"/>
              <a:t>small fee. </a:t>
            </a:r>
            <a:endParaRPr lang="en-US" dirty="0" smtClean="0"/>
          </a:p>
          <a:p>
            <a:r>
              <a:rPr lang="en-US" dirty="0" smtClean="0"/>
              <a:t>Examples </a:t>
            </a:r>
            <a:r>
              <a:rPr lang="en-US" dirty="0"/>
              <a:t>are </a:t>
            </a:r>
            <a:r>
              <a:rPr lang="en-US" dirty="0" err="1"/>
              <a:t>Syncplicity</a:t>
            </a:r>
            <a:r>
              <a:rPr lang="en-US" dirty="0"/>
              <a:t>, </a:t>
            </a:r>
            <a:r>
              <a:rPr lang="en-US" dirty="0" err="1"/>
              <a:t>Dropbox</a:t>
            </a:r>
            <a:r>
              <a:rPr lang="en-US" dirty="0"/>
              <a:t>, </a:t>
            </a:r>
            <a:r>
              <a:rPr lang="en-US" dirty="0" err="1"/>
              <a:t>Mozy</a:t>
            </a:r>
            <a:r>
              <a:rPr lang="en-US" dirty="0"/>
              <a:t>, </a:t>
            </a:r>
            <a:r>
              <a:rPr lang="en-US" dirty="0" err="1"/>
              <a:t>Carbonite</a:t>
            </a:r>
            <a:r>
              <a:rPr lang="en-US" dirty="0"/>
              <a:t>, </a:t>
            </a:r>
            <a:r>
              <a:rPr lang="en-US" dirty="0" err="1" smtClean="0"/>
              <a:t>iDrivePro</a:t>
            </a:r>
            <a:r>
              <a:rPr lang="en-US" dirty="0" smtClean="0"/>
              <a:t>, iDrive.com</a:t>
            </a:r>
            <a:r>
              <a:rPr lang="en-US" dirty="0"/>
              <a:t>, and (for business) iBackup.com and </a:t>
            </a:r>
            <a:r>
              <a:rPr lang="en-US" dirty="0" err="1"/>
              <a:t>eSureIt</a:t>
            </a:r>
            <a:r>
              <a:rPr lang="en-US" dirty="0"/>
              <a:t> Business. 32 </a:t>
            </a:r>
            <a:r>
              <a:rPr lang="en-US" dirty="0" err="1"/>
              <a:t>Asustek</a:t>
            </a:r>
            <a:endParaRPr lang="en-US" dirty="0"/>
          </a:p>
          <a:p>
            <a:r>
              <a:rPr lang="en-US" dirty="0"/>
              <a:t>Computer, maker of the low-cost ($300) </a:t>
            </a:r>
            <a:r>
              <a:rPr lang="en-US" dirty="0" err="1"/>
              <a:t>Eee</a:t>
            </a:r>
            <a:r>
              <a:rPr lang="en-US" dirty="0"/>
              <a:t> PC, offers free online </a:t>
            </a:r>
            <a:r>
              <a:rPr lang="en-US" dirty="0" smtClean="0"/>
              <a:t>storage. </a:t>
            </a:r>
          </a:p>
          <a:p>
            <a:r>
              <a:rPr lang="en-US" dirty="0" smtClean="0"/>
              <a:t>When </a:t>
            </a:r>
            <a:r>
              <a:rPr lang="en-US" dirty="0"/>
              <a:t>you sign up, you obtain software that lets you upload </a:t>
            </a:r>
            <a:r>
              <a:rPr lang="en-US" dirty="0" smtClean="0"/>
              <a:t>whatever files </a:t>
            </a:r>
            <a:r>
              <a:rPr lang="en-US" dirty="0"/>
              <a:t>you wish to the company’s server.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security, you are given a </a:t>
            </a:r>
            <a:r>
              <a:rPr lang="en-US" dirty="0" smtClean="0"/>
              <a:t>password, and </a:t>
            </a:r>
            <a:r>
              <a:rPr lang="en-US" dirty="0"/>
              <a:t>the files are </a:t>
            </a:r>
            <a:r>
              <a:rPr lang="en-US" dirty="0" smtClean="0"/>
              <a:t>encrypted </a:t>
            </a:r>
            <a:r>
              <a:rPr lang="en-US" dirty="0"/>
              <a:t>to guard against </a:t>
            </a:r>
            <a:r>
              <a:rPr lang="en-US" dirty="0" smtClean="0"/>
              <a:t>unwanted access</a:t>
            </a:r>
            <a:r>
              <a:rPr lang="en-US" dirty="0"/>
              <a:t>.</a:t>
            </a:r>
          </a:p>
          <a:p>
            <a:r>
              <a:rPr lang="en-US" dirty="0"/>
              <a:t>Incidentally, you should know that if you lose your cellphone, all </a:t>
            </a:r>
            <a:r>
              <a:rPr lang="en-US" dirty="0" smtClean="0"/>
              <a:t>those phone </a:t>
            </a:r>
            <a:r>
              <a:rPr lang="en-US" dirty="0"/>
              <a:t>numbers in your address book are wirelessly backed up on a </a:t>
            </a:r>
            <a:r>
              <a:rPr lang="en-US" dirty="0" smtClean="0"/>
              <a:t>regular schedule </a:t>
            </a:r>
            <a:r>
              <a:rPr lang="en-US" dirty="0"/>
              <a:t>by your cellphone carrier. </a:t>
            </a:r>
          </a:p>
        </p:txBody>
      </p:sp>
    </p:spTree>
    <p:extLst>
      <p:ext uri="{BB962C8B-B14F-4D97-AF65-F5344CB8AC3E}">
        <p14:creationId xmlns:p14="http://schemas.microsoft.com/office/powerpoint/2010/main" val="2427527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392</TotalTime>
  <Words>1663</Words>
  <Application>Microsoft Office PowerPoint</Application>
  <PresentationFormat>On-screen Show (4:3)</PresentationFormat>
  <Paragraphs>126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Solstice</vt:lpstr>
      <vt:lpstr>STORAGE MEDIA</vt:lpstr>
      <vt:lpstr>What is storage? </vt:lpstr>
      <vt:lpstr>PowerPoint Presentation</vt:lpstr>
      <vt:lpstr>Secondary storage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FAIR</dc:creator>
  <cp:lastModifiedBy>ismail - [2010]</cp:lastModifiedBy>
  <cp:revision>26</cp:revision>
  <dcterms:created xsi:type="dcterms:W3CDTF">2014-11-30T18:48:04Z</dcterms:created>
  <dcterms:modified xsi:type="dcterms:W3CDTF">2015-05-09T10:22:44Z</dcterms:modified>
</cp:coreProperties>
</file>