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58" r:id="rId4"/>
    <p:sldId id="259" r:id="rId5"/>
    <p:sldId id="261" r:id="rId6"/>
    <p:sldId id="262" r:id="rId7"/>
    <p:sldId id="276" r:id="rId8"/>
    <p:sldId id="277" r:id="rId9"/>
    <p:sldId id="278" r:id="rId10"/>
    <p:sldId id="279" r:id="rId11"/>
    <p:sldId id="280" r:id="rId12"/>
    <p:sldId id="281" r:id="rId13"/>
    <p:sldId id="282" r:id="rId14"/>
    <p:sldId id="284" r:id="rId15"/>
    <p:sldId id="285" r:id="rId16"/>
    <p:sldId id="286" r:id="rId17"/>
    <p:sldId id="287" r:id="rId18"/>
    <p:sldId id="289" r:id="rId19"/>
    <p:sldId id="293" r:id="rId20"/>
    <p:sldId id="303" r:id="rId21"/>
    <p:sldId id="302" r:id="rId22"/>
    <p:sldId id="300" r:id="rId23"/>
    <p:sldId id="301" r:id="rId24"/>
    <p:sldId id="264" r:id="rId25"/>
    <p:sldId id="265" r:id="rId26"/>
    <p:sldId id="266" r:id="rId27"/>
    <p:sldId id="267" r:id="rId28"/>
    <p:sldId id="268" r:id="rId29"/>
    <p:sldId id="269" r:id="rId30"/>
    <p:sldId id="270" r:id="rId31"/>
    <p:sldId id="271" r:id="rId32"/>
    <p:sldId id="272" r:id="rId33"/>
    <p:sldId id="273" r:id="rId34"/>
    <p:sldId id="306" r:id="rId35"/>
    <p:sldId id="307" r:id="rId36"/>
    <p:sldId id="308" r:id="rId37"/>
    <p:sldId id="309" r:id="rId38"/>
    <p:sldId id="310" r:id="rId39"/>
    <p:sldId id="311" r:id="rId40"/>
    <p:sldId id="312" r:id="rId41"/>
    <p:sldId id="313" r:id="rId42"/>
    <p:sldId id="314"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16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A30A8E-F65A-469C-A039-4AE54C8DFAC7}" type="datetimeFigureOut">
              <a:rPr lang="en-US" smtClean="0"/>
              <a:t>09-May-2015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45FFA6-0126-4475-9899-A27BB36C4738}" type="slidenum">
              <a:rPr lang="en-US" smtClean="0"/>
              <a:t>‹#›</a:t>
            </a:fld>
            <a:endParaRPr lang="en-US"/>
          </a:p>
        </p:txBody>
      </p:sp>
    </p:spTree>
    <p:extLst>
      <p:ext uri="{BB962C8B-B14F-4D97-AF65-F5344CB8AC3E}">
        <p14:creationId xmlns:p14="http://schemas.microsoft.com/office/powerpoint/2010/main" val="52965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86187316-EF9E-4F63-842B-2F5EE24C0E30}" type="slidenum">
              <a:rPr lang="en-US" sz="1200" smtClean="0">
                <a:solidFill>
                  <a:schemeClr val="tx1"/>
                </a:solidFill>
                <a:latin typeface="Arial" charset="0"/>
              </a:rPr>
              <a:pPr eaLnBrk="1" hangingPunct="1"/>
              <a:t>7</a:t>
            </a:fld>
            <a:endParaRPr lang="en-US" sz="1200" smtClean="0">
              <a:solidFill>
                <a:schemeClr val="tx1"/>
              </a:solidFill>
              <a:latin typeface="Arial"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ED1A5C9E-B220-4EF3-9592-4A688DCA7095}" type="slidenum">
              <a:rPr lang="en-US" sz="1200" smtClean="0">
                <a:solidFill>
                  <a:schemeClr val="tx1"/>
                </a:solidFill>
                <a:latin typeface="Arial" charset="0"/>
              </a:rPr>
              <a:pPr eaLnBrk="1" hangingPunct="1"/>
              <a:t>8</a:t>
            </a:fld>
            <a:endParaRPr lang="en-US" sz="1200" smtClean="0">
              <a:solidFill>
                <a:schemeClr val="tx1"/>
              </a:solidFill>
              <a:latin typeface="Arial"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41B961A4-3A22-4FB1-B09A-7EAC560C6286}" type="slidenum">
              <a:rPr lang="en-US" sz="1200" smtClean="0">
                <a:solidFill>
                  <a:schemeClr val="tx1"/>
                </a:solidFill>
                <a:latin typeface="Arial" charset="0"/>
              </a:rPr>
              <a:pPr eaLnBrk="1" hangingPunct="1"/>
              <a:t>9</a:t>
            </a:fld>
            <a:endParaRPr lang="en-US" sz="1200" smtClean="0">
              <a:solidFill>
                <a:schemeClr val="tx1"/>
              </a:solidFill>
              <a:latin typeface="Arial"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465A50F2-084B-49AE-A98D-8BFDDA8E3ACC}" type="slidenum">
              <a:rPr lang="en-US" sz="1200" smtClean="0">
                <a:solidFill>
                  <a:schemeClr val="tx1"/>
                </a:solidFill>
                <a:latin typeface="Arial" charset="0"/>
              </a:rPr>
              <a:pPr eaLnBrk="1" hangingPunct="1"/>
              <a:t>10</a:t>
            </a:fld>
            <a:endParaRPr lang="en-US" sz="1200" smtClean="0">
              <a:solidFill>
                <a:schemeClr val="tx1"/>
              </a:solidFill>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EAF44766-2711-400C-8E78-19F2BC66D822}" type="slidenum">
              <a:rPr lang="en-US" sz="1200" smtClean="0">
                <a:solidFill>
                  <a:schemeClr val="tx1"/>
                </a:solidFill>
                <a:latin typeface="Arial" charset="0"/>
              </a:rPr>
              <a:pPr eaLnBrk="1" hangingPunct="1"/>
              <a:t>11</a:t>
            </a:fld>
            <a:endParaRPr lang="en-US" sz="1200" smtClean="0">
              <a:solidFill>
                <a:schemeClr val="tx1"/>
              </a:solidFill>
              <a:latin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1C6C5065-A8B2-407F-B115-BCC6507E9BBD}" type="slidenum">
              <a:rPr lang="en-US" sz="1200" smtClean="0">
                <a:solidFill>
                  <a:schemeClr val="tx1"/>
                </a:solidFill>
                <a:latin typeface="Arial" charset="0"/>
              </a:rPr>
              <a:pPr eaLnBrk="1" hangingPunct="1"/>
              <a:t>12</a:t>
            </a:fld>
            <a:endParaRPr lang="en-US" sz="1200" smtClean="0">
              <a:solidFill>
                <a:schemeClr val="tx1"/>
              </a:solidFill>
              <a:latin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xfrm>
            <a:off x="914183" y="4342883"/>
            <a:ext cx="5029635" cy="4115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2E96BB12-517F-4FA3-917E-8FEEBCA52757}" type="slidenum">
              <a:rPr lang="en-US" sz="1200" smtClean="0">
                <a:solidFill>
                  <a:schemeClr val="tx1"/>
                </a:solidFill>
                <a:latin typeface="Arial" charset="0"/>
              </a:rPr>
              <a:pPr eaLnBrk="1" hangingPunct="1"/>
              <a:t>13</a:t>
            </a:fld>
            <a:endParaRPr lang="en-US" sz="1200" smtClean="0">
              <a:solidFill>
                <a:schemeClr val="tx1"/>
              </a:solidFill>
              <a:latin typeface="Arial"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206E7590-4E4A-4B5E-A0F5-F4075C97D762}" type="slidenum">
              <a:rPr lang="en-US" sz="1200" smtClean="0">
                <a:solidFill>
                  <a:schemeClr val="tx1"/>
                </a:solidFill>
                <a:latin typeface="Arial" charset="0"/>
              </a:rPr>
              <a:pPr eaLnBrk="1" hangingPunct="1"/>
              <a:t>14</a:t>
            </a:fld>
            <a:endParaRPr lang="en-US" sz="1200" smtClean="0">
              <a:solidFill>
                <a:schemeClr val="tx1"/>
              </a:solidFill>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058B23DB-3B9C-4607-A70E-CA59D6049E45}" type="slidenum">
              <a:rPr lang="en-US" sz="1200" smtClean="0">
                <a:solidFill>
                  <a:schemeClr val="tx1"/>
                </a:solidFill>
                <a:latin typeface="Arial" charset="0"/>
              </a:rPr>
              <a:pPr eaLnBrk="1" hangingPunct="1"/>
              <a:t>15</a:t>
            </a:fld>
            <a:endParaRPr lang="en-US" sz="1200" smtClean="0">
              <a:solidFill>
                <a:schemeClr val="tx1"/>
              </a:solidFill>
              <a:latin typeface="Arial"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343694A8-F2D9-4950-86A8-7F1EAE767390}" type="slidenum">
              <a:rPr lang="en-US" sz="1200" smtClean="0">
                <a:solidFill>
                  <a:schemeClr val="tx1"/>
                </a:solidFill>
                <a:latin typeface="Arial" charset="0"/>
              </a:rPr>
              <a:pPr eaLnBrk="1" hangingPunct="1"/>
              <a:t>17</a:t>
            </a:fld>
            <a:endParaRPr lang="en-US" sz="1200" smtClean="0">
              <a:solidFill>
                <a:schemeClr val="tx1"/>
              </a:solidFill>
              <a:latin typeface="Arial"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914183" y="4342883"/>
            <a:ext cx="5029635" cy="4115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236F2530-0A3D-411D-AFD3-73CE979E8916}" type="slidenum">
              <a:rPr lang="en-US" sz="1200" smtClean="0">
                <a:solidFill>
                  <a:schemeClr val="tx1"/>
                </a:solidFill>
                <a:latin typeface="Arial" charset="0"/>
              </a:rPr>
              <a:pPr eaLnBrk="1" hangingPunct="1"/>
              <a:t>18</a:t>
            </a:fld>
            <a:endParaRPr lang="en-US" sz="1200" smtClean="0">
              <a:solidFill>
                <a:schemeClr val="tx1"/>
              </a:solidFill>
              <a:latin typeface="Arial"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F3E76931-DA07-44D2-A9FB-635650E36070}" type="slidenum">
              <a:rPr lang="en-US" sz="1200" smtClean="0">
                <a:solidFill>
                  <a:schemeClr val="tx1"/>
                </a:solidFill>
                <a:latin typeface="Arial" charset="0"/>
              </a:rPr>
              <a:pPr eaLnBrk="1" hangingPunct="1"/>
              <a:t>19</a:t>
            </a:fld>
            <a:endParaRPr lang="en-US" sz="1200" smtClean="0">
              <a:solidFill>
                <a:schemeClr val="tx1"/>
              </a:solidFill>
              <a:latin typeface="Arial"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04D73148-290E-4CB9-B849-34D47168F778}" type="slidenum">
              <a:rPr lang="en-US" sz="1200" smtClean="0">
                <a:solidFill>
                  <a:schemeClr val="tx1"/>
                </a:solidFill>
                <a:latin typeface="Arial" charset="0"/>
              </a:rPr>
              <a:pPr eaLnBrk="1" hangingPunct="1"/>
              <a:t>20</a:t>
            </a:fld>
            <a:endParaRPr lang="en-US" sz="1200" smtClean="0">
              <a:solidFill>
                <a:schemeClr val="tx1"/>
              </a:solidFill>
              <a:latin typeface="Arial"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9C2D941A-8444-4633-81F6-B2EB12EE5EAC}" type="slidenum">
              <a:rPr lang="en-US" sz="1200" smtClean="0">
                <a:solidFill>
                  <a:schemeClr val="tx1"/>
                </a:solidFill>
                <a:latin typeface="Arial" charset="0"/>
              </a:rPr>
              <a:pPr eaLnBrk="1" hangingPunct="1"/>
              <a:t>21</a:t>
            </a:fld>
            <a:endParaRPr lang="en-US" sz="1200" smtClean="0">
              <a:solidFill>
                <a:schemeClr val="tx1"/>
              </a:solidFill>
              <a:latin typeface="Arial"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412CD88B-38CC-470D-9CC1-05BA6793D93D}" type="slidenum">
              <a:rPr lang="en-US" sz="1200" smtClean="0">
                <a:solidFill>
                  <a:schemeClr val="tx1"/>
                </a:solidFill>
                <a:latin typeface="Arial" charset="0"/>
              </a:rPr>
              <a:pPr eaLnBrk="1" hangingPunct="1"/>
              <a:t>22</a:t>
            </a:fld>
            <a:endParaRPr lang="en-US" sz="1200" smtClean="0">
              <a:solidFill>
                <a:schemeClr val="tx1"/>
              </a:solidFill>
              <a:latin typeface="Arial"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A2DB2C30-B3C7-408F-92C4-AB5BB6D8A844}" type="slidenum">
              <a:rPr lang="en-US" sz="1200" smtClean="0">
                <a:solidFill>
                  <a:schemeClr val="tx1"/>
                </a:solidFill>
                <a:latin typeface="Arial" charset="0"/>
              </a:rPr>
              <a:pPr eaLnBrk="1" hangingPunct="1"/>
              <a:t>23</a:t>
            </a:fld>
            <a:endParaRPr lang="en-US" sz="1200" smtClean="0">
              <a:solidFill>
                <a:schemeClr val="tx1"/>
              </a:solidFill>
              <a:latin typeface="Arial"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7124750D-7354-416B-A7C5-64014325249C}" type="slidenum">
              <a:rPr lang="en-US" sz="1200" smtClean="0">
                <a:solidFill>
                  <a:schemeClr val="tx1"/>
                </a:solidFill>
                <a:latin typeface="Arial" charset="0"/>
              </a:rPr>
              <a:pPr eaLnBrk="1" hangingPunct="1"/>
              <a:t>34</a:t>
            </a:fld>
            <a:endParaRPr lang="en-US" sz="1200" smtClean="0">
              <a:solidFill>
                <a:schemeClr val="tx1"/>
              </a:solidFill>
              <a:latin typeface="Arial"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45FFA6-0126-4475-9899-A27BB36C4738}" type="slidenum">
              <a:rPr lang="en-US" smtClean="0"/>
              <a:t>35</a:t>
            </a:fld>
            <a:endParaRPr lang="en-US"/>
          </a:p>
        </p:txBody>
      </p:sp>
    </p:spTree>
    <p:extLst>
      <p:ext uri="{BB962C8B-B14F-4D97-AF65-F5344CB8AC3E}">
        <p14:creationId xmlns:p14="http://schemas.microsoft.com/office/powerpoint/2010/main" val="3454326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9D0493E3-11FB-469E-8DD6-B3757F7B15C4}" type="slidenum">
              <a:rPr lang="en-US" sz="1200" smtClean="0">
                <a:solidFill>
                  <a:schemeClr val="tx1"/>
                </a:solidFill>
                <a:latin typeface="Arial" charset="0"/>
              </a:rPr>
              <a:pPr eaLnBrk="1" hangingPunct="1"/>
              <a:t>36</a:t>
            </a:fld>
            <a:endParaRPr lang="en-US" sz="1200" smtClean="0">
              <a:solidFill>
                <a:schemeClr val="tx1"/>
              </a:solidFill>
              <a:latin typeface="Arial"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xfrm>
            <a:off x="914183" y="4342883"/>
            <a:ext cx="5029635" cy="4115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08C8CA87-1FC1-4074-9750-6D34DE8B97FC}" type="slidenum">
              <a:rPr lang="en-US" sz="1200" smtClean="0">
                <a:solidFill>
                  <a:schemeClr val="tx1"/>
                </a:solidFill>
                <a:latin typeface="Arial" charset="0"/>
              </a:rPr>
              <a:pPr eaLnBrk="1" hangingPunct="1"/>
              <a:t>37</a:t>
            </a:fld>
            <a:endParaRPr lang="en-US" sz="1200" smtClean="0">
              <a:solidFill>
                <a:schemeClr val="tx1"/>
              </a:solidFill>
              <a:latin typeface="Arial"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xfrm>
            <a:off x="914183" y="4342883"/>
            <a:ext cx="5029635" cy="4115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0BA69DFD-8D8A-4F21-9DD9-538A10B3D5C1}" type="slidenum">
              <a:rPr lang="en-US" sz="1200" smtClean="0">
                <a:solidFill>
                  <a:schemeClr val="tx1"/>
                </a:solidFill>
                <a:latin typeface="Arial" charset="0"/>
              </a:rPr>
              <a:pPr eaLnBrk="1" hangingPunct="1"/>
              <a:t>38</a:t>
            </a:fld>
            <a:endParaRPr lang="en-US" sz="1200" smtClean="0">
              <a:solidFill>
                <a:schemeClr val="tx1"/>
              </a:solidFill>
              <a:latin typeface="Arial"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xfrm>
            <a:off x="914183" y="4342883"/>
            <a:ext cx="5029635" cy="4115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fld id="{60447A36-5B53-4A0A-BD03-9ACE7C06198A}" type="slidenum">
              <a:rPr lang="en-US" sz="1200" smtClean="0">
                <a:solidFill>
                  <a:schemeClr val="tx1"/>
                </a:solidFill>
                <a:latin typeface="Arial" charset="0"/>
              </a:rPr>
              <a:pPr eaLnBrk="1" hangingPunct="1"/>
              <a:t>40</a:t>
            </a:fld>
            <a:endParaRPr lang="en-US" sz="1200" smtClean="0">
              <a:solidFill>
                <a:schemeClr val="tx1"/>
              </a:solidFill>
              <a:latin typeface="Arial"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xfrm>
            <a:off x="914183" y="4342883"/>
            <a:ext cx="5029635" cy="411524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37357C78-7B45-408B-9686-3A2A5EAD753B}"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7357C78-7B45-408B-9686-3A2A5EAD753B}"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37357C78-7B45-408B-9686-3A2A5EAD753B}"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7357C78-7B45-408B-9686-3A2A5EAD753B}"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BBA76FE-4EEA-40FC-96A0-A6137EFA7C4F}" type="datetimeFigureOut">
              <a:rPr lang="en-US" smtClean="0"/>
              <a:t>09-May-2015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7357C78-7B45-408B-9686-3A2A5EAD753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676400"/>
            <a:ext cx="80772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33400" y="4038600"/>
            <a:ext cx="80772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Principles of Information Systems, Eighth Edition</a:t>
            </a:r>
          </a:p>
        </p:txBody>
      </p:sp>
      <p:sp>
        <p:nvSpPr>
          <p:cNvPr id="6" name="Rectangle 5"/>
          <p:cNvSpPr>
            <a:spLocks noGrp="1" noChangeArrowheads="1"/>
          </p:cNvSpPr>
          <p:nvPr>
            <p:ph type="sldNum" sz="quarter" idx="11"/>
          </p:nvPr>
        </p:nvSpPr>
        <p:spPr>
          <a:ln/>
        </p:spPr>
        <p:txBody>
          <a:bodyPr/>
          <a:lstStyle>
            <a:lvl1pPr>
              <a:defRPr/>
            </a:lvl1pPr>
          </a:lstStyle>
          <a:p>
            <a:pPr>
              <a:defRPr/>
            </a:pPr>
            <a:fld id="{1132E76E-2CDB-4DAC-B68F-4DB12488696E}" type="slidenum">
              <a:rPr lang="en-US"/>
              <a:pPr>
                <a:defRPr/>
              </a:pPr>
              <a:t>‹#›</a:t>
            </a:fld>
            <a:endParaRPr lang="en-US"/>
          </a:p>
        </p:txBody>
      </p:sp>
    </p:spTree>
    <p:extLst>
      <p:ext uri="{BB962C8B-B14F-4D97-AF65-F5344CB8AC3E}">
        <p14:creationId xmlns:p14="http://schemas.microsoft.com/office/powerpoint/2010/main" val="736923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CBBA76FE-4EEA-40FC-96A0-A6137EFA7C4F}" type="datetimeFigureOut">
              <a:rPr lang="en-US" smtClean="0"/>
              <a:t>09-May-2015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37357C78-7B45-408B-9686-3A2A5EAD753B}"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i="1" dirty="0"/>
              <a:t>Overview Of Software And Applications</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876121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US" dirty="0"/>
              <a:t/>
            </a:r>
            <a:br>
              <a:rPr lang="en-US" dirty="0"/>
            </a:br>
            <a:r>
              <a:rPr lang="en-US" dirty="0"/>
              <a:t> </a:t>
            </a:r>
            <a:r>
              <a:rPr lang="en-US" sz="4000" i="1" dirty="0" smtClean="0"/>
              <a:t>Overview Of Software And Applications </a:t>
            </a:r>
            <a:endParaRPr lang="en-US" sz="4000" dirty="0"/>
          </a:p>
        </p:txBody>
      </p:sp>
      <p:sp>
        <p:nvSpPr>
          <p:cNvPr id="3" name="Content Placeholder 2"/>
          <p:cNvSpPr>
            <a:spLocks noGrp="1"/>
          </p:cNvSpPr>
          <p:nvPr>
            <p:ph idx="1"/>
          </p:nvPr>
        </p:nvSpPr>
        <p:spPr>
          <a:xfrm>
            <a:off x="1435608" y="1295400"/>
            <a:ext cx="7498080" cy="4953000"/>
          </a:xfrm>
        </p:spPr>
        <p:txBody>
          <a:bodyPr>
            <a:normAutofit fontScale="70000" lnSpcReduction="20000"/>
          </a:bodyPr>
          <a:lstStyle/>
          <a:p>
            <a:r>
              <a:rPr lang="en-US" i="1" dirty="0"/>
              <a:t>S</a:t>
            </a:r>
            <a:r>
              <a:rPr lang="en-US" i="1" dirty="0" smtClean="0"/>
              <a:t>oftware</a:t>
            </a:r>
            <a:r>
              <a:rPr lang="en-US" i="1" dirty="0"/>
              <a:t>, </a:t>
            </a:r>
            <a:r>
              <a:rPr lang="en-US" dirty="0"/>
              <a:t>or </a:t>
            </a:r>
            <a:r>
              <a:rPr lang="en-US" i="1" dirty="0"/>
              <a:t>programs, </a:t>
            </a:r>
            <a:r>
              <a:rPr lang="en-US" dirty="0"/>
              <a:t>consists are electronic instructions that tell the computer how to perform a task</a:t>
            </a:r>
            <a:r>
              <a:rPr lang="en-US" dirty="0" smtClean="0"/>
              <a:t>.</a:t>
            </a:r>
          </a:p>
          <a:p>
            <a:r>
              <a:rPr lang="en-US" b="1" dirty="0" smtClean="0"/>
              <a:t>software</a:t>
            </a:r>
            <a:r>
              <a:rPr lang="en-US" dirty="0" smtClean="0"/>
              <a:t> </a:t>
            </a:r>
            <a:r>
              <a:rPr lang="en-US" dirty="0"/>
              <a:t>is any set of machine-readable instructions that directs a computer's processor to perform specific operations.</a:t>
            </a:r>
          </a:p>
          <a:p>
            <a:r>
              <a:rPr lang="en-US" dirty="0" smtClean="0"/>
              <a:t>Software </a:t>
            </a:r>
            <a:r>
              <a:rPr lang="en-US" dirty="0"/>
              <a:t>is a set of programs, which is designed to perform a well-defined function. </a:t>
            </a:r>
            <a:endParaRPr lang="en-US" dirty="0" smtClean="0"/>
          </a:p>
          <a:p>
            <a:pPr lvl="1"/>
            <a:r>
              <a:rPr lang="en-US" dirty="0" smtClean="0"/>
              <a:t>A </a:t>
            </a:r>
            <a:r>
              <a:rPr lang="en-US" dirty="0"/>
              <a:t>program is a sequence of instructions written to solve a particular problem</a:t>
            </a:r>
            <a:r>
              <a:rPr lang="en-US" dirty="0" smtClean="0"/>
              <a:t>.</a:t>
            </a:r>
          </a:p>
          <a:p>
            <a:r>
              <a:rPr lang="en-US" dirty="0"/>
              <a:t>Software is needed to control </a:t>
            </a:r>
            <a:r>
              <a:rPr lang="en-US" dirty="0" smtClean="0"/>
              <a:t>hardware </a:t>
            </a:r>
            <a:r>
              <a:rPr lang="en-US" dirty="0"/>
              <a:t>and to turn it into a useful machine. </a:t>
            </a:r>
          </a:p>
          <a:p>
            <a:r>
              <a:rPr lang="en-US" dirty="0"/>
              <a:t>There are two types of software</a:t>
            </a:r>
          </a:p>
          <a:p>
            <a:pPr lvl="1"/>
            <a:r>
              <a:rPr lang="en-US" dirty="0"/>
              <a:t>System Software</a:t>
            </a:r>
          </a:p>
          <a:p>
            <a:pPr lvl="1"/>
            <a:r>
              <a:rPr lang="en-US" dirty="0"/>
              <a:t>Application </a:t>
            </a:r>
            <a:r>
              <a:rPr lang="en-US" dirty="0" smtClean="0"/>
              <a:t>Software</a:t>
            </a:r>
            <a:endParaRPr lang="en-US" dirty="0" smtClean="0"/>
          </a:p>
          <a:p>
            <a:r>
              <a:rPr lang="en-US" b="1" dirty="0" smtClean="0"/>
              <a:t>Systems </a:t>
            </a:r>
            <a:r>
              <a:rPr lang="en-US" b="1" dirty="0"/>
              <a:t>software:</a:t>
            </a:r>
            <a:r>
              <a:rPr lang="en-US" i="1" dirty="0"/>
              <a:t> </a:t>
            </a:r>
            <a:r>
              <a:rPr lang="en-US" dirty="0"/>
              <a:t>coordinates the activities and functions of hardware and </a:t>
            </a:r>
            <a:r>
              <a:rPr lang="en-US" dirty="0" smtClean="0"/>
              <a:t>programs</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41724763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96962"/>
          </a:xfrm>
        </p:spPr>
        <p:txBody>
          <a:bodyPr>
            <a:normAutofit fontScale="90000"/>
          </a:bodyPr>
          <a:lstStyle/>
          <a:p>
            <a:r>
              <a:rPr lang="en-US" dirty="0"/>
              <a:t/>
            </a:r>
            <a:br>
              <a:rPr lang="en-US" dirty="0"/>
            </a:br>
            <a:r>
              <a:rPr lang="en-US" dirty="0"/>
              <a:t> </a:t>
            </a:r>
            <a:r>
              <a:rPr lang="en-US" b="1" dirty="0" smtClean="0">
                <a:effectLst/>
              </a:rPr>
              <a:t>Types of Software </a:t>
            </a:r>
            <a:endParaRPr lang="en-US" b="1" dirty="0">
              <a:effectLst/>
            </a:endParaRPr>
          </a:p>
        </p:txBody>
      </p:sp>
      <p:sp>
        <p:nvSpPr>
          <p:cNvPr id="3" name="Content Placeholder 2"/>
          <p:cNvSpPr>
            <a:spLocks noGrp="1"/>
          </p:cNvSpPr>
          <p:nvPr>
            <p:ph idx="1"/>
          </p:nvPr>
        </p:nvSpPr>
        <p:spPr/>
        <p:txBody>
          <a:bodyPr>
            <a:normAutofit fontScale="92500"/>
          </a:bodyPr>
          <a:lstStyle/>
          <a:p>
            <a:r>
              <a:rPr lang="en-US" dirty="0" smtClean="0"/>
              <a:t>There </a:t>
            </a:r>
            <a:r>
              <a:rPr lang="en-US" dirty="0"/>
              <a:t>are two types of </a:t>
            </a:r>
            <a:r>
              <a:rPr lang="en-US" dirty="0" smtClean="0"/>
              <a:t>software</a:t>
            </a:r>
            <a:endParaRPr lang="en-US" dirty="0"/>
          </a:p>
          <a:p>
            <a:pPr lvl="1"/>
            <a:r>
              <a:rPr lang="en-US" dirty="0" smtClean="0"/>
              <a:t>1. </a:t>
            </a:r>
            <a:r>
              <a:rPr lang="en-US" i="1" dirty="0"/>
              <a:t>System software – </a:t>
            </a:r>
            <a:r>
              <a:rPr lang="en-US" dirty="0"/>
              <a:t>which controls computer system. </a:t>
            </a:r>
          </a:p>
          <a:p>
            <a:pPr lvl="1"/>
            <a:r>
              <a:rPr lang="en-US" dirty="0"/>
              <a:t>2. </a:t>
            </a:r>
            <a:r>
              <a:rPr lang="en-US" dirty="0" smtClean="0"/>
              <a:t> </a:t>
            </a:r>
            <a:r>
              <a:rPr lang="en-US" i="1" dirty="0" smtClean="0"/>
              <a:t>Application </a:t>
            </a:r>
            <a:r>
              <a:rPr lang="en-US" i="1" dirty="0"/>
              <a:t>software – </a:t>
            </a:r>
            <a:r>
              <a:rPr lang="en-US" dirty="0"/>
              <a:t>which carries out specific tasks for an organization or an individual </a:t>
            </a:r>
            <a:r>
              <a:rPr lang="en-US" dirty="0" smtClean="0"/>
              <a:t>user.</a:t>
            </a:r>
          </a:p>
          <a:p>
            <a:pPr lvl="1"/>
            <a:r>
              <a:rPr lang="en-US" b="1" dirty="0"/>
              <a:t>Application software:</a:t>
            </a:r>
            <a:r>
              <a:rPr lang="en-US" dirty="0"/>
              <a:t> helps users solve particular </a:t>
            </a:r>
            <a:r>
              <a:rPr lang="en-US" dirty="0" smtClean="0"/>
              <a:t>problems</a:t>
            </a:r>
            <a:endParaRPr lang="en-US" dirty="0"/>
          </a:p>
          <a:p>
            <a:r>
              <a:rPr lang="en-US" dirty="0"/>
              <a:t>System software must be placed on a computer system before application software can be used. </a:t>
            </a:r>
          </a:p>
          <a:p>
            <a:pPr marL="82296" indent="0">
              <a:buNone/>
            </a:pPr>
            <a:endParaRPr lang="en-US" dirty="0"/>
          </a:p>
          <a:p>
            <a:pPr marL="402336" lvl="1" indent="0">
              <a:buNone/>
            </a:pPr>
            <a:endParaRPr lang="en-US" dirty="0"/>
          </a:p>
          <a:p>
            <a:endParaRPr lang="en-US" dirty="0"/>
          </a:p>
        </p:txBody>
      </p:sp>
    </p:spTree>
    <p:extLst>
      <p:ext uri="{BB962C8B-B14F-4D97-AF65-F5344CB8AC3E}">
        <p14:creationId xmlns:p14="http://schemas.microsoft.com/office/powerpoint/2010/main" val="11062603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6019800"/>
          </a:xfrm>
        </p:spPr>
        <p:txBody>
          <a:bodyPr>
            <a:normAutofit fontScale="77500" lnSpcReduction="20000"/>
          </a:bodyPr>
          <a:lstStyle/>
          <a:p>
            <a:pPr marL="82296" indent="0">
              <a:buNone/>
            </a:pPr>
            <a:r>
              <a:rPr lang="en-US" b="1" dirty="0"/>
              <a:t>System </a:t>
            </a:r>
            <a:r>
              <a:rPr lang="en-US" b="1" dirty="0" smtClean="0"/>
              <a:t>Software</a:t>
            </a:r>
          </a:p>
          <a:p>
            <a:r>
              <a:rPr lang="en-US" dirty="0"/>
              <a:t>D</a:t>
            </a:r>
            <a:r>
              <a:rPr lang="en-US" dirty="0" smtClean="0"/>
              <a:t>esigned </a:t>
            </a:r>
            <a:r>
              <a:rPr lang="en-US" dirty="0"/>
              <a:t>to operate and control </a:t>
            </a:r>
            <a:r>
              <a:rPr lang="en-US" dirty="0" smtClean="0"/>
              <a:t>computer </a:t>
            </a:r>
            <a:r>
              <a:rPr lang="en-US" dirty="0"/>
              <a:t>hardware and to provide a platform for running application software. </a:t>
            </a:r>
            <a:endParaRPr lang="en-US" dirty="0" smtClean="0"/>
          </a:p>
          <a:p>
            <a:r>
              <a:rPr lang="en-US" dirty="0" smtClean="0"/>
              <a:t>Programs </a:t>
            </a:r>
            <a:r>
              <a:rPr lang="en-US" dirty="0"/>
              <a:t>that support the execution and development of other </a:t>
            </a:r>
            <a:r>
              <a:rPr lang="en-US" dirty="0" smtClean="0"/>
              <a:t>programs</a:t>
            </a:r>
            <a:endParaRPr lang="en-US" dirty="0"/>
          </a:p>
          <a:p>
            <a:r>
              <a:rPr lang="en-US" dirty="0" smtClean="0"/>
              <a:t>A user </a:t>
            </a:r>
            <a:r>
              <a:rPr lang="en-US" dirty="0"/>
              <a:t>is normally not aware of the system software. </a:t>
            </a:r>
          </a:p>
          <a:p>
            <a:r>
              <a:rPr lang="en-US" dirty="0" smtClean="0"/>
              <a:t>Technical </a:t>
            </a:r>
            <a:r>
              <a:rPr lang="en-US" dirty="0"/>
              <a:t>users such as system administrator spend most of their time working with system software. </a:t>
            </a:r>
          </a:p>
          <a:p>
            <a:r>
              <a:rPr lang="en-US" dirty="0" smtClean="0"/>
              <a:t>System </a:t>
            </a:r>
            <a:r>
              <a:rPr lang="en-US" dirty="0"/>
              <a:t>software works on the background when a user is doing something useful with application software, for example, when printing a </a:t>
            </a:r>
            <a:r>
              <a:rPr lang="en-US" dirty="0" smtClean="0"/>
              <a:t>document.</a:t>
            </a:r>
          </a:p>
          <a:p>
            <a:r>
              <a:rPr lang="en-US" dirty="0" smtClean="0"/>
              <a:t>Types </a:t>
            </a:r>
            <a:r>
              <a:rPr lang="en-US" dirty="0"/>
              <a:t>of systems software</a:t>
            </a:r>
          </a:p>
          <a:p>
            <a:pPr lvl="2">
              <a:tabLst>
                <a:tab pos="2286000" algn="l"/>
              </a:tabLst>
            </a:pPr>
            <a:r>
              <a:rPr lang="en-US" sz="2800" dirty="0" smtClean="0"/>
              <a:t>Operating systems</a:t>
            </a:r>
          </a:p>
          <a:p>
            <a:pPr lvl="2"/>
            <a:r>
              <a:rPr lang="en-US" dirty="0"/>
              <a:t>Utility </a:t>
            </a:r>
            <a:r>
              <a:rPr lang="en-US" dirty="0" smtClean="0"/>
              <a:t>programs</a:t>
            </a:r>
            <a:endParaRPr lang="en-US" dirty="0"/>
          </a:p>
          <a:p>
            <a:endParaRPr lang="en-US" dirty="0"/>
          </a:p>
          <a:p>
            <a:endParaRPr lang="en-US" dirty="0"/>
          </a:p>
        </p:txBody>
      </p:sp>
    </p:spTree>
    <p:extLst>
      <p:ext uri="{BB962C8B-B14F-4D97-AF65-F5344CB8AC3E}">
        <p14:creationId xmlns:p14="http://schemas.microsoft.com/office/powerpoint/2010/main" val="860377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867400"/>
          </a:xfrm>
        </p:spPr>
        <p:txBody>
          <a:bodyPr>
            <a:normAutofit fontScale="70000" lnSpcReduction="20000"/>
          </a:bodyPr>
          <a:lstStyle/>
          <a:p>
            <a:pPr marL="82296" indent="0">
              <a:buNone/>
            </a:pPr>
            <a:r>
              <a:rPr lang="da-DK" b="1" dirty="0" smtClean="0"/>
              <a:t>Operating Systems (OS)</a:t>
            </a:r>
            <a:endParaRPr lang="en-US" b="1" dirty="0" smtClean="0"/>
          </a:p>
          <a:p>
            <a:r>
              <a:rPr lang="en-US" dirty="0" smtClean="0"/>
              <a:t>A</a:t>
            </a:r>
            <a:r>
              <a:rPr lang="en-US" b="1" dirty="0" smtClean="0"/>
              <a:t> </a:t>
            </a:r>
            <a:r>
              <a:rPr lang="en-US" dirty="0" smtClean="0"/>
              <a:t>set </a:t>
            </a:r>
            <a:r>
              <a:rPr lang="en-US" dirty="0"/>
              <a:t>of programs that controls the computer hardware and acts as an interface with application programs</a:t>
            </a:r>
          </a:p>
          <a:p>
            <a:r>
              <a:rPr lang="en-US" dirty="0"/>
              <a:t>OS acts as an </a:t>
            </a:r>
            <a:r>
              <a:rPr lang="en-US" dirty="0" smtClean="0"/>
              <a:t>intermediary (in-between) between </a:t>
            </a:r>
            <a:r>
              <a:rPr lang="en-US" dirty="0"/>
              <a:t>application and </a:t>
            </a:r>
            <a:r>
              <a:rPr lang="en-US" dirty="0" smtClean="0"/>
              <a:t>hardware.</a:t>
            </a:r>
          </a:p>
          <a:p>
            <a:r>
              <a:rPr lang="en-US" dirty="0" smtClean="0"/>
              <a:t>The </a:t>
            </a:r>
            <a:r>
              <a:rPr lang="en-US" dirty="0"/>
              <a:t>core of the system software is the operating system. </a:t>
            </a:r>
          </a:p>
          <a:p>
            <a:pPr lvl="1"/>
            <a:r>
              <a:rPr lang="en-US" dirty="0" smtClean="0"/>
              <a:t>Windows </a:t>
            </a:r>
            <a:r>
              <a:rPr lang="en-US" dirty="0"/>
              <a:t>is an operating system that is widely used. </a:t>
            </a:r>
          </a:p>
          <a:p>
            <a:pPr lvl="1"/>
            <a:r>
              <a:rPr lang="en-US" dirty="0"/>
              <a:t>O</a:t>
            </a:r>
            <a:r>
              <a:rPr lang="en-US" dirty="0" smtClean="0"/>
              <a:t>ther </a:t>
            </a:r>
            <a:r>
              <a:rPr lang="en-US" dirty="0"/>
              <a:t>operating systems </a:t>
            </a:r>
            <a:r>
              <a:rPr lang="en-US" dirty="0" smtClean="0"/>
              <a:t>are Linux, Unix, </a:t>
            </a:r>
            <a:r>
              <a:rPr lang="en-US" dirty="0"/>
              <a:t>MAC OS</a:t>
            </a:r>
            <a:r>
              <a:rPr lang="en-US" dirty="0" smtClean="0"/>
              <a:t>., Windows Server </a:t>
            </a:r>
            <a:endParaRPr lang="en-US" dirty="0"/>
          </a:p>
          <a:p>
            <a:r>
              <a:rPr lang="en-US" dirty="0"/>
              <a:t>O</a:t>
            </a:r>
            <a:r>
              <a:rPr lang="en-US" dirty="0" smtClean="0"/>
              <a:t>perating </a:t>
            </a:r>
            <a:r>
              <a:rPr lang="en-US" dirty="0"/>
              <a:t>system is </a:t>
            </a:r>
            <a:r>
              <a:rPr lang="en-US" dirty="0" smtClean="0"/>
              <a:t>not </a:t>
            </a:r>
            <a:r>
              <a:rPr lang="en-US" dirty="0"/>
              <a:t>a single program but a collection of programs, each of which carries a specific task. </a:t>
            </a:r>
          </a:p>
          <a:p>
            <a:r>
              <a:rPr lang="en-US" dirty="0" smtClean="0"/>
              <a:t>Extra </a:t>
            </a:r>
            <a:r>
              <a:rPr lang="en-US" dirty="0"/>
              <a:t>programs can be added to the main operating system. </a:t>
            </a:r>
          </a:p>
          <a:p>
            <a:r>
              <a:rPr lang="en-US" dirty="0" smtClean="0"/>
              <a:t>For </a:t>
            </a:r>
            <a:r>
              <a:rPr lang="en-US" dirty="0"/>
              <a:t>example, when a new printer is added to the system, </a:t>
            </a:r>
            <a:r>
              <a:rPr lang="en-US" dirty="0" smtClean="0"/>
              <a:t>printer drivers </a:t>
            </a:r>
            <a:r>
              <a:rPr lang="en-US" dirty="0"/>
              <a:t>has to be installed to enable operating system communicate with the device. </a:t>
            </a:r>
            <a:endParaRPr lang="en-US" dirty="0" smtClean="0"/>
          </a:p>
          <a:p>
            <a:endParaRPr lang="en-US" dirty="0"/>
          </a:p>
          <a:p>
            <a:endParaRPr lang="en-US" dirty="0"/>
          </a:p>
        </p:txBody>
      </p:sp>
    </p:spTree>
    <p:extLst>
      <p:ext uri="{BB962C8B-B14F-4D97-AF65-F5344CB8AC3E}">
        <p14:creationId xmlns:p14="http://schemas.microsoft.com/office/powerpoint/2010/main" val="29968908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normAutofit fontScale="92500" lnSpcReduction="10000"/>
          </a:bodyPr>
          <a:lstStyle/>
          <a:p>
            <a:r>
              <a:rPr lang="en-US" dirty="0"/>
              <a:t>Activities performed by the operating system</a:t>
            </a:r>
          </a:p>
          <a:p>
            <a:pPr lvl="1"/>
            <a:r>
              <a:rPr lang="en-US" dirty="0"/>
              <a:t>Perform common computer hardware functions</a:t>
            </a:r>
          </a:p>
          <a:p>
            <a:pPr lvl="1"/>
            <a:r>
              <a:rPr lang="en-US" dirty="0"/>
              <a:t>Provide a user interface and input/output management</a:t>
            </a:r>
          </a:p>
          <a:p>
            <a:pPr lvl="1"/>
            <a:r>
              <a:rPr lang="en-US" dirty="0"/>
              <a:t>Provide a degree of hardware independence</a:t>
            </a:r>
          </a:p>
          <a:p>
            <a:pPr lvl="1"/>
            <a:r>
              <a:rPr lang="en-US" dirty="0"/>
              <a:t>Manage system memory</a:t>
            </a:r>
          </a:p>
          <a:p>
            <a:pPr lvl="1"/>
            <a:r>
              <a:rPr lang="en-US" dirty="0"/>
              <a:t>Manage processing tasks</a:t>
            </a:r>
          </a:p>
          <a:p>
            <a:pPr lvl="1"/>
            <a:r>
              <a:rPr lang="en-US" dirty="0"/>
              <a:t>Provide networking capability</a:t>
            </a:r>
          </a:p>
          <a:p>
            <a:pPr lvl="1"/>
            <a:r>
              <a:rPr lang="en-US" dirty="0"/>
              <a:t>Control access to system resources</a:t>
            </a:r>
          </a:p>
          <a:p>
            <a:pPr lvl="1"/>
            <a:r>
              <a:rPr lang="en-US" dirty="0"/>
              <a:t>Manage files</a:t>
            </a:r>
          </a:p>
          <a:p>
            <a:r>
              <a:rPr lang="en-US" dirty="0"/>
              <a:t>O</a:t>
            </a:r>
            <a:r>
              <a:rPr lang="en-US" dirty="0" smtClean="0"/>
              <a:t>perating </a:t>
            </a:r>
            <a:r>
              <a:rPr lang="en-US" dirty="0"/>
              <a:t>system is designed to make the computer system as efficient as possible. </a:t>
            </a:r>
          </a:p>
          <a:p>
            <a:endParaRPr lang="en-US" dirty="0"/>
          </a:p>
        </p:txBody>
      </p:sp>
    </p:spTree>
    <p:extLst>
      <p:ext uri="{BB962C8B-B14F-4D97-AF65-F5344CB8AC3E}">
        <p14:creationId xmlns:p14="http://schemas.microsoft.com/office/powerpoint/2010/main" val="38186816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defRPr/>
            </a:pPr>
            <a:fld id="{EC6EBA69-2FFD-41BF-A079-B31553FCC432}" type="slidenum">
              <a:rPr lang="en-US"/>
              <a:pPr>
                <a:defRPr/>
              </a:pPr>
              <a:t>7</a:t>
            </a:fld>
            <a:endParaRPr lang="en-US"/>
          </a:p>
        </p:txBody>
      </p:sp>
      <p:sp>
        <p:nvSpPr>
          <p:cNvPr id="16388" name="Rectangle 2"/>
          <p:cNvSpPr>
            <a:spLocks noGrp="1" noChangeArrowheads="1"/>
          </p:cNvSpPr>
          <p:nvPr>
            <p:ph type="title"/>
          </p:nvPr>
        </p:nvSpPr>
        <p:spPr>
          <a:xfrm>
            <a:off x="1219200" y="381000"/>
            <a:ext cx="7391400" cy="1143000"/>
          </a:xfrm>
        </p:spPr>
        <p:txBody>
          <a:bodyPr/>
          <a:lstStyle/>
          <a:p>
            <a:pPr eaLnBrk="1" hangingPunct="1"/>
            <a:r>
              <a:rPr lang="en-US" dirty="0" smtClean="0"/>
              <a:t>Operating Systems (continued)</a:t>
            </a:r>
          </a:p>
        </p:txBody>
      </p:sp>
      <p:sp>
        <p:nvSpPr>
          <p:cNvPr id="16389" name="Rectangle 4"/>
          <p:cNvSpPr>
            <a:spLocks noChangeArrowheads="1"/>
          </p:cNvSpPr>
          <p:nvPr/>
        </p:nvSpPr>
        <p:spPr bwMode="auto">
          <a:xfrm>
            <a:off x="2057400" y="5562600"/>
            <a:ext cx="6172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pPr>
            <a:r>
              <a:rPr lang="en-US" sz="1800" b="1" dirty="0" smtClean="0">
                <a:solidFill>
                  <a:schemeClr val="tx1"/>
                </a:solidFill>
                <a:latin typeface="Arial" charset="0"/>
              </a:rPr>
              <a:t>The </a:t>
            </a:r>
            <a:r>
              <a:rPr lang="en-US" sz="1800" b="1" dirty="0">
                <a:solidFill>
                  <a:schemeClr val="tx1"/>
                </a:solidFill>
                <a:latin typeface="Arial" charset="0"/>
              </a:rPr>
              <a:t>Role of Systems Software</a:t>
            </a:r>
          </a:p>
        </p:txBody>
      </p:sp>
      <p:pic>
        <p:nvPicPr>
          <p:cNvPr id="16390" name="Picture 5" descr="Fig 4-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95400" y="2971800"/>
            <a:ext cx="6505575" cy="1900238"/>
          </a:xfrm>
          <a:noFill/>
        </p:spPr>
      </p:pic>
      <p:sp>
        <p:nvSpPr>
          <p:cNvPr id="16391" name="Rectangle 6"/>
          <p:cNvSpPr>
            <a:spLocks noChangeArrowheads="1"/>
          </p:cNvSpPr>
          <p:nvPr/>
        </p:nvSpPr>
        <p:spPr bwMode="auto">
          <a:xfrm>
            <a:off x="1371600" y="1524000"/>
            <a:ext cx="6705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dirty="0">
                <a:solidFill>
                  <a:schemeClr val="tx1"/>
                </a:solidFill>
                <a:latin typeface="Arial" charset="0"/>
              </a:rPr>
              <a:t>The role of Systems Software –interface between users, application software and hardware</a:t>
            </a:r>
            <a:endParaRPr lang="en-US" dirty="0"/>
          </a:p>
        </p:txBody>
      </p:sp>
    </p:spTree>
    <p:extLst>
      <p:ext uri="{BB962C8B-B14F-4D97-AF65-F5344CB8AC3E}">
        <p14:creationId xmlns:p14="http://schemas.microsoft.com/office/powerpoint/2010/main" val="888546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B971C3CC-5A44-4419-9131-ECFEAB833BE8}" type="slidenum">
              <a:rPr lang="en-US"/>
              <a:pPr>
                <a:defRPr/>
              </a:pPr>
              <a:t>8</a:t>
            </a:fld>
            <a:endParaRPr lang="en-US"/>
          </a:p>
        </p:txBody>
      </p:sp>
      <p:sp>
        <p:nvSpPr>
          <p:cNvPr id="17412" name="Rectangle 2"/>
          <p:cNvSpPr>
            <a:spLocks noGrp="1" noChangeArrowheads="1"/>
          </p:cNvSpPr>
          <p:nvPr>
            <p:ph type="title"/>
          </p:nvPr>
        </p:nvSpPr>
        <p:spPr/>
        <p:txBody>
          <a:bodyPr/>
          <a:lstStyle/>
          <a:p>
            <a:pPr eaLnBrk="1" hangingPunct="1"/>
            <a:r>
              <a:rPr lang="en-US" smtClean="0"/>
              <a:t>Operating Systems (continued)</a:t>
            </a:r>
          </a:p>
        </p:txBody>
      </p:sp>
      <p:sp>
        <p:nvSpPr>
          <p:cNvPr id="17413" name="Rectangle 3"/>
          <p:cNvSpPr>
            <a:spLocks noGrp="1" noChangeArrowheads="1"/>
          </p:cNvSpPr>
          <p:nvPr>
            <p:ph type="body" idx="1"/>
          </p:nvPr>
        </p:nvSpPr>
        <p:spPr/>
        <p:txBody>
          <a:bodyPr>
            <a:normAutofit fontScale="92500" lnSpcReduction="10000"/>
          </a:bodyPr>
          <a:lstStyle/>
          <a:p>
            <a:pPr eaLnBrk="1" hangingPunct="1"/>
            <a:r>
              <a:rPr lang="en-US" dirty="0" smtClean="0"/>
              <a:t>OS acts as an intermediary between application and hardware</a:t>
            </a:r>
          </a:p>
          <a:p>
            <a:pPr eaLnBrk="1" hangingPunct="1"/>
            <a:r>
              <a:rPr lang="en-US" dirty="0" smtClean="0"/>
              <a:t>OS converts basic request into a set of details instruction that the hardware requires</a:t>
            </a:r>
          </a:p>
          <a:p>
            <a:pPr eaLnBrk="1" hangingPunct="1"/>
            <a:r>
              <a:rPr lang="en-US" dirty="0" smtClean="0"/>
              <a:t>Common hardware functions (e.g.)</a:t>
            </a:r>
          </a:p>
          <a:p>
            <a:pPr lvl="1" eaLnBrk="1" hangingPunct="1"/>
            <a:r>
              <a:rPr lang="en-US" dirty="0" smtClean="0"/>
              <a:t>Get input from keyboard or some other input device</a:t>
            </a:r>
          </a:p>
          <a:p>
            <a:pPr lvl="1" eaLnBrk="1" hangingPunct="1"/>
            <a:r>
              <a:rPr lang="en-US" dirty="0" smtClean="0"/>
              <a:t>Retrieve data from disks</a:t>
            </a:r>
          </a:p>
          <a:p>
            <a:pPr lvl="1" eaLnBrk="1" hangingPunct="1"/>
            <a:r>
              <a:rPr lang="en-US" dirty="0" smtClean="0"/>
              <a:t>Store data on disks</a:t>
            </a:r>
          </a:p>
          <a:p>
            <a:pPr lvl="1" eaLnBrk="1" hangingPunct="1"/>
            <a:r>
              <a:rPr lang="en-US" dirty="0" smtClean="0"/>
              <a:t>Display information on a monitor or printer</a:t>
            </a:r>
          </a:p>
        </p:txBody>
      </p:sp>
    </p:spTree>
    <p:extLst>
      <p:ext uri="{BB962C8B-B14F-4D97-AF65-F5344CB8AC3E}">
        <p14:creationId xmlns:p14="http://schemas.microsoft.com/office/powerpoint/2010/main" val="28795012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pPr eaLnBrk="1" hangingPunct="1"/>
            <a:r>
              <a:rPr lang="en-US" smtClean="0"/>
              <a:t>Operating Systems Functions</a:t>
            </a:r>
          </a:p>
        </p:txBody>
      </p:sp>
      <p:sp>
        <p:nvSpPr>
          <p:cNvPr id="18437" name="Rectangle 3"/>
          <p:cNvSpPr>
            <a:spLocks noGrp="1" noChangeArrowheads="1"/>
          </p:cNvSpPr>
          <p:nvPr>
            <p:ph type="body" idx="1"/>
          </p:nvPr>
        </p:nvSpPr>
        <p:spPr/>
        <p:txBody>
          <a:bodyPr>
            <a:normAutofit fontScale="92500" lnSpcReduction="20000"/>
          </a:bodyPr>
          <a:lstStyle/>
          <a:p>
            <a:pPr marL="514350" indent="-514350" eaLnBrk="1" hangingPunct="1">
              <a:buFontTx/>
              <a:buAutoNum type="arabicPeriod"/>
            </a:pPr>
            <a:r>
              <a:rPr lang="en-US" dirty="0" smtClean="0"/>
              <a:t>User interface and input/output management</a:t>
            </a:r>
          </a:p>
          <a:p>
            <a:pPr marL="1245870" lvl="3" indent="-514350">
              <a:buFontTx/>
              <a:buAutoNum type="arabicPeriod"/>
            </a:pPr>
            <a:r>
              <a:rPr lang="en-US" dirty="0" smtClean="0"/>
              <a:t>Any </a:t>
            </a:r>
            <a:r>
              <a:rPr lang="en-US" dirty="0"/>
              <a:t>operation, program, or device that transfers data to or from a computer</a:t>
            </a:r>
            <a:r>
              <a:rPr lang="en-US" dirty="0" smtClean="0"/>
              <a:t>.</a:t>
            </a:r>
          </a:p>
          <a:p>
            <a:pPr marL="1245870" lvl="3" indent="-514350">
              <a:buFontTx/>
              <a:buAutoNum type="arabicPeriod"/>
            </a:pPr>
            <a:r>
              <a:rPr lang="en-US" dirty="0" smtClean="0"/>
              <a:t>I/O </a:t>
            </a:r>
            <a:r>
              <a:rPr lang="en-US" dirty="0"/>
              <a:t>devices are printers, hard disks, keyboards, and </a:t>
            </a:r>
            <a:r>
              <a:rPr lang="en-US" dirty="0" err="1"/>
              <a:t>mouses</a:t>
            </a:r>
            <a:r>
              <a:rPr lang="en-US" dirty="0"/>
              <a:t>.</a:t>
            </a:r>
            <a:endParaRPr lang="en-US" dirty="0" smtClean="0"/>
          </a:p>
          <a:p>
            <a:pPr lvl="1" eaLnBrk="1" hangingPunct="1"/>
            <a:r>
              <a:rPr lang="en-US" b="1" dirty="0" smtClean="0"/>
              <a:t>User interface:</a:t>
            </a:r>
            <a:r>
              <a:rPr lang="en-US" dirty="0" smtClean="0"/>
              <a:t> allows individuals to access and command computer system</a:t>
            </a:r>
          </a:p>
          <a:p>
            <a:pPr lvl="1" eaLnBrk="1" hangingPunct="1"/>
            <a:r>
              <a:rPr lang="en-US" b="1" dirty="0" smtClean="0"/>
              <a:t>Command-based user interface: </a:t>
            </a:r>
            <a:r>
              <a:rPr lang="en-US" dirty="0" smtClean="0"/>
              <a:t>requires that text commands be given to the computer to perform basic activities</a:t>
            </a:r>
          </a:p>
          <a:p>
            <a:pPr lvl="1" eaLnBrk="1" hangingPunct="1"/>
            <a:r>
              <a:rPr lang="en-US" b="1" dirty="0" smtClean="0"/>
              <a:t>Graphical user interface (GUI): </a:t>
            </a:r>
            <a:r>
              <a:rPr lang="en-US" dirty="0" smtClean="0"/>
              <a:t>uses icons and menus displayed on screen to send commands to the computer system</a:t>
            </a:r>
          </a:p>
        </p:txBody>
      </p:sp>
    </p:spTree>
    <p:extLst>
      <p:ext uri="{BB962C8B-B14F-4D97-AF65-F5344CB8AC3E}">
        <p14:creationId xmlns:p14="http://schemas.microsoft.com/office/powerpoint/2010/main" val="3174152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0B492806-18BE-436F-AB63-3D357084F525}" type="slidenum">
              <a:rPr lang="en-US"/>
              <a:pPr>
                <a:defRPr/>
              </a:pPr>
              <a:t>10</a:t>
            </a:fld>
            <a:endParaRPr lang="en-US" dirty="0"/>
          </a:p>
        </p:txBody>
      </p:sp>
      <p:sp>
        <p:nvSpPr>
          <p:cNvPr id="19460" name="Rectangle 2"/>
          <p:cNvSpPr>
            <a:spLocks noGrp="1" noChangeArrowheads="1"/>
          </p:cNvSpPr>
          <p:nvPr>
            <p:ph type="title"/>
          </p:nvPr>
        </p:nvSpPr>
        <p:spPr/>
        <p:txBody>
          <a:bodyPr>
            <a:normAutofit fontScale="90000"/>
          </a:bodyPr>
          <a:lstStyle/>
          <a:p>
            <a:pPr eaLnBrk="1" hangingPunct="1"/>
            <a:r>
              <a:rPr lang="en-US" smtClean="0">
                <a:solidFill>
                  <a:schemeClr val="tx1"/>
                </a:solidFill>
              </a:rPr>
              <a:t>Operating Systems Functions (continued)</a:t>
            </a:r>
          </a:p>
        </p:txBody>
      </p:sp>
      <p:sp>
        <p:nvSpPr>
          <p:cNvPr id="19461" name="Rectangle 3"/>
          <p:cNvSpPr>
            <a:spLocks noGrp="1" noChangeArrowheads="1"/>
          </p:cNvSpPr>
          <p:nvPr>
            <p:ph type="body" idx="1"/>
          </p:nvPr>
        </p:nvSpPr>
        <p:spPr/>
        <p:txBody>
          <a:bodyPr/>
          <a:lstStyle/>
          <a:p>
            <a:pPr marL="514350" indent="-514350" eaLnBrk="1" hangingPunct="1">
              <a:buFontTx/>
              <a:buAutoNum type="arabicPeriod" startAt="2"/>
            </a:pPr>
            <a:r>
              <a:rPr lang="en-US" dirty="0" smtClean="0"/>
              <a:t>Hardware independence</a:t>
            </a:r>
          </a:p>
          <a:p>
            <a:pPr lvl="1" eaLnBrk="1" hangingPunct="1"/>
            <a:r>
              <a:rPr lang="en-US" b="1" dirty="0" smtClean="0"/>
              <a:t>Application program interface (API): </a:t>
            </a:r>
            <a:r>
              <a:rPr lang="en-US" dirty="0" smtClean="0"/>
              <a:t>allows applications to make use of the operating system</a:t>
            </a:r>
          </a:p>
          <a:p>
            <a:pPr marL="514350" indent="-514350" eaLnBrk="1" hangingPunct="1">
              <a:buFontTx/>
              <a:buAutoNum type="arabicPeriod" startAt="3"/>
            </a:pPr>
            <a:r>
              <a:rPr lang="en-US" dirty="0" smtClean="0"/>
              <a:t>Memory management</a:t>
            </a:r>
          </a:p>
          <a:p>
            <a:pPr lvl="1" eaLnBrk="1" hangingPunct="1"/>
            <a:r>
              <a:rPr lang="en-US" dirty="0" smtClean="0"/>
              <a:t>Control how memory is accessed and maximize available memory and storage</a:t>
            </a:r>
          </a:p>
          <a:p>
            <a:pPr lvl="1" eaLnBrk="1" hangingPunct="1"/>
            <a:endParaRPr lang="en-US" dirty="0" smtClean="0"/>
          </a:p>
          <a:p>
            <a:pPr marL="514350" indent="-514350" eaLnBrk="1" hangingPunct="1"/>
            <a:endParaRPr lang="en-US" dirty="0" smtClean="0"/>
          </a:p>
        </p:txBody>
      </p:sp>
    </p:spTree>
    <p:extLst>
      <p:ext uri="{BB962C8B-B14F-4D97-AF65-F5344CB8AC3E}">
        <p14:creationId xmlns:p14="http://schemas.microsoft.com/office/powerpoint/2010/main" val="5164193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a:xfrm>
            <a:off x="1371600" y="381000"/>
            <a:ext cx="7239000" cy="1143000"/>
          </a:xfrm>
        </p:spPr>
        <p:txBody>
          <a:bodyPr>
            <a:normAutofit fontScale="90000"/>
          </a:bodyPr>
          <a:lstStyle/>
          <a:p>
            <a:pPr eaLnBrk="1" hangingPunct="1"/>
            <a:r>
              <a:rPr lang="en-US" dirty="0" smtClean="0">
                <a:solidFill>
                  <a:schemeClr val="tx1"/>
                </a:solidFill>
              </a:rPr>
              <a:t>Operating Systems Functions (continued)</a:t>
            </a:r>
          </a:p>
        </p:txBody>
      </p:sp>
      <p:sp>
        <p:nvSpPr>
          <p:cNvPr id="20485" name="Rectangle 4"/>
          <p:cNvSpPr>
            <a:spLocks noChangeArrowheads="1"/>
          </p:cNvSpPr>
          <p:nvPr/>
        </p:nvSpPr>
        <p:spPr bwMode="auto">
          <a:xfrm>
            <a:off x="457200" y="54864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pPr>
            <a:r>
              <a:rPr lang="en-US" sz="1800" b="1" dirty="0" smtClean="0">
                <a:solidFill>
                  <a:schemeClr val="tx1"/>
                </a:solidFill>
                <a:latin typeface="Arial" charset="0"/>
              </a:rPr>
              <a:t>Application </a:t>
            </a:r>
            <a:r>
              <a:rPr lang="en-US" sz="1800" b="1" dirty="0">
                <a:solidFill>
                  <a:schemeClr val="tx1"/>
                </a:solidFill>
                <a:latin typeface="Arial" charset="0"/>
              </a:rPr>
              <a:t>Program Interface Links Application Software to the Operating System</a:t>
            </a:r>
          </a:p>
        </p:txBody>
      </p:sp>
      <p:pic>
        <p:nvPicPr>
          <p:cNvPr id="20486" name="Picture 8" descr="Fig 4-6"/>
          <p:cNvPicPr>
            <a:picLocks noGrp="1" noChangeAspect="1" noChangeArrowheads="1"/>
          </p:cNvPicPr>
          <p:nvPr>
            <p:ph sz="half" idx="1"/>
          </p:nvPr>
        </p:nvPicPr>
        <p:blipFill>
          <a:blip r:embed="rId3">
            <a:lum contrast="6000"/>
            <a:extLst>
              <a:ext uri="{28A0092B-C50C-407E-A947-70E740481C1C}">
                <a14:useLocalDpi xmlns:a14="http://schemas.microsoft.com/office/drawing/2010/main" val="0"/>
              </a:ext>
            </a:extLst>
          </a:blip>
          <a:srcRect/>
          <a:stretch>
            <a:fillRect/>
          </a:stretch>
        </p:blipFill>
        <p:spPr>
          <a:xfrm>
            <a:off x="2667000" y="1676400"/>
            <a:ext cx="4251325" cy="3521075"/>
          </a:xfrm>
          <a:noFill/>
        </p:spPr>
      </p:pic>
    </p:spTree>
    <p:extLst>
      <p:ext uri="{BB962C8B-B14F-4D97-AF65-F5344CB8AC3E}">
        <p14:creationId xmlns:p14="http://schemas.microsoft.com/office/powerpoint/2010/main" val="25893713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p:cNvSpPr>
            <a:spLocks noGrp="1"/>
          </p:cNvSpPr>
          <p:nvPr>
            <p:ph type="sldNum" sz="quarter" idx="11"/>
          </p:nvPr>
        </p:nvSpPr>
        <p:spPr/>
        <p:txBody>
          <a:bodyPr/>
          <a:lstStyle/>
          <a:p>
            <a:pPr>
              <a:defRPr/>
            </a:pPr>
            <a:fld id="{2B1610B1-5618-463B-A77C-3667C8002A82}" type="slidenum">
              <a:rPr lang="en-US"/>
              <a:pPr>
                <a:defRPr/>
              </a:pPr>
              <a:t>12</a:t>
            </a:fld>
            <a:endParaRPr lang="en-US"/>
          </a:p>
        </p:txBody>
      </p:sp>
      <p:sp>
        <p:nvSpPr>
          <p:cNvPr id="21508" name="Rectangle 2"/>
          <p:cNvSpPr>
            <a:spLocks noGrp="1" noChangeArrowheads="1"/>
          </p:cNvSpPr>
          <p:nvPr>
            <p:ph type="title"/>
          </p:nvPr>
        </p:nvSpPr>
        <p:spPr/>
        <p:txBody>
          <a:bodyPr/>
          <a:lstStyle/>
          <a:p>
            <a:pPr eaLnBrk="1" hangingPunct="1"/>
            <a:r>
              <a:rPr lang="en-US" sz="2800" b="1" smtClean="0"/>
              <a:t> </a:t>
            </a:r>
            <a:endParaRPr lang="en-US" sz="2400" smtClean="0"/>
          </a:p>
        </p:txBody>
      </p:sp>
      <p:sp>
        <p:nvSpPr>
          <p:cNvPr id="21509" name="Rectangle 3"/>
          <p:cNvSpPr>
            <a:spLocks noGrp="1" noChangeArrowheads="1"/>
          </p:cNvSpPr>
          <p:nvPr>
            <p:ph type="body" idx="1"/>
          </p:nvPr>
        </p:nvSpPr>
        <p:spPr>
          <a:xfrm>
            <a:off x="1219200" y="1676400"/>
            <a:ext cx="7391400" cy="4335463"/>
          </a:xfrm>
        </p:spPr>
        <p:txBody>
          <a:bodyPr>
            <a:normAutofit fontScale="92500" lnSpcReduction="10000"/>
          </a:bodyPr>
          <a:lstStyle/>
          <a:p>
            <a:pPr marL="514350" indent="-514350" eaLnBrk="1" hangingPunct="1">
              <a:buFontTx/>
              <a:buAutoNum type="arabicPeriod" startAt="4"/>
            </a:pPr>
            <a:r>
              <a:rPr lang="en-US" dirty="0" smtClean="0"/>
              <a:t>Processing tasks</a:t>
            </a:r>
          </a:p>
          <a:p>
            <a:pPr lvl="1" eaLnBrk="1" hangingPunct="1"/>
            <a:r>
              <a:rPr lang="en-US" b="1" dirty="0" smtClean="0"/>
              <a:t>Multitasking: </a:t>
            </a:r>
            <a:r>
              <a:rPr lang="en-US" dirty="0" smtClean="0"/>
              <a:t>more than one program can run at the same time</a:t>
            </a:r>
          </a:p>
          <a:p>
            <a:pPr lvl="1" eaLnBrk="1" hangingPunct="1"/>
            <a:r>
              <a:rPr lang="en-US" b="1" dirty="0" smtClean="0"/>
              <a:t>Time-sharing:</a:t>
            </a:r>
            <a:r>
              <a:rPr lang="en-US" dirty="0" smtClean="0"/>
              <a:t> allows more than one person to use a computer system at the same time</a:t>
            </a:r>
          </a:p>
          <a:p>
            <a:pPr lvl="1" eaLnBrk="1" hangingPunct="1"/>
            <a:r>
              <a:rPr lang="en-US" b="1" dirty="0" smtClean="0"/>
              <a:t>Scalability:</a:t>
            </a:r>
            <a:r>
              <a:rPr lang="en-US" dirty="0" smtClean="0"/>
              <a:t> ability of the computer to handle an increasing number of concurrent users smoothly</a:t>
            </a:r>
          </a:p>
          <a:p>
            <a:pPr marL="514350" indent="-514350" eaLnBrk="1" hangingPunct="1">
              <a:buFontTx/>
              <a:buAutoNum type="arabicPeriod" startAt="5"/>
            </a:pPr>
            <a:r>
              <a:rPr lang="en-US" dirty="0" smtClean="0"/>
              <a:t>Networking capability</a:t>
            </a:r>
          </a:p>
          <a:p>
            <a:pPr lvl="1" eaLnBrk="1" hangingPunct="1"/>
            <a:r>
              <a:rPr lang="en-US" dirty="0" smtClean="0"/>
              <a:t>OS provides features and capabilities that help users in connecting to a computer network</a:t>
            </a:r>
          </a:p>
        </p:txBody>
      </p:sp>
      <p:sp>
        <p:nvSpPr>
          <p:cNvPr id="21510" name="Rectangle 4"/>
          <p:cNvSpPr>
            <a:spLocks noChangeArrowheads="1"/>
          </p:cNvSpPr>
          <p:nvPr/>
        </p:nvSpPr>
        <p:spPr bwMode="auto">
          <a:xfrm>
            <a:off x="533400" y="533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sz="3600">
                <a:solidFill>
                  <a:srgbClr val="222222"/>
                </a:solidFill>
                <a:latin typeface="Arial" charset="0"/>
              </a:rPr>
              <a:t>Operating Systems (continued)</a:t>
            </a:r>
          </a:p>
        </p:txBody>
      </p:sp>
    </p:spTree>
    <p:extLst>
      <p:ext uri="{BB962C8B-B14F-4D97-AF65-F5344CB8AC3E}">
        <p14:creationId xmlns:p14="http://schemas.microsoft.com/office/powerpoint/2010/main" val="2445087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57819189-922E-41D0-BCD9-9E3347C199EA}" type="slidenum">
              <a:rPr lang="en-US"/>
              <a:pPr>
                <a:defRPr/>
              </a:pPr>
              <a:t>13</a:t>
            </a:fld>
            <a:endParaRPr lang="en-US"/>
          </a:p>
        </p:txBody>
      </p:sp>
      <p:sp>
        <p:nvSpPr>
          <p:cNvPr id="22532" name="Rectangle 2"/>
          <p:cNvSpPr>
            <a:spLocks noGrp="1" noChangeArrowheads="1"/>
          </p:cNvSpPr>
          <p:nvPr>
            <p:ph type="title"/>
          </p:nvPr>
        </p:nvSpPr>
        <p:spPr/>
        <p:txBody>
          <a:bodyPr/>
          <a:lstStyle/>
          <a:p>
            <a:pPr eaLnBrk="1" hangingPunct="1"/>
            <a:r>
              <a:rPr lang="en-US" smtClean="0"/>
              <a:t>Operating Systems (continued)</a:t>
            </a:r>
          </a:p>
        </p:txBody>
      </p:sp>
      <p:sp>
        <p:nvSpPr>
          <p:cNvPr id="22533" name="Rectangle 3"/>
          <p:cNvSpPr>
            <a:spLocks noGrp="1" noChangeArrowheads="1"/>
          </p:cNvSpPr>
          <p:nvPr>
            <p:ph type="body" idx="1"/>
          </p:nvPr>
        </p:nvSpPr>
        <p:spPr/>
        <p:txBody>
          <a:bodyPr/>
          <a:lstStyle/>
          <a:p>
            <a:pPr marL="514350" indent="-514350" eaLnBrk="1" hangingPunct="1">
              <a:buFontTx/>
              <a:buAutoNum type="arabicPeriod" startAt="6"/>
            </a:pPr>
            <a:r>
              <a:rPr lang="en-US" dirty="0" smtClean="0"/>
              <a:t>Access to system resources and security</a:t>
            </a:r>
          </a:p>
          <a:p>
            <a:pPr lvl="1" eaLnBrk="1" hangingPunct="1"/>
            <a:r>
              <a:rPr lang="en-US" dirty="0" smtClean="0"/>
              <a:t>Protection against unauthorized access</a:t>
            </a:r>
          </a:p>
          <a:p>
            <a:pPr lvl="1" eaLnBrk="1" hangingPunct="1"/>
            <a:r>
              <a:rPr lang="en-US" dirty="0" smtClean="0"/>
              <a:t>Logins and passwords</a:t>
            </a:r>
          </a:p>
          <a:p>
            <a:pPr marL="514350" indent="-514350" eaLnBrk="1" hangingPunct="1">
              <a:buFontTx/>
              <a:buAutoNum type="arabicPeriod" startAt="7"/>
            </a:pPr>
            <a:r>
              <a:rPr lang="en-US" dirty="0" smtClean="0"/>
              <a:t>File management</a:t>
            </a:r>
          </a:p>
          <a:p>
            <a:pPr lvl="1" eaLnBrk="1" hangingPunct="1"/>
            <a:r>
              <a:rPr lang="en-US" dirty="0" smtClean="0"/>
              <a:t>Ensures that files in secondary storage are available when needed and that they are protected from access by unauthorized users</a:t>
            </a:r>
          </a:p>
        </p:txBody>
      </p:sp>
    </p:spTree>
    <p:extLst>
      <p:ext uri="{BB962C8B-B14F-4D97-AF65-F5344CB8AC3E}">
        <p14:creationId xmlns:p14="http://schemas.microsoft.com/office/powerpoint/2010/main" val="23148968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F1BC6CAC-CD3D-42A0-A31A-2EC6E737F940}" type="slidenum">
              <a:rPr lang="en-US"/>
              <a:pPr>
                <a:defRPr/>
              </a:pPr>
              <a:t>14</a:t>
            </a:fld>
            <a:endParaRPr lang="en-US"/>
          </a:p>
        </p:txBody>
      </p:sp>
      <p:sp>
        <p:nvSpPr>
          <p:cNvPr id="24580" name="Rectangle 2"/>
          <p:cNvSpPr>
            <a:spLocks noGrp="1" noChangeArrowheads="1"/>
          </p:cNvSpPr>
          <p:nvPr>
            <p:ph type="title"/>
          </p:nvPr>
        </p:nvSpPr>
        <p:spPr/>
        <p:txBody>
          <a:bodyPr>
            <a:normAutofit fontScale="90000"/>
          </a:bodyPr>
          <a:lstStyle/>
          <a:p>
            <a:pPr eaLnBrk="1" hangingPunct="1"/>
            <a:r>
              <a:rPr lang="en-US" smtClean="0">
                <a:solidFill>
                  <a:schemeClr val="tx1"/>
                </a:solidFill>
              </a:rPr>
              <a:t>Current Operating Systems (continued)</a:t>
            </a:r>
          </a:p>
        </p:txBody>
      </p:sp>
      <p:sp>
        <p:nvSpPr>
          <p:cNvPr id="24581" name="Rectangle 3"/>
          <p:cNvSpPr>
            <a:spLocks noGrp="1" noChangeArrowheads="1"/>
          </p:cNvSpPr>
          <p:nvPr>
            <p:ph type="body" idx="1"/>
          </p:nvPr>
        </p:nvSpPr>
        <p:spPr>
          <a:xfrm>
            <a:off x="1435608" y="1447800"/>
            <a:ext cx="7498080" cy="4800600"/>
          </a:xfrm>
        </p:spPr>
        <p:txBody>
          <a:bodyPr>
            <a:normAutofit lnSpcReduction="10000"/>
          </a:bodyPr>
          <a:lstStyle/>
          <a:p>
            <a:pPr eaLnBrk="1" hangingPunct="1"/>
            <a:r>
              <a:rPr lang="en-US" dirty="0" smtClean="0"/>
              <a:t>Microsoft PC operating systems</a:t>
            </a:r>
          </a:p>
          <a:p>
            <a:pPr lvl="1" eaLnBrk="1" hangingPunct="1"/>
            <a:r>
              <a:rPr lang="en-US" dirty="0" smtClean="0"/>
              <a:t>PC-DOS and MS-DOS: early, command-driven OSs</a:t>
            </a:r>
          </a:p>
          <a:p>
            <a:pPr lvl="1" eaLnBrk="1" hangingPunct="1"/>
            <a:r>
              <a:rPr lang="en-US" dirty="0" smtClean="0"/>
              <a:t>Windows XP: greatly improved stability and security over previous versions of Windows</a:t>
            </a:r>
          </a:p>
          <a:p>
            <a:pPr lvl="1"/>
            <a:r>
              <a:rPr lang="en-US" dirty="0"/>
              <a:t>Vista: latest version of </a:t>
            </a:r>
            <a:r>
              <a:rPr lang="en-US" dirty="0" smtClean="0"/>
              <a:t>Windows</a:t>
            </a:r>
          </a:p>
          <a:p>
            <a:pPr lvl="1" eaLnBrk="1" hangingPunct="1"/>
            <a:r>
              <a:rPr lang="en-US" dirty="0" smtClean="0"/>
              <a:t>Windows 7</a:t>
            </a:r>
          </a:p>
          <a:p>
            <a:pPr lvl="1" eaLnBrk="1" hangingPunct="1"/>
            <a:r>
              <a:rPr lang="en-US" dirty="0" smtClean="0"/>
              <a:t>Windows 8</a:t>
            </a:r>
          </a:p>
          <a:p>
            <a:pPr lvl="1"/>
            <a:r>
              <a:rPr lang="en-US" dirty="0"/>
              <a:t>Windows </a:t>
            </a:r>
            <a:r>
              <a:rPr lang="en-US" dirty="0" smtClean="0"/>
              <a:t>10</a:t>
            </a:r>
          </a:p>
          <a:p>
            <a:pPr lvl="1"/>
            <a:r>
              <a:rPr lang="en-US" dirty="0"/>
              <a:t>Windows </a:t>
            </a:r>
            <a:r>
              <a:rPr lang="en-US" dirty="0" smtClean="0"/>
              <a:t>Server 2008, 2012</a:t>
            </a:r>
            <a:endParaRPr lang="en-US" dirty="0"/>
          </a:p>
          <a:p>
            <a:pPr lvl="1"/>
            <a:endParaRPr lang="en-US" dirty="0"/>
          </a:p>
          <a:p>
            <a:pPr lvl="1" eaLnBrk="1" hangingPunct="1"/>
            <a:endParaRPr lang="en-US" dirty="0" smtClean="0"/>
          </a:p>
        </p:txBody>
      </p:sp>
    </p:spTree>
    <p:extLst>
      <p:ext uri="{BB962C8B-B14F-4D97-AF65-F5344CB8AC3E}">
        <p14:creationId xmlns:p14="http://schemas.microsoft.com/office/powerpoint/2010/main" val="10805962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93B11B38-DA04-463F-83C2-F25488516061}" type="slidenum">
              <a:rPr lang="en-US"/>
              <a:pPr>
                <a:defRPr/>
              </a:pPr>
              <a:t>15</a:t>
            </a:fld>
            <a:endParaRPr lang="en-US"/>
          </a:p>
        </p:txBody>
      </p:sp>
      <p:sp>
        <p:nvSpPr>
          <p:cNvPr id="25604" name="Rectangle 2"/>
          <p:cNvSpPr>
            <a:spLocks noGrp="1" noChangeArrowheads="1"/>
          </p:cNvSpPr>
          <p:nvPr>
            <p:ph type="title"/>
          </p:nvPr>
        </p:nvSpPr>
        <p:spPr/>
        <p:txBody>
          <a:bodyPr>
            <a:normAutofit fontScale="90000"/>
          </a:bodyPr>
          <a:lstStyle/>
          <a:p>
            <a:pPr eaLnBrk="1" hangingPunct="1"/>
            <a:r>
              <a:rPr lang="en-US" smtClean="0">
                <a:solidFill>
                  <a:schemeClr val="tx1"/>
                </a:solidFill>
              </a:rPr>
              <a:t>Current Operating Systems (continued)</a:t>
            </a:r>
          </a:p>
        </p:txBody>
      </p:sp>
      <p:sp>
        <p:nvSpPr>
          <p:cNvPr id="25605" name="Rectangle 3"/>
          <p:cNvSpPr>
            <a:spLocks noGrp="1" noChangeArrowheads="1"/>
          </p:cNvSpPr>
          <p:nvPr>
            <p:ph type="body" idx="1"/>
          </p:nvPr>
        </p:nvSpPr>
        <p:spPr/>
        <p:txBody>
          <a:bodyPr/>
          <a:lstStyle/>
          <a:p>
            <a:pPr eaLnBrk="1" hangingPunct="1"/>
            <a:r>
              <a:rPr lang="en-US" dirty="0" smtClean="0"/>
              <a:t>Apple operating systems</a:t>
            </a:r>
          </a:p>
          <a:p>
            <a:pPr lvl="1" eaLnBrk="1" hangingPunct="1"/>
            <a:r>
              <a:rPr lang="en-US" dirty="0"/>
              <a:t>P</a:t>
            </a:r>
            <a:r>
              <a:rPr lang="en-US" dirty="0" smtClean="0"/>
              <a:t>rovide cutting edge tools in graphics and music not available from Microsoft</a:t>
            </a:r>
          </a:p>
          <a:p>
            <a:pPr lvl="1" eaLnBrk="1" hangingPunct="1"/>
            <a:r>
              <a:rPr lang="en-US" dirty="0" smtClean="0"/>
              <a:t>Mac OS X</a:t>
            </a:r>
          </a:p>
          <a:p>
            <a:pPr lvl="2" eaLnBrk="1" hangingPunct="1"/>
            <a:r>
              <a:rPr lang="en-US" dirty="0" smtClean="0"/>
              <a:t>Jaguar (OS X.2)</a:t>
            </a:r>
          </a:p>
          <a:p>
            <a:pPr lvl="2" eaLnBrk="1" hangingPunct="1"/>
            <a:r>
              <a:rPr lang="en-US" dirty="0" smtClean="0"/>
              <a:t>Panther (OS X.3)</a:t>
            </a:r>
          </a:p>
          <a:p>
            <a:pPr lvl="2" eaLnBrk="1" hangingPunct="1"/>
            <a:r>
              <a:rPr lang="en-US" dirty="0" smtClean="0"/>
              <a:t>Tiger (OS X.4): support for 64-bit computing, Dashboard, Spotlight, etc.</a:t>
            </a:r>
          </a:p>
        </p:txBody>
      </p:sp>
    </p:spTree>
    <p:extLst>
      <p:ext uri="{BB962C8B-B14F-4D97-AF65-F5344CB8AC3E}">
        <p14:creationId xmlns:p14="http://schemas.microsoft.com/office/powerpoint/2010/main" val="25906920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31127BA0-0367-4D01-98F7-0E647E23843D}" type="slidenum">
              <a:rPr lang="en-US"/>
              <a:pPr>
                <a:defRPr/>
              </a:pPr>
              <a:t>16</a:t>
            </a:fld>
            <a:endParaRPr lang="en-US"/>
          </a:p>
        </p:txBody>
      </p:sp>
      <p:sp>
        <p:nvSpPr>
          <p:cNvPr id="26628" name="Rectangle 2"/>
          <p:cNvSpPr>
            <a:spLocks noGrp="1" noChangeArrowheads="1"/>
          </p:cNvSpPr>
          <p:nvPr>
            <p:ph type="title"/>
          </p:nvPr>
        </p:nvSpPr>
        <p:spPr/>
        <p:txBody>
          <a:bodyPr>
            <a:normAutofit fontScale="90000"/>
          </a:bodyPr>
          <a:lstStyle/>
          <a:p>
            <a:pPr eaLnBrk="1" hangingPunct="1"/>
            <a:r>
              <a:rPr lang="en-US" smtClean="0">
                <a:solidFill>
                  <a:schemeClr val="tx1"/>
                </a:solidFill>
              </a:rPr>
              <a:t>Current Operating Systems (continued)</a:t>
            </a:r>
          </a:p>
        </p:txBody>
      </p:sp>
      <p:sp>
        <p:nvSpPr>
          <p:cNvPr id="26629" name="Rectangle 3"/>
          <p:cNvSpPr>
            <a:spLocks noGrp="1" noChangeArrowheads="1"/>
          </p:cNvSpPr>
          <p:nvPr>
            <p:ph type="body" idx="1"/>
          </p:nvPr>
        </p:nvSpPr>
        <p:spPr/>
        <p:txBody>
          <a:bodyPr/>
          <a:lstStyle/>
          <a:p>
            <a:pPr eaLnBrk="1" hangingPunct="1"/>
            <a:r>
              <a:rPr lang="en-US" dirty="0" smtClean="0"/>
              <a:t>Linux</a:t>
            </a:r>
          </a:p>
          <a:p>
            <a:pPr lvl="1" eaLnBrk="1" hangingPunct="1"/>
            <a:r>
              <a:rPr lang="en-US" dirty="0" smtClean="0"/>
              <a:t>Developed by Linus Torvalds in 1991</a:t>
            </a:r>
          </a:p>
          <a:p>
            <a:pPr lvl="1" eaLnBrk="1" hangingPunct="1"/>
            <a:r>
              <a:rPr lang="en-US" dirty="0" smtClean="0"/>
              <a:t>Open-source product</a:t>
            </a:r>
          </a:p>
          <a:p>
            <a:pPr lvl="1" eaLnBrk="1" hangingPunct="1"/>
            <a:r>
              <a:rPr lang="en-US" dirty="0" smtClean="0"/>
              <a:t>Only the kernel of an OS</a:t>
            </a:r>
          </a:p>
          <a:p>
            <a:pPr lvl="1" eaLnBrk="1" hangingPunct="1"/>
            <a:r>
              <a:rPr lang="en-US" dirty="0" smtClean="0"/>
              <a:t>Several distributions available with capabilities/applications that form a complete OS</a:t>
            </a:r>
          </a:p>
          <a:p>
            <a:pPr lvl="2" eaLnBrk="1" hangingPunct="1"/>
            <a:r>
              <a:rPr lang="en-US" dirty="0" smtClean="0"/>
              <a:t>Examples: Red Hat Linux, Caldera </a:t>
            </a:r>
            <a:r>
              <a:rPr lang="en-US" dirty="0" err="1" smtClean="0"/>
              <a:t>OpenLinux</a:t>
            </a:r>
            <a:r>
              <a:rPr lang="en-US" dirty="0" smtClean="0"/>
              <a:t>, </a:t>
            </a:r>
            <a:r>
              <a:rPr lang="en-US" dirty="0" err="1"/>
              <a:t>P</a:t>
            </a:r>
            <a:r>
              <a:rPr lang="en-US" dirty="0" err="1" smtClean="0"/>
              <a:t>inguy</a:t>
            </a:r>
            <a:endParaRPr lang="en-US" dirty="0" smtClean="0"/>
          </a:p>
          <a:p>
            <a:pPr lvl="1" eaLnBrk="1" hangingPunct="1"/>
            <a:endParaRPr lang="en-US" dirty="0" smtClean="0"/>
          </a:p>
        </p:txBody>
      </p:sp>
    </p:spTree>
    <p:extLst>
      <p:ext uri="{BB962C8B-B14F-4D97-AF65-F5344CB8AC3E}">
        <p14:creationId xmlns:p14="http://schemas.microsoft.com/office/powerpoint/2010/main" val="16287014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5ABB6D69-2EA3-46D7-A511-7153B60404DA}" type="slidenum">
              <a:rPr lang="en-US"/>
              <a:pPr>
                <a:defRPr/>
              </a:pPr>
              <a:t>17</a:t>
            </a:fld>
            <a:endParaRPr lang="en-US"/>
          </a:p>
        </p:txBody>
      </p:sp>
      <p:sp>
        <p:nvSpPr>
          <p:cNvPr id="27652" name="Rectangle 2"/>
          <p:cNvSpPr>
            <a:spLocks noGrp="1" noChangeArrowheads="1"/>
          </p:cNvSpPr>
          <p:nvPr>
            <p:ph type="title"/>
          </p:nvPr>
        </p:nvSpPr>
        <p:spPr/>
        <p:txBody>
          <a:bodyPr/>
          <a:lstStyle/>
          <a:p>
            <a:pPr eaLnBrk="1" hangingPunct="1"/>
            <a:r>
              <a:rPr lang="en-US" smtClean="0"/>
              <a:t>Workgroup Operating Systems</a:t>
            </a:r>
          </a:p>
        </p:txBody>
      </p:sp>
      <p:sp>
        <p:nvSpPr>
          <p:cNvPr id="27653" name="Rectangle 3"/>
          <p:cNvSpPr>
            <a:spLocks noGrp="1" noChangeArrowheads="1"/>
          </p:cNvSpPr>
          <p:nvPr>
            <p:ph type="body" idx="1"/>
          </p:nvPr>
        </p:nvSpPr>
        <p:spPr/>
        <p:txBody>
          <a:bodyPr/>
          <a:lstStyle/>
          <a:p>
            <a:pPr eaLnBrk="1" hangingPunct="1"/>
            <a:r>
              <a:rPr lang="en-US" dirty="0" smtClean="0"/>
              <a:t>Windows Server</a:t>
            </a:r>
          </a:p>
          <a:p>
            <a:pPr eaLnBrk="1" hangingPunct="1"/>
            <a:r>
              <a:rPr lang="en-US" dirty="0" smtClean="0"/>
              <a:t>UNIX</a:t>
            </a:r>
          </a:p>
          <a:p>
            <a:pPr eaLnBrk="1" hangingPunct="1"/>
            <a:r>
              <a:rPr lang="en-US" dirty="0" smtClean="0"/>
              <a:t>NetWare</a:t>
            </a:r>
          </a:p>
          <a:p>
            <a:pPr eaLnBrk="1" hangingPunct="1"/>
            <a:r>
              <a:rPr lang="en-US" dirty="0" smtClean="0"/>
              <a:t>Red Hat Linux</a:t>
            </a:r>
          </a:p>
          <a:p>
            <a:pPr eaLnBrk="1" hangingPunct="1"/>
            <a:r>
              <a:rPr lang="en-US" dirty="0" smtClean="0"/>
              <a:t>Mac OS X Server</a:t>
            </a:r>
          </a:p>
        </p:txBody>
      </p:sp>
    </p:spTree>
    <p:extLst>
      <p:ext uri="{BB962C8B-B14F-4D97-AF65-F5344CB8AC3E}">
        <p14:creationId xmlns:p14="http://schemas.microsoft.com/office/powerpoint/2010/main" val="12123391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noAutofit/>
          </a:bodyPr>
          <a:lstStyle/>
          <a:p>
            <a:pPr eaLnBrk="1" hangingPunct="1"/>
            <a:r>
              <a:rPr lang="en-US" sz="2800" dirty="0" smtClean="0"/>
              <a:t>Operating Systems for Small Computers, Embedded Computers, and Special-Purpose Devices</a:t>
            </a:r>
          </a:p>
        </p:txBody>
      </p:sp>
      <p:sp>
        <p:nvSpPr>
          <p:cNvPr id="29701" name="Rectangle 3"/>
          <p:cNvSpPr>
            <a:spLocks noGrp="1" noChangeArrowheads="1"/>
          </p:cNvSpPr>
          <p:nvPr>
            <p:ph type="body" idx="1"/>
          </p:nvPr>
        </p:nvSpPr>
        <p:spPr/>
        <p:txBody>
          <a:bodyPr/>
          <a:lstStyle/>
          <a:p>
            <a:pPr eaLnBrk="1" hangingPunct="1"/>
            <a:endParaRPr lang="en-US" dirty="0" smtClean="0"/>
          </a:p>
          <a:p>
            <a:pPr eaLnBrk="1" hangingPunct="1"/>
            <a:r>
              <a:rPr lang="en-US" sz="2400" dirty="0" smtClean="0"/>
              <a:t>Palm OS</a:t>
            </a:r>
          </a:p>
          <a:p>
            <a:pPr eaLnBrk="1" hangingPunct="1"/>
            <a:r>
              <a:rPr lang="en-US" sz="2400" dirty="0" smtClean="0"/>
              <a:t>Windows Embedded</a:t>
            </a:r>
          </a:p>
          <a:p>
            <a:pPr eaLnBrk="1" hangingPunct="1"/>
            <a:r>
              <a:rPr lang="en-US" sz="2400" dirty="0" smtClean="0"/>
              <a:t>Windows Mobile</a:t>
            </a:r>
          </a:p>
          <a:p>
            <a:pPr eaLnBrk="1" hangingPunct="1"/>
            <a:r>
              <a:rPr lang="en-US" sz="2400" dirty="0" smtClean="0"/>
              <a:t>Android</a:t>
            </a:r>
          </a:p>
        </p:txBody>
      </p:sp>
    </p:spTree>
    <p:extLst>
      <p:ext uri="{BB962C8B-B14F-4D97-AF65-F5344CB8AC3E}">
        <p14:creationId xmlns:p14="http://schemas.microsoft.com/office/powerpoint/2010/main" val="25753316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1447800" y="304800"/>
            <a:ext cx="7498080" cy="1143000"/>
          </a:xfrm>
        </p:spPr>
        <p:txBody>
          <a:bodyPr/>
          <a:lstStyle/>
          <a:p>
            <a:pPr eaLnBrk="1" hangingPunct="1"/>
            <a:r>
              <a:rPr lang="en-US" dirty="0" smtClean="0"/>
              <a:t>Application Software</a:t>
            </a:r>
          </a:p>
        </p:txBody>
      </p:sp>
      <p:sp>
        <p:nvSpPr>
          <p:cNvPr id="33797" name="Rectangle 3"/>
          <p:cNvSpPr>
            <a:spLocks noGrp="1" noChangeArrowheads="1"/>
          </p:cNvSpPr>
          <p:nvPr>
            <p:ph type="body" idx="1"/>
          </p:nvPr>
        </p:nvSpPr>
        <p:spPr/>
        <p:txBody>
          <a:bodyPr>
            <a:normAutofit fontScale="70000" lnSpcReduction="20000"/>
          </a:bodyPr>
          <a:lstStyle/>
          <a:p>
            <a:r>
              <a:rPr lang="en-US" i="1" dirty="0"/>
              <a:t>Application software</a:t>
            </a:r>
            <a:r>
              <a:rPr lang="en-US" dirty="0"/>
              <a:t> is a program or group of programs designed for end users</a:t>
            </a:r>
            <a:r>
              <a:rPr lang="en-US" dirty="0" smtClean="0"/>
              <a:t>.</a:t>
            </a:r>
          </a:p>
          <a:p>
            <a:r>
              <a:rPr lang="en-US" dirty="0"/>
              <a:t>Applications are programs written to carry out a specific task or set of tasks, </a:t>
            </a:r>
            <a:endParaRPr lang="en-US" dirty="0" smtClean="0"/>
          </a:p>
          <a:p>
            <a:pPr lvl="1"/>
            <a:r>
              <a:rPr lang="en-US" dirty="0" smtClean="0"/>
              <a:t>for </a:t>
            </a:r>
            <a:r>
              <a:rPr lang="en-US" dirty="0"/>
              <a:t>example: word processors, spreadsheets, accounting packages, media players and </a:t>
            </a:r>
            <a:r>
              <a:rPr lang="en-US" dirty="0" smtClean="0"/>
              <a:t>games, </a:t>
            </a:r>
            <a:r>
              <a:rPr lang="en-US" dirty="0"/>
              <a:t>hospital patient record </a:t>
            </a:r>
            <a:r>
              <a:rPr lang="en-US" dirty="0" smtClean="0"/>
              <a:t>system, </a:t>
            </a:r>
            <a:r>
              <a:rPr lang="en-US" dirty="0"/>
              <a:t>Internet browser. </a:t>
            </a:r>
            <a:endParaRPr lang="en-US" dirty="0" smtClean="0"/>
          </a:p>
          <a:p>
            <a:r>
              <a:rPr lang="en-US" dirty="0" smtClean="0"/>
              <a:t>Application programs interact with systems software; systems software then directs computer hardware to perform the necessary tasks</a:t>
            </a:r>
          </a:p>
          <a:p>
            <a:r>
              <a:rPr lang="en-US" dirty="0"/>
              <a:t>For computer systems to be useful they must have application software. </a:t>
            </a:r>
          </a:p>
          <a:p>
            <a:r>
              <a:rPr lang="en-US" dirty="0"/>
              <a:t>Application software can be used for many purposes. </a:t>
            </a:r>
          </a:p>
          <a:p>
            <a:r>
              <a:rPr lang="en-US" dirty="0"/>
              <a:t>Software may be bought ready-made or may be designed specifically for an organization. </a:t>
            </a:r>
          </a:p>
          <a:p>
            <a:endParaRPr lang="en-US" dirty="0" smtClean="0">
              <a:solidFill>
                <a:srgbClr val="FF0000"/>
              </a:solidFill>
            </a:endParaRPr>
          </a:p>
        </p:txBody>
      </p:sp>
    </p:spTree>
    <p:extLst>
      <p:ext uri="{BB962C8B-B14F-4D97-AF65-F5344CB8AC3E}">
        <p14:creationId xmlns:p14="http://schemas.microsoft.com/office/powerpoint/2010/main" val="12656286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defRPr/>
            </a:pPr>
            <a:fld id="{ECC658D3-874B-4456-BEC8-BBCEC5F9A094}" type="slidenum">
              <a:rPr lang="en-US"/>
              <a:pPr>
                <a:defRPr/>
              </a:pPr>
              <a:t>20</a:t>
            </a:fld>
            <a:endParaRPr lang="en-US"/>
          </a:p>
        </p:txBody>
      </p:sp>
      <p:sp>
        <p:nvSpPr>
          <p:cNvPr id="35844" name="Rectangle 2"/>
          <p:cNvSpPr>
            <a:spLocks noGrp="1" noChangeArrowheads="1"/>
          </p:cNvSpPr>
          <p:nvPr>
            <p:ph type="title"/>
          </p:nvPr>
        </p:nvSpPr>
        <p:spPr>
          <a:xfrm>
            <a:off x="1066800" y="381000"/>
            <a:ext cx="7543800" cy="1143000"/>
          </a:xfrm>
        </p:spPr>
        <p:txBody>
          <a:bodyPr>
            <a:normAutofit fontScale="90000"/>
          </a:bodyPr>
          <a:lstStyle/>
          <a:p>
            <a:pPr eaLnBrk="1" hangingPunct="1"/>
            <a:r>
              <a:rPr lang="en-US" dirty="0" smtClean="0"/>
              <a:t>Overview of Application Software (continued)</a:t>
            </a:r>
          </a:p>
        </p:txBody>
      </p:sp>
      <p:sp>
        <p:nvSpPr>
          <p:cNvPr id="35845" name="Rectangle 3"/>
          <p:cNvSpPr>
            <a:spLocks noChangeArrowheads="1"/>
          </p:cNvSpPr>
          <p:nvPr/>
        </p:nvSpPr>
        <p:spPr bwMode="auto">
          <a:xfrm>
            <a:off x="2590800" y="5638800"/>
            <a:ext cx="53340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pPr>
            <a:r>
              <a:rPr lang="en-US" sz="1800" b="1" dirty="0" smtClean="0">
                <a:solidFill>
                  <a:schemeClr val="tx1"/>
                </a:solidFill>
                <a:latin typeface="Arial" charset="0"/>
              </a:rPr>
              <a:t>Types </a:t>
            </a:r>
            <a:r>
              <a:rPr lang="en-US" sz="1800" b="1" dirty="0">
                <a:solidFill>
                  <a:schemeClr val="tx1"/>
                </a:solidFill>
                <a:latin typeface="Arial" charset="0"/>
              </a:rPr>
              <a:t>of Application Software</a:t>
            </a:r>
          </a:p>
        </p:txBody>
      </p:sp>
      <p:pic>
        <p:nvPicPr>
          <p:cNvPr id="35846" name="Picture 6" descr="Fig 4-13"/>
          <p:cNvPicPr>
            <a:picLocks noGrp="1" noChangeAspect="1" noChangeArrowheads="1"/>
          </p:cNvPicPr>
          <p:nvPr>
            <p:ph sz="half" idx="1"/>
          </p:nvPr>
        </p:nvPicPr>
        <p:blipFill>
          <a:blip r:embed="rId3">
            <a:lum contrast="6000"/>
            <a:extLst>
              <a:ext uri="{28A0092B-C50C-407E-A947-70E740481C1C}">
                <a14:useLocalDpi xmlns:a14="http://schemas.microsoft.com/office/drawing/2010/main" val="0"/>
              </a:ext>
            </a:extLst>
          </a:blip>
          <a:srcRect/>
          <a:stretch>
            <a:fillRect/>
          </a:stretch>
        </p:blipFill>
        <p:spPr>
          <a:xfrm>
            <a:off x="1711325" y="2667000"/>
            <a:ext cx="5832475" cy="1811338"/>
          </a:xfrm>
          <a:noFill/>
        </p:spPr>
      </p:pic>
    </p:spTree>
    <p:extLst>
      <p:ext uri="{BB962C8B-B14F-4D97-AF65-F5344CB8AC3E}">
        <p14:creationId xmlns:p14="http://schemas.microsoft.com/office/powerpoint/2010/main" val="42708377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normAutofit fontScale="90000"/>
          </a:bodyPr>
          <a:lstStyle/>
          <a:p>
            <a:pPr eaLnBrk="1" hangingPunct="1"/>
            <a:r>
              <a:rPr lang="en-US" smtClean="0"/>
              <a:t>Overview of Application Software</a:t>
            </a:r>
          </a:p>
        </p:txBody>
      </p:sp>
      <p:sp>
        <p:nvSpPr>
          <p:cNvPr id="34821" name="Rectangle 3"/>
          <p:cNvSpPr>
            <a:spLocks noGrp="1" noChangeArrowheads="1"/>
          </p:cNvSpPr>
          <p:nvPr>
            <p:ph type="body" idx="1"/>
          </p:nvPr>
        </p:nvSpPr>
        <p:spPr/>
        <p:txBody>
          <a:bodyPr>
            <a:normAutofit fontScale="92500" lnSpcReduction="10000"/>
          </a:bodyPr>
          <a:lstStyle/>
          <a:p>
            <a:pPr marL="82296" indent="0" eaLnBrk="1" hangingPunct="1">
              <a:buNone/>
            </a:pPr>
            <a:r>
              <a:rPr lang="da-DK" b="1" dirty="0" smtClean="0"/>
              <a:t>Two Types of Application software</a:t>
            </a:r>
            <a:endParaRPr lang="en-US" b="1" dirty="0" smtClean="0"/>
          </a:p>
          <a:p>
            <a:pPr eaLnBrk="1" hangingPunct="1"/>
            <a:r>
              <a:rPr lang="en-US" b="1" dirty="0" smtClean="0"/>
              <a:t>Proprietary software/custom-written/bespoke</a:t>
            </a:r>
          </a:p>
          <a:p>
            <a:pPr lvl="1"/>
            <a:r>
              <a:rPr lang="en-US" b="1" dirty="0" smtClean="0"/>
              <a:t> </a:t>
            </a:r>
            <a:r>
              <a:rPr lang="en-US" dirty="0" smtClean="0"/>
              <a:t>a program for a specific application developed and owned by a single company </a:t>
            </a:r>
            <a:r>
              <a:rPr lang="en-US" dirty="0" err="1" smtClean="0"/>
              <a:t>e.g</a:t>
            </a:r>
            <a:r>
              <a:rPr lang="en-US" dirty="0" smtClean="0"/>
              <a:t> </a:t>
            </a:r>
          </a:p>
          <a:p>
            <a:pPr lvl="1"/>
            <a:r>
              <a:rPr lang="en-US" dirty="0"/>
              <a:t>Sometimes an organization will have application software developed to meet </a:t>
            </a:r>
            <a:r>
              <a:rPr lang="en-US" dirty="0" smtClean="0"/>
              <a:t>the needs of an </a:t>
            </a:r>
            <a:r>
              <a:rPr lang="en-US" dirty="0" err="1" smtClean="0"/>
              <a:t>organisation</a:t>
            </a:r>
            <a:r>
              <a:rPr lang="en-US" dirty="0" smtClean="0"/>
              <a:t> - bespoke. </a:t>
            </a:r>
            <a:endParaRPr lang="en-US" dirty="0"/>
          </a:p>
          <a:p>
            <a:pPr lvl="1"/>
            <a:r>
              <a:rPr lang="en-US" dirty="0"/>
              <a:t>This is known as bespoke software. </a:t>
            </a:r>
            <a:endParaRPr lang="en-US" dirty="0" smtClean="0"/>
          </a:p>
          <a:p>
            <a:pPr eaLnBrk="1" hangingPunct="1"/>
            <a:r>
              <a:rPr lang="en-US" b="1" dirty="0" smtClean="0"/>
              <a:t>Off-the-shelf software: </a:t>
            </a:r>
            <a:r>
              <a:rPr lang="en-US" dirty="0" smtClean="0"/>
              <a:t>existing software program that is purchased e.g. MS Office</a:t>
            </a:r>
          </a:p>
          <a:p>
            <a:pPr eaLnBrk="1" hangingPunct="1"/>
            <a:endParaRPr lang="en-US" dirty="0" smtClean="0"/>
          </a:p>
        </p:txBody>
      </p:sp>
    </p:spTree>
    <p:extLst>
      <p:ext uri="{BB962C8B-B14F-4D97-AF65-F5344CB8AC3E}">
        <p14:creationId xmlns:p14="http://schemas.microsoft.com/office/powerpoint/2010/main" val="18481586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a:xfrm>
            <a:off x="1447800" y="381000"/>
            <a:ext cx="7162800" cy="1143000"/>
          </a:xfrm>
        </p:spPr>
        <p:txBody>
          <a:bodyPr>
            <a:normAutofit fontScale="90000"/>
          </a:bodyPr>
          <a:lstStyle/>
          <a:p>
            <a:pPr eaLnBrk="1" hangingPunct="1"/>
            <a:r>
              <a:rPr lang="en-US" dirty="0" smtClean="0"/>
              <a:t>Overview of Application Software (continued)</a:t>
            </a:r>
          </a:p>
        </p:txBody>
      </p:sp>
      <p:sp>
        <p:nvSpPr>
          <p:cNvPr id="36869" name="Rectangle 4"/>
          <p:cNvSpPr>
            <a:spLocks noChangeArrowheads="1"/>
          </p:cNvSpPr>
          <p:nvPr/>
        </p:nvSpPr>
        <p:spPr bwMode="auto">
          <a:xfrm>
            <a:off x="1295400" y="5638800"/>
            <a:ext cx="7391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pPr>
            <a:r>
              <a:rPr lang="en-US" sz="1800" b="1" dirty="0" smtClean="0">
                <a:solidFill>
                  <a:schemeClr val="tx1"/>
                </a:solidFill>
                <a:latin typeface="Arial" charset="0"/>
              </a:rPr>
              <a:t>A </a:t>
            </a:r>
            <a:r>
              <a:rPr lang="en-US" sz="1800" b="1" dirty="0">
                <a:solidFill>
                  <a:schemeClr val="tx1"/>
                </a:solidFill>
                <a:latin typeface="Arial" charset="0"/>
              </a:rPr>
              <a:t>Comparison of Proprietary and Off-the-Shelf Software</a:t>
            </a:r>
          </a:p>
        </p:txBody>
      </p:sp>
      <p:pic>
        <p:nvPicPr>
          <p:cNvPr id="36870" name="Picture 11" descr="Table 4-4a"/>
          <p:cNvPicPr>
            <a:picLocks noGrp="1" noChangeAspect="1" noChangeArrowheads="1"/>
          </p:cNvPicPr>
          <p:nvPr>
            <p:ph sz="half" idx="1"/>
          </p:nvPr>
        </p:nvPicPr>
        <p:blipFill>
          <a:blip r:embed="rId3">
            <a:lum contrast="-2000"/>
            <a:extLst>
              <a:ext uri="{28A0092B-C50C-407E-A947-70E740481C1C}">
                <a14:useLocalDpi xmlns:a14="http://schemas.microsoft.com/office/drawing/2010/main" val="0"/>
              </a:ext>
            </a:extLst>
          </a:blip>
          <a:srcRect/>
          <a:stretch>
            <a:fillRect/>
          </a:stretch>
        </p:blipFill>
        <p:spPr>
          <a:xfrm>
            <a:off x="990600" y="1828800"/>
            <a:ext cx="7642225" cy="3154363"/>
          </a:xfrm>
          <a:noFill/>
        </p:spPr>
      </p:pic>
    </p:spTree>
    <p:extLst>
      <p:ext uri="{BB962C8B-B14F-4D97-AF65-F5344CB8AC3E}">
        <p14:creationId xmlns:p14="http://schemas.microsoft.com/office/powerpoint/2010/main" val="37148221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defRPr/>
            </a:pPr>
            <a:fld id="{4454E62F-C855-453D-868B-CF963E9F21E9}" type="slidenum">
              <a:rPr lang="en-US"/>
              <a:pPr>
                <a:defRPr/>
              </a:pPr>
              <a:t>23</a:t>
            </a:fld>
            <a:endParaRPr lang="en-US"/>
          </a:p>
        </p:txBody>
      </p:sp>
      <p:sp>
        <p:nvSpPr>
          <p:cNvPr id="37892" name="Rectangle 2"/>
          <p:cNvSpPr>
            <a:spLocks noGrp="1" noChangeArrowheads="1"/>
          </p:cNvSpPr>
          <p:nvPr>
            <p:ph type="title"/>
          </p:nvPr>
        </p:nvSpPr>
        <p:spPr>
          <a:xfrm>
            <a:off x="990600" y="381000"/>
            <a:ext cx="7620000" cy="1143000"/>
          </a:xfrm>
        </p:spPr>
        <p:txBody>
          <a:bodyPr>
            <a:normAutofit fontScale="90000"/>
          </a:bodyPr>
          <a:lstStyle/>
          <a:p>
            <a:pPr eaLnBrk="1" hangingPunct="1"/>
            <a:r>
              <a:rPr lang="en-US" dirty="0" smtClean="0"/>
              <a:t>Overview of Application Software (continued)</a:t>
            </a:r>
          </a:p>
        </p:txBody>
      </p:sp>
      <p:pic>
        <p:nvPicPr>
          <p:cNvPr id="37893" name="Picture 7" descr="Table 4-4b"/>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143000" y="2590800"/>
            <a:ext cx="7459663" cy="2092325"/>
          </a:xfrm>
          <a:noFill/>
        </p:spPr>
      </p:pic>
      <p:sp>
        <p:nvSpPr>
          <p:cNvPr id="37894" name="Rectangle 8"/>
          <p:cNvSpPr>
            <a:spLocks noChangeArrowheads="1"/>
          </p:cNvSpPr>
          <p:nvPr/>
        </p:nvSpPr>
        <p:spPr bwMode="auto">
          <a:xfrm>
            <a:off x="1143000" y="5638800"/>
            <a:ext cx="75438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pPr>
            <a:r>
              <a:rPr lang="en-US" sz="1800" b="1" dirty="0" smtClean="0">
                <a:solidFill>
                  <a:schemeClr val="tx1"/>
                </a:solidFill>
                <a:latin typeface="Arial" charset="0"/>
              </a:rPr>
              <a:t>A </a:t>
            </a:r>
            <a:r>
              <a:rPr lang="en-US" sz="1800" b="1" dirty="0">
                <a:solidFill>
                  <a:schemeClr val="tx1"/>
                </a:solidFill>
                <a:latin typeface="Arial" charset="0"/>
              </a:rPr>
              <a:t>Comparison of Proprietary and Off-the-Shelf Software (continued)</a:t>
            </a:r>
          </a:p>
        </p:txBody>
      </p:sp>
    </p:spTree>
    <p:extLst>
      <p:ext uri="{BB962C8B-B14F-4D97-AF65-F5344CB8AC3E}">
        <p14:creationId xmlns:p14="http://schemas.microsoft.com/office/powerpoint/2010/main" val="11833038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normAutofit fontScale="85000" lnSpcReduction="20000"/>
          </a:bodyPr>
          <a:lstStyle/>
          <a:p>
            <a:pPr marL="82296" indent="0">
              <a:buNone/>
            </a:pPr>
            <a:r>
              <a:rPr lang="en-US" dirty="0"/>
              <a:t>A</a:t>
            </a:r>
            <a:r>
              <a:rPr lang="en-US" dirty="0" smtClean="0"/>
              <a:t>ctivities </a:t>
            </a:r>
            <a:r>
              <a:rPr lang="en-US" dirty="0"/>
              <a:t>that might be used in an </a:t>
            </a:r>
            <a:r>
              <a:rPr lang="en-US" dirty="0" smtClean="0"/>
              <a:t>org. using Application software: </a:t>
            </a:r>
            <a:endParaRPr lang="en-US" dirty="0"/>
          </a:p>
          <a:p>
            <a:r>
              <a:rPr lang="en-US" dirty="0"/>
              <a:t>1. Carry out business transactions such as dealing with customer orders for mail order company, sending out mobile phone bills, booking facilities in health club or managing bank accounts. </a:t>
            </a:r>
          </a:p>
          <a:p>
            <a:r>
              <a:rPr lang="en-US" dirty="0"/>
              <a:t>2. Handle communication such as access to Internet and internal Emails. </a:t>
            </a:r>
          </a:p>
          <a:p>
            <a:r>
              <a:rPr lang="en-US" dirty="0"/>
              <a:t>3. Manage finances </a:t>
            </a:r>
          </a:p>
          <a:p>
            <a:r>
              <a:rPr lang="en-US" dirty="0"/>
              <a:t>4. Present information to an audience, whether in printed or electronic form. </a:t>
            </a:r>
          </a:p>
          <a:p>
            <a:r>
              <a:rPr lang="en-US" dirty="0"/>
              <a:t>5. Create and manipulate images </a:t>
            </a:r>
          </a:p>
          <a:p>
            <a:r>
              <a:rPr lang="en-US" dirty="0"/>
              <a:t>6. Manage projects </a:t>
            </a:r>
          </a:p>
          <a:p>
            <a:r>
              <a:rPr lang="en-US" dirty="0"/>
              <a:t>7. Design products. </a:t>
            </a:r>
          </a:p>
          <a:p>
            <a:endParaRPr lang="en-US" dirty="0"/>
          </a:p>
        </p:txBody>
      </p:sp>
    </p:spTree>
    <p:extLst>
      <p:ext uri="{BB962C8B-B14F-4D97-AF65-F5344CB8AC3E}">
        <p14:creationId xmlns:p14="http://schemas.microsoft.com/office/powerpoint/2010/main" val="26317012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a:bodyPr>
          <a:lstStyle/>
          <a:p>
            <a:r>
              <a:rPr lang="en-US" dirty="0" smtClean="0"/>
              <a:t>Application </a:t>
            </a:r>
            <a:r>
              <a:rPr lang="en-US" dirty="0"/>
              <a:t>software are also used outside office environment for many purposes </a:t>
            </a:r>
            <a:r>
              <a:rPr lang="en-US" dirty="0" smtClean="0"/>
              <a:t>such</a:t>
            </a:r>
          </a:p>
          <a:p>
            <a:pPr lvl="1"/>
            <a:r>
              <a:rPr lang="en-US" dirty="0" smtClean="0"/>
              <a:t> </a:t>
            </a:r>
            <a:r>
              <a:rPr lang="en-US" dirty="0"/>
              <a:t>as playing games, recording music, genealogy and most of the other leisure pursuits. </a:t>
            </a:r>
          </a:p>
          <a:p>
            <a:r>
              <a:rPr lang="en-US" dirty="0" smtClean="0"/>
              <a:t>In </a:t>
            </a:r>
            <a:r>
              <a:rPr lang="en-US" dirty="0"/>
              <a:t>many cases, an organization will find that office applications software meet their needs perfectly well. </a:t>
            </a:r>
          </a:p>
          <a:p>
            <a:endParaRPr lang="en-US" dirty="0"/>
          </a:p>
        </p:txBody>
      </p:sp>
    </p:spTree>
    <p:extLst>
      <p:ext uri="{BB962C8B-B14F-4D97-AF65-F5344CB8AC3E}">
        <p14:creationId xmlns:p14="http://schemas.microsoft.com/office/powerpoint/2010/main" val="9732384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81000"/>
            <a:ext cx="7498080" cy="5867400"/>
          </a:xfrm>
        </p:spPr>
        <p:txBody>
          <a:bodyPr>
            <a:normAutofit fontScale="77500" lnSpcReduction="20000"/>
          </a:bodyPr>
          <a:lstStyle/>
          <a:p>
            <a:pPr marL="82296" indent="0">
              <a:buNone/>
            </a:pPr>
            <a:r>
              <a:rPr lang="en-US" i="1" dirty="0"/>
              <a:t>Office Application Software: </a:t>
            </a:r>
            <a:endParaRPr lang="en-US" dirty="0"/>
          </a:p>
          <a:p>
            <a:r>
              <a:rPr lang="en-US" dirty="0" smtClean="0"/>
              <a:t>This </a:t>
            </a:r>
            <a:r>
              <a:rPr lang="en-US" dirty="0"/>
              <a:t>software can be used for many different tasks in business and at home. </a:t>
            </a:r>
          </a:p>
          <a:p>
            <a:r>
              <a:rPr lang="en-US" dirty="0" smtClean="0"/>
              <a:t>Anyone </a:t>
            </a:r>
            <a:r>
              <a:rPr lang="en-US" dirty="0"/>
              <a:t>can buy this software, so it is designed to meet the needs of a wide range of users. </a:t>
            </a:r>
          </a:p>
          <a:p>
            <a:r>
              <a:rPr lang="en-US" dirty="0" smtClean="0"/>
              <a:t>This </a:t>
            </a:r>
            <a:r>
              <a:rPr lang="en-US" dirty="0"/>
              <a:t>is ready made software, hence can be installed and used immediately. </a:t>
            </a:r>
          </a:p>
          <a:p>
            <a:r>
              <a:rPr lang="en-US" dirty="0" smtClean="0"/>
              <a:t>It </a:t>
            </a:r>
            <a:r>
              <a:rPr lang="en-US" dirty="0"/>
              <a:t>is normally a complete package. </a:t>
            </a:r>
          </a:p>
          <a:p>
            <a:r>
              <a:rPr lang="en-US" dirty="0" smtClean="0"/>
              <a:t>A </a:t>
            </a:r>
            <a:r>
              <a:rPr lang="en-US" dirty="0"/>
              <a:t>package is a collection of programs which form one application </a:t>
            </a:r>
          </a:p>
          <a:p>
            <a:r>
              <a:rPr lang="en-US" dirty="0" smtClean="0"/>
              <a:t>An </a:t>
            </a:r>
            <a:r>
              <a:rPr lang="en-US" dirty="0"/>
              <a:t>installer is able to choose which components to install. </a:t>
            </a:r>
          </a:p>
          <a:p>
            <a:r>
              <a:rPr lang="en-US" dirty="0" smtClean="0"/>
              <a:t>Office </a:t>
            </a:r>
            <a:r>
              <a:rPr lang="en-US" dirty="0"/>
              <a:t>software packages are available for word processing, spreadsheet, database management, graphics (drawing and painting) and presentation graphics. </a:t>
            </a:r>
          </a:p>
          <a:p>
            <a:endParaRPr lang="en-US" dirty="0"/>
          </a:p>
        </p:txBody>
      </p:sp>
    </p:spTree>
    <p:extLst>
      <p:ext uri="{BB962C8B-B14F-4D97-AF65-F5344CB8AC3E}">
        <p14:creationId xmlns:p14="http://schemas.microsoft.com/office/powerpoint/2010/main" val="21426505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normAutofit fontScale="92500" lnSpcReduction="10000"/>
          </a:bodyPr>
          <a:lstStyle/>
          <a:p>
            <a:pPr marL="82296" indent="0">
              <a:buNone/>
            </a:pPr>
            <a:r>
              <a:rPr lang="en-US" dirty="0" smtClean="0"/>
              <a:t>1</a:t>
            </a:r>
            <a:r>
              <a:rPr lang="en-US" dirty="0"/>
              <a:t>. Word Processing </a:t>
            </a:r>
          </a:p>
          <a:p>
            <a:r>
              <a:rPr lang="en-US" dirty="0" smtClean="0"/>
              <a:t>They </a:t>
            </a:r>
            <a:r>
              <a:rPr lang="en-US" dirty="0"/>
              <a:t>can create standard documents, such as letters which they can use more than once with only minor changes. </a:t>
            </a:r>
          </a:p>
          <a:p>
            <a:r>
              <a:rPr lang="en-US" dirty="0" smtClean="0"/>
              <a:t>They </a:t>
            </a:r>
            <a:r>
              <a:rPr lang="en-US" dirty="0"/>
              <a:t>have reduced time taken to produce standard documents and have reduced staff cost. </a:t>
            </a:r>
          </a:p>
          <a:p>
            <a:r>
              <a:rPr lang="en-US" dirty="0" smtClean="0"/>
              <a:t>Examples </a:t>
            </a:r>
            <a:r>
              <a:rPr lang="en-US" dirty="0"/>
              <a:t>of word processors are: word perfect, lotus word pro or Microsoft </a:t>
            </a:r>
            <a:r>
              <a:rPr lang="en-US" dirty="0" smtClean="0"/>
              <a:t>word. </a:t>
            </a:r>
            <a:endParaRPr lang="en-US" dirty="0"/>
          </a:p>
          <a:p>
            <a:r>
              <a:rPr lang="en-US" dirty="0" smtClean="0"/>
              <a:t>They </a:t>
            </a:r>
            <a:r>
              <a:rPr lang="en-US" dirty="0"/>
              <a:t>have additional features which can be used to create email messages, web pages or mailing labels. </a:t>
            </a:r>
          </a:p>
          <a:p>
            <a:endParaRPr lang="en-US" dirty="0"/>
          </a:p>
        </p:txBody>
      </p:sp>
    </p:spTree>
    <p:extLst>
      <p:ext uri="{BB962C8B-B14F-4D97-AF65-F5344CB8AC3E}">
        <p14:creationId xmlns:p14="http://schemas.microsoft.com/office/powerpoint/2010/main" val="12030277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fontScale="70000" lnSpcReduction="20000"/>
          </a:bodyPr>
          <a:lstStyle/>
          <a:p>
            <a:pPr marL="82296" indent="0">
              <a:buNone/>
            </a:pPr>
            <a:r>
              <a:rPr lang="en-US" dirty="0" smtClean="0"/>
              <a:t>Spreadsheet </a:t>
            </a:r>
            <a:endParaRPr lang="en-US" dirty="0"/>
          </a:p>
          <a:p>
            <a:r>
              <a:rPr lang="en-US" dirty="0" smtClean="0"/>
              <a:t>This </a:t>
            </a:r>
            <a:r>
              <a:rPr lang="en-US" dirty="0"/>
              <a:t>is laid out as a very large table consisting of many cells. </a:t>
            </a:r>
          </a:p>
          <a:p>
            <a:r>
              <a:rPr lang="en-US" dirty="0" smtClean="0"/>
              <a:t>Each </a:t>
            </a:r>
            <a:r>
              <a:rPr lang="en-US" dirty="0"/>
              <a:t>cell can hold a value of a formula. </a:t>
            </a:r>
          </a:p>
          <a:p>
            <a:r>
              <a:rPr lang="en-US" dirty="0" smtClean="0"/>
              <a:t>A </a:t>
            </a:r>
            <a:r>
              <a:rPr lang="en-US" dirty="0"/>
              <a:t>formula can carry out calculations based on values in other cells. </a:t>
            </a:r>
          </a:p>
          <a:p>
            <a:r>
              <a:rPr lang="en-US" dirty="0" smtClean="0"/>
              <a:t>Each </a:t>
            </a:r>
            <a:r>
              <a:rPr lang="en-US" dirty="0"/>
              <a:t>cell can be formatted to hold data of specific type such as a number, date or simple text. </a:t>
            </a:r>
          </a:p>
          <a:p>
            <a:r>
              <a:rPr lang="en-US" dirty="0" smtClean="0"/>
              <a:t>Spreadsheets </a:t>
            </a:r>
            <a:r>
              <a:rPr lang="en-US" dirty="0"/>
              <a:t>also include graphing and charting functions, which will generate charts using data in the cells. </a:t>
            </a:r>
          </a:p>
          <a:p>
            <a:r>
              <a:rPr lang="en-US" dirty="0" smtClean="0"/>
              <a:t>Spreadsheets </a:t>
            </a:r>
            <a:r>
              <a:rPr lang="en-US" dirty="0"/>
              <a:t>can be interactive, allowing users to enter “what if” queries. </a:t>
            </a:r>
          </a:p>
          <a:p>
            <a:r>
              <a:rPr lang="en-US" dirty="0" smtClean="0"/>
              <a:t>Many </a:t>
            </a:r>
            <a:r>
              <a:rPr lang="en-US" dirty="0"/>
              <a:t>users have discovered that spreadsheets can also be used to print forms and other documents that need cells or tables. </a:t>
            </a:r>
          </a:p>
          <a:p>
            <a:r>
              <a:rPr lang="en-US" dirty="0" smtClean="0"/>
              <a:t>Examples </a:t>
            </a:r>
            <a:r>
              <a:rPr lang="en-US" dirty="0"/>
              <a:t>of spreadsheets are lotus 1,2,3 and Microsoft excel. </a:t>
            </a:r>
          </a:p>
          <a:p>
            <a:endParaRPr lang="en-US" dirty="0"/>
          </a:p>
        </p:txBody>
      </p:sp>
    </p:spTree>
    <p:extLst>
      <p:ext uri="{BB962C8B-B14F-4D97-AF65-F5344CB8AC3E}">
        <p14:creationId xmlns:p14="http://schemas.microsoft.com/office/powerpoint/2010/main" val="2089018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82296" indent="0">
              <a:buNone/>
            </a:pPr>
            <a:r>
              <a:rPr lang="en-US" i="1" dirty="0" smtClean="0"/>
              <a:t>3</a:t>
            </a:r>
            <a:r>
              <a:rPr lang="en-US" i="1" dirty="0"/>
              <a:t>. Database Management System </a:t>
            </a:r>
            <a:endParaRPr lang="en-US" dirty="0"/>
          </a:p>
          <a:p>
            <a:r>
              <a:rPr lang="en-US" dirty="0" smtClean="0"/>
              <a:t>These </a:t>
            </a:r>
            <a:r>
              <a:rPr lang="en-US" dirty="0"/>
              <a:t>structure and organize data used in databases </a:t>
            </a:r>
          </a:p>
          <a:p>
            <a:r>
              <a:rPr lang="en-US" dirty="0" smtClean="0"/>
              <a:t>They </a:t>
            </a:r>
            <a:r>
              <a:rPr lang="en-US" dirty="0"/>
              <a:t>are used in business to store data about stock in shops or factory, orders from customers, orders sent to suppliers, case notes (for doctors, social workers etc.), personnel (employee), mailing list or log sheets. </a:t>
            </a:r>
          </a:p>
          <a:p>
            <a:endParaRPr lang="en-US" dirty="0"/>
          </a:p>
        </p:txBody>
      </p:sp>
    </p:spTree>
    <p:extLst>
      <p:ext uri="{BB962C8B-B14F-4D97-AF65-F5344CB8AC3E}">
        <p14:creationId xmlns:p14="http://schemas.microsoft.com/office/powerpoint/2010/main" val="11441565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85800"/>
            <a:ext cx="7498080" cy="5562600"/>
          </a:xfrm>
        </p:spPr>
        <p:txBody>
          <a:bodyPr>
            <a:normAutofit fontScale="92500"/>
          </a:bodyPr>
          <a:lstStyle/>
          <a:p>
            <a:pPr marL="82296" indent="0">
              <a:buNone/>
            </a:pPr>
            <a:r>
              <a:rPr lang="en-US" i="1" dirty="0" smtClean="0"/>
              <a:t>4</a:t>
            </a:r>
            <a:r>
              <a:rPr lang="en-US" i="1" dirty="0"/>
              <a:t>. Graphic Software: </a:t>
            </a:r>
            <a:endParaRPr lang="en-US" dirty="0"/>
          </a:p>
          <a:p>
            <a:r>
              <a:rPr lang="en-US" dirty="0" smtClean="0"/>
              <a:t>Graphics </a:t>
            </a:r>
            <a:r>
              <a:rPr lang="en-US" dirty="0"/>
              <a:t>cover images stored in digital form. </a:t>
            </a:r>
          </a:p>
          <a:p>
            <a:r>
              <a:rPr lang="en-US" dirty="0"/>
              <a:t>They include photos that have been scanned or downloaded from digital camera or images drawn using graphical software. </a:t>
            </a:r>
          </a:p>
          <a:p>
            <a:r>
              <a:rPr lang="en-US" dirty="0" smtClean="0"/>
              <a:t>Examples </a:t>
            </a:r>
            <a:r>
              <a:rPr lang="en-US" dirty="0"/>
              <a:t>include photo editor or paint applications in Windows. </a:t>
            </a:r>
          </a:p>
          <a:p>
            <a:r>
              <a:rPr lang="en-US" dirty="0" smtClean="0"/>
              <a:t>Graphics </a:t>
            </a:r>
            <a:r>
              <a:rPr lang="en-US" dirty="0"/>
              <a:t>can be used in business to edit images to be used for stationery such as logos, publicity material (leaflets, brochure, posters) or web pages. </a:t>
            </a:r>
          </a:p>
          <a:p>
            <a:endParaRPr lang="en-US" dirty="0"/>
          </a:p>
          <a:p>
            <a:endParaRPr lang="en-US" dirty="0"/>
          </a:p>
        </p:txBody>
      </p:sp>
    </p:spTree>
    <p:extLst>
      <p:ext uri="{BB962C8B-B14F-4D97-AF65-F5344CB8AC3E}">
        <p14:creationId xmlns:p14="http://schemas.microsoft.com/office/powerpoint/2010/main" val="5057211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lnSpcReduction="10000"/>
          </a:bodyPr>
          <a:lstStyle/>
          <a:p>
            <a:pPr marL="82296" indent="0">
              <a:buNone/>
            </a:pPr>
            <a:r>
              <a:rPr lang="en-US" i="1" dirty="0" smtClean="0"/>
              <a:t>5</a:t>
            </a:r>
            <a:r>
              <a:rPr lang="en-US" i="1" dirty="0"/>
              <a:t>. Presentation Software. </a:t>
            </a:r>
            <a:endParaRPr lang="en-US" dirty="0"/>
          </a:p>
          <a:p>
            <a:r>
              <a:rPr lang="en-US" dirty="0" smtClean="0"/>
              <a:t>These </a:t>
            </a:r>
            <a:r>
              <a:rPr lang="en-US" dirty="0"/>
              <a:t>are used to provide an illustration for talks or lectures. </a:t>
            </a:r>
          </a:p>
          <a:p>
            <a:r>
              <a:rPr lang="en-US" dirty="0" smtClean="0"/>
              <a:t>They </a:t>
            </a:r>
            <a:r>
              <a:rPr lang="en-US" dirty="0"/>
              <a:t>offer many useful templates, which can be customized by addition of your own </a:t>
            </a:r>
            <a:r>
              <a:rPr lang="en-US" dirty="0" smtClean="0"/>
              <a:t>text </a:t>
            </a:r>
            <a:r>
              <a:rPr lang="en-US" dirty="0"/>
              <a:t>or images. </a:t>
            </a:r>
          </a:p>
          <a:p>
            <a:r>
              <a:rPr lang="en-US" dirty="0" smtClean="0"/>
              <a:t>Examples </a:t>
            </a:r>
            <a:r>
              <a:rPr lang="en-US" dirty="0"/>
              <a:t>include Microsoft power point and Lotus Freelance which can be used to create slides that can be projected directly from a computer to a screen and to print notes for the speaker and the audience. </a:t>
            </a:r>
          </a:p>
          <a:p>
            <a:endParaRPr lang="en-US" dirty="0"/>
          </a:p>
        </p:txBody>
      </p:sp>
    </p:spTree>
    <p:extLst>
      <p:ext uri="{BB962C8B-B14F-4D97-AF65-F5344CB8AC3E}">
        <p14:creationId xmlns:p14="http://schemas.microsoft.com/office/powerpoint/2010/main" val="25977830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normAutofit fontScale="77500" lnSpcReduction="20000"/>
          </a:bodyPr>
          <a:lstStyle/>
          <a:p>
            <a:pPr marL="82296" indent="0">
              <a:buNone/>
            </a:pPr>
            <a:r>
              <a:rPr lang="en-US" i="1" dirty="0" smtClean="0"/>
              <a:t>6</a:t>
            </a:r>
            <a:r>
              <a:rPr lang="en-US" i="1" dirty="0"/>
              <a:t>. Desktop Publishing: </a:t>
            </a:r>
            <a:endParaRPr lang="en-US" dirty="0"/>
          </a:p>
          <a:p>
            <a:r>
              <a:rPr lang="en-US" dirty="0" smtClean="0"/>
              <a:t>Individual </a:t>
            </a:r>
            <a:r>
              <a:rPr lang="en-US" dirty="0"/>
              <a:t>contributions to a newspaper can be sent to the editors system who can import them to page layout. </a:t>
            </a:r>
          </a:p>
          <a:p>
            <a:r>
              <a:rPr lang="en-US" dirty="0" smtClean="0"/>
              <a:t>Stories </a:t>
            </a:r>
            <a:r>
              <a:rPr lang="en-US" dirty="0"/>
              <a:t>headings and images can be easily edited and moved around to fit the space. </a:t>
            </a:r>
          </a:p>
          <a:p>
            <a:r>
              <a:rPr lang="en-US" dirty="0" smtClean="0"/>
              <a:t>Once </a:t>
            </a:r>
            <a:r>
              <a:rPr lang="en-US" dirty="0"/>
              <a:t>ready, it can be either printed directly or sent, still in electronic form to produce a plate for large scale printing. </a:t>
            </a:r>
          </a:p>
          <a:p>
            <a:r>
              <a:rPr lang="en-US" dirty="0" smtClean="0"/>
              <a:t>On </a:t>
            </a:r>
            <a:r>
              <a:rPr lang="en-US" dirty="0"/>
              <a:t>a small scale it can be used to arrange text or images on a page for a notice, leaflet or some other kind of publicity. </a:t>
            </a:r>
          </a:p>
          <a:p>
            <a:r>
              <a:rPr lang="en-US" dirty="0" smtClean="0"/>
              <a:t>Examples </a:t>
            </a:r>
            <a:r>
              <a:rPr lang="en-US" dirty="0"/>
              <a:t>include Adobe PageMaker or Microsoft publisher </a:t>
            </a:r>
          </a:p>
          <a:p>
            <a:r>
              <a:rPr lang="en-US" dirty="0" smtClean="0"/>
              <a:t>These </a:t>
            </a:r>
            <a:r>
              <a:rPr lang="en-US" dirty="0"/>
              <a:t>can be used to publish newsletters, notices, leaflets, publicity material or invitation. </a:t>
            </a:r>
          </a:p>
          <a:p>
            <a:endParaRPr lang="en-US" dirty="0"/>
          </a:p>
        </p:txBody>
      </p:sp>
    </p:spTree>
    <p:extLst>
      <p:ext uri="{BB962C8B-B14F-4D97-AF65-F5344CB8AC3E}">
        <p14:creationId xmlns:p14="http://schemas.microsoft.com/office/powerpoint/2010/main" val="4151679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normAutofit fontScale="92500"/>
          </a:bodyPr>
          <a:lstStyle/>
          <a:p>
            <a:pPr marL="82296" indent="0">
              <a:buNone/>
            </a:pPr>
            <a:r>
              <a:rPr lang="en-US" i="1" dirty="0" smtClean="0"/>
              <a:t>7</a:t>
            </a:r>
            <a:r>
              <a:rPr lang="en-US" i="1" dirty="0"/>
              <a:t>. Games Software: </a:t>
            </a:r>
            <a:endParaRPr lang="en-US" dirty="0"/>
          </a:p>
          <a:p>
            <a:r>
              <a:rPr lang="en-US" dirty="0" smtClean="0"/>
              <a:t>Games </a:t>
            </a:r>
            <a:r>
              <a:rPr lang="en-US" dirty="0"/>
              <a:t>are widely enjoyed in </a:t>
            </a:r>
            <a:r>
              <a:rPr lang="en-US" dirty="0" smtClean="0"/>
              <a:t>homes</a:t>
            </a:r>
            <a:r>
              <a:rPr lang="en-US" dirty="0"/>
              <a:t>. </a:t>
            </a:r>
          </a:p>
          <a:p>
            <a:r>
              <a:rPr lang="en-US" dirty="0" smtClean="0"/>
              <a:t>They </a:t>
            </a:r>
            <a:r>
              <a:rPr lang="en-US" dirty="0"/>
              <a:t>can also be useful in educational context, where children can learn and explore ideas through the medium of games. </a:t>
            </a:r>
            <a:endParaRPr lang="en-US" dirty="0" smtClean="0"/>
          </a:p>
          <a:p>
            <a:pPr marL="82296" indent="0">
              <a:buNone/>
            </a:pPr>
            <a:r>
              <a:rPr lang="en-US" dirty="0" smtClean="0"/>
              <a:t>8</a:t>
            </a:r>
            <a:r>
              <a:rPr lang="en-US" dirty="0"/>
              <a:t>. </a:t>
            </a:r>
            <a:r>
              <a:rPr lang="en-US" i="1" dirty="0"/>
              <a:t>Communication Software: </a:t>
            </a:r>
            <a:endParaRPr lang="en-US" dirty="0"/>
          </a:p>
          <a:p>
            <a:r>
              <a:rPr lang="en-US" dirty="0" smtClean="0"/>
              <a:t>People </a:t>
            </a:r>
            <a:r>
              <a:rPr lang="en-US" dirty="0"/>
              <a:t>working in industry and commerce need to communicate with each other. </a:t>
            </a:r>
          </a:p>
          <a:p>
            <a:r>
              <a:rPr lang="en-US" dirty="0" smtClean="0"/>
              <a:t>ICT </a:t>
            </a:r>
            <a:r>
              <a:rPr lang="en-US" dirty="0"/>
              <a:t>can be used to support communication. </a:t>
            </a:r>
          </a:p>
          <a:p>
            <a:r>
              <a:rPr lang="en-US" dirty="0" smtClean="0"/>
              <a:t>The </a:t>
            </a:r>
            <a:r>
              <a:rPr lang="en-US" dirty="0"/>
              <a:t>main software applications for communication are web browsers and email. </a:t>
            </a:r>
          </a:p>
          <a:p>
            <a:pPr marL="82296" indent="0">
              <a:buNone/>
            </a:pPr>
            <a:endParaRPr lang="en-US" dirty="0"/>
          </a:p>
          <a:p>
            <a:endParaRPr lang="en-US" dirty="0"/>
          </a:p>
        </p:txBody>
      </p:sp>
    </p:spTree>
    <p:extLst>
      <p:ext uri="{BB962C8B-B14F-4D97-AF65-F5344CB8AC3E}">
        <p14:creationId xmlns:p14="http://schemas.microsoft.com/office/powerpoint/2010/main" val="14167389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a:xfrm>
            <a:off x="1435608" y="274638"/>
            <a:ext cx="7498080" cy="715962"/>
          </a:xfrm>
        </p:spPr>
        <p:txBody>
          <a:bodyPr>
            <a:normAutofit fontScale="90000"/>
          </a:bodyPr>
          <a:lstStyle/>
          <a:p>
            <a:pPr eaLnBrk="1" hangingPunct="1"/>
            <a:r>
              <a:rPr lang="en-US" dirty="0" smtClean="0"/>
              <a:t>Utility Programs</a:t>
            </a:r>
          </a:p>
        </p:txBody>
      </p:sp>
      <p:sp>
        <p:nvSpPr>
          <p:cNvPr id="30725" name="Rectangle 3"/>
          <p:cNvSpPr>
            <a:spLocks noGrp="1" noChangeArrowheads="1"/>
          </p:cNvSpPr>
          <p:nvPr>
            <p:ph type="body" idx="1"/>
          </p:nvPr>
        </p:nvSpPr>
        <p:spPr>
          <a:xfrm>
            <a:off x="1435608" y="990600"/>
            <a:ext cx="7498080" cy="5257800"/>
          </a:xfrm>
        </p:spPr>
        <p:txBody>
          <a:bodyPr>
            <a:normAutofit fontScale="62500" lnSpcReduction="20000"/>
          </a:bodyPr>
          <a:lstStyle/>
          <a:p>
            <a:r>
              <a:rPr lang="en-US" dirty="0"/>
              <a:t>A program that performs </a:t>
            </a:r>
            <a:r>
              <a:rPr lang="en-US" dirty="0" smtClean="0"/>
              <a:t>specific tasks related </a:t>
            </a:r>
            <a:r>
              <a:rPr lang="en-US" dirty="0"/>
              <a:t>to managing system resources. </a:t>
            </a:r>
            <a:endParaRPr lang="en-US" dirty="0" smtClean="0"/>
          </a:p>
          <a:p>
            <a:r>
              <a:rPr lang="en-US" dirty="0"/>
              <a:t>Help to perform maintenance or correct problems with a computer </a:t>
            </a:r>
            <a:r>
              <a:rPr lang="en-US" dirty="0" smtClean="0"/>
              <a:t>system.</a:t>
            </a:r>
            <a:endParaRPr lang="en-US" b="1" dirty="0" smtClean="0"/>
          </a:p>
          <a:p>
            <a:r>
              <a:rPr lang="en-US" b="1" dirty="0" smtClean="0"/>
              <a:t>Utility </a:t>
            </a:r>
            <a:r>
              <a:rPr lang="en-US" b="1" dirty="0"/>
              <a:t>software</a:t>
            </a:r>
            <a:r>
              <a:rPr lang="en-US" dirty="0"/>
              <a:t> is system software designed </a:t>
            </a:r>
            <a:r>
              <a:rPr lang="en-US" dirty="0" smtClean="0"/>
              <a:t>to help </a:t>
            </a:r>
            <a:r>
              <a:rPr lang="en-US" dirty="0"/>
              <a:t>analyze, configure, optimize or maintain a computer.</a:t>
            </a:r>
            <a:endParaRPr lang="en-US" dirty="0" smtClean="0"/>
          </a:p>
          <a:p>
            <a:r>
              <a:rPr lang="en-US" dirty="0" smtClean="0"/>
              <a:t>Operating </a:t>
            </a:r>
            <a:r>
              <a:rPr lang="en-US" dirty="0"/>
              <a:t>systems contain a number of utilities for managing disk drives, printers, and other devices.</a:t>
            </a:r>
            <a:endParaRPr lang="en-US" dirty="0" smtClean="0"/>
          </a:p>
          <a:p>
            <a:pPr eaLnBrk="1" hangingPunct="1"/>
            <a:r>
              <a:rPr lang="en-US" dirty="0" smtClean="0"/>
              <a:t>Common types of utility programs:</a:t>
            </a:r>
          </a:p>
          <a:p>
            <a:pPr lvl="1"/>
            <a:r>
              <a:rPr lang="en-US" b="1" dirty="0" smtClean="0"/>
              <a:t>Anti-virus - </a:t>
            </a:r>
            <a:r>
              <a:rPr lang="en-US" dirty="0" smtClean="0"/>
              <a:t>utilities </a:t>
            </a:r>
            <a:r>
              <a:rPr lang="en-US" dirty="0"/>
              <a:t>scan for computer viruses.</a:t>
            </a:r>
            <a:endParaRPr lang="en-US" dirty="0" smtClean="0"/>
          </a:p>
          <a:p>
            <a:pPr lvl="1"/>
            <a:r>
              <a:rPr lang="en-US" b="1" dirty="0"/>
              <a:t>Backup </a:t>
            </a:r>
            <a:r>
              <a:rPr lang="en-US" b="1" dirty="0" smtClean="0"/>
              <a:t>software</a:t>
            </a:r>
            <a:r>
              <a:rPr lang="en-US" dirty="0" smtClean="0"/>
              <a:t> - can </a:t>
            </a:r>
            <a:r>
              <a:rPr lang="en-US" dirty="0"/>
              <a:t>make copies of all information stored on a disk and restore either the entire </a:t>
            </a:r>
            <a:r>
              <a:rPr lang="en-US" dirty="0" smtClean="0"/>
              <a:t>disk.</a:t>
            </a:r>
          </a:p>
          <a:p>
            <a:pPr lvl="1"/>
            <a:r>
              <a:rPr lang="en-US" b="1" dirty="0"/>
              <a:t>Data </a:t>
            </a:r>
            <a:r>
              <a:rPr lang="en-US" b="1" dirty="0" smtClean="0"/>
              <a:t>compression</a:t>
            </a:r>
            <a:r>
              <a:rPr lang="en-US" dirty="0" smtClean="0"/>
              <a:t> - utilities </a:t>
            </a:r>
            <a:r>
              <a:rPr lang="en-US" dirty="0"/>
              <a:t>output a shorter stream or a smaller file when provided with a stream or file. </a:t>
            </a:r>
            <a:endParaRPr lang="en-US" dirty="0" smtClean="0"/>
          </a:p>
          <a:p>
            <a:pPr lvl="1"/>
            <a:r>
              <a:rPr lang="en-US" b="1" dirty="0"/>
              <a:t>File </a:t>
            </a:r>
            <a:r>
              <a:rPr lang="en-US" b="1" dirty="0" smtClean="0"/>
              <a:t>managers - </a:t>
            </a:r>
            <a:r>
              <a:rPr lang="en-US" dirty="0" smtClean="0"/>
              <a:t> performing </a:t>
            </a:r>
            <a:r>
              <a:rPr lang="en-US" dirty="0"/>
              <a:t>routine data management tasks, such as deleting, renaming</a:t>
            </a:r>
            <a:r>
              <a:rPr lang="en-US" dirty="0" smtClean="0"/>
              <a:t>, </a:t>
            </a:r>
            <a:r>
              <a:rPr lang="en-US" dirty="0"/>
              <a:t>moving, copying, merging, generating and modifying data sets</a:t>
            </a:r>
            <a:r>
              <a:rPr lang="en-US" dirty="0" smtClean="0"/>
              <a:t>.</a:t>
            </a:r>
          </a:p>
          <a:p>
            <a:pPr lvl="1"/>
            <a:r>
              <a:rPr lang="en-US" b="1" dirty="0"/>
              <a:t>System </a:t>
            </a:r>
            <a:r>
              <a:rPr lang="en-US" b="1" dirty="0" smtClean="0"/>
              <a:t>monitors - </a:t>
            </a:r>
            <a:r>
              <a:rPr lang="en-US" dirty="0" smtClean="0"/>
              <a:t> </a:t>
            </a:r>
            <a:r>
              <a:rPr lang="en-US" dirty="0"/>
              <a:t>for monitoring resources and performance in a computer system.</a:t>
            </a:r>
            <a:endParaRPr lang="en-US" dirty="0" smtClean="0"/>
          </a:p>
        </p:txBody>
      </p:sp>
    </p:spTree>
    <p:extLst>
      <p:ext uri="{BB962C8B-B14F-4D97-AF65-F5344CB8AC3E}">
        <p14:creationId xmlns:p14="http://schemas.microsoft.com/office/powerpoint/2010/main" val="16302906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9D823E13-4288-49DF-B633-17AD6FF4960A}" type="slidenum">
              <a:rPr lang="en-US"/>
              <a:pPr>
                <a:defRPr/>
              </a:pPr>
              <a:t>35</a:t>
            </a:fld>
            <a:endParaRPr lang="en-US"/>
          </a:p>
        </p:txBody>
      </p:sp>
      <p:sp>
        <p:nvSpPr>
          <p:cNvPr id="54276" name="Rectangle 2"/>
          <p:cNvSpPr>
            <a:spLocks noGrp="1" noChangeArrowheads="1"/>
          </p:cNvSpPr>
          <p:nvPr>
            <p:ph type="title"/>
          </p:nvPr>
        </p:nvSpPr>
        <p:spPr/>
        <p:txBody>
          <a:bodyPr/>
          <a:lstStyle/>
          <a:p>
            <a:pPr eaLnBrk="1" hangingPunct="1"/>
            <a:r>
              <a:rPr lang="en-US" dirty="0" smtClean="0">
                <a:solidFill>
                  <a:schemeClr val="tx1"/>
                </a:solidFill>
              </a:rPr>
              <a:t>Software Issues</a:t>
            </a:r>
          </a:p>
        </p:txBody>
      </p:sp>
      <p:sp>
        <p:nvSpPr>
          <p:cNvPr id="54277" name="Rectangle 3"/>
          <p:cNvSpPr>
            <a:spLocks noGrp="1" noChangeArrowheads="1"/>
          </p:cNvSpPr>
          <p:nvPr>
            <p:ph type="body" idx="1"/>
          </p:nvPr>
        </p:nvSpPr>
        <p:spPr/>
        <p:txBody>
          <a:bodyPr>
            <a:normAutofit/>
          </a:bodyPr>
          <a:lstStyle/>
          <a:p>
            <a:pPr eaLnBrk="1" hangingPunct="1"/>
            <a:r>
              <a:rPr lang="en-US" dirty="0" smtClean="0"/>
              <a:t>Major software issues and trends discussed in the text</a:t>
            </a:r>
          </a:p>
          <a:p>
            <a:pPr lvl="1" eaLnBrk="1" hangingPunct="1"/>
            <a:r>
              <a:rPr lang="en-US" dirty="0" smtClean="0"/>
              <a:t>Software bugs, copyright, software licensing, open-source software, shareware and public domain software, </a:t>
            </a:r>
            <a:r>
              <a:rPr lang="en-US" dirty="0" err="1" smtClean="0"/>
              <a:t>multiorganizational</a:t>
            </a:r>
            <a:r>
              <a:rPr lang="en-US" dirty="0" smtClean="0"/>
              <a:t> software development, software upgrades, and global software support</a:t>
            </a:r>
          </a:p>
        </p:txBody>
      </p:sp>
    </p:spTree>
    <p:extLst>
      <p:ext uri="{BB962C8B-B14F-4D97-AF65-F5344CB8AC3E}">
        <p14:creationId xmlns:p14="http://schemas.microsoft.com/office/powerpoint/2010/main" val="25823846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5DF166B5-DD40-4B4A-9F07-4EDB9D828FFD}" type="slidenum">
              <a:rPr lang="en-US"/>
              <a:pPr>
                <a:defRPr/>
              </a:pPr>
              <a:t>36</a:t>
            </a:fld>
            <a:endParaRPr lang="en-US"/>
          </a:p>
        </p:txBody>
      </p:sp>
      <p:sp>
        <p:nvSpPr>
          <p:cNvPr id="55300" name="Rectangle 2"/>
          <p:cNvSpPr>
            <a:spLocks noGrp="1" noChangeArrowheads="1"/>
          </p:cNvSpPr>
          <p:nvPr>
            <p:ph type="title"/>
          </p:nvPr>
        </p:nvSpPr>
        <p:spPr/>
        <p:txBody>
          <a:bodyPr/>
          <a:lstStyle/>
          <a:p>
            <a:pPr eaLnBrk="1" hangingPunct="1"/>
            <a:r>
              <a:rPr lang="en-US" smtClean="0"/>
              <a:t>Software Bugs</a:t>
            </a:r>
          </a:p>
        </p:txBody>
      </p:sp>
      <p:sp>
        <p:nvSpPr>
          <p:cNvPr id="55301" name="Rectangle 3"/>
          <p:cNvSpPr>
            <a:spLocks noGrp="1" noChangeArrowheads="1"/>
          </p:cNvSpPr>
          <p:nvPr>
            <p:ph type="body" idx="1"/>
          </p:nvPr>
        </p:nvSpPr>
        <p:spPr/>
        <p:txBody>
          <a:bodyPr>
            <a:normAutofit fontScale="92500" lnSpcReduction="10000"/>
          </a:bodyPr>
          <a:lstStyle/>
          <a:p>
            <a:pPr eaLnBrk="1" hangingPunct="1"/>
            <a:r>
              <a:rPr lang="en-US" b="1" dirty="0" smtClean="0"/>
              <a:t>Software bug:</a:t>
            </a:r>
            <a:r>
              <a:rPr lang="en-US" dirty="0" smtClean="0"/>
              <a:t> defect in a computer program that keeps it from performing as it is designed to perform</a:t>
            </a:r>
          </a:p>
          <a:p>
            <a:pPr eaLnBrk="1" hangingPunct="1"/>
            <a:r>
              <a:rPr lang="en-US" dirty="0" smtClean="0"/>
              <a:t>Tips for reducing impact of software bugs</a:t>
            </a:r>
          </a:p>
          <a:p>
            <a:pPr lvl="1" eaLnBrk="1" hangingPunct="1"/>
            <a:r>
              <a:rPr lang="en-US" dirty="0" smtClean="0"/>
              <a:t>Register all software so that you can receive bug alerts, fixes, and patches</a:t>
            </a:r>
          </a:p>
          <a:p>
            <a:pPr lvl="1" eaLnBrk="1" hangingPunct="1"/>
            <a:r>
              <a:rPr lang="en-US" dirty="0" smtClean="0"/>
              <a:t>Check the manual or read-me files for work-</a:t>
            </a:r>
            <a:r>
              <a:rPr lang="en-US" dirty="0" err="1" smtClean="0"/>
              <a:t>arounds</a:t>
            </a:r>
            <a:endParaRPr lang="en-US" dirty="0" smtClean="0"/>
          </a:p>
          <a:p>
            <a:pPr lvl="1" eaLnBrk="1" hangingPunct="1"/>
            <a:r>
              <a:rPr lang="en-US" dirty="0" smtClean="0"/>
              <a:t>Access support area of the manufacturer’s Web site for patches</a:t>
            </a:r>
          </a:p>
          <a:p>
            <a:pPr lvl="1" eaLnBrk="1" hangingPunct="1"/>
            <a:r>
              <a:rPr lang="en-US" dirty="0" smtClean="0"/>
              <a:t>Install the latest software updates</a:t>
            </a:r>
          </a:p>
        </p:txBody>
      </p:sp>
    </p:spTree>
    <p:extLst>
      <p:ext uri="{BB962C8B-B14F-4D97-AF65-F5344CB8AC3E}">
        <p14:creationId xmlns:p14="http://schemas.microsoft.com/office/powerpoint/2010/main" val="37547738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Principles of Information Systems, Eighth Edition</a:t>
            </a:r>
          </a:p>
        </p:txBody>
      </p:sp>
      <p:sp>
        <p:nvSpPr>
          <p:cNvPr id="5" name="Slide Number Placeholder 4"/>
          <p:cNvSpPr>
            <a:spLocks noGrp="1"/>
          </p:cNvSpPr>
          <p:nvPr>
            <p:ph type="sldNum" sz="quarter" idx="11"/>
          </p:nvPr>
        </p:nvSpPr>
        <p:spPr/>
        <p:txBody>
          <a:bodyPr/>
          <a:lstStyle/>
          <a:p>
            <a:pPr>
              <a:defRPr/>
            </a:pPr>
            <a:fld id="{732632B8-A7D4-4661-8717-E8862A9273E8}" type="slidenum">
              <a:rPr lang="en-US"/>
              <a:pPr>
                <a:defRPr/>
              </a:pPr>
              <a:t>37</a:t>
            </a:fld>
            <a:endParaRPr lang="en-US"/>
          </a:p>
        </p:txBody>
      </p:sp>
      <p:sp>
        <p:nvSpPr>
          <p:cNvPr id="56324" name="Rectangle 2"/>
          <p:cNvSpPr>
            <a:spLocks noGrp="1" noChangeArrowheads="1"/>
          </p:cNvSpPr>
          <p:nvPr>
            <p:ph type="title"/>
          </p:nvPr>
        </p:nvSpPr>
        <p:spPr/>
        <p:txBody>
          <a:bodyPr/>
          <a:lstStyle/>
          <a:p>
            <a:pPr eaLnBrk="1" hangingPunct="1"/>
            <a:r>
              <a:rPr lang="en-US" dirty="0" smtClean="0"/>
              <a:t>Copyrights and Licenses</a:t>
            </a:r>
          </a:p>
        </p:txBody>
      </p:sp>
      <p:sp>
        <p:nvSpPr>
          <p:cNvPr id="56325" name="Rectangle 3"/>
          <p:cNvSpPr>
            <a:spLocks noGrp="1" noChangeArrowheads="1"/>
          </p:cNvSpPr>
          <p:nvPr>
            <p:ph type="body" idx="1"/>
          </p:nvPr>
        </p:nvSpPr>
        <p:spPr/>
        <p:txBody>
          <a:bodyPr/>
          <a:lstStyle/>
          <a:p>
            <a:pPr eaLnBrk="1" hangingPunct="1"/>
            <a:r>
              <a:rPr lang="en-US" dirty="0" smtClean="0"/>
              <a:t>Most software products are protected by law using copyright or licensing provisions</a:t>
            </a:r>
          </a:p>
          <a:p>
            <a:pPr lvl="1" eaLnBrk="1" hangingPunct="1"/>
            <a:r>
              <a:rPr lang="en-US" dirty="0" smtClean="0"/>
              <a:t>In some cases, you are given unlimited use of software on one or two computers</a:t>
            </a:r>
          </a:p>
          <a:p>
            <a:pPr lvl="1" eaLnBrk="1" hangingPunct="1"/>
            <a:r>
              <a:rPr lang="en-US" dirty="0" smtClean="0"/>
              <a:t>In other cases, you pay for your usage—if you use the software more, you pay more</a:t>
            </a:r>
          </a:p>
          <a:p>
            <a:pPr eaLnBrk="1" hangingPunct="1"/>
            <a:r>
              <a:rPr lang="en-US" dirty="0" smtClean="0"/>
              <a:t>Some software now requires that you </a:t>
            </a:r>
            <a:r>
              <a:rPr lang="en-US" i="1" dirty="0" smtClean="0"/>
              <a:t>register </a:t>
            </a:r>
            <a:r>
              <a:rPr lang="en-US" dirty="0" smtClean="0"/>
              <a:t>or </a:t>
            </a:r>
            <a:r>
              <a:rPr lang="en-US" i="1" dirty="0" smtClean="0"/>
              <a:t>activate </a:t>
            </a:r>
            <a:r>
              <a:rPr lang="en-US" dirty="0" smtClean="0"/>
              <a:t>it before it can be fully used</a:t>
            </a:r>
          </a:p>
        </p:txBody>
      </p:sp>
    </p:spTree>
    <p:extLst>
      <p:ext uri="{BB962C8B-B14F-4D97-AF65-F5344CB8AC3E}">
        <p14:creationId xmlns:p14="http://schemas.microsoft.com/office/powerpoint/2010/main" val="15196800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pPr>
              <a:defRPr/>
            </a:pPr>
            <a:fld id="{A8D8D7FA-DFB3-49EF-BFD4-0DDB9D1B75D8}" type="slidenum">
              <a:rPr lang="en-US"/>
              <a:pPr>
                <a:defRPr/>
              </a:pPr>
              <a:t>38</a:t>
            </a:fld>
            <a:endParaRPr lang="en-US"/>
          </a:p>
        </p:txBody>
      </p:sp>
      <p:sp>
        <p:nvSpPr>
          <p:cNvPr id="57348" name="Rectangle 2"/>
          <p:cNvSpPr>
            <a:spLocks noGrp="1" noChangeArrowheads="1"/>
          </p:cNvSpPr>
          <p:nvPr>
            <p:ph type="title"/>
          </p:nvPr>
        </p:nvSpPr>
        <p:spPr/>
        <p:txBody>
          <a:bodyPr/>
          <a:lstStyle/>
          <a:p>
            <a:pPr eaLnBrk="1" hangingPunct="1"/>
            <a:r>
              <a:rPr lang="en-US" smtClean="0"/>
              <a:t>Open-Source Software</a:t>
            </a:r>
          </a:p>
        </p:txBody>
      </p:sp>
      <p:sp>
        <p:nvSpPr>
          <p:cNvPr id="57349" name="Rectangle 3"/>
          <p:cNvSpPr>
            <a:spLocks noGrp="1" noChangeArrowheads="1"/>
          </p:cNvSpPr>
          <p:nvPr>
            <p:ph type="body" idx="1"/>
          </p:nvPr>
        </p:nvSpPr>
        <p:spPr/>
        <p:txBody>
          <a:bodyPr>
            <a:normAutofit fontScale="92500" lnSpcReduction="20000"/>
          </a:bodyPr>
          <a:lstStyle/>
          <a:p>
            <a:pPr eaLnBrk="1" hangingPunct="1"/>
            <a:r>
              <a:rPr lang="en-US" b="1" dirty="0" smtClean="0"/>
              <a:t>Open-source software:</a:t>
            </a:r>
            <a:r>
              <a:rPr lang="en-US" dirty="0" smtClean="0"/>
              <a:t> software freely available to anyone in a form that can be easily modified</a:t>
            </a:r>
          </a:p>
          <a:p>
            <a:pPr eaLnBrk="1" hangingPunct="1"/>
            <a:r>
              <a:rPr lang="en-US" dirty="0" smtClean="0"/>
              <a:t>Some widely used open-source software packages: Linux OS, Free BSD, Apache, </a:t>
            </a:r>
            <a:r>
              <a:rPr lang="en-US" dirty="0" err="1" smtClean="0"/>
              <a:t>Sendmail</a:t>
            </a:r>
            <a:r>
              <a:rPr lang="en-US" dirty="0" smtClean="0"/>
              <a:t>, Perl</a:t>
            </a:r>
          </a:p>
          <a:p>
            <a:pPr eaLnBrk="1" hangingPunct="1"/>
            <a:r>
              <a:rPr lang="en-US" dirty="0" smtClean="0"/>
              <a:t>Open-source software is often </a:t>
            </a:r>
            <a:r>
              <a:rPr lang="en-US" i="1" dirty="0" smtClean="0"/>
              <a:t>more </a:t>
            </a:r>
            <a:r>
              <a:rPr lang="en-US" dirty="0" smtClean="0"/>
              <a:t>reliable and secure than commercial software</a:t>
            </a:r>
          </a:p>
          <a:p>
            <a:pPr eaLnBrk="1" hangingPunct="1"/>
            <a:r>
              <a:rPr lang="en-US" dirty="0" smtClean="0"/>
              <a:t>Open-source systems can contain hidden costs, particularly for user support or solving problems with the software</a:t>
            </a:r>
          </a:p>
        </p:txBody>
      </p:sp>
    </p:spTree>
    <p:extLst>
      <p:ext uri="{BB962C8B-B14F-4D97-AF65-F5344CB8AC3E}">
        <p14:creationId xmlns:p14="http://schemas.microsoft.com/office/powerpoint/2010/main" val="8870697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Principles of Information Systems, Eighth Edition</a:t>
            </a:r>
          </a:p>
        </p:txBody>
      </p:sp>
      <p:sp>
        <p:nvSpPr>
          <p:cNvPr id="6" name="Slide Number Placeholder 4"/>
          <p:cNvSpPr>
            <a:spLocks noGrp="1"/>
          </p:cNvSpPr>
          <p:nvPr>
            <p:ph type="sldNum" sz="quarter" idx="11"/>
          </p:nvPr>
        </p:nvSpPr>
        <p:spPr/>
        <p:txBody>
          <a:bodyPr/>
          <a:lstStyle/>
          <a:p>
            <a:pPr>
              <a:defRPr/>
            </a:pPr>
            <a:fld id="{1DB09C7A-7C27-48D1-8ACD-D58B6C13A757}" type="slidenum">
              <a:rPr lang="en-US"/>
              <a:pPr>
                <a:defRPr/>
              </a:pPr>
              <a:t>39</a:t>
            </a:fld>
            <a:endParaRPr lang="en-US"/>
          </a:p>
        </p:txBody>
      </p:sp>
      <p:sp>
        <p:nvSpPr>
          <p:cNvPr id="58372" name="Rectangle 2"/>
          <p:cNvSpPr>
            <a:spLocks noGrp="1" noChangeArrowheads="1"/>
          </p:cNvSpPr>
          <p:nvPr>
            <p:ph type="title"/>
          </p:nvPr>
        </p:nvSpPr>
        <p:spPr/>
        <p:txBody>
          <a:bodyPr>
            <a:normAutofit fontScale="90000"/>
          </a:bodyPr>
          <a:lstStyle/>
          <a:p>
            <a:pPr eaLnBrk="1" hangingPunct="1"/>
            <a:r>
              <a:rPr lang="en-US" smtClean="0"/>
              <a:t>Open-Source Software (continued)</a:t>
            </a:r>
          </a:p>
        </p:txBody>
      </p:sp>
      <p:sp>
        <p:nvSpPr>
          <p:cNvPr id="58373" name="Rectangle 5"/>
          <p:cNvSpPr>
            <a:spLocks noChangeArrowheads="1"/>
          </p:cNvSpPr>
          <p:nvPr/>
        </p:nvSpPr>
        <p:spPr bwMode="auto">
          <a:xfrm>
            <a:off x="457200" y="5638800"/>
            <a:ext cx="82296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ctr">
              <a:spcBef>
                <a:spcPct val="20000"/>
              </a:spcBef>
            </a:pPr>
            <a:r>
              <a:rPr lang="en-US" sz="1800" b="1">
                <a:solidFill>
                  <a:schemeClr val="tx1"/>
                </a:solidFill>
                <a:latin typeface="Arial" charset="0"/>
              </a:rPr>
              <a:t>Table 4.10: Examples of Open-Source Software</a:t>
            </a:r>
          </a:p>
        </p:txBody>
      </p:sp>
      <p:pic>
        <p:nvPicPr>
          <p:cNvPr id="58374" name="Picture 6" descr="Table 4-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89150" y="2438400"/>
            <a:ext cx="5073650" cy="2495550"/>
          </a:xfrm>
          <a:noFill/>
        </p:spPr>
      </p:pic>
    </p:spTree>
    <p:extLst>
      <p:ext uri="{BB962C8B-B14F-4D97-AF65-F5344CB8AC3E}">
        <p14:creationId xmlns:p14="http://schemas.microsoft.com/office/powerpoint/2010/main" val="30487046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Principles of Information Systems, Eighth Edition</a:t>
            </a:r>
          </a:p>
        </p:txBody>
      </p:sp>
      <p:sp>
        <p:nvSpPr>
          <p:cNvPr id="5" name="Slide Number Placeholder 4"/>
          <p:cNvSpPr>
            <a:spLocks noGrp="1"/>
          </p:cNvSpPr>
          <p:nvPr>
            <p:ph type="sldNum" sz="quarter" idx="11"/>
          </p:nvPr>
        </p:nvSpPr>
        <p:spPr/>
        <p:txBody>
          <a:bodyPr/>
          <a:lstStyle/>
          <a:p>
            <a:pPr>
              <a:defRPr/>
            </a:pPr>
            <a:fld id="{0A03CB25-0929-42F8-B7ED-7652355B8E30}" type="slidenum">
              <a:rPr lang="en-US"/>
              <a:pPr>
                <a:defRPr/>
              </a:pPr>
              <a:t>40</a:t>
            </a:fld>
            <a:endParaRPr lang="en-US"/>
          </a:p>
        </p:txBody>
      </p:sp>
      <p:sp>
        <p:nvSpPr>
          <p:cNvPr id="59396" name="Rectangle 2"/>
          <p:cNvSpPr>
            <a:spLocks noGrp="1" noChangeArrowheads="1"/>
          </p:cNvSpPr>
          <p:nvPr>
            <p:ph type="title"/>
          </p:nvPr>
        </p:nvSpPr>
        <p:spPr/>
        <p:txBody>
          <a:bodyPr>
            <a:normAutofit fontScale="90000"/>
          </a:bodyPr>
          <a:lstStyle/>
          <a:p>
            <a:pPr eaLnBrk="1" hangingPunct="1"/>
            <a:r>
              <a:rPr lang="en-US" smtClean="0"/>
              <a:t>Shareware, Freeware, and Public Domain Software</a:t>
            </a:r>
          </a:p>
        </p:txBody>
      </p:sp>
      <p:sp>
        <p:nvSpPr>
          <p:cNvPr id="59397" name="Rectangle 3"/>
          <p:cNvSpPr>
            <a:spLocks noGrp="1" noChangeArrowheads="1"/>
          </p:cNvSpPr>
          <p:nvPr>
            <p:ph type="body" idx="1"/>
          </p:nvPr>
        </p:nvSpPr>
        <p:spPr/>
        <p:txBody>
          <a:bodyPr/>
          <a:lstStyle/>
          <a:p>
            <a:pPr eaLnBrk="1" hangingPunct="1"/>
            <a:r>
              <a:rPr lang="en-US" b="1" smtClean="0"/>
              <a:t>Shareware and freeware:</a:t>
            </a:r>
            <a:r>
              <a:rPr lang="en-US" smtClean="0"/>
              <a:t> software that is very inexpensive or free, but whose source code cannot be modified</a:t>
            </a:r>
          </a:p>
          <a:p>
            <a:pPr eaLnBrk="1" hangingPunct="1"/>
            <a:r>
              <a:rPr lang="en-US" b="1" smtClean="0"/>
              <a:t>Public domain software:</a:t>
            </a:r>
            <a:r>
              <a:rPr lang="en-US" smtClean="0"/>
              <a:t> shareware and freeware that is in the public domain</a:t>
            </a:r>
          </a:p>
        </p:txBody>
      </p:sp>
    </p:spTree>
    <p:extLst>
      <p:ext uri="{BB962C8B-B14F-4D97-AF65-F5344CB8AC3E}">
        <p14:creationId xmlns:p14="http://schemas.microsoft.com/office/powerpoint/2010/main" val="429154235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Principles of Information Systems, Eighth Edition</a:t>
            </a:r>
          </a:p>
        </p:txBody>
      </p:sp>
      <p:sp>
        <p:nvSpPr>
          <p:cNvPr id="5" name="Slide Number Placeholder 4"/>
          <p:cNvSpPr>
            <a:spLocks noGrp="1"/>
          </p:cNvSpPr>
          <p:nvPr>
            <p:ph type="sldNum" sz="quarter" idx="11"/>
          </p:nvPr>
        </p:nvSpPr>
        <p:spPr/>
        <p:txBody>
          <a:bodyPr/>
          <a:lstStyle/>
          <a:p>
            <a:pPr>
              <a:defRPr/>
            </a:pPr>
            <a:fld id="{474203D3-4EA3-44E9-8630-67FE19A1849D}" type="slidenum">
              <a:rPr lang="en-US"/>
              <a:pPr>
                <a:defRPr/>
              </a:pPr>
              <a:t>41</a:t>
            </a:fld>
            <a:endParaRPr lang="en-US"/>
          </a:p>
        </p:txBody>
      </p:sp>
      <p:sp>
        <p:nvSpPr>
          <p:cNvPr id="60420" name="Rectangle 2"/>
          <p:cNvSpPr>
            <a:spLocks noGrp="1" noChangeArrowheads="1"/>
          </p:cNvSpPr>
          <p:nvPr>
            <p:ph type="title"/>
          </p:nvPr>
        </p:nvSpPr>
        <p:spPr/>
        <p:txBody>
          <a:bodyPr/>
          <a:lstStyle/>
          <a:p>
            <a:pPr eaLnBrk="1" hangingPunct="1"/>
            <a:r>
              <a:rPr lang="en-US" smtClean="0"/>
              <a:t>Software Upgrades</a:t>
            </a:r>
          </a:p>
        </p:txBody>
      </p:sp>
      <p:sp>
        <p:nvSpPr>
          <p:cNvPr id="60421" name="Rectangle 3"/>
          <p:cNvSpPr>
            <a:spLocks noGrp="1" noChangeArrowheads="1"/>
          </p:cNvSpPr>
          <p:nvPr>
            <p:ph type="body" idx="1"/>
          </p:nvPr>
        </p:nvSpPr>
        <p:spPr/>
        <p:txBody>
          <a:bodyPr/>
          <a:lstStyle/>
          <a:p>
            <a:pPr eaLnBrk="1" hangingPunct="1"/>
            <a:r>
              <a:rPr lang="en-US" smtClean="0"/>
              <a:t>Software companies revise their programs and sell new versions periodically</a:t>
            </a:r>
          </a:p>
          <a:p>
            <a:pPr eaLnBrk="1" hangingPunct="1"/>
            <a:r>
              <a:rPr lang="en-US" smtClean="0"/>
              <a:t>Revised software may or may not offer any major additional capabilities</a:t>
            </a:r>
          </a:p>
          <a:p>
            <a:pPr eaLnBrk="1" hangingPunct="1"/>
            <a:r>
              <a:rPr lang="en-US" smtClean="0"/>
              <a:t>Revised software can contain bugs or errors</a:t>
            </a:r>
          </a:p>
          <a:p>
            <a:pPr eaLnBrk="1" hangingPunct="1"/>
            <a:r>
              <a:rPr lang="en-US" smtClean="0"/>
              <a:t>Software upgrades usually cost much less than the original purchase price</a:t>
            </a:r>
          </a:p>
        </p:txBody>
      </p:sp>
    </p:spTree>
    <p:extLst>
      <p:ext uri="{BB962C8B-B14F-4D97-AF65-F5344CB8AC3E}">
        <p14:creationId xmlns:p14="http://schemas.microsoft.com/office/powerpoint/2010/main" val="3416672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Principles of Information Systems, Eighth Edition</a:t>
            </a:r>
          </a:p>
        </p:txBody>
      </p:sp>
      <p:sp>
        <p:nvSpPr>
          <p:cNvPr id="5" name="Slide Number Placeholder 4"/>
          <p:cNvSpPr>
            <a:spLocks noGrp="1"/>
          </p:cNvSpPr>
          <p:nvPr>
            <p:ph type="sldNum" sz="quarter" idx="11"/>
          </p:nvPr>
        </p:nvSpPr>
        <p:spPr/>
        <p:txBody>
          <a:bodyPr/>
          <a:lstStyle/>
          <a:p>
            <a:pPr>
              <a:defRPr/>
            </a:pPr>
            <a:fld id="{D4BD3CAE-883F-4C5B-9B10-60B7BFE53127}" type="slidenum">
              <a:rPr lang="en-US"/>
              <a:pPr>
                <a:defRPr/>
              </a:pPr>
              <a:t>42</a:t>
            </a:fld>
            <a:endParaRPr lang="en-US"/>
          </a:p>
        </p:txBody>
      </p:sp>
      <p:sp>
        <p:nvSpPr>
          <p:cNvPr id="61444" name="Rectangle 2"/>
          <p:cNvSpPr>
            <a:spLocks noGrp="1" noChangeArrowheads="1"/>
          </p:cNvSpPr>
          <p:nvPr>
            <p:ph type="title"/>
          </p:nvPr>
        </p:nvSpPr>
        <p:spPr/>
        <p:txBody>
          <a:bodyPr/>
          <a:lstStyle/>
          <a:p>
            <a:pPr eaLnBrk="1" hangingPunct="1"/>
            <a:r>
              <a:rPr lang="en-US" smtClean="0"/>
              <a:t>Global Software Support</a:t>
            </a:r>
          </a:p>
        </p:txBody>
      </p:sp>
      <p:sp>
        <p:nvSpPr>
          <p:cNvPr id="61445" name="Rectangle 3"/>
          <p:cNvSpPr>
            <a:spLocks noGrp="1" noChangeArrowheads="1"/>
          </p:cNvSpPr>
          <p:nvPr>
            <p:ph type="body" idx="1"/>
          </p:nvPr>
        </p:nvSpPr>
        <p:spPr/>
        <p:txBody>
          <a:bodyPr/>
          <a:lstStyle/>
          <a:p>
            <a:pPr eaLnBrk="1" hangingPunct="1"/>
            <a:r>
              <a:rPr lang="en-US" smtClean="0"/>
              <a:t>Vendors face the challenge of providing adequate support for their software customers in all locations of the world</a:t>
            </a:r>
          </a:p>
          <a:p>
            <a:pPr eaLnBrk="1" hangingPunct="1"/>
            <a:r>
              <a:rPr lang="en-US" smtClean="0"/>
              <a:t>Trend of outsourcing global support to one or more third-party distributors</a:t>
            </a:r>
          </a:p>
          <a:p>
            <a:pPr eaLnBrk="1" hangingPunct="1"/>
            <a:endParaRPr lang="en-US" smtClean="0"/>
          </a:p>
          <a:p>
            <a:pPr eaLnBrk="1" hangingPunct="1"/>
            <a:endParaRPr lang="en-US" smtClean="0"/>
          </a:p>
        </p:txBody>
      </p:sp>
    </p:spTree>
    <p:extLst>
      <p:ext uri="{BB962C8B-B14F-4D97-AF65-F5344CB8AC3E}">
        <p14:creationId xmlns:p14="http://schemas.microsoft.com/office/powerpoint/2010/main" val="139137607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1082</TotalTime>
  <Words>2580</Words>
  <Application>Microsoft Office PowerPoint</Application>
  <PresentationFormat>On-screen Show (4:3)</PresentationFormat>
  <Paragraphs>291</Paragraphs>
  <Slides>42</Slides>
  <Notes>22</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Solstice</vt:lpstr>
      <vt:lpstr>Overview Of Software And Applications</vt:lpstr>
      <vt:lpstr>  Overview Of Software And Applications </vt:lpstr>
      <vt:lpstr>  Types of Software </vt:lpstr>
      <vt:lpstr>PowerPoint Presentation</vt:lpstr>
      <vt:lpstr>PowerPoint Presentation</vt:lpstr>
      <vt:lpstr>PowerPoint Presentation</vt:lpstr>
      <vt:lpstr>Operating Systems (continued)</vt:lpstr>
      <vt:lpstr>Operating Systems (continued)</vt:lpstr>
      <vt:lpstr>Operating Systems Functions</vt:lpstr>
      <vt:lpstr>Operating Systems Functions (continued)</vt:lpstr>
      <vt:lpstr>Operating Systems Functions (continued)</vt:lpstr>
      <vt:lpstr> </vt:lpstr>
      <vt:lpstr>Operating Systems (continued)</vt:lpstr>
      <vt:lpstr>Current Operating Systems (continued)</vt:lpstr>
      <vt:lpstr>Current Operating Systems (continued)</vt:lpstr>
      <vt:lpstr>Current Operating Systems (continued)</vt:lpstr>
      <vt:lpstr>Workgroup Operating Systems</vt:lpstr>
      <vt:lpstr>Operating Systems for Small Computers, Embedded Computers, and Special-Purpose Devices</vt:lpstr>
      <vt:lpstr>Application Software</vt:lpstr>
      <vt:lpstr>Overview of Application Software (continued)</vt:lpstr>
      <vt:lpstr>Overview of Application Software</vt:lpstr>
      <vt:lpstr>Overview of Application Software (continued)</vt:lpstr>
      <vt:lpstr>Overview of Application Software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Utility Programs</vt:lpstr>
      <vt:lpstr>Software Issues</vt:lpstr>
      <vt:lpstr>Software Bugs</vt:lpstr>
      <vt:lpstr>Copyrights and Licenses</vt:lpstr>
      <vt:lpstr>Open-Source Software</vt:lpstr>
      <vt:lpstr>Open-Source Software (continued)</vt:lpstr>
      <vt:lpstr>Shareware, Freeware, and Public Domain Software</vt:lpstr>
      <vt:lpstr>Software Upgrades</vt:lpstr>
      <vt:lpstr>Global Software Support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FAIR</dc:creator>
  <cp:lastModifiedBy>ismail - [2010]</cp:lastModifiedBy>
  <cp:revision>52</cp:revision>
  <dcterms:created xsi:type="dcterms:W3CDTF">2014-12-08T16:48:10Z</dcterms:created>
  <dcterms:modified xsi:type="dcterms:W3CDTF">2015-05-09T11:18:02Z</dcterms:modified>
</cp:coreProperties>
</file>