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3" saveSubsetFonts="1">
  <p:sldMasterIdLst>
    <p:sldMasterId id="2147483672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7" r:id="rId3"/>
    <p:sldId id="279" r:id="rId4"/>
    <p:sldId id="284" r:id="rId5"/>
    <p:sldId id="262" r:id="rId6"/>
    <p:sldId id="289" r:id="rId7"/>
    <p:sldId id="263" r:id="rId8"/>
    <p:sldId id="285" r:id="rId9"/>
    <p:sldId id="286" r:id="rId10"/>
    <p:sldId id="301" r:id="rId11"/>
    <p:sldId id="264" r:id="rId12"/>
    <p:sldId id="306" r:id="rId13"/>
    <p:sldId id="307" r:id="rId14"/>
    <p:sldId id="308" r:id="rId15"/>
    <p:sldId id="314" r:id="rId16"/>
    <p:sldId id="294" r:id="rId17"/>
    <p:sldId id="295" r:id="rId18"/>
    <p:sldId id="296" r:id="rId19"/>
    <p:sldId id="290" r:id="rId20"/>
    <p:sldId id="297" r:id="rId21"/>
    <p:sldId id="298" r:id="rId22"/>
    <p:sldId id="299" r:id="rId23"/>
    <p:sldId id="311" r:id="rId24"/>
    <p:sldId id="312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937D83-EF7D-453A-8C07-F4BA65962FF3}" type="datetimeFigureOut">
              <a:rPr lang="en-US" smtClean="0"/>
              <a:t>7/20/2015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DC653B-7B83-47C7-892B-359CD81C6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4094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10564B-2C37-4E98-98E2-5E73D0089947}" type="datetimeFigureOut">
              <a:rPr lang="en-US" smtClean="0"/>
              <a:t>7/20/2015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19E8B-0730-44A0-A022-04ABC86FE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632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919E8B-0730-44A0-A022-04ABC86FE36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75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CCECF27-7101-4E02-9552-64E1EBBA276D}" type="datetimeFigureOut">
              <a:rPr lang="en-US" smtClean="0"/>
              <a:t>7/20/2015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9CA671F-D8BE-4DAA-B06F-5223DE47EA6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CCECF27-7101-4E02-9552-64E1EBBA276D}" type="datetimeFigureOut">
              <a:rPr lang="en-US" smtClean="0"/>
              <a:t>7/20/2015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9CA671F-D8BE-4DAA-B06F-5223DE47EA6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1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CCECF27-7101-4E02-9552-64E1EBBA276D}" type="datetimeFigureOut">
              <a:rPr lang="en-US" smtClean="0"/>
              <a:t>7/20/2015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9CA671F-D8BE-4DAA-B06F-5223DE47EA6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CCECF27-7101-4E02-9552-64E1EBBA276D}" type="datetimeFigureOut">
              <a:rPr lang="en-US" smtClean="0"/>
              <a:t>7/20/2015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9CA671F-D8BE-4DAA-B06F-5223DE47EA6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CCECF27-7101-4E02-9552-64E1EBBA276D}" type="datetimeFigureOut">
              <a:rPr lang="en-US" smtClean="0"/>
              <a:t>7/20/2015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9CA671F-D8BE-4DAA-B06F-5223DE47EA6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CCECF27-7101-4E02-9552-64E1EBBA276D}" type="datetimeFigureOut">
              <a:rPr lang="en-US" smtClean="0"/>
              <a:t>7/20/2015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9CA671F-D8BE-4DAA-B06F-5223DE47EA6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CCECF27-7101-4E02-9552-64E1EBBA276D}" type="datetimeFigureOut">
              <a:rPr lang="en-US" smtClean="0"/>
              <a:t>7/20/2015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9CA671F-D8BE-4DAA-B06F-5223DE47EA6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1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CCECF27-7101-4E02-9552-64E1EBBA276D}" type="datetimeFigureOut">
              <a:rPr lang="en-US" smtClean="0"/>
              <a:t>7/20/2015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9CA671F-D8BE-4DAA-B06F-5223DE47EA6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CCECF27-7101-4E02-9552-64E1EBBA276D}" type="datetimeFigureOut">
              <a:rPr lang="en-US" smtClean="0"/>
              <a:t>7/20/2015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9CA671F-D8BE-4DAA-B06F-5223DE47EA6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4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2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CCECF27-7101-4E02-9552-64E1EBBA276D}" type="datetimeFigureOut">
              <a:rPr lang="en-US" smtClean="0"/>
              <a:t>7/20/2015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9CA671F-D8BE-4DAA-B06F-5223DE47EA6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40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1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CCECF27-7101-4E02-9552-64E1EBBA276D}" type="datetimeFigureOut">
              <a:rPr lang="en-US" smtClean="0"/>
              <a:t>7/20/2015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9CA671F-D8BE-4DAA-B06F-5223DE47EA6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6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8" y="21103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2" y="1055078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4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6CCECF27-7101-4E02-9552-64E1EBBA276D}" type="datetimeFigureOut">
              <a:rPr lang="en-US" smtClean="0"/>
              <a:t>7/20/2015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F9CA671F-D8BE-4DAA-B06F-5223DE47EA6A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en.wikipedia.org/wiki/File:StarNetwork.svg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g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en.wikipedia.org/wiki/File:BusNetwork.svg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gi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://en.wikipedia.org/wiki/File:RingNetwork.svg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://en.wikipedia.org/wiki/File:NetworkTopology-FullyConnected.png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INTRODUCTION TO COMPUTER NETWORKS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Two or more computers linked or connected together for the purpose of communicating and sharing information and other resources e.g. printers, scanners etc.</a:t>
            </a:r>
          </a:p>
          <a:p>
            <a:r>
              <a:rPr lang="en-US" dirty="0" smtClean="0"/>
              <a:t>Computers </a:t>
            </a:r>
            <a:r>
              <a:rPr lang="en-US" dirty="0"/>
              <a:t>on a network may be linked through cables, telephone lines, radio waves, satellites, or infrared light beams. </a:t>
            </a:r>
            <a:endParaRPr lang="en-US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Examples of activities requiring networks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Teleworking or Telecommuting</a:t>
            </a:r>
          </a:p>
          <a:p>
            <a:pPr lvl="1"/>
            <a:r>
              <a:rPr lang="en-US" dirty="0" smtClean="0"/>
              <a:t>Making use of networking technology to allow working at different locations while keeping in touch with co-workers.</a:t>
            </a:r>
          </a:p>
          <a:p>
            <a:r>
              <a:rPr lang="en-US" dirty="0" smtClean="0"/>
              <a:t>Electronic Trading</a:t>
            </a:r>
          </a:p>
          <a:p>
            <a:pPr lvl="1"/>
            <a:r>
              <a:rPr lang="en-US" dirty="0" err="1" smtClean="0"/>
              <a:t>Organisations</a:t>
            </a:r>
            <a:r>
              <a:rPr lang="en-US" dirty="0" smtClean="0"/>
              <a:t> and their customers making use of networks as a means for advertising, buying and selling goods and services.</a:t>
            </a:r>
          </a:p>
          <a:p>
            <a:r>
              <a:rPr lang="en-US" dirty="0" smtClean="0"/>
              <a:t>Tele and video conferencing</a:t>
            </a:r>
          </a:p>
          <a:p>
            <a:pPr lvl="1"/>
            <a:r>
              <a:rPr lang="en-US" dirty="0" smtClean="0"/>
              <a:t>Groups of people conducting meetings via a telephone or video network.</a:t>
            </a:r>
          </a:p>
          <a:p>
            <a:pPr marL="82296" indent="0"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957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Groups of Networks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LAN</a:t>
            </a:r>
          </a:p>
          <a:p>
            <a:r>
              <a:rPr lang="en-US" dirty="0" smtClean="0"/>
              <a:t>WAN</a:t>
            </a:r>
          </a:p>
          <a:p>
            <a:r>
              <a:rPr lang="en-US" dirty="0" smtClean="0"/>
              <a:t>MAN</a:t>
            </a:r>
          </a:p>
          <a:p>
            <a:r>
              <a:rPr lang="en-US" dirty="0" smtClean="0"/>
              <a:t>PAN</a:t>
            </a:r>
          </a:p>
        </p:txBody>
      </p:sp>
    </p:spTree>
    <p:extLst>
      <p:ext uri="{BB962C8B-B14F-4D97-AF65-F5344CB8AC3E}">
        <p14:creationId xmlns:p14="http://schemas.microsoft.com/office/powerpoint/2010/main" val="2912811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4873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Local Area Networks (LAN)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838200"/>
            <a:ext cx="7498080" cy="54102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Privately owned networks that offer reliable high speed communications for interconnecting equipment in a limited geographical area.</a:t>
            </a:r>
          </a:p>
          <a:p>
            <a:pPr lvl="1"/>
            <a:r>
              <a:rPr lang="en-US" dirty="0" smtClean="0"/>
              <a:t>e.g. within an office, a building or a complex of buildings within a campus.</a:t>
            </a:r>
          </a:p>
          <a:p>
            <a:r>
              <a:rPr lang="en-US" dirty="0" smtClean="0"/>
              <a:t>Do not require external network services  e.g. telephone network or leased data lines.</a:t>
            </a:r>
          </a:p>
          <a:p>
            <a:r>
              <a:rPr lang="en-US" dirty="0" smtClean="0"/>
              <a:t>LAN is a private network.</a:t>
            </a:r>
          </a:p>
          <a:p>
            <a:r>
              <a:rPr lang="en-US" dirty="0"/>
              <a:t>LANs </a:t>
            </a:r>
            <a:r>
              <a:rPr lang="en-US" dirty="0" smtClean="0"/>
              <a:t>used </a:t>
            </a:r>
            <a:r>
              <a:rPr lang="en-US" dirty="0"/>
              <a:t>by </a:t>
            </a:r>
            <a:r>
              <a:rPr lang="en-US" dirty="0" smtClean="0"/>
              <a:t>companies are </a:t>
            </a:r>
            <a:r>
              <a:rPr lang="en-US" dirty="0"/>
              <a:t>called </a:t>
            </a:r>
            <a:r>
              <a:rPr lang="en-US" b="1" dirty="0"/>
              <a:t>enterprise networks</a:t>
            </a:r>
            <a:r>
              <a:rPr lang="en-US" dirty="0"/>
              <a:t>.</a:t>
            </a:r>
            <a:endParaRPr lang="en-US" dirty="0" smtClean="0"/>
          </a:p>
          <a:p>
            <a:r>
              <a:rPr lang="en-US" dirty="0" smtClean="0"/>
              <a:t>LAN are widespread as a result of:</a:t>
            </a:r>
          </a:p>
          <a:p>
            <a:pPr lvl="1"/>
            <a:r>
              <a:rPr lang="en-US" dirty="0" smtClean="0"/>
              <a:t>Increasing need to transfer data between computers within the </a:t>
            </a:r>
            <a:r>
              <a:rPr lang="en-US" dirty="0" err="1" smtClean="0"/>
              <a:t>organisation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Purpose of 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LANs allow:</a:t>
            </a:r>
          </a:p>
          <a:p>
            <a:pPr lvl="1"/>
            <a:r>
              <a:rPr lang="en-US" dirty="0" smtClean="0"/>
              <a:t>Data transfer between computers</a:t>
            </a:r>
          </a:p>
          <a:p>
            <a:pPr lvl="1"/>
            <a:r>
              <a:rPr lang="en-US" dirty="0" smtClean="0"/>
              <a:t>Access to data stored somewhere </a:t>
            </a:r>
          </a:p>
          <a:p>
            <a:pPr lvl="1"/>
            <a:r>
              <a:rPr lang="en-US" dirty="0" smtClean="0"/>
              <a:t>Messages to be passed between computers</a:t>
            </a:r>
          </a:p>
          <a:p>
            <a:pPr lvl="1"/>
            <a:r>
              <a:rPr lang="en-US" dirty="0" smtClean="0"/>
              <a:t>Shared use of peripherals e.g. printers</a:t>
            </a:r>
          </a:p>
          <a:p>
            <a:pPr lvl="1"/>
            <a:r>
              <a:rPr lang="en-US" dirty="0" smtClean="0"/>
              <a:t>Shared use of computing resources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796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6397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Wide Area Networks (WAN)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066800"/>
            <a:ext cx="7498080" cy="51816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Covers a large geographical area to provide national and international communication.</a:t>
            </a:r>
          </a:p>
          <a:p>
            <a:r>
              <a:rPr lang="en-US" dirty="0" smtClean="0"/>
              <a:t>Some are specifically designed: </a:t>
            </a:r>
          </a:p>
          <a:p>
            <a:pPr lvl="1"/>
            <a:r>
              <a:rPr lang="en-US" dirty="0" smtClean="0"/>
              <a:t>to transfer analogue signals e.g. speech</a:t>
            </a:r>
          </a:p>
          <a:p>
            <a:pPr lvl="1"/>
            <a:r>
              <a:rPr lang="en-US" dirty="0" smtClean="0"/>
              <a:t>To transfer digital information e.g. computer data</a:t>
            </a:r>
          </a:p>
          <a:p>
            <a:r>
              <a:rPr lang="en-US" dirty="0" smtClean="0"/>
              <a:t>Connections require the use of  telephone lines, ISDN (Integrated Services Digital Network) lines, radio waves, cable, or satellite links.</a:t>
            </a:r>
          </a:p>
          <a:p>
            <a:r>
              <a:rPr lang="en-US" dirty="0" smtClean="0"/>
              <a:t>WANs can be accessed through dial-up connections, using a modem or leased-line direct connection.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Metropolitan Area Network (MAN)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S</a:t>
            </a:r>
            <a:r>
              <a:rPr lang="en-US" dirty="0" smtClean="0"/>
              <a:t>imilar </a:t>
            </a:r>
            <a:r>
              <a:rPr lang="en-US" dirty="0"/>
              <a:t>to </a:t>
            </a:r>
            <a:r>
              <a:rPr lang="en-US" dirty="0" smtClean="0"/>
              <a:t>LAN </a:t>
            </a:r>
            <a:r>
              <a:rPr lang="en-US" dirty="0"/>
              <a:t>but spans an entire city or </a:t>
            </a:r>
            <a:r>
              <a:rPr lang="en-US" dirty="0" smtClean="0"/>
              <a:t>region; </a:t>
            </a:r>
          </a:p>
          <a:p>
            <a:r>
              <a:rPr lang="en-US" dirty="0" smtClean="0"/>
              <a:t>Formed </a:t>
            </a:r>
            <a:r>
              <a:rPr lang="en-US" dirty="0"/>
              <a:t>by connecting multiple LANs, </a:t>
            </a:r>
            <a:r>
              <a:rPr lang="en-US" dirty="0" smtClean="0"/>
              <a:t>therefore larger </a:t>
            </a:r>
            <a:r>
              <a:rPr lang="en-US" dirty="0"/>
              <a:t>than LANs but smaller than </a:t>
            </a:r>
            <a:r>
              <a:rPr lang="en-US" dirty="0" smtClean="0"/>
              <a:t>Wide Area Networks </a:t>
            </a:r>
            <a:r>
              <a:rPr lang="en-US" dirty="0"/>
              <a:t>(WAN). </a:t>
            </a:r>
            <a:endParaRPr lang="en-US" dirty="0" smtClean="0"/>
          </a:p>
          <a:p>
            <a:r>
              <a:rPr lang="en-US" dirty="0"/>
              <a:t>Used to build networks with high data connection speeds for </a:t>
            </a:r>
            <a:r>
              <a:rPr lang="en-US" dirty="0" smtClean="0"/>
              <a:t>cities, towns or region. </a:t>
            </a:r>
          </a:p>
          <a:p>
            <a:r>
              <a:rPr lang="en-US" dirty="0"/>
              <a:t>I</a:t>
            </a:r>
            <a:r>
              <a:rPr lang="en-US" dirty="0" smtClean="0"/>
              <a:t>nterconnect computer systems and peripheral devices but over a wider geographical area than LAN</a:t>
            </a:r>
          </a:p>
          <a:p>
            <a:r>
              <a:rPr lang="en-US" dirty="0" smtClean="0"/>
              <a:t>High speed networks for voice, data and video for public or private communications systems within a specified geographical area (</a:t>
            </a:r>
            <a:r>
              <a:rPr lang="en-US" dirty="0"/>
              <a:t>c</a:t>
            </a:r>
            <a:r>
              <a:rPr lang="en-US" dirty="0" smtClean="0"/>
              <a:t>ity, town or region).</a:t>
            </a:r>
          </a:p>
          <a:p>
            <a:r>
              <a:rPr lang="en-US" dirty="0" smtClean="0"/>
              <a:t>Covers a geographical area of up to 100 km.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749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304800"/>
            <a:ext cx="7498080" cy="1143000"/>
          </a:xfrm>
        </p:spPr>
        <p:txBody>
          <a:bodyPr/>
          <a:lstStyle/>
          <a:p>
            <a:r>
              <a:rPr lang="en-US" dirty="0" smtClean="0"/>
              <a:t>Why use MAN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Two categories of MAN users:</a:t>
            </a:r>
          </a:p>
          <a:p>
            <a:pPr lvl="1"/>
            <a:r>
              <a:rPr lang="en-US" dirty="0" smtClean="0"/>
              <a:t>Individual users who wish to access external networked services or to connect to their office from home.</a:t>
            </a:r>
          </a:p>
          <a:p>
            <a:pPr lvl="1"/>
            <a:r>
              <a:rPr lang="en-US" dirty="0" smtClean="0"/>
              <a:t>Companies that need to interconnect LANs based on sites spread across a limited geographical area.</a:t>
            </a:r>
          </a:p>
          <a:p>
            <a:pPr lvl="1"/>
            <a:r>
              <a:rPr lang="en-US" dirty="0" smtClean="0"/>
              <a:t>MAN offers users a cost effective way of providing such access at high data rates than making use of  WAN services.</a:t>
            </a:r>
          </a:p>
          <a:p>
            <a:pPr marL="402336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904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Personal Area Network (PAN)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</a:t>
            </a:r>
            <a:r>
              <a:rPr lang="en-US" dirty="0" smtClean="0"/>
              <a:t>efers </a:t>
            </a:r>
            <a:r>
              <a:rPr lang="en-US" dirty="0"/>
              <a:t>to </a:t>
            </a:r>
            <a:r>
              <a:rPr lang="en-US" dirty="0" smtClean="0"/>
              <a:t>interconnection </a:t>
            </a:r>
            <a:r>
              <a:rPr lang="en-US" dirty="0"/>
              <a:t>of information technology devices or gadgets within the environment of an individual </a:t>
            </a:r>
            <a:r>
              <a:rPr lang="en-US" dirty="0" smtClean="0"/>
              <a:t>user.</a:t>
            </a:r>
          </a:p>
          <a:p>
            <a:r>
              <a:rPr lang="en-US" dirty="0"/>
              <a:t>I</a:t>
            </a:r>
            <a:r>
              <a:rPr lang="en-US" dirty="0" smtClean="0"/>
              <a:t>nterconnected </a:t>
            </a:r>
            <a:r>
              <a:rPr lang="en-US" dirty="0"/>
              <a:t>devices might include laptop computers, PDAs, cellphones, printers, </a:t>
            </a:r>
            <a:r>
              <a:rPr lang="en-US" dirty="0" smtClean="0"/>
              <a:t>PCs.</a:t>
            </a:r>
          </a:p>
          <a:p>
            <a:r>
              <a:rPr lang="en-US" dirty="0" smtClean="0"/>
              <a:t>Also </a:t>
            </a:r>
            <a:r>
              <a:rPr lang="en-US" dirty="0"/>
              <a:t>known as a wireless personal network (WPAN).</a:t>
            </a:r>
          </a:p>
        </p:txBody>
      </p:sp>
    </p:spTree>
    <p:extLst>
      <p:ext uri="{BB962C8B-B14F-4D97-AF65-F5344CB8AC3E}">
        <p14:creationId xmlns:p14="http://schemas.microsoft.com/office/powerpoint/2010/main" val="3065129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792162"/>
          </a:xfrm>
        </p:spPr>
        <p:txBody>
          <a:bodyPr/>
          <a:lstStyle/>
          <a:p>
            <a:r>
              <a:rPr lang="en-US" b="1" dirty="0" smtClean="0"/>
              <a:t>Types of Networks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066800"/>
            <a:ext cx="7498080" cy="5181600"/>
          </a:xfrm>
        </p:spPr>
        <p:txBody>
          <a:bodyPr>
            <a:normAutofit fontScale="70000" lnSpcReduction="20000"/>
          </a:bodyPr>
          <a:lstStyle/>
          <a:p>
            <a:pPr marL="596646" indent="-514350">
              <a:buAutoNum type="arabicPeriod"/>
            </a:pPr>
            <a:r>
              <a:rPr lang="en-US" i="1" dirty="0" smtClean="0"/>
              <a:t>Peer-to-peer network</a:t>
            </a:r>
          </a:p>
          <a:p>
            <a:pPr marL="596646" indent="-514350"/>
            <a:r>
              <a:rPr lang="en-US" dirty="0"/>
              <a:t>E</a:t>
            </a:r>
            <a:r>
              <a:rPr lang="en-US" dirty="0" smtClean="0"/>
              <a:t>ach computer acts as either a server or a client, depending on the user's needs.</a:t>
            </a:r>
          </a:p>
          <a:p>
            <a:pPr marL="596646" indent="-514350"/>
            <a:r>
              <a:rPr lang="en-US" dirty="0" smtClean="0"/>
              <a:t>Each user or workstation establishes its own security and determines which resources are available to other users.</a:t>
            </a:r>
          </a:p>
          <a:p>
            <a:pPr marL="596646" indent="-514350"/>
            <a:r>
              <a:rPr lang="en-US" dirty="0" smtClean="0"/>
              <a:t>These networks are limited in size.</a:t>
            </a:r>
          </a:p>
          <a:p>
            <a:pPr marL="596646" indent="-514350"/>
            <a:r>
              <a:rPr lang="en-US" b="1" dirty="0" smtClean="0"/>
              <a:t>Peer-to-peer </a:t>
            </a:r>
            <a:r>
              <a:rPr lang="en-US" b="1" dirty="0"/>
              <a:t>network is also called </a:t>
            </a:r>
            <a:r>
              <a:rPr lang="en-US" b="1" dirty="0" smtClean="0">
                <a:solidFill>
                  <a:srgbClr val="FF3300"/>
                </a:solidFill>
              </a:rPr>
              <a:t>workgroup</a:t>
            </a:r>
          </a:p>
          <a:p>
            <a:pPr marL="596646" indent="-514350"/>
            <a:r>
              <a:rPr lang="en-US" b="1" dirty="0" smtClean="0">
                <a:solidFill>
                  <a:srgbClr val="FF3300"/>
                </a:solidFill>
              </a:rPr>
              <a:t>No </a:t>
            </a:r>
            <a:r>
              <a:rPr lang="en-US" b="1" dirty="0">
                <a:solidFill>
                  <a:srgbClr val="FF3300"/>
                </a:solidFill>
              </a:rPr>
              <a:t>hierarchy</a:t>
            </a:r>
            <a:r>
              <a:rPr lang="en-US" b="1" dirty="0"/>
              <a:t> among computers </a:t>
            </a:r>
            <a:r>
              <a:rPr lang="en-US" b="1" dirty="0">
                <a:sym typeface="Symbol" pitchFamily="18" charset="2"/>
              </a:rPr>
              <a:t></a:t>
            </a:r>
            <a:r>
              <a:rPr lang="en-US" b="1" dirty="0"/>
              <a:t> all are </a:t>
            </a:r>
            <a:r>
              <a:rPr lang="en-US" b="1" dirty="0" smtClean="0"/>
              <a:t>equal</a:t>
            </a:r>
          </a:p>
          <a:p>
            <a:pPr marL="596646" indent="-514350"/>
            <a:r>
              <a:rPr lang="en-US" b="1" dirty="0" smtClean="0">
                <a:solidFill>
                  <a:srgbClr val="FF3300"/>
                </a:solidFill>
              </a:rPr>
              <a:t>No </a:t>
            </a:r>
            <a:r>
              <a:rPr lang="en-US" b="1" dirty="0">
                <a:solidFill>
                  <a:srgbClr val="FF3300"/>
                </a:solidFill>
              </a:rPr>
              <a:t>administrator</a:t>
            </a:r>
            <a:r>
              <a:rPr lang="en-US" b="1" dirty="0"/>
              <a:t> responsible for the </a:t>
            </a:r>
            <a:r>
              <a:rPr lang="en-US" b="1" dirty="0" smtClean="0"/>
              <a:t>network</a:t>
            </a:r>
            <a:endParaRPr lang="en-US" dirty="0" smtClean="0"/>
          </a:p>
          <a:p>
            <a:pPr marL="596646" indent="-514350"/>
            <a:r>
              <a:rPr lang="en-US" dirty="0" smtClean="0"/>
              <a:t>Software packages for peer-to-peer include Windows XP, </a:t>
            </a:r>
            <a:r>
              <a:rPr lang="en-US" dirty="0"/>
              <a:t> </a:t>
            </a:r>
            <a:r>
              <a:rPr lang="en-US" dirty="0" smtClean="0"/>
              <a:t>7, </a:t>
            </a:r>
            <a:r>
              <a:rPr lang="en-US" dirty="0"/>
              <a:t> </a:t>
            </a:r>
            <a:r>
              <a:rPr lang="en-US" dirty="0" smtClean="0"/>
              <a:t>8, Novell's NetWare, UNIX, and Ubuntu 14.4 LTS Desktop</a:t>
            </a:r>
          </a:p>
          <a:p>
            <a:pPr marL="596646" indent="-514350"/>
            <a:endParaRPr lang="en-US" dirty="0"/>
          </a:p>
        </p:txBody>
      </p:sp>
      <p:pic>
        <p:nvPicPr>
          <p:cNvPr id="4" name="Picture 9" descr="Peer-to-pe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4800600"/>
            <a:ext cx="5410200" cy="167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BFCB-5F2C-4477-BE7A-1CA756E356A1}" type="slidenum">
              <a:rPr lang="en-US"/>
              <a:pPr/>
              <a:t>14</a:t>
            </a:fld>
            <a:endParaRPr lang="en-US"/>
          </a:p>
        </p:txBody>
      </p:sp>
      <p:sp>
        <p:nvSpPr>
          <p:cNvPr id="50183" name="Text Box 7"/>
          <p:cNvSpPr txBox="1">
            <a:spLocks noChangeArrowheads="1"/>
          </p:cNvSpPr>
          <p:nvPr/>
        </p:nvSpPr>
        <p:spPr bwMode="auto">
          <a:xfrm>
            <a:off x="1371600" y="1207260"/>
            <a:ext cx="7239000" cy="2259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marL="223838" indent="-223838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684213" indent="-227013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hangingPunct="0">
              <a:buFontTx/>
              <a:buChar char="•"/>
            </a:pPr>
            <a:r>
              <a:rPr lang="en-US" sz="2800" b="1" dirty="0">
                <a:solidFill>
                  <a:srgbClr val="FF3300"/>
                </a:solidFill>
              </a:rPr>
              <a:t>Advantages </a:t>
            </a:r>
            <a:r>
              <a:rPr lang="en-US" sz="2800" b="1" dirty="0"/>
              <a:t>of peer-to-peer networks:</a:t>
            </a:r>
          </a:p>
          <a:p>
            <a:pPr lvl="1" eaLnBrk="0" hangingPunct="0">
              <a:buFontTx/>
              <a:buChar char="•"/>
            </a:pPr>
            <a:r>
              <a:rPr lang="en-US" b="1" dirty="0"/>
              <a:t>Low cost</a:t>
            </a:r>
          </a:p>
          <a:p>
            <a:pPr lvl="1" eaLnBrk="0" hangingPunct="0">
              <a:buFontTx/>
              <a:buChar char="•"/>
            </a:pPr>
            <a:r>
              <a:rPr lang="en-US" b="1" dirty="0"/>
              <a:t>Simple to configure</a:t>
            </a:r>
          </a:p>
          <a:p>
            <a:pPr lvl="1" eaLnBrk="0" hangingPunct="0">
              <a:buFontTx/>
              <a:buChar char="•"/>
            </a:pPr>
            <a:r>
              <a:rPr lang="en-US" b="1" dirty="0"/>
              <a:t>User has full accessibility of the computer</a:t>
            </a:r>
          </a:p>
          <a:p>
            <a:pPr lvl="1" eaLnBrk="0" hangingPunct="0">
              <a:buFontTx/>
              <a:buChar char="•"/>
            </a:pPr>
            <a:endParaRPr lang="en-US" b="1" dirty="0">
              <a:solidFill>
                <a:srgbClr val="FF3300"/>
              </a:solidFill>
            </a:endParaRPr>
          </a:p>
          <a:p>
            <a:pPr algn="ctr" eaLnBrk="0" hangingPunct="0">
              <a:lnSpc>
                <a:spcPct val="60000"/>
              </a:lnSpc>
              <a:buFontTx/>
              <a:buChar char="•"/>
            </a:pPr>
            <a:endParaRPr lang="en-US" sz="2800" b="1" dirty="0">
              <a:solidFill>
                <a:srgbClr val="FF3300"/>
              </a:solidFill>
            </a:endParaRPr>
          </a:p>
        </p:txBody>
      </p:sp>
      <p:sp>
        <p:nvSpPr>
          <p:cNvPr id="50184" name="Text Box 8"/>
          <p:cNvSpPr txBox="1">
            <a:spLocks noChangeArrowheads="1"/>
          </p:cNvSpPr>
          <p:nvPr/>
        </p:nvSpPr>
        <p:spPr bwMode="auto">
          <a:xfrm>
            <a:off x="1371600" y="2959860"/>
            <a:ext cx="7239000" cy="2259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marL="223838" indent="-223838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684213" indent="-227013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hangingPunct="0">
              <a:buFontTx/>
              <a:buChar char="•"/>
            </a:pPr>
            <a:r>
              <a:rPr lang="en-US" sz="2800" b="1" dirty="0">
                <a:solidFill>
                  <a:srgbClr val="FF3300"/>
                </a:solidFill>
              </a:rPr>
              <a:t>Disadvantages</a:t>
            </a:r>
            <a:r>
              <a:rPr lang="en-US" sz="2800" b="1" dirty="0"/>
              <a:t> of peer-to-peer networks:</a:t>
            </a:r>
          </a:p>
          <a:p>
            <a:pPr lvl="1" eaLnBrk="0" hangingPunct="0">
              <a:buFontTx/>
              <a:buChar char="•"/>
            </a:pPr>
            <a:r>
              <a:rPr lang="en-US" b="1" dirty="0"/>
              <a:t>May have duplication in resources</a:t>
            </a:r>
          </a:p>
          <a:p>
            <a:pPr lvl="1" eaLnBrk="0" hangingPunct="0">
              <a:buFontTx/>
              <a:buChar char="•"/>
            </a:pPr>
            <a:r>
              <a:rPr lang="en-US" b="1" dirty="0"/>
              <a:t>Difficult to uphold security policy</a:t>
            </a:r>
          </a:p>
          <a:p>
            <a:pPr lvl="1" eaLnBrk="0" hangingPunct="0">
              <a:buFontTx/>
              <a:buChar char="•"/>
            </a:pPr>
            <a:r>
              <a:rPr lang="en-US" b="1" dirty="0"/>
              <a:t>Difficult to handle uneven loading</a:t>
            </a:r>
          </a:p>
          <a:p>
            <a:pPr lvl="1" eaLnBrk="0" hangingPunct="0">
              <a:buFontTx/>
              <a:buChar char="•"/>
            </a:pPr>
            <a:endParaRPr lang="en-US" b="1" dirty="0">
              <a:solidFill>
                <a:srgbClr val="FF3300"/>
              </a:solidFill>
            </a:endParaRPr>
          </a:p>
          <a:p>
            <a:pPr algn="ctr" eaLnBrk="0" hangingPunct="0">
              <a:lnSpc>
                <a:spcPct val="60000"/>
              </a:lnSpc>
              <a:buFontTx/>
              <a:buChar char="•"/>
            </a:pPr>
            <a:endParaRPr lang="en-US" sz="2800" b="1" dirty="0">
              <a:solidFill>
                <a:srgbClr val="FF3300"/>
              </a:solidFill>
            </a:endParaRPr>
          </a:p>
        </p:txBody>
      </p:sp>
      <p:sp>
        <p:nvSpPr>
          <p:cNvPr id="50185" name="Text Box 9"/>
          <p:cNvSpPr txBox="1">
            <a:spLocks noChangeArrowheads="1"/>
          </p:cNvSpPr>
          <p:nvPr/>
        </p:nvSpPr>
        <p:spPr bwMode="auto">
          <a:xfrm>
            <a:off x="1371600" y="4610860"/>
            <a:ext cx="7239000" cy="2259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marL="223838" indent="-223838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684213" indent="-227013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hangingPunct="0">
              <a:buFontTx/>
              <a:buChar char="•"/>
            </a:pPr>
            <a:r>
              <a:rPr lang="en-US" sz="2800" b="1" dirty="0">
                <a:solidFill>
                  <a:srgbClr val="FF3300"/>
                </a:solidFill>
              </a:rPr>
              <a:t>Where peer-to-peer network is appropriate:</a:t>
            </a:r>
          </a:p>
          <a:p>
            <a:pPr lvl="1" eaLnBrk="0" hangingPunct="0">
              <a:buFontTx/>
              <a:buChar char="•"/>
            </a:pPr>
            <a:r>
              <a:rPr lang="en-US" b="1" dirty="0"/>
              <a:t>10 or less users</a:t>
            </a:r>
          </a:p>
          <a:p>
            <a:pPr lvl="1" eaLnBrk="0" hangingPunct="0">
              <a:buFontTx/>
              <a:buChar char="•"/>
            </a:pPr>
            <a:r>
              <a:rPr lang="en-US" b="1" dirty="0"/>
              <a:t>No specialized services required</a:t>
            </a:r>
          </a:p>
          <a:p>
            <a:pPr lvl="1" eaLnBrk="0" hangingPunct="0">
              <a:buFontTx/>
              <a:buChar char="•"/>
            </a:pPr>
            <a:r>
              <a:rPr lang="en-US" b="1" dirty="0"/>
              <a:t>Security is not an issue</a:t>
            </a:r>
          </a:p>
          <a:p>
            <a:pPr lvl="1" eaLnBrk="0" hangingPunct="0">
              <a:buFontTx/>
              <a:buChar char="•"/>
            </a:pPr>
            <a:r>
              <a:rPr lang="en-US" b="1" dirty="0"/>
              <a:t>Only limited growth in the foreseeable future</a:t>
            </a:r>
            <a:endParaRPr lang="en-US" b="1" dirty="0">
              <a:solidFill>
                <a:srgbClr val="FF3300"/>
              </a:solidFill>
            </a:endParaRPr>
          </a:p>
          <a:p>
            <a:pPr algn="ctr" eaLnBrk="0" hangingPunct="0">
              <a:lnSpc>
                <a:spcPct val="60000"/>
              </a:lnSpc>
              <a:buFontTx/>
              <a:buChar char="•"/>
            </a:pPr>
            <a:endParaRPr lang="en-US" sz="2800" b="1" dirty="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5592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A35A8-035A-452B-AAD1-38A3A7C52E91}" type="slidenum">
              <a:rPr lang="en-US"/>
              <a:pPr/>
              <a:t>15</a:t>
            </a:fld>
            <a:endParaRPr lang="en-US"/>
          </a:p>
        </p:txBody>
      </p:sp>
      <p:sp>
        <p:nvSpPr>
          <p:cNvPr id="46087" name="Rectangle 7"/>
          <p:cNvSpPr>
            <a:spLocks noChangeArrowheads="1"/>
          </p:cNvSpPr>
          <p:nvPr/>
        </p:nvSpPr>
        <p:spPr bwMode="auto">
          <a:xfrm>
            <a:off x="1066800" y="228600"/>
            <a:ext cx="7772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lnSpc>
                <a:spcPct val="90000"/>
              </a:lnSpc>
              <a:tabLst>
                <a:tab pos="457200" algn="l"/>
              </a:tabLst>
            </a:pPr>
            <a:r>
              <a:rPr lang="en-US" sz="4000" b="1" dirty="0">
                <a:latin typeface="Arial" charset="0"/>
              </a:rPr>
              <a:t>Clients and Servers</a:t>
            </a:r>
            <a:r>
              <a:rPr lang="en-US" dirty="0">
                <a:latin typeface="Arial" charset="0"/>
              </a:rPr>
              <a:t>	</a:t>
            </a:r>
            <a:endParaRPr lang="en-US" sz="3600" b="1" dirty="0">
              <a:latin typeface="Arial" charset="0"/>
            </a:endParaRPr>
          </a:p>
        </p:txBody>
      </p:sp>
      <p:sp>
        <p:nvSpPr>
          <p:cNvPr id="46088" name="Rectangle 8"/>
          <p:cNvSpPr>
            <a:spLocks noChangeArrowheads="1"/>
          </p:cNvSpPr>
          <p:nvPr/>
        </p:nvSpPr>
        <p:spPr bwMode="auto">
          <a:xfrm>
            <a:off x="1066800" y="1143000"/>
            <a:ext cx="75438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r>
              <a:rPr lang="en-US" sz="2800" b="1" dirty="0">
                <a:latin typeface="Arial" charset="0"/>
              </a:rPr>
              <a:t>Network </a:t>
            </a:r>
            <a:r>
              <a:rPr 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Clients</a:t>
            </a:r>
            <a:r>
              <a:rPr lang="en-US" sz="2800" b="1" dirty="0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</a:t>
            </a:r>
            <a:r>
              <a:rPr lang="en-US" sz="2800" b="1" dirty="0">
                <a:latin typeface="Arial" charset="0"/>
              </a:rPr>
              <a:t>(</a:t>
            </a:r>
            <a:r>
              <a:rPr 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Workstation</a:t>
            </a:r>
            <a:r>
              <a:rPr lang="en-US" sz="2800" b="1" dirty="0">
                <a:latin typeface="Arial" charset="0"/>
              </a:rPr>
              <a:t>)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r>
              <a:rPr lang="en-US" b="1" dirty="0"/>
              <a:t>Computers that request network resources or </a:t>
            </a:r>
            <a:r>
              <a:rPr lang="en-US" b="1" dirty="0" smtClean="0"/>
              <a:t>services from the sever.</a:t>
            </a:r>
            <a:endParaRPr lang="en-US" b="1" dirty="0"/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r>
              <a:rPr lang="en-US" sz="2800" b="1" dirty="0">
                <a:latin typeface="Arial" charset="0"/>
              </a:rPr>
              <a:t>Network </a:t>
            </a:r>
            <a:r>
              <a:rPr 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Servers</a:t>
            </a:r>
            <a:endParaRPr lang="en-US" sz="2800" b="1" dirty="0">
              <a:solidFill>
                <a:srgbClr val="FF3300"/>
              </a:solidFill>
              <a:latin typeface="Arial" charset="0"/>
            </a:endParaRP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r>
              <a:rPr lang="en-US" b="1" dirty="0"/>
              <a:t>Computers that manage and provide network resources and services to </a:t>
            </a:r>
            <a:r>
              <a:rPr lang="en-US" b="1" dirty="0" smtClean="0"/>
              <a:t>clients.</a:t>
            </a:r>
            <a:endParaRPr lang="en-US" b="1" dirty="0"/>
          </a:p>
          <a:p>
            <a:pPr marL="1600200" lvl="3" indent="-228600"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r>
              <a:rPr lang="en-US" b="1" dirty="0"/>
              <a:t>Usually have more processing power, memory and hard disk space than clients</a:t>
            </a:r>
          </a:p>
          <a:p>
            <a:pPr marL="1600200" lvl="3" indent="-228600"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r>
              <a:rPr lang="en-US" b="1" dirty="0"/>
              <a:t>Run </a:t>
            </a:r>
            <a:r>
              <a:rPr lang="en-US" b="1" dirty="0">
                <a:solidFill>
                  <a:srgbClr val="FF3300"/>
                </a:solidFill>
              </a:rPr>
              <a:t>Network Operating System</a:t>
            </a:r>
            <a:r>
              <a:rPr lang="en-US" b="1" dirty="0"/>
              <a:t> that can manage not only data, but also </a:t>
            </a:r>
            <a:r>
              <a:rPr lang="en-US" b="1" dirty="0">
                <a:solidFill>
                  <a:srgbClr val="FF3300"/>
                </a:solidFill>
              </a:rPr>
              <a:t>users</a:t>
            </a:r>
            <a:r>
              <a:rPr lang="en-US" b="1" dirty="0"/>
              <a:t>, </a:t>
            </a:r>
            <a:r>
              <a:rPr lang="en-US" b="1" dirty="0">
                <a:solidFill>
                  <a:srgbClr val="FF3300"/>
                </a:solidFill>
              </a:rPr>
              <a:t>groups</a:t>
            </a:r>
            <a:r>
              <a:rPr lang="en-US" b="1" dirty="0"/>
              <a:t>, </a:t>
            </a:r>
            <a:r>
              <a:rPr lang="en-US" b="1" dirty="0">
                <a:solidFill>
                  <a:srgbClr val="FF3300"/>
                </a:solidFill>
              </a:rPr>
              <a:t>security</a:t>
            </a:r>
            <a:r>
              <a:rPr lang="en-US" b="1" dirty="0"/>
              <a:t>, and </a:t>
            </a:r>
            <a:r>
              <a:rPr lang="en-US" b="1" dirty="0">
                <a:solidFill>
                  <a:srgbClr val="FF3300"/>
                </a:solidFill>
              </a:rPr>
              <a:t>applications</a:t>
            </a:r>
            <a:r>
              <a:rPr lang="en-US" b="1" dirty="0"/>
              <a:t> on the network</a:t>
            </a:r>
          </a:p>
          <a:p>
            <a:pPr marL="1600200" lvl="3" indent="-228600"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r>
              <a:rPr lang="en-US" b="1" dirty="0"/>
              <a:t>Servers often have a more stringent requirement on its </a:t>
            </a:r>
            <a:r>
              <a:rPr lang="en-US" b="1" dirty="0">
                <a:solidFill>
                  <a:srgbClr val="FF3300"/>
                </a:solidFill>
              </a:rPr>
              <a:t>performance</a:t>
            </a:r>
            <a:r>
              <a:rPr lang="en-US" b="1" dirty="0"/>
              <a:t> and </a:t>
            </a:r>
            <a:r>
              <a:rPr lang="en-US" b="1" dirty="0" smtClean="0">
                <a:solidFill>
                  <a:srgbClr val="FF3300"/>
                </a:solidFill>
              </a:rPr>
              <a:t>reliability</a:t>
            </a:r>
          </a:p>
          <a:p>
            <a:pPr marL="1600200" lvl="3" indent="-228600"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r>
              <a:rPr lang="en-US" b="1" dirty="0"/>
              <a:t>Server operating systems are Microsoft Server 2008, 2012, Novell's NetWare, Ubuntu 12.4 Server </a:t>
            </a:r>
            <a:r>
              <a:rPr lang="en-US" b="1" dirty="0" smtClean="0"/>
              <a:t>LTS etc.</a:t>
            </a:r>
          </a:p>
          <a:p>
            <a:pPr marL="1600200" lvl="3" indent="-228600"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r>
              <a:rPr lang="en-US" b="1" dirty="0"/>
              <a:t>A secure environment suitable for </a:t>
            </a:r>
            <a:r>
              <a:rPr lang="en-US" b="1" dirty="0" smtClean="0"/>
              <a:t>most organizations.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77559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4C809-19EC-4F7D-A3FA-04FEB51A24F7}" type="slidenum">
              <a:rPr lang="en-US"/>
              <a:pPr/>
              <a:t>16</a:t>
            </a:fld>
            <a:endParaRPr lang="en-US"/>
          </a:p>
        </p:txBody>
      </p:sp>
      <p:sp>
        <p:nvSpPr>
          <p:cNvPr id="56327" name="Text Box 7"/>
          <p:cNvSpPr txBox="1">
            <a:spLocks noChangeArrowheads="1"/>
          </p:cNvSpPr>
          <p:nvPr/>
        </p:nvSpPr>
        <p:spPr bwMode="auto">
          <a:xfrm>
            <a:off x="1066800" y="1017757"/>
            <a:ext cx="762000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marL="223838" indent="-223838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684213" indent="-227013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6175" indent="-231775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hangingPunct="0">
              <a:buFontTx/>
              <a:buChar char="•"/>
            </a:pPr>
            <a:r>
              <a:rPr lang="en-US" sz="2800" b="1" dirty="0">
                <a:solidFill>
                  <a:srgbClr val="FF3300"/>
                </a:solidFill>
              </a:rPr>
              <a:t>Advantages of client/server networks</a:t>
            </a:r>
          </a:p>
          <a:p>
            <a:pPr lvl="1" eaLnBrk="0" hangingPunct="0">
              <a:buFontTx/>
              <a:buChar char="•"/>
            </a:pPr>
            <a:r>
              <a:rPr lang="en-US" b="1" dirty="0"/>
              <a:t>Facilitate resource sharing – centrally administrate and control</a:t>
            </a:r>
          </a:p>
          <a:p>
            <a:pPr lvl="1" eaLnBrk="0" hangingPunct="0">
              <a:buFontTx/>
              <a:buChar char="•"/>
            </a:pPr>
            <a:r>
              <a:rPr lang="en-US" b="1" dirty="0"/>
              <a:t>Facilitate system backup and improve fault tolerance</a:t>
            </a:r>
          </a:p>
          <a:p>
            <a:pPr lvl="1" eaLnBrk="0" hangingPunct="0">
              <a:buFontTx/>
              <a:buChar char="•"/>
            </a:pPr>
            <a:r>
              <a:rPr lang="en-US" b="1" dirty="0"/>
              <a:t>Enhance security – only administrator can have access to Server</a:t>
            </a:r>
          </a:p>
          <a:p>
            <a:pPr lvl="1" eaLnBrk="0" hangingPunct="0">
              <a:buFontTx/>
              <a:buChar char="•"/>
            </a:pPr>
            <a:r>
              <a:rPr lang="en-US" b="1" dirty="0"/>
              <a:t>Support more users – difficult to achieve with peer-to-peer networks</a:t>
            </a:r>
            <a:endParaRPr lang="en-US" sz="2800" b="1" dirty="0">
              <a:solidFill>
                <a:srgbClr val="FF3300"/>
              </a:solidFill>
            </a:endParaRPr>
          </a:p>
        </p:txBody>
      </p:sp>
      <p:sp>
        <p:nvSpPr>
          <p:cNvPr id="56328" name="Text Box 8"/>
          <p:cNvSpPr txBox="1">
            <a:spLocks noChangeArrowheads="1"/>
          </p:cNvSpPr>
          <p:nvPr/>
        </p:nvSpPr>
        <p:spPr bwMode="auto">
          <a:xfrm>
            <a:off x="1066800" y="4563636"/>
            <a:ext cx="762000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marL="223838" indent="-223838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684213" indent="-227013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6175" indent="-231775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hangingPunct="0">
              <a:buFontTx/>
              <a:buChar char="•"/>
            </a:pPr>
            <a:r>
              <a:rPr lang="en-US" sz="2800" b="1" dirty="0">
                <a:solidFill>
                  <a:srgbClr val="FF3300"/>
                </a:solidFill>
              </a:rPr>
              <a:t>Disadvantages of client/server networks</a:t>
            </a:r>
          </a:p>
          <a:p>
            <a:pPr lvl="1" eaLnBrk="0" hangingPunct="0">
              <a:buFontTx/>
              <a:buChar char="•"/>
            </a:pPr>
            <a:r>
              <a:rPr lang="en-US" b="1" dirty="0"/>
              <a:t>High cost for Servers</a:t>
            </a:r>
          </a:p>
          <a:p>
            <a:pPr lvl="1" eaLnBrk="0" hangingPunct="0">
              <a:buFontTx/>
              <a:buChar char="•"/>
            </a:pPr>
            <a:r>
              <a:rPr lang="en-US" b="1" dirty="0"/>
              <a:t>Need expert to configure the network</a:t>
            </a:r>
          </a:p>
          <a:p>
            <a:pPr lvl="1" eaLnBrk="0" hangingPunct="0">
              <a:buFontTx/>
              <a:buChar char="•"/>
            </a:pPr>
            <a:r>
              <a:rPr lang="en-US" b="1" dirty="0"/>
              <a:t>Introduce a single point of failure to the system </a:t>
            </a:r>
            <a:endParaRPr lang="en-US" sz="2800" b="1" dirty="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181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Other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914400"/>
            <a:ext cx="7498080" cy="5486400"/>
          </a:xfrm>
        </p:spPr>
        <p:txBody>
          <a:bodyPr>
            <a:normAutofit fontScale="47500" lnSpcReduction="20000"/>
          </a:bodyPr>
          <a:lstStyle/>
          <a:p>
            <a:pPr marL="82296" indent="0" fontAlgn="base">
              <a:buNone/>
            </a:pPr>
            <a:r>
              <a:rPr lang="en-US" b="1" dirty="0" smtClean="0"/>
              <a:t>Intranet</a:t>
            </a:r>
            <a:endParaRPr lang="en-US" b="1" dirty="0"/>
          </a:p>
          <a:p>
            <a:pPr fontAlgn="base"/>
            <a:r>
              <a:rPr lang="en-US" dirty="0"/>
              <a:t>A</a:t>
            </a:r>
            <a:r>
              <a:rPr lang="en-US" dirty="0" smtClean="0"/>
              <a:t> </a:t>
            </a:r>
            <a:r>
              <a:rPr lang="en-US" dirty="0"/>
              <a:t>private </a:t>
            </a:r>
            <a:r>
              <a:rPr lang="en-US" dirty="0" smtClean="0"/>
              <a:t>network controlled </a:t>
            </a:r>
            <a:r>
              <a:rPr lang="en-US" dirty="0"/>
              <a:t>by an organization to encourage interaction among its members, </a:t>
            </a:r>
            <a:r>
              <a:rPr lang="en-US" dirty="0" smtClean="0"/>
              <a:t> </a:t>
            </a:r>
            <a:r>
              <a:rPr lang="en-US" dirty="0"/>
              <a:t>improve efficiency and </a:t>
            </a:r>
            <a:r>
              <a:rPr lang="en-US" dirty="0" smtClean="0"/>
              <a:t>share </a:t>
            </a:r>
            <a:r>
              <a:rPr lang="en-US" dirty="0" smtClean="0"/>
              <a:t>information. </a:t>
            </a:r>
          </a:p>
          <a:p>
            <a:pPr fontAlgn="base"/>
            <a:r>
              <a:rPr lang="en-US" dirty="0" smtClean="0"/>
              <a:t>Information </a:t>
            </a:r>
            <a:r>
              <a:rPr lang="en-US" dirty="0"/>
              <a:t>and resources that are shared on an intranet might include: organizational policies and procedures, announcements, information about new products, and confidential data of strategic value</a:t>
            </a:r>
            <a:r>
              <a:rPr lang="en-US" dirty="0" smtClean="0"/>
              <a:t>.</a:t>
            </a:r>
          </a:p>
          <a:p>
            <a:pPr marL="82296" indent="0">
              <a:buNone/>
            </a:pPr>
            <a:r>
              <a:rPr lang="en-US" b="1" dirty="0"/>
              <a:t>Extranet</a:t>
            </a:r>
          </a:p>
          <a:p>
            <a:r>
              <a:rPr lang="en-US" dirty="0"/>
              <a:t>An extranet is an extended intranet.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addition to allowing access to members of an organization, an extranet </a:t>
            </a:r>
            <a:r>
              <a:rPr lang="en-US" dirty="0" smtClean="0"/>
              <a:t>allow </a:t>
            </a:r>
            <a:r>
              <a:rPr lang="en-US" dirty="0"/>
              <a:t>access to users from outside the organization. </a:t>
            </a:r>
            <a:endParaRPr lang="en-US" dirty="0" smtClean="0"/>
          </a:p>
          <a:p>
            <a:r>
              <a:rPr lang="en-US" dirty="0"/>
              <a:t>A</a:t>
            </a:r>
            <a:r>
              <a:rPr lang="en-US" dirty="0" smtClean="0"/>
              <a:t>n </a:t>
            </a:r>
            <a:r>
              <a:rPr lang="en-US" dirty="0"/>
              <a:t>extranet is a private network that uses Internet </a:t>
            </a:r>
            <a:r>
              <a:rPr lang="en-US" dirty="0" smtClean="0"/>
              <a:t>to share </a:t>
            </a:r>
            <a:r>
              <a:rPr lang="en-US" dirty="0"/>
              <a:t>resources with customers, suppliers, vendors, partners, or other businesses</a:t>
            </a:r>
            <a:r>
              <a:rPr lang="en-US" dirty="0" smtClean="0"/>
              <a:t>.</a:t>
            </a:r>
          </a:p>
          <a:p>
            <a:r>
              <a:rPr lang="en-US" dirty="0"/>
              <a:t>Both intranets and extranets are owned, operated and controlled by one organization. </a:t>
            </a:r>
            <a:endParaRPr lang="en-US" dirty="0" smtClean="0"/>
          </a:p>
          <a:p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difference between intranets and extranets is defined in terms of who has access to the private network and the geographical reach of that network. </a:t>
            </a:r>
            <a:endParaRPr lang="en-US" dirty="0" smtClean="0"/>
          </a:p>
          <a:p>
            <a:r>
              <a:rPr lang="en-US" dirty="0" smtClean="0"/>
              <a:t>Intranets </a:t>
            </a:r>
            <a:r>
              <a:rPr lang="en-US" dirty="0"/>
              <a:t>allow only members of the organization to access the network, while an extranet allows persons from outside the organization (i.e. business partners and customers) to access the network. </a:t>
            </a:r>
            <a:endParaRPr lang="en-US" dirty="0" smtClean="0"/>
          </a:p>
          <a:p>
            <a:r>
              <a:rPr lang="en-US" dirty="0"/>
              <a:t>N</a:t>
            </a:r>
            <a:r>
              <a:rPr lang="en-US" dirty="0" smtClean="0"/>
              <a:t>etwork </a:t>
            </a:r>
            <a:r>
              <a:rPr lang="en-US" dirty="0"/>
              <a:t>access is managed through the administration of usernames and passwords, which are also used to determine which parts of the extranet a particular user can access.</a:t>
            </a:r>
          </a:p>
          <a:p>
            <a:pPr fontAlgn="base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473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19200" y="228600"/>
            <a:ext cx="6717792" cy="64008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Star Topology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143000" y="914400"/>
            <a:ext cx="5181600" cy="55626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Individual links radiate out from a central point</a:t>
            </a:r>
          </a:p>
          <a:p>
            <a:r>
              <a:rPr lang="en-US" dirty="0"/>
              <a:t>Each </a:t>
            </a:r>
            <a:r>
              <a:rPr lang="en-US" dirty="0" smtClean="0"/>
              <a:t>device </a:t>
            </a:r>
            <a:r>
              <a:rPr lang="en-US" dirty="0"/>
              <a:t>has its own cable or dedicated link that runs from a central controller or </a:t>
            </a:r>
            <a:r>
              <a:rPr lang="en-US" dirty="0" smtClean="0"/>
              <a:t>other </a:t>
            </a:r>
            <a:r>
              <a:rPr lang="en-US" dirty="0"/>
              <a:t>device.</a:t>
            </a:r>
          </a:p>
          <a:p>
            <a:r>
              <a:rPr lang="en-US" dirty="0"/>
              <a:t>All routing of traffic is performed by this central node, relieving the outlying nodes of control functions.</a:t>
            </a:r>
          </a:p>
          <a:p>
            <a:r>
              <a:rPr lang="en-US" dirty="0"/>
              <a:t>Simple point to point links are used, eliminating the need for complex link and control requirements.</a:t>
            </a:r>
          </a:p>
          <a:p>
            <a:r>
              <a:rPr lang="en-US" dirty="0"/>
              <a:t>A major disadvantage is that the central controller is a single point of failure.  If it fails, so does the entire network</a:t>
            </a:r>
            <a:r>
              <a:rPr lang="en-US" dirty="0" smtClean="0"/>
              <a:t>.</a:t>
            </a:r>
          </a:p>
          <a:p>
            <a:pPr marL="365760" lvl="2" indent="-283464"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r>
              <a:rPr lang="en-US" sz="2900" dirty="0"/>
              <a:t>More cabling, </a:t>
            </a:r>
            <a:r>
              <a:rPr lang="en-US" sz="2900" dirty="0">
                <a:sym typeface="Symbol" pitchFamily="18" charset="2"/>
              </a:rPr>
              <a:t>hence</a:t>
            </a:r>
            <a:r>
              <a:rPr lang="en-US" sz="2900" dirty="0">
                <a:solidFill>
                  <a:srgbClr val="FF3300"/>
                </a:solidFill>
                <a:sym typeface="Symbol" pitchFamily="18" charset="2"/>
              </a:rPr>
              <a:t> higher </a:t>
            </a:r>
            <a:r>
              <a:rPr lang="en-US" sz="2900" dirty="0" smtClean="0">
                <a:solidFill>
                  <a:srgbClr val="FF3300"/>
                </a:solidFill>
                <a:sym typeface="Symbol" pitchFamily="18" charset="2"/>
              </a:rPr>
              <a:t>cost.</a:t>
            </a:r>
          </a:p>
          <a:p>
            <a:pPr marL="365760" lvl="2" indent="-283464"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r>
              <a:rPr lang="en-US" sz="2900" dirty="0"/>
              <a:t>Depending on the intelligence of hub, two or more  computers may send message at the same time</a:t>
            </a:r>
            <a:endParaRPr lang="en-US" sz="2900" dirty="0">
              <a:solidFill>
                <a:srgbClr val="FF3300"/>
              </a:solidFill>
            </a:endParaRPr>
          </a:p>
          <a:p>
            <a:pPr marL="365760" lvl="2" indent="-283464"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endParaRPr lang="en-US" sz="2900" dirty="0">
              <a:solidFill>
                <a:srgbClr val="FF3300"/>
              </a:solidFill>
              <a:sym typeface="Symbol" pitchFamily="18" charset="2"/>
            </a:endParaRPr>
          </a:p>
          <a:p>
            <a:endParaRPr lang="en-US" dirty="0"/>
          </a:p>
          <a:p>
            <a:pPr marL="82296" indent="0">
              <a:buNone/>
            </a:pPr>
            <a:endParaRPr lang="en-US" dirty="0"/>
          </a:p>
        </p:txBody>
      </p:sp>
      <p:pic>
        <p:nvPicPr>
          <p:cNvPr id="7" name="Content Placeholder 6" descr="http://upload.wikimedia.org/wikipedia/commons/thumb/d/d0/StarNetwork.svg/220px-StarNetwork.svg.png">
            <a:hlinkClick r:id="rId2"/>
          </p:cNvPr>
          <p:cNvPicPr>
            <a:picLocks noGrp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3525" y="914400"/>
            <a:ext cx="18288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http://www.fcit.usf.edu/network/chap5/pics/star.gif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2895601"/>
            <a:ext cx="2406651" cy="273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2255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487680"/>
          </a:xfrm>
        </p:spPr>
        <p:txBody>
          <a:bodyPr>
            <a:noAutofit/>
          </a:bodyPr>
          <a:lstStyle/>
          <a:p>
            <a:r>
              <a:rPr lang="en-US" sz="3200" b="1" dirty="0"/>
              <a:t>Bus Topology</a:t>
            </a:r>
            <a:endParaRPr lang="en-US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143000" y="762000"/>
            <a:ext cx="5105400" cy="5791200"/>
          </a:xfrm>
        </p:spPr>
        <p:txBody>
          <a:bodyPr>
            <a:normAutofit fontScale="55000" lnSpcReduction="20000"/>
          </a:bodyPr>
          <a:lstStyle/>
          <a:p>
            <a:r>
              <a:rPr lang="en-US" sz="3600" dirty="0"/>
              <a:t>All devices are connected to a single linear cable called a </a:t>
            </a:r>
            <a:r>
              <a:rPr lang="en-US" sz="3600" i="1" dirty="0"/>
              <a:t>trunk</a:t>
            </a:r>
            <a:r>
              <a:rPr lang="en-US" sz="3600" dirty="0"/>
              <a:t> (also known as a backbone or segment).</a:t>
            </a:r>
          </a:p>
          <a:p>
            <a:r>
              <a:rPr lang="en-US" sz="3600" dirty="0"/>
              <a:t>Most frequently used for distributing control in LANs.</a:t>
            </a:r>
          </a:p>
          <a:p>
            <a:r>
              <a:rPr lang="en-US" sz="3600" dirty="0"/>
              <a:t>Messages transmitted will arrive at all other nodes, each of which requires the ability to </a:t>
            </a:r>
            <a:r>
              <a:rPr lang="en-US" sz="3600" dirty="0" err="1"/>
              <a:t>recognise</a:t>
            </a:r>
            <a:r>
              <a:rPr lang="en-US" sz="3600" dirty="0"/>
              <a:t> its own address in order to receive messages.</a:t>
            </a:r>
          </a:p>
          <a:p>
            <a:r>
              <a:rPr lang="en-US" sz="3600" dirty="0"/>
              <a:t>Nodes do not have to repeat and forward messages intended for others.</a:t>
            </a:r>
          </a:p>
          <a:p>
            <a:r>
              <a:rPr lang="en-US" sz="3600" dirty="0" smtClean="0"/>
              <a:t>Both </a:t>
            </a:r>
            <a:r>
              <a:rPr lang="en-US" sz="3600" dirty="0"/>
              <a:t>ends of the cable must be terminated to stop the signal from bouncing.</a:t>
            </a:r>
          </a:p>
          <a:p>
            <a:r>
              <a:rPr lang="en-US" sz="3600" dirty="0"/>
              <a:t>Difficult to troubleshoot than a star network because the network does not have a central point.</a:t>
            </a:r>
          </a:p>
          <a:p>
            <a:r>
              <a:rPr lang="en-US" sz="3600" dirty="0"/>
              <a:t>A break or problem at any point along the bus can cause the entire network to go down</a:t>
            </a:r>
            <a:r>
              <a:rPr lang="en-US" sz="3600" dirty="0" smtClean="0"/>
              <a:t>.</a:t>
            </a:r>
          </a:p>
          <a:p>
            <a:pPr marL="365760" lvl="2" indent="-283464"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</a:pPr>
            <a:r>
              <a:rPr lang="en-US" sz="3800" dirty="0"/>
              <a:t>Only one computer can send messages at a time</a:t>
            </a:r>
          </a:p>
          <a:p>
            <a:endParaRPr lang="en-US" sz="3600" dirty="0"/>
          </a:p>
          <a:p>
            <a:endParaRPr lang="en-US" dirty="0"/>
          </a:p>
        </p:txBody>
      </p:sp>
      <p:pic>
        <p:nvPicPr>
          <p:cNvPr id="7" name="Content Placeholder 6" descr="http://upload.wikimedia.org/wikipedia/commons/thumb/4/47/BusNetwork.svg/220px-BusNetwork.svg.png">
            <a:hlinkClick r:id="rId2"/>
          </p:cNvPr>
          <p:cNvPicPr>
            <a:picLocks noGrp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450" y="1676400"/>
            <a:ext cx="2647951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http://www.fcit.usf.edu/network/chap5/pics/linebus.gif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3505201"/>
            <a:ext cx="2209800" cy="15932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3335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71628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Ring Topology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219200" y="1066800"/>
            <a:ext cx="5638800" cy="56388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Nodes connected by point to </a:t>
            </a:r>
            <a:r>
              <a:rPr lang="en-US" dirty="0" smtClean="0"/>
              <a:t>point, </a:t>
            </a:r>
            <a:r>
              <a:rPr lang="en-US" dirty="0"/>
              <a:t>links are arranged in an unbroken circular configuration or ring.</a:t>
            </a:r>
          </a:p>
          <a:p>
            <a:r>
              <a:rPr lang="en-US" dirty="0"/>
              <a:t>Messages are transmitted from node to node.  </a:t>
            </a:r>
          </a:p>
          <a:p>
            <a:r>
              <a:rPr lang="en-US" dirty="0"/>
              <a:t>Each node must be </a:t>
            </a:r>
            <a:r>
              <a:rPr lang="en-US" dirty="0" smtClean="0"/>
              <a:t>capable </a:t>
            </a:r>
            <a:r>
              <a:rPr lang="en-US" dirty="0"/>
              <a:t>of recognizing its own address to accept messaged destined for it and to ignore messages destined for other addresses.</a:t>
            </a:r>
          </a:p>
          <a:p>
            <a:r>
              <a:rPr lang="en-US" dirty="0"/>
              <a:t>Each node must also serve as a repeater and re-transmit any messages it receives that are addressed to other nodes.</a:t>
            </a:r>
          </a:p>
          <a:p>
            <a:r>
              <a:rPr lang="en-US" dirty="0"/>
              <a:t>There are no terminating ends; therefore, if one computer fails, the entire network will go </a:t>
            </a:r>
            <a:r>
              <a:rPr lang="en-US" dirty="0" smtClean="0"/>
              <a:t>down.</a:t>
            </a:r>
          </a:p>
          <a:p>
            <a:r>
              <a:rPr lang="en-US" b="1" dirty="0" smtClean="0"/>
              <a:t>Difficult </a:t>
            </a:r>
            <a:r>
              <a:rPr lang="en-US" b="1" dirty="0"/>
              <a:t>to add </a:t>
            </a:r>
            <a:r>
              <a:rPr lang="en-US" b="1" dirty="0" smtClean="0"/>
              <a:t>computers and More expensive</a:t>
            </a:r>
            <a:endParaRPr lang="en-US" dirty="0"/>
          </a:p>
          <a:p>
            <a:r>
              <a:rPr lang="en-US" dirty="0"/>
              <a:t>This type of network is commonly called a </a:t>
            </a:r>
            <a:r>
              <a:rPr lang="en-US" i="1" dirty="0"/>
              <a:t>token ring </a:t>
            </a:r>
            <a:r>
              <a:rPr lang="en-US" i="1" dirty="0" smtClean="0"/>
              <a:t>network.</a:t>
            </a:r>
          </a:p>
          <a:p>
            <a:pPr lvl="1"/>
            <a:r>
              <a:rPr lang="en-US" b="1" dirty="0" smtClean="0"/>
              <a:t>only </a:t>
            </a:r>
            <a:r>
              <a:rPr lang="en-US" b="1" dirty="0"/>
              <a:t>the computer who </a:t>
            </a:r>
            <a:r>
              <a:rPr lang="en-US" b="1" dirty="0" smtClean="0"/>
              <a:t>gets </a:t>
            </a:r>
            <a:r>
              <a:rPr lang="en-US" b="1" dirty="0"/>
              <a:t>the token can send </a:t>
            </a:r>
            <a:r>
              <a:rPr lang="en-US" b="1" dirty="0" smtClean="0"/>
              <a:t>data.</a:t>
            </a:r>
            <a:endParaRPr lang="en-US" b="1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7" name="Content Placeholder 6" descr="http://upload.wikimedia.org/wikipedia/commons/thumb/7/75/RingNetwork.svg/220px-RingNetwork.svg.png">
            <a:hlinkClick r:id="rId2"/>
          </p:cNvPr>
          <p:cNvPicPr>
            <a:picLocks noGrp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990600"/>
            <a:ext cx="22860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ring topology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3657601"/>
            <a:ext cx="1813560" cy="20370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9341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533400"/>
            <a:ext cx="7498080" cy="5715000"/>
          </a:xfrm>
        </p:spPr>
        <p:txBody>
          <a:bodyPr>
            <a:normAutofit fontScale="92500" lnSpcReduction="10000"/>
          </a:bodyPr>
          <a:lstStyle/>
          <a:p>
            <a:pPr marL="82296" indent="0">
              <a:buNone/>
            </a:pPr>
            <a:r>
              <a:rPr lang="en-US" dirty="0"/>
              <a:t>When </a:t>
            </a:r>
            <a:r>
              <a:rPr lang="en-US" dirty="0" smtClean="0"/>
              <a:t>configuring </a:t>
            </a:r>
            <a:r>
              <a:rPr lang="en-US" dirty="0"/>
              <a:t>ring networks</a:t>
            </a:r>
            <a:r>
              <a:rPr lang="en-US" dirty="0" smtClean="0"/>
              <a:t>:</a:t>
            </a:r>
          </a:p>
          <a:p>
            <a:r>
              <a:rPr lang="en-US" dirty="0" smtClean="0"/>
              <a:t>They must be fully connected.</a:t>
            </a:r>
          </a:p>
          <a:p>
            <a:r>
              <a:rPr lang="en-US" dirty="0" smtClean="0"/>
              <a:t>Links have to be placed between a new node and the adjacent nodes for each node addition.</a:t>
            </a:r>
          </a:p>
          <a:p>
            <a:r>
              <a:rPr lang="en-US" dirty="0" smtClean="0"/>
              <a:t>It is difficult to pre-wire a building in anticipation of nodes to be added.</a:t>
            </a:r>
          </a:p>
          <a:p>
            <a:r>
              <a:rPr lang="en-US" dirty="0" smtClean="0"/>
              <a:t>Failure of a node, adding of a node or any other break causes the network to fail.</a:t>
            </a:r>
          </a:p>
          <a:p>
            <a:r>
              <a:rPr lang="en-US" dirty="0" smtClean="0"/>
              <a:t>Steps can be taken to bypass a failure point but this can increase the complexity of each node.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188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487680"/>
          </a:xfrm>
        </p:spPr>
        <p:txBody>
          <a:bodyPr>
            <a:normAutofit fontScale="90000"/>
          </a:bodyPr>
          <a:lstStyle/>
          <a:p>
            <a:r>
              <a:rPr lang="en-US" dirty="0"/>
              <a:t>Mesh Topology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435608" y="914400"/>
            <a:ext cx="4584192" cy="5273040"/>
          </a:xfrm>
        </p:spPr>
        <p:txBody>
          <a:bodyPr>
            <a:normAutofit/>
          </a:bodyPr>
          <a:lstStyle/>
          <a:p>
            <a:r>
              <a:rPr lang="en-US" dirty="0"/>
              <a:t>Used to connect locations on a many to many basis.</a:t>
            </a:r>
          </a:p>
          <a:p>
            <a:r>
              <a:rPr lang="en-US" dirty="0"/>
              <a:t>Resilient to link failures as alternative data routes may be available depending upon the </a:t>
            </a:r>
            <a:r>
              <a:rPr lang="en-US" dirty="0" smtClean="0"/>
              <a:t>routing </a:t>
            </a:r>
            <a:r>
              <a:rPr lang="en-US" dirty="0"/>
              <a:t>capabilities of the intervening nodes</a:t>
            </a:r>
          </a:p>
          <a:p>
            <a:r>
              <a:rPr lang="en-US" dirty="0"/>
              <a:t>Expensive to implement and require sophisticated control or management systems.</a:t>
            </a:r>
          </a:p>
          <a:p>
            <a:endParaRPr lang="en-US" dirty="0"/>
          </a:p>
        </p:txBody>
      </p:sp>
      <p:pic>
        <p:nvPicPr>
          <p:cNvPr id="7" name="Content Placeholder 6" descr="http://upload.wikimedia.org/wikipedia/commons/thumb/3/3c/NetworkTopology-FullyConnected.png/220px-NetworkTopology-FullyConnected.png">
            <a:hlinkClick r:id="rId2"/>
          </p:cNvPr>
          <p:cNvPicPr>
            <a:picLocks noGrp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990600"/>
            <a:ext cx="2667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mesh topology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1" y="3429000"/>
            <a:ext cx="2161540" cy="2127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7701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or Hierarchical Topology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4736592" cy="466344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Can provide a combination of both central and distributed control.</a:t>
            </a:r>
          </a:p>
          <a:p>
            <a:r>
              <a:rPr lang="en-US" dirty="0"/>
              <a:t>Consist of a central point from which a number of links emanate, providing a structure like the branch of a tree.</a:t>
            </a:r>
          </a:p>
          <a:p>
            <a:r>
              <a:rPr lang="en-US" dirty="0"/>
              <a:t>Intelligent devices are used to </a:t>
            </a:r>
            <a:r>
              <a:rPr lang="en-US" dirty="0" smtClean="0"/>
              <a:t>control </a:t>
            </a:r>
            <a:r>
              <a:rPr lang="en-US" dirty="0"/>
              <a:t>the traffic flow at each branch point.</a:t>
            </a:r>
          </a:p>
          <a:p>
            <a:r>
              <a:rPr lang="en-US" dirty="0"/>
              <a:t>Control of resources can be distributed thus alleviating a large part of the workload on one central controller.</a:t>
            </a:r>
          </a:p>
          <a:p>
            <a:r>
              <a:rPr lang="en-US" dirty="0"/>
              <a:t>A popular topology for WANs due to long distances involved and the ability to distribute control functionality.</a:t>
            </a:r>
          </a:p>
          <a:p>
            <a:r>
              <a:rPr lang="en-US" dirty="0"/>
              <a:t>Also common in modern LANs, based on the use of structured wiring </a:t>
            </a:r>
            <a:r>
              <a:rPr lang="en-US" dirty="0" smtClean="0"/>
              <a:t>approaches.</a:t>
            </a:r>
            <a:endParaRPr lang="en-US" dirty="0"/>
          </a:p>
          <a:p>
            <a:endParaRPr lang="en-US" dirty="0"/>
          </a:p>
        </p:txBody>
      </p:sp>
      <p:pic>
        <p:nvPicPr>
          <p:cNvPr id="7" name="Content Placeholder 6" descr="http://www.fcit.usf.edu/network/chap5/pics/tree.gif"/>
          <p:cNvPicPr>
            <a:picLocks noGr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752600"/>
            <a:ext cx="2743200" cy="4114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705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411480"/>
          </a:xfrm>
        </p:spPr>
        <p:txBody>
          <a:bodyPr>
            <a:normAutofit fontScale="90000"/>
          </a:bodyPr>
          <a:lstStyle/>
          <a:p>
            <a:r>
              <a:rPr lang="en-US" dirty="0"/>
              <a:t>Hybrid topologies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435608" y="914400"/>
            <a:ext cx="4126992" cy="527304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Incorporating two or more of the basic topologies.</a:t>
            </a:r>
          </a:p>
          <a:p>
            <a:r>
              <a:rPr lang="en-US" dirty="0"/>
              <a:t>E.g. a company network connecting a number of remote locations using a Tree based WAN.</a:t>
            </a:r>
          </a:p>
          <a:p>
            <a:r>
              <a:rPr lang="en-US" dirty="0"/>
              <a:t>Operation and control of a network can be complicated and expensive</a:t>
            </a:r>
          </a:p>
          <a:p>
            <a:r>
              <a:rPr lang="en-US" dirty="0"/>
              <a:t>However, the flexibility and efficiencies offered may outweigh the risks and costs involved.</a:t>
            </a:r>
          </a:p>
          <a:p>
            <a:pPr marL="82296" indent="0">
              <a:buNone/>
            </a:pPr>
            <a:endParaRPr lang="en-US" dirty="0"/>
          </a:p>
        </p:txBody>
      </p:sp>
      <p:pic>
        <p:nvPicPr>
          <p:cNvPr id="7" name="Content Placeholder 6" descr="topologies-hybrid-star-bus"/>
          <p:cNvPicPr>
            <a:picLocks noGr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1447800"/>
            <a:ext cx="3200400" cy="4343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7529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715962"/>
          </a:xfrm>
        </p:spPr>
        <p:txBody>
          <a:bodyPr>
            <a:normAutofit fontScale="90000"/>
          </a:bodyPr>
          <a:lstStyle/>
          <a:p>
            <a:r>
              <a:rPr lang="en-US" sz="3100" b="1" dirty="0"/>
              <a:t>Advantages and disadvantages of networks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762000"/>
            <a:ext cx="7498080" cy="5486400"/>
          </a:xfrm>
        </p:spPr>
        <p:txBody>
          <a:bodyPr>
            <a:normAutofit fontScale="92500" lnSpcReduction="10000"/>
          </a:bodyPr>
          <a:lstStyle/>
          <a:p>
            <a:pPr marL="82296" indent="0">
              <a:buNone/>
            </a:pPr>
            <a:r>
              <a:rPr lang="en-US" b="1" dirty="0"/>
              <a:t>Advantages</a:t>
            </a:r>
          </a:p>
          <a:p>
            <a:r>
              <a:rPr lang="en-US" u="sng" dirty="0"/>
              <a:t>Sharing devices </a:t>
            </a:r>
            <a:r>
              <a:rPr lang="en-US" dirty="0"/>
              <a:t>such as printers saves money.</a:t>
            </a:r>
          </a:p>
          <a:p>
            <a:r>
              <a:rPr lang="en-US" u="sng" dirty="0" smtClean="0"/>
              <a:t>Software </a:t>
            </a:r>
            <a:r>
              <a:rPr lang="en-US" u="sng" dirty="0" err="1"/>
              <a:t>licences</a:t>
            </a:r>
            <a:r>
              <a:rPr lang="en-US" u="sng" dirty="0"/>
              <a:t> are </a:t>
            </a:r>
            <a:r>
              <a:rPr lang="en-US" u="sng" dirty="0" smtClean="0"/>
              <a:t>cheaper </a:t>
            </a:r>
            <a:r>
              <a:rPr lang="en-US" dirty="0"/>
              <a:t>than buying several standalone </a:t>
            </a:r>
            <a:r>
              <a:rPr lang="en-US" dirty="0" err="1"/>
              <a:t>licences</a:t>
            </a:r>
            <a:r>
              <a:rPr lang="en-US" dirty="0"/>
              <a:t>.</a:t>
            </a:r>
          </a:p>
          <a:p>
            <a:r>
              <a:rPr lang="en-US" u="sng" dirty="0"/>
              <a:t>Files</a:t>
            </a:r>
            <a:r>
              <a:rPr lang="en-US" dirty="0"/>
              <a:t> can easily be</a:t>
            </a:r>
            <a:r>
              <a:rPr lang="en-US" u="sng" dirty="0"/>
              <a:t> shared </a:t>
            </a:r>
            <a:r>
              <a:rPr lang="en-US" dirty="0"/>
              <a:t>between users.</a:t>
            </a:r>
          </a:p>
          <a:p>
            <a:r>
              <a:rPr lang="en-US" u="sng" dirty="0" smtClean="0"/>
              <a:t>Communication</a:t>
            </a:r>
            <a:r>
              <a:rPr lang="en-US" dirty="0" smtClean="0"/>
              <a:t> </a:t>
            </a:r>
            <a:r>
              <a:rPr lang="en-US" dirty="0"/>
              <a:t>by email and instant messenger.</a:t>
            </a:r>
          </a:p>
          <a:p>
            <a:r>
              <a:rPr lang="en-US" u="sng" dirty="0"/>
              <a:t>Security is good </a:t>
            </a:r>
            <a:r>
              <a:rPr lang="en-US" dirty="0"/>
              <a:t>- users cannot see other users' files unlike on stand-alone machines.</a:t>
            </a:r>
          </a:p>
          <a:p>
            <a:r>
              <a:rPr lang="en-US" u="sng" dirty="0"/>
              <a:t>Data</a:t>
            </a:r>
            <a:r>
              <a:rPr lang="en-US" dirty="0"/>
              <a:t> is easy to </a:t>
            </a:r>
            <a:r>
              <a:rPr lang="en-US" u="sng" dirty="0"/>
              <a:t>backup</a:t>
            </a:r>
            <a:r>
              <a:rPr lang="en-US" dirty="0"/>
              <a:t> as all the data is stored on the file server.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2888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533400"/>
            <a:ext cx="7498080" cy="5715000"/>
          </a:xfrm>
        </p:spPr>
        <p:txBody>
          <a:bodyPr>
            <a:normAutofit fontScale="85000" lnSpcReduction="20000"/>
          </a:bodyPr>
          <a:lstStyle/>
          <a:p>
            <a:pPr marL="82296" indent="0">
              <a:buNone/>
            </a:pPr>
            <a:r>
              <a:rPr lang="en-US" b="1" dirty="0"/>
              <a:t>Disadvantages</a:t>
            </a:r>
          </a:p>
          <a:p>
            <a:r>
              <a:rPr lang="en-US" dirty="0"/>
              <a:t>Purchasing the network cabling and file servers can be </a:t>
            </a:r>
            <a:r>
              <a:rPr lang="en-US" u="sng" dirty="0"/>
              <a:t>expensive</a:t>
            </a:r>
            <a:r>
              <a:rPr lang="en-US" dirty="0"/>
              <a:t>.</a:t>
            </a:r>
          </a:p>
          <a:p>
            <a:r>
              <a:rPr lang="en-US" dirty="0"/>
              <a:t>Managing a large network is complicated, requires </a:t>
            </a:r>
            <a:r>
              <a:rPr lang="en-US" u="sng" dirty="0"/>
              <a:t>training</a:t>
            </a:r>
            <a:r>
              <a:rPr lang="en-US" dirty="0"/>
              <a:t> and a network manager usually needs to be employed.</a:t>
            </a:r>
          </a:p>
          <a:p>
            <a:r>
              <a:rPr lang="en-US" dirty="0"/>
              <a:t>If the </a:t>
            </a:r>
            <a:r>
              <a:rPr lang="en-US" u="sng" dirty="0"/>
              <a:t>file server breaks down </a:t>
            </a:r>
            <a:r>
              <a:rPr lang="en-US" dirty="0"/>
              <a:t>the files on the file server become </a:t>
            </a:r>
            <a:r>
              <a:rPr lang="en-US" u="sng" dirty="0"/>
              <a:t>inaccessible</a:t>
            </a:r>
            <a:r>
              <a:rPr lang="en-US" dirty="0"/>
              <a:t>. Email might still work if it is on a separate server. The computers can still be used but are isolated. </a:t>
            </a:r>
          </a:p>
          <a:p>
            <a:r>
              <a:rPr lang="en-US" u="sng" dirty="0"/>
              <a:t>Viruses</a:t>
            </a:r>
            <a:r>
              <a:rPr lang="en-US" dirty="0"/>
              <a:t> can spread to other computers throughout a computer network. </a:t>
            </a:r>
          </a:p>
          <a:p>
            <a:r>
              <a:rPr lang="en-US" dirty="0"/>
              <a:t>There is a danger of </a:t>
            </a:r>
            <a:r>
              <a:rPr lang="en-US" u="sng" dirty="0"/>
              <a:t>hacking</a:t>
            </a:r>
            <a:r>
              <a:rPr lang="en-US" dirty="0"/>
              <a:t>, particularly with wide area networks. Security procedures are needed to prevent such abuse, </a:t>
            </a:r>
            <a:r>
              <a:rPr lang="en-US" dirty="0" err="1"/>
              <a:t>eg</a:t>
            </a:r>
            <a:r>
              <a:rPr lang="en-US" dirty="0"/>
              <a:t> a firewall.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2731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2455</TotalTime>
  <Words>1915</Words>
  <Application>Microsoft Office PowerPoint</Application>
  <PresentationFormat>On-screen Show (4:3)</PresentationFormat>
  <Paragraphs>175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Calibri</vt:lpstr>
      <vt:lpstr>Gill Sans MT</vt:lpstr>
      <vt:lpstr>Symbol</vt:lpstr>
      <vt:lpstr>Times New Roman</vt:lpstr>
      <vt:lpstr>Verdana</vt:lpstr>
      <vt:lpstr>Wingdings 2</vt:lpstr>
      <vt:lpstr>Solstice</vt:lpstr>
      <vt:lpstr>INTRODUCTION TO COMPUTER NETWORKS</vt:lpstr>
      <vt:lpstr>Definition</vt:lpstr>
      <vt:lpstr>Examples of activities requiring networks</vt:lpstr>
      <vt:lpstr>Groups of Networks</vt:lpstr>
      <vt:lpstr>Local Area Networks (LAN)</vt:lpstr>
      <vt:lpstr>Purpose of LAN</vt:lpstr>
      <vt:lpstr>Wide Area Networks (WAN)</vt:lpstr>
      <vt:lpstr>Metropolitan Area Network (MAN)</vt:lpstr>
      <vt:lpstr>Why use MAN</vt:lpstr>
      <vt:lpstr>Personal Area Network (PAN) </vt:lpstr>
      <vt:lpstr>Types of Networks</vt:lpstr>
      <vt:lpstr>PowerPoint Presentation</vt:lpstr>
      <vt:lpstr>PowerPoint Presentation</vt:lpstr>
      <vt:lpstr>PowerPoint Presentation</vt:lpstr>
      <vt:lpstr>Other networks</vt:lpstr>
      <vt:lpstr>Star Topology</vt:lpstr>
      <vt:lpstr>Bus Topology</vt:lpstr>
      <vt:lpstr>Ring Topology</vt:lpstr>
      <vt:lpstr>PowerPoint Presentation</vt:lpstr>
      <vt:lpstr>Mesh Topology</vt:lpstr>
      <vt:lpstr>Tree or Hierarchical Topology</vt:lpstr>
      <vt:lpstr>Hybrid topologies</vt:lpstr>
      <vt:lpstr>Advantages and disadvantages of networks 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NETWORKS</dc:title>
  <dc:creator>FAIR</dc:creator>
  <cp:lastModifiedBy>dumisan kaunda</cp:lastModifiedBy>
  <cp:revision>134</cp:revision>
  <cp:lastPrinted>2014-09-18T07:12:49Z</cp:lastPrinted>
  <dcterms:created xsi:type="dcterms:W3CDTF">2014-08-26T06:48:42Z</dcterms:created>
  <dcterms:modified xsi:type="dcterms:W3CDTF">2015-07-20T15:31:02Z</dcterms:modified>
</cp:coreProperties>
</file>