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434" r:id="rId3"/>
    <p:sldId id="435" r:id="rId4"/>
    <p:sldId id="436" r:id="rId5"/>
    <p:sldId id="437" r:id="rId6"/>
    <p:sldId id="414" r:id="rId7"/>
    <p:sldId id="415" r:id="rId8"/>
    <p:sldId id="416" r:id="rId9"/>
    <p:sldId id="417" r:id="rId10"/>
    <p:sldId id="418" r:id="rId11"/>
    <p:sldId id="419" r:id="rId12"/>
    <p:sldId id="420" r:id="rId13"/>
    <p:sldId id="422" r:id="rId14"/>
    <p:sldId id="424" r:id="rId15"/>
    <p:sldId id="425" r:id="rId16"/>
    <p:sldId id="427" r:id="rId17"/>
    <p:sldId id="428" r:id="rId18"/>
    <p:sldId id="429" r:id="rId19"/>
    <p:sldId id="430" r:id="rId20"/>
    <p:sldId id="431" r:id="rId21"/>
    <p:sldId id="432" r:id="rId22"/>
    <p:sldId id="433" r:id="rId23"/>
    <p:sldId id="438" r:id="rId24"/>
    <p:sldId id="439" r:id="rId25"/>
    <p:sldId id="379" r:id="rId26"/>
    <p:sldId id="381" r:id="rId27"/>
    <p:sldId id="382" r:id="rId28"/>
    <p:sldId id="372" r:id="rId29"/>
    <p:sldId id="374" r:id="rId30"/>
    <p:sldId id="375"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591" autoAdjust="0"/>
    <p:restoredTop sz="94618" autoAdjust="0"/>
  </p:normalViewPr>
  <p:slideViewPr>
    <p:cSldViewPr>
      <p:cViewPr varScale="1">
        <p:scale>
          <a:sx n="69" d="100"/>
          <a:sy n="69" d="100"/>
        </p:scale>
        <p:origin x="-1416" y="-102"/>
      </p:cViewPr>
      <p:guideLst>
        <p:guide orient="horz" pos="2160"/>
        <p:guide pos="2880"/>
      </p:guideLst>
    </p:cSldViewPr>
  </p:slideViewPr>
  <p:outlineViewPr>
    <p:cViewPr>
      <p:scale>
        <a:sx n="33" d="100"/>
        <a:sy n="33" d="100"/>
      </p:scale>
      <p:origin x="58" y="912"/>
    </p:cViewPr>
  </p:outlin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extLst/>
          </a:lstStyle>
          <a:p>
            <a:fld id="{A0B52EFB-DC66-45F4-89A4-20842FDE06C9}" type="datetimeFigureOut">
              <a:rPr lang="en-US" smtClean="0"/>
              <a:pPr/>
              <a:t>11/12/2015</a:t>
            </a:fld>
            <a:endParaRPr lang="en-US"/>
          </a:p>
        </p:txBody>
      </p:sp>
      <p:sp>
        <p:nvSpPr>
          <p:cNvPr id="20" name="Footer Placeholder 19"/>
          <p:cNvSpPr>
            <a:spLocks noGrp="1"/>
          </p:cNvSpPr>
          <p:nvPr>
            <p:ph type="ftr" sz="quarter" idx="11"/>
          </p:nvPr>
        </p:nvSpPr>
        <p:spPr/>
        <p:txBody>
          <a:bodyPr/>
          <a:lstStyle>
            <a:extLst/>
          </a:lstStyle>
          <a:p>
            <a:endParaRPr lang="en-US"/>
          </a:p>
        </p:txBody>
      </p:sp>
      <p:sp>
        <p:nvSpPr>
          <p:cNvPr id="10" name="Slide Number Placeholder 9"/>
          <p:cNvSpPr>
            <a:spLocks noGrp="1"/>
          </p:cNvSpPr>
          <p:nvPr>
            <p:ph type="sldNum" sz="quarter" idx="12"/>
          </p:nvPr>
        </p:nvSpPr>
        <p:spPr/>
        <p:txBody>
          <a:bodyPr/>
          <a:lstStyle>
            <a:extLst/>
          </a:lstStyle>
          <a:p>
            <a:fld id="{FAC67327-5267-441D-9E23-DA628493DC65}"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A0B52EFB-DC66-45F4-89A4-20842FDE06C9}" type="datetimeFigureOut">
              <a:rPr lang="en-US" smtClean="0"/>
              <a:pPr/>
              <a:t>11/12/2015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FAC67327-5267-441D-9E23-DA628493DC65}"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A0B52EFB-DC66-45F4-89A4-20842FDE06C9}" type="datetimeFigureOut">
              <a:rPr lang="en-US" smtClean="0"/>
              <a:pPr/>
              <a:t>11/12/2015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FAC67327-5267-441D-9E23-DA628493DC65}"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A0B52EFB-DC66-45F4-89A4-20842FDE06C9}" type="datetimeFigureOut">
              <a:rPr lang="en-US" smtClean="0"/>
              <a:pPr/>
              <a:t>11/12/2015</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FAC67327-5267-441D-9E23-DA628493DC65}"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A0B52EFB-DC66-45F4-89A4-20842FDE06C9}" type="datetimeFigureOut">
              <a:rPr lang="en-US" smtClean="0"/>
              <a:pPr/>
              <a:t>11/12/2015</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FAC67327-5267-441D-9E23-DA628493DC65}"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A0B52EFB-DC66-45F4-89A4-20842FDE06C9}" type="datetimeFigureOut">
              <a:rPr lang="en-US" smtClean="0"/>
              <a:pPr/>
              <a:t>11/12/2015</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FAC67327-5267-441D-9E23-DA628493DC65}"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fld id="{A0B52EFB-DC66-45F4-89A4-20842FDE06C9}" type="datetimeFigureOut">
              <a:rPr lang="en-US" smtClean="0"/>
              <a:pPr/>
              <a:t>11/12/2015</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FAC67327-5267-441D-9E23-DA628493DC65}"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A0B52EFB-DC66-45F4-89A4-20842FDE06C9}" type="datetimeFigureOut">
              <a:rPr lang="en-US" smtClean="0"/>
              <a:pPr/>
              <a:t>11/12/2015</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FAC67327-5267-441D-9E23-DA628493DC65}"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extLst/>
          </a:lstStyle>
          <a:p>
            <a:fld id="{A0B52EFB-DC66-45F4-89A4-20842FDE06C9}" type="datetimeFigureOut">
              <a:rPr lang="en-US" smtClean="0"/>
              <a:pPr/>
              <a:t>11/12/2015</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FAC67327-5267-441D-9E23-DA628493DC65}"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extLst/>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A0B52EFB-DC66-45F4-89A4-20842FDE06C9}" type="datetimeFigureOut">
              <a:rPr lang="en-US" smtClean="0"/>
              <a:pPr/>
              <a:t>11/12/2015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FAC67327-5267-441D-9E23-DA628493DC65}"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A0B52EFB-DC66-45F4-89A4-20842FDE06C9}" type="datetimeFigureOut">
              <a:rPr lang="en-US" smtClean="0"/>
              <a:pPr/>
              <a:t>11/12/2015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FAC67327-5267-441D-9E23-DA628493DC65}"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extLst/>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A0B52EFB-DC66-45F4-89A4-20842FDE06C9}" type="datetimeFigureOut">
              <a:rPr lang="en-US" smtClean="0"/>
              <a:pPr/>
              <a:t>11/12/2015</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FAC67327-5267-441D-9E23-DA628493DC65}"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DATA AND SIGNALS</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xmlns="" val="340668705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dirty="0" smtClean="0"/>
              <a:t>Data communication</a:t>
            </a:r>
            <a:endParaRPr lang="en-US" dirty="0"/>
          </a:p>
        </p:txBody>
      </p:sp>
      <p:sp>
        <p:nvSpPr>
          <p:cNvPr id="3" name="Content Placeholder 2"/>
          <p:cNvSpPr>
            <a:spLocks noGrp="1"/>
          </p:cNvSpPr>
          <p:nvPr>
            <p:ph idx="1"/>
          </p:nvPr>
        </p:nvSpPr>
        <p:spPr/>
        <p:txBody>
          <a:bodyPr>
            <a:normAutofit fontScale="92500" lnSpcReduction="20000"/>
          </a:bodyPr>
          <a:lstStyle/>
          <a:p>
            <a:r>
              <a:rPr lang="en-US" dirty="0"/>
              <a:t>Data communications means the exchange of data between two devices via some form of transmission medium such as a wire cable. </a:t>
            </a:r>
            <a:endParaRPr lang="en-US" dirty="0" smtClean="0"/>
          </a:p>
          <a:p>
            <a:r>
              <a:rPr lang="en-US" dirty="0" smtClean="0"/>
              <a:t>For </a:t>
            </a:r>
            <a:r>
              <a:rPr lang="en-US" dirty="0"/>
              <a:t>data communications to occur, the communicating devices must be part of a communication </a:t>
            </a:r>
            <a:r>
              <a:rPr lang="en-US" dirty="0" smtClean="0"/>
              <a:t>system.</a:t>
            </a:r>
          </a:p>
          <a:p>
            <a:pPr lvl="1"/>
            <a:r>
              <a:rPr lang="en-US" dirty="0" smtClean="0"/>
              <a:t>Which is made </a:t>
            </a:r>
            <a:r>
              <a:rPr lang="en-US" dirty="0"/>
              <a:t>up of a combination of hardware (physical equipment) and software (programs). </a:t>
            </a:r>
            <a:endParaRPr lang="en-US" dirty="0" smtClean="0"/>
          </a:p>
          <a:p>
            <a:r>
              <a:rPr lang="en-US" dirty="0"/>
              <a:t>E</a:t>
            </a:r>
            <a:r>
              <a:rPr lang="en-US" dirty="0" smtClean="0"/>
              <a:t>ffectiveness </a:t>
            </a:r>
            <a:r>
              <a:rPr lang="en-US" dirty="0"/>
              <a:t>of a data communications system depends on four </a:t>
            </a:r>
            <a:r>
              <a:rPr lang="en-US" dirty="0" smtClean="0"/>
              <a:t>important </a:t>
            </a:r>
            <a:r>
              <a:rPr lang="en-US" dirty="0"/>
              <a:t>characteristics: </a:t>
            </a:r>
            <a:endParaRPr lang="en-US" dirty="0" smtClean="0"/>
          </a:p>
          <a:p>
            <a:pPr lvl="1"/>
            <a:r>
              <a:rPr lang="en-US" dirty="0" smtClean="0"/>
              <a:t>delivery</a:t>
            </a:r>
            <a:r>
              <a:rPr lang="en-US" dirty="0"/>
              <a:t>, accuracy, timeliness, and jitter.</a:t>
            </a:r>
          </a:p>
        </p:txBody>
      </p:sp>
    </p:spTree>
    <p:extLst>
      <p:ext uri="{BB962C8B-B14F-4D97-AF65-F5344CB8AC3E}">
        <p14:creationId xmlns:p14="http://schemas.microsoft.com/office/powerpoint/2010/main" xmlns="" val="197878739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868362"/>
          </a:xfrm>
        </p:spPr>
        <p:txBody>
          <a:bodyPr>
            <a:normAutofit/>
          </a:bodyPr>
          <a:lstStyle/>
          <a:p>
            <a:r>
              <a:rPr lang="da-DK" sz="3600" dirty="0" smtClean="0"/>
              <a:t>Characteristics of data communicaton</a:t>
            </a:r>
            <a:endParaRPr lang="en-US" sz="3600" dirty="0"/>
          </a:p>
        </p:txBody>
      </p:sp>
      <p:sp>
        <p:nvSpPr>
          <p:cNvPr id="3" name="Content Placeholder 2"/>
          <p:cNvSpPr>
            <a:spLocks noGrp="1"/>
          </p:cNvSpPr>
          <p:nvPr>
            <p:ph idx="1"/>
          </p:nvPr>
        </p:nvSpPr>
        <p:spPr>
          <a:xfrm>
            <a:off x="1435608" y="1143000"/>
            <a:ext cx="7498080" cy="5486400"/>
          </a:xfrm>
        </p:spPr>
        <p:txBody>
          <a:bodyPr>
            <a:normAutofit fontScale="70000" lnSpcReduction="20000"/>
          </a:bodyPr>
          <a:lstStyle/>
          <a:p>
            <a:r>
              <a:rPr lang="en-US" b="1" dirty="0" smtClean="0"/>
              <a:t>Delivery</a:t>
            </a:r>
            <a:r>
              <a:rPr lang="en-US" b="1" dirty="0"/>
              <a:t>:</a:t>
            </a:r>
            <a:r>
              <a:rPr lang="en-US" dirty="0"/>
              <a:t> </a:t>
            </a:r>
            <a:endParaRPr lang="en-US" dirty="0" smtClean="0"/>
          </a:p>
          <a:p>
            <a:pPr lvl="1"/>
            <a:r>
              <a:rPr lang="en-US" dirty="0" smtClean="0"/>
              <a:t>The </a:t>
            </a:r>
            <a:r>
              <a:rPr lang="en-US" dirty="0"/>
              <a:t>system must deliver data to the correct destination. </a:t>
            </a:r>
            <a:endParaRPr lang="en-US" dirty="0" smtClean="0"/>
          </a:p>
          <a:p>
            <a:pPr lvl="1"/>
            <a:r>
              <a:rPr lang="en-US" dirty="0" smtClean="0"/>
              <a:t>Data </a:t>
            </a:r>
            <a:r>
              <a:rPr lang="en-US" dirty="0"/>
              <a:t>must be received by the intended device or user and only by that device or user</a:t>
            </a:r>
            <a:r>
              <a:rPr lang="en-US" dirty="0" smtClean="0"/>
              <a:t>.</a:t>
            </a:r>
          </a:p>
          <a:p>
            <a:r>
              <a:rPr lang="en-US" b="1" dirty="0" smtClean="0"/>
              <a:t>Accuracy</a:t>
            </a:r>
            <a:r>
              <a:rPr lang="en-US" b="1" dirty="0"/>
              <a:t>:</a:t>
            </a:r>
            <a:r>
              <a:rPr lang="en-US" dirty="0"/>
              <a:t> </a:t>
            </a:r>
            <a:endParaRPr lang="en-US" dirty="0" smtClean="0"/>
          </a:p>
          <a:p>
            <a:pPr lvl="1"/>
            <a:r>
              <a:rPr lang="en-US" dirty="0" smtClean="0"/>
              <a:t>The </a:t>
            </a:r>
            <a:r>
              <a:rPr lang="en-US" dirty="0"/>
              <a:t>system must deliver </a:t>
            </a:r>
            <a:r>
              <a:rPr lang="en-US" dirty="0" smtClean="0"/>
              <a:t>data </a:t>
            </a:r>
            <a:r>
              <a:rPr lang="en-US" dirty="0"/>
              <a:t>accurately. </a:t>
            </a:r>
            <a:endParaRPr lang="en-US" dirty="0" smtClean="0"/>
          </a:p>
          <a:p>
            <a:pPr lvl="1"/>
            <a:r>
              <a:rPr lang="en-US" dirty="0" smtClean="0"/>
              <a:t>Data </a:t>
            </a:r>
            <a:r>
              <a:rPr lang="en-US" dirty="0"/>
              <a:t>that have been altered in transmission and left uncorrected are unusable</a:t>
            </a:r>
            <a:r>
              <a:rPr lang="en-US" dirty="0" smtClean="0"/>
              <a:t>.</a:t>
            </a:r>
          </a:p>
          <a:p>
            <a:r>
              <a:rPr lang="en-US" b="1" dirty="0" smtClean="0"/>
              <a:t>Timeliness</a:t>
            </a:r>
            <a:r>
              <a:rPr lang="en-US" b="1" dirty="0"/>
              <a:t>:</a:t>
            </a:r>
            <a:r>
              <a:rPr lang="en-US" dirty="0"/>
              <a:t> </a:t>
            </a:r>
            <a:endParaRPr lang="en-US" dirty="0" smtClean="0"/>
          </a:p>
          <a:p>
            <a:pPr lvl="1"/>
            <a:r>
              <a:rPr lang="en-US" dirty="0" smtClean="0"/>
              <a:t>The </a:t>
            </a:r>
            <a:r>
              <a:rPr lang="en-US" dirty="0"/>
              <a:t>system must deliver data in a timely manner. </a:t>
            </a:r>
            <a:endParaRPr lang="en-US" dirty="0" smtClean="0"/>
          </a:p>
          <a:p>
            <a:pPr lvl="1"/>
            <a:r>
              <a:rPr lang="en-US" dirty="0" smtClean="0"/>
              <a:t>Data </a:t>
            </a:r>
            <a:r>
              <a:rPr lang="en-US" dirty="0"/>
              <a:t>delivered late are useless. In the case of video and audio, timely delivery means delivering data as they are produced, in the same order that they are produced, and without significant delay. </a:t>
            </a:r>
            <a:endParaRPr lang="en-US" dirty="0" smtClean="0"/>
          </a:p>
          <a:p>
            <a:pPr lvl="1"/>
            <a:r>
              <a:rPr lang="en-US" dirty="0" smtClean="0"/>
              <a:t>This </a:t>
            </a:r>
            <a:r>
              <a:rPr lang="en-US" dirty="0"/>
              <a:t>kind of delivery is called real-time transmission</a:t>
            </a:r>
            <a:r>
              <a:rPr lang="en-US" dirty="0" smtClean="0"/>
              <a:t>.</a:t>
            </a:r>
          </a:p>
          <a:p>
            <a:r>
              <a:rPr lang="en-US" b="1" dirty="0" smtClean="0"/>
              <a:t>Jitter</a:t>
            </a:r>
            <a:r>
              <a:rPr lang="en-US" b="1" dirty="0"/>
              <a:t>:</a:t>
            </a:r>
            <a:r>
              <a:rPr lang="en-US" dirty="0"/>
              <a:t> </a:t>
            </a:r>
            <a:endParaRPr lang="en-US" dirty="0" smtClean="0"/>
          </a:p>
          <a:p>
            <a:pPr lvl="1"/>
            <a:r>
              <a:rPr lang="en-US" dirty="0" smtClean="0"/>
              <a:t>Jitter </a:t>
            </a:r>
            <a:r>
              <a:rPr lang="en-US" dirty="0"/>
              <a:t>refers to </a:t>
            </a:r>
            <a:r>
              <a:rPr lang="en-US" dirty="0" smtClean="0"/>
              <a:t>variation </a:t>
            </a:r>
            <a:r>
              <a:rPr lang="en-US" dirty="0"/>
              <a:t>in </a:t>
            </a:r>
            <a:r>
              <a:rPr lang="en-US" dirty="0" smtClean="0"/>
              <a:t>packet (data) arrival </a:t>
            </a:r>
            <a:r>
              <a:rPr lang="en-US" dirty="0"/>
              <a:t>time. It is the uneven delay in the delivery of audio or video packets. </a:t>
            </a:r>
            <a:endParaRPr lang="en-US" dirty="0" smtClean="0"/>
          </a:p>
        </p:txBody>
      </p:sp>
    </p:spTree>
    <p:extLst>
      <p:ext uri="{BB962C8B-B14F-4D97-AF65-F5344CB8AC3E}">
        <p14:creationId xmlns:p14="http://schemas.microsoft.com/office/powerpoint/2010/main" xmlns="" val="147846990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1143977" y="304800"/>
            <a:ext cx="7772400" cy="533400"/>
          </a:xfrm>
        </p:spPr>
        <p:txBody>
          <a:bodyPr>
            <a:normAutofit fontScale="90000"/>
          </a:bodyPr>
          <a:lstStyle/>
          <a:p>
            <a:r>
              <a:rPr lang="en-US" dirty="0"/>
              <a:t>5 Basic Components</a:t>
            </a:r>
          </a:p>
        </p:txBody>
      </p:sp>
      <p:sp>
        <p:nvSpPr>
          <p:cNvPr id="63494" name="Text Box 6"/>
          <p:cNvSpPr txBox="1">
            <a:spLocks noChangeArrowheads="1"/>
          </p:cNvSpPr>
          <p:nvPr/>
        </p:nvSpPr>
        <p:spPr bwMode="auto">
          <a:xfrm>
            <a:off x="592138" y="1576388"/>
            <a:ext cx="794067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endParaRPr lang="en-US"/>
          </a:p>
        </p:txBody>
      </p:sp>
      <p:sp>
        <p:nvSpPr>
          <p:cNvPr id="63495" name="Text Box 7"/>
          <p:cNvSpPr txBox="1">
            <a:spLocks noChangeArrowheads="1"/>
          </p:cNvSpPr>
          <p:nvPr/>
        </p:nvSpPr>
        <p:spPr bwMode="auto">
          <a:xfrm>
            <a:off x="1295400" y="1066801"/>
            <a:ext cx="6934200" cy="190821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r>
              <a:rPr lang="en-US" dirty="0"/>
              <a:t>Every communication system has 5 basic requirements</a:t>
            </a:r>
          </a:p>
          <a:p>
            <a:pPr>
              <a:buFontTx/>
              <a:buChar char="•"/>
            </a:pPr>
            <a:r>
              <a:rPr lang="en-US" b="1" dirty="0"/>
              <a:t>Data Source</a:t>
            </a:r>
            <a:r>
              <a:rPr lang="en-US" dirty="0"/>
              <a:t> </a:t>
            </a:r>
            <a:r>
              <a:rPr lang="en-US" sz="2000" dirty="0"/>
              <a:t>(where the data originates)</a:t>
            </a:r>
          </a:p>
          <a:p>
            <a:pPr>
              <a:buFontTx/>
              <a:buChar char="•"/>
            </a:pPr>
            <a:r>
              <a:rPr lang="en-US" b="1" dirty="0"/>
              <a:t>Transmitter </a:t>
            </a:r>
            <a:r>
              <a:rPr lang="en-US" sz="2000" dirty="0"/>
              <a:t>(device used to transmit data)</a:t>
            </a:r>
          </a:p>
          <a:p>
            <a:pPr>
              <a:buFontTx/>
              <a:buChar char="•"/>
            </a:pPr>
            <a:r>
              <a:rPr lang="en-US" b="1" dirty="0"/>
              <a:t>Transmission Medium</a:t>
            </a:r>
            <a:r>
              <a:rPr lang="en-US" dirty="0"/>
              <a:t> </a:t>
            </a:r>
            <a:r>
              <a:rPr lang="en-US" sz="2000" dirty="0"/>
              <a:t>(cables or non cable)</a:t>
            </a:r>
          </a:p>
          <a:p>
            <a:pPr>
              <a:buFontTx/>
              <a:buChar char="•"/>
            </a:pPr>
            <a:r>
              <a:rPr lang="en-US" b="1" dirty="0"/>
              <a:t>Receiver </a:t>
            </a:r>
            <a:r>
              <a:rPr lang="en-US" sz="2000" dirty="0"/>
              <a:t>(device used to receive data)</a:t>
            </a:r>
          </a:p>
          <a:p>
            <a:pPr>
              <a:buFontTx/>
              <a:buChar char="•"/>
            </a:pPr>
            <a:r>
              <a:rPr lang="en-US" b="1" dirty="0"/>
              <a:t>Destination</a:t>
            </a:r>
            <a:r>
              <a:rPr lang="en-US" dirty="0"/>
              <a:t> </a:t>
            </a:r>
            <a:r>
              <a:rPr lang="en-US" sz="2000" dirty="0"/>
              <a:t>(where the data will be placed)</a:t>
            </a:r>
          </a:p>
        </p:txBody>
      </p:sp>
      <p:pic>
        <p:nvPicPr>
          <p:cNvPr id="63496" name="Picture 8"/>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592138" y="4267200"/>
            <a:ext cx="8435975" cy="1479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2306013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9" name="Rectangle 5"/>
          <p:cNvSpPr>
            <a:spLocks noGrp="1" noChangeArrowheads="1"/>
          </p:cNvSpPr>
          <p:nvPr>
            <p:ph type="title"/>
          </p:nvPr>
        </p:nvSpPr>
        <p:spPr>
          <a:xfrm>
            <a:off x="1447800" y="476250"/>
            <a:ext cx="6935788" cy="762000"/>
          </a:xfrm>
          <a:noFill/>
          <a:ln/>
        </p:spPr>
        <p:txBody>
          <a:bodyPr/>
          <a:lstStyle/>
          <a:p>
            <a:r>
              <a:rPr lang="en-US" dirty="0"/>
              <a:t>5 Basic Components </a:t>
            </a:r>
          </a:p>
        </p:txBody>
      </p:sp>
      <p:pic>
        <p:nvPicPr>
          <p:cNvPr id="62470" name="Picture 6"/>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066800" y="1728788"/>
            <a:ext cx="7696200" cy="43291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77556393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t>Data Transmission</a:t>
            </a:r>
            <a:endParaRPr lang="en-US" sz="3600" dirty="0"/>
          </a:p>
        </p:txBody>
      </p:sp>
      <p:sp>
        <p:nvSpPr>
          <p:cNvPr id="3" name="Content Placeholder 2"/>
          <p:cNvSpPr>
            <a:spLocks noGrp="1"/>
          </p:cNvSpPr>
          <p:nvPr>
            <p:ph idx="1"/>
          </p:nvPr>
        </p:nvSpPr>
        <p:spPr/>
        <p:txBody>
          <a:bodyPr/>
          <a:lstStyle/>
          <a:p>
            <a:r>
              <a:rPr lang="en-US" sz="2800" dirty="0"/>
              <a:t>Data transmission refers to the movement of data in form of bits between two or more digital devices</a:t>
            </a:r>
            <a:r>
              <a:rPr lang="en-US" sz="2800" dirty="0" smtClean="0"/>
              <a:t>.</a:t>
            </a:r>
            <a:endParaRPr lang="en-US" sz="2800" dirty="0"/>
          </a:p>
          <a:p>
            <a:r>
              <a:rPr lang="en-US" sz="2800" dirty="0"/>
              <a:t>This transfer of data takes place </a:t>
            </a:r>
            <a:r>
              <a:rPr lang="en-US" sz="2800" dirty="0" smtClean="0"/>
              <a:t>in some </a:t>
            </a:r>
            <a:r>
              <a:rPr lang="en-US" sz="2800" dirty="0"/>
              <a:t>form of transmission media. </a:t>
            </a:r>
          </a:p>
          <a:p>
            <a:pPr marL="82296" indent="0">
              <a:buNone/>
            </a:pPr>
            <a:endParaRPr lang="en-US" dirty="0"/>
          </a:p>
        </p:txBody>
      </p:sp>
    </p:spTree>
    <p:extLst>
      <p:ext uri="{BB962C8B-B14F-4D97-AF65-F5344CB8AC3E}">
        <p14:creationId xmlns:p14="http://schemas.microsoft.com/office/powerpoint/2010/main" xmlns="" val="370156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t>Transmission Mode</a:t>
            </a:r>
            <a:endParaRPr lang="en-US" sz="3600" dirty="0"/>
          </a:p>
        </p:txBody>
      </p:sp>
      <p:sp>
        <p:nvSpPr>
          <p:cNvPr id="3" name="Content Placeholder 2"/>
          <p:cNvSpPr>
            <a:spLocks noGrp="1"/>
          </p:cNvSpPr>
          <p:nvPr>
            <p:ph idx="1"/>
          </p:nvPr>
        </p:nvSpPr>
        <p:spPr/>
        <p:txBody>
          <a:bodyPr>
            <a:normAutofit/>
          </a:bodyPr>
          <a:lstStyle/>
          <a:p>
            <a:pPr>
              <a:lnSpc>
                <a:spcPct val="90000"/>
              </a:lnSpc>
            </a:pPr>
            <a:r>
              <a:rPr lang="en-US" sz="2400" dirty="0" smtClean="0"/>
              <a:t>Transmission </a:t>
            </a:r>
            <a:r>
              <a:rPr lang="en-US" sz="2400" dirty="0"/>
              <a:t>mode defines </a:t>
            </a:r>
            <a:r>
              <a:rPr lang="en-US" sz="2400" dirty="0" smtClean="0"/>
              <a:t>the direction </a:t>
            </a:r>
            <a:r>
              <a:rPr lang="en-US" sz="2400" dirty="0"/>
              <a:t>of the flow of information between two communication devices i .e </a:t>
            </a:r>
            <a:r>
              <a:rPr lang="en-US" sz="2400" dirty="0" smtClean="0"/>
              <a:t>,</a:t>
            </a:r>
          </a:p>
          <a:p>
            <a:pPr lvl="1">
              <a:lnSpc>
                <a:spcPct val="90000"/>
              </a:lnSpc>
            </a:pPr>
            <a:r>
              <a:rPr lang="en-US" sz="2400" dirty="0"/>
              <a:t>It tells the direction of signal flow between the two </a:t>
            </a:r>
            <a:r>
              <a:rPr lang="en-US" sz="2400" dirty="0" smtClean="0"/>
              <a:t>devices</a:t>
            </a:r>
          </a:p>
          <a:p>
            <a:pPr>
              <a:lnSpc>
                <a:spcPct val="90000"/>
              </a:lnSpc>
            </a:pPr>
            <a:r>
              <a:rPr lang="en-US" sz="2400" dirty="0" smtClean="0"/>
              <a:t>Transmission mode refer to the manner in which data is sent over the underlying medium.</a:t>
            </a:r>
          </a:p>
          <a:p>
            <a:pPr>
              <a:lnSpc>
                <a:spcPct val="90000"/>
              </a:lnSpc>
            </a:pPr>
            <a:r>
              <a:rPr lang="en-US" sz="2400" dirty="0" smtClean="0"/>
              <a:t>Transmission mode can be divided into two categories:</a:t>
            </a:r>
          </a:p>
          <a:p>
            <a:pPr lvl="1">
              <a:lnSpc>
                <a:spcPct val="90000"/>
              </a:lnSpc>
            </a:pPr>
            <a:r>
              <a:rPr lang="en-US" sz="2400" dirty="0" smtClean="0"/>
              <a:t>Serial – which transmits one bit at a time</a:t>
            </a:r>
          </a:p>
          <a:p>
            <a:pPr lvl="2">
              <a:lnSpc>
                <a:spcPct val="90000"/>
              </a:lnSpc>
            </a:pPr>
            <a:r>
              <a:rPr lang="en-US" dirty="0" smtClean="0"/>
              <a:t>Serial transmission is further categorised according to timing of transmissions</a:t>
            </a:r>
          </a:p>
          <a:p>
            <a:pPr lvl="1">
              <a:lnSpc>
                <a:spcPct val="90000"/>
              </a:lnSpc>
            </a:pPr>
            <a:r>
              <a:rPr lang="en-US" sz="2400" dirty="0" smtClean="0"/>
              <a:t>Parallel – multiple bits are sent at the same time.</a:t>
            </a:r>
          </a:p>
          <a:p>
            <a:pPr marL="402336" lvl="1" indent="0">
              <a:lnSpc>
                <a:spcPct val="90000"/>
              </a:lnSpc>
              <a:buNone/>
            </a:pPr>
            <a:endParaRPr lang="en-US" dirty="0" smtClean="0"/>
          </a:p>
          <a:p>
            <a:pPr lvl="1">
              <a:lnSpc>
                <a:spcPct val="90000"/>
              </a:lnSpc>
            </a:pPr>
            <a:endParaRPr lang="en-US" dirty="0" smtClean="0"/>
          </a:p>
        </p:txBody>
      </p:sp>
    </p:spTree>
    <p:extLst>
      <p:ext uri="{BB962C8B-B14F-4D97-AF65-F5344CB8AC3E}">
        <p14:creationId xmlns:p14="http://schemas.microsoft.com/office/powerpoint/2010/main" xmlns="" val="7239363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Parallel Transmission</a:t>
            </a:r>
            <a:endParaRPr lang="en-US" dirty="0"/>
          </a:p>
        </p:txBody>
      </p:sp>
      <p:sp>
        <p:nvSpPr>
          <p:cNvPr id="3" name="Content Placeholder 2"/>
          <p:cNvSpPr>
            <a:spLocks noGrp="1"/>
          </p:cNvSpPr>
          <p:nvPr>
            <p:ph idx="1"/>
          </p:nvPr>
        </p:nvSpPr>
        <p:spPr/>
        <p:txBody>
          <a:bodyPr>
            <a:normAutofit/>
          </a:bodyPr>
          <a:lstStyle/>
          <a:p>
            <a:r>
              <a:rPr lang="en-US" dirty="0">
                <a:solidFill>
                  <a:srgbClr val="FF0000"/>
                </a:solidFill>
              </a:rPr>
              <a:t>Parallel</a:t>
            </a:r>
            <a:r>
              <a:rPr lang="en-US" dirty="0"/>
              <a:t> transmission </a:t>
            </a:r>
            <a:r>
              <a:rPr lang="en-US" dirty="0" smtClean="0"/>
              <a:t>allow </a:t>
            </a:r>
            <a:r>
              <a:rPr lang="en-US" dirty="0"/>
              <a:t>transfers of </a:t>
            </a:r>
            <a:r>
              <a:rPr lang="en-US" dirty="0">
                <a:solidFill>
                  <a:srgbClr val="FF0000"/>
                </a:solidFill>
              </a:rPr>
              <a:t>multiple</a:t>
            </a:r>
            <a:r>
              <a:rPr lang="en-US" dirty="0"/>
              <a:t> data bits at the same time over separate </a:t>
            </a:r>
            <a:r>
              <a:rPr lang="en-US" dirty="0" smtClean="0"/>
              <a:t>transmission media.</a:t>
            </a:r>
            <a:endParaRPr lang="en-US" dirty="0"/>
          </a:p>
          <a:p>
            <a:r>
              <a:rPr lang="en-US" dirty="0"/>
              <a:t>P</a:t>
            </a:r>
            <a:r>
              <a:rPr lang="en-US" dirty="0" smtClean="0"/>
              <a:t>arallel </a:t>
            </a:r>
            <a:r>
              <a:rPr lang="en-US" dirty="0"/>
              <a:t>transmission is used with a wired medium that uses multiple, </a:t>
            </a:r>
            <a:r>
              <a:rPr lang="en-US" dirty="0">
                <a:solidFill>
                  <a:srgbClr val="FF0000"/>
                </a:solidFill>
              </a:rPr>
              <a:t>independent </a:t>
            </a:r>
            <a:r>
              <a:rPr lang="en-US" dirty="0" smtClean="0">
                <a:solidFill>
                  <a:srgbClr val="FF0000"/>
                </a:solidFill>
              </a:rPr>
              <a:t>wires.</a:t>
            </a:r>
            <a:endParaRPr lang="en-US" dirty="0">
              <a:solidFill>
                <a:srgbClr val="FF0000"/>
              </a:solidFill>
            </a:endParaRPr>
          </a:p>
          <a:p>
            <a:r>
              <a:rPr lang="en-US" dirty="0"/>
              <a:t>S</a:t>
            </a:r>
            <a:r>
              <a:rPr lang="en-US" dirty="0" smtClean="0"/>
              <a:t>ignals </a:t>
            </a:r>
            <a:r>
              <a:rPr lang="en-US" dirty="0"/>
              <a:t>on all wires are </a:t>
            </a:r>
            <a:r>
              <a:rPr lang="en-US" dirty="0">
                <a:solidFill>
                  <a:srgbClr val="FF0000"/>
                </a:solidFill>
              </a:rPr>
              <a:t>synchronized</a:t>
            </a:r>
            <a:r>
              <a:rPr lang="en-US" dirty="0"/>
              <a:t> so that a bit travels across each of the wires at precisely the same </a:t>
            </a:r>
            <a:r>
              <a:rPr lang="en-US" dirty="0" smtClean="0"/>
              <a:t>time.</a:t>
            </a:r>
            <a:endParaRPr lang="en-US" dirty="0"/>
          </a:p>
          <a:p>
            <a:endParaRPr lang="en-US" dirty="0"/>
          </a:p>
        </p:txBody>
      </p:sp>
    </p:spTree>
    <p:extLst>
      <p:ext uri="{BB962C8B-B14F-4D97-AF65-F5344CB8AC3E}">
        <p14:creationId xmlns:p14="http://schemas.microsoft.com/office/powerpoint/2010/main" xmlns="" val="40186769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Parallel Transmission</a:t>
            </a:r>
          </a:p>
        </p:txBody>
      </p:sp>
      <p:pic>
        <p:nvPicPr>
          <p:cNvPr id="4" name="Picture 5"/>
          <p:cNvPicPr>
            <a:picLocks noGrp="1" noChangeAspect="1" noChangeArrowheads="1"/>
          </p:cNvPicPr>
          <p:nvPr>
            <p:ph idx="1"/>
          </p:nvPr>
        </p:nvPicPr>
        <p:blipFill>
          <a:blip r:embed="rId2">
            <a:lum bright="-20000" contrast="20000"/>
            <a:extLst>
              <a:ext uri="{28A0092B-C50C-407E-A947-70E740481C1C}">
                <a14:useLocalDpi xmlns:a14="http://schemas.microsoft.com/office/drawing/2010/main" xmlns="" val="0"/>
              </a:ext>
            </a:extLst>
          </a:blip>
          <a:srcRect/>
          <a:stretch>
            <a:fillRect/>
          </a:stretch>
        </p:blipFill>
        <p:spPr bwMode="auto">
          <a:xfrm>
            <a:off x="1524000" y="1600200"/>
            <a:ext cx="6781800" cy="4495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40444312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457200"/>
            <a:ext cx="7498080" cy="5791200"/>
          </a:xfrm>
        </p:spPr>
        <p:txBody>
          <a:bodyPr>
            <a:normAutofit fontScale="85000" lnSpcReduction="10000"/>
          </a:bodyPr>
          <a:lstStyle/>
          <a:p>
            <a:r>
              <a:rPr lang="en-US" dirty="0"/>
              <a:t>I</a:t>
            </a:r>
            <a:r>
              <a:rPr lang="en-US" dirty="0" smtClean="0"/>
              <a:t>n </a:t>
            </a:r>
            <a:r>
              <a:rPr lang="en-US" dirty="0"/>
              <a:t>addition to </a:t>
            </a:r>
            <a:r>
              <a:rPr lang="en-US" dirty="0" smtClean="0"/>
              <a:t>parallel </a:t>
            </a:r>
            <a:r>
              <a:rPr lang="en-US" dirty="0"/>
              <a:t>wires that each carry data</a:t>
            </a:r>
          </a:p>
          <a:p>
            <a:pPr lvl="2"/>
            <a:r>
              <a:rPr lang="en-US" dirty="0"/>
              <a:t>A</a:t>
            </a:r>
            <a:r>
              <a:rPr lang="en-US" dirty="0" smtClean="0"/>
              <a:t> </a:t>
            </a:r>
            <a:r>
              <a:rPr lang="en-US" dirty="0"/>
              <a:t>parallel interface </a:t>
            </a:r>
            <a:r>
              <a:rPr lang="en-US" dirty="0" smtClean="0"/>
              <a:t>contains </a:t>
            </a:r>
            <a:r>
              <a:rPr lang="en-US" dirty="0"/>
              <a:t>other wires that allow the sender and receiver to </a:t>
            </a:r>
            <a:r>
              <a:rPr lang="en-US" dirty="0" smtClean="0"/>
              <a:t>coordinate.</a:t>
            </a:r>
            <a:endParaRPr lang="en-US" dirty="0"/>
          </a:p>
          <a:p>
            <a:pPr lvl="1"/>
            <a:r>
              <a:rPr lang="en-US" dirty="0"/>
              <a:t>Second, to make installation and troubleshooting easy</a:t>
            </a:r>
          </a:p>
          <a:p>
            <a:pPr lvl="2"/>
            <a:r>
              <a:rPr lang="en-US" dirty="0" smtClean="0"/>
              <a:t>The </a:t>
            </a:r>
            <a:r>
              <a:rPr lang="en-US" dirty="0"/>
              <a:t>wires for a parallel transmission system are placed in a single physical </a:t>
            </a:r>
            <a:r>
              <a:rPr lang="en-US" dirty="0" smtClean="0"/>
              <a:t>cable. </a:t>
            </a:r>
            <a:endParaRPr lang="en-US" dirty="0"/>
          </a:p>
          <a:p>
            <a:r>
              <a:rPr lang="en-US" dirty="0"/>
              <a:t>A parallel mode of transmission has two </a:t>
            </a:r>
            <a:r>
              <a:rPr lang="en-US" dirty="0" smtClean="0"/>
              <a:t>main </a:t>
            </a:r>
            <a:r>
              <a:rPr lang="en-US" dirty="0"/>
              <a:t>advantages:</a:t>
            </a:r>
          </a:p>
          <a:p>
            <a:pPr lvl="1"/>
            <a:r>
              <a:rPr lang="en-US" dirty="0"/>
              <a:t> </a:t>
            </a:r>
            <a:r>
              <a:rPr lang="en-US" dirty="0">
                <a:solidFill>
                  <a:srgbClr val="FF0000"/>
                </a:solidFill>
              </a:rPr>
              <a:t>High speed</a:t>
            </a:r>
            <a:r>
              <a:rPr lang="en-US" dirty="0"/>
              <a:t>: it can send </a:t>
            </a:r>
            <a:r>
              <a:rPr lang="en-US" dirty="0" smtClean="0">
                <a:solidFill>
                  <a:srgbClr val="FF3300"/>
                </a:solidFill>
              </a:rPr>
              <a:t>many</a:t>
            </a:r>
            <a:r>
              <a:rPr lang="en-US" dirty="0" smtClean="0"/>
              <a:t> </a:t>
            </a:r>
            <a:r>
              <a:rPr lang="en-US" dirty="0"/>
              <a:t>bits at the same time</a:t>
            </a:r>
          </a:p>
          <a:p>
            <a:pPr lvl="2"/>
            <a:r>
              <a:rPr lang="en-US" dirty="0"/>
              <a:t>a parallel interface can operate</a:t>
            </a:r>
            <a:r>
              <a:rPr lang="en-US" dirty="0">
                <a:solidFill>
                  <a:srgbClr val="FF3300"/>
                </a:solidFill>
              </a:rPr>
              <a:t> </a:t>
            </a:r>
            <a:r>
              <a:rPr lang="en-US" dirty="0" smtClean="0">
                <a:solidFill>
                  <a:srgbClr val="FF3300"/>
                </a:solidFill>
              </a:rPr>
              <a:t>many</a:t>
            </a:r>
            <a:r>
              <a:rPr lang="en-US" dirty="0" smtClean="0"/>
              <a:t> </a:t>
            </a:r>
            <a:r>
              <a:rPr lang="en-US" dirty="0"/>
              <a:t>times faster than an equivalent serial interface</a:t>
            </a:r>
          </a:p>
          <a:p>
            <a:pPr lvl="1"/>
            <a:r>
              <a:rPr lang="en-US" dirty="0"/>
              <a:t> </a:t>
            </a:r>
            <a:r>
              <a:rPr lang="en-US" dirty="0">
                <a:solidFill>
                  <a:srgbClr val="FF0000"/>
                </a:solidFill>
              </a:rPr>
              <a:t>Match to underlying hardware</a:t>
            </a:r>
            <a:r>
              <a:rPr lang="en-US" dirty="0"/>
              <a:t>: Internally, computer and communication hardware uses parallel circuitry</a:t>
            </a:r>
          </a:p>
          <a:p>
            <a:pPr lvl="2"/>
            <a:r>
              <a:rPr lang="en-US" dirty="0"/>
              <a:t> a parallel interface matches the internal hardware </a:t>
            </a:r>
            <a:r>
              <a:rPr lang="en-US" dirty="0" smtClean="0"/>
              <a:t>well.</a:t>
            </a:r>
            <a:endParaRPr lang="en-US" dirty="0"/>
          </a:p>
          <a:p>
            <a:endParaRPr lang="en-US" dirty="0"/>
          </a:p>
        </p:txBody>
      </p:sp>
    </p:spTree>
    <p:extLst>
      <p:ext uri="{BB962C8B-B14F-4D97-AF65-F5344CB8AC3E}">
        <p14:creationId xmlns:p14="http://schemas.microsoft.com/office/powerpoint/2010/main" xmlns="" val="5949840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715962"/>
          </a:xfrm>
        </p:spPr>
        <p:txBody>
          <a:bodyPr>
            <a:normAutofit fontScale="90000"/>
          </a:bodyPr>
          <a:lstStyle/>
          <a:p>
            <a:r>
              <a:rPr lang="en-US" dirty="0"/>
              <a:t>Serial Transmission</a:t>
            </a:r>
          </a:p>
        </p:txBody>
      </p:sp>
      <p:sp>
        <p:nvSpPr>
          <p:cNvPr id="3" name="Content Placeholder 2"/>
          <p:cNvSpPr>
            <a:spLocks noGrp="1"/>
          </p:cNvSpPr>
          <p:nvPr>
            <p:ph idx="1"/>
          </p:nvPr>
        </p:nvSpPr>
        <p:spPr>
          <a:xfrm>
            <a:off x="1435608" y="990600"/>
            <a:ext cx="7498080" cy="5257800"/>
          </a:xfrm>
        </p:spPr>
        <p:txBody>
          <a:bodyPr>
            <a:normAutofit fontScale="92500" lnSpcReduction="20000"/>
          </a:bodyPr>
          <a:lstStyle/>
          <a:p>
            <a:pPr>
              <a:lnSpc>
                <a:spcPct val="90000"/>
              </a:lnSpc>
            </a:pPr>
            <a:r>
              <a:rPr lang="en-US" dirty="0"/>
              <a:t> </a:t>
            </a:r>
            <a:r>
              <a:rPr lang="en-US" dirty="0">
                <a:solidFill>
                  <a:srgbClr val="FF0000"/>
                </a:solidFill>
              </a:rPr>
              <a:t>Serial</a:t>
            </a:r>
            <a:r>
              <a:rPr lang="en-US" dirty="0"/>
              <a:t> </a:t>
            </a:r>
            <a:r>
              <a:rPr lang="en-US" dirty="0" smtClean="0"/>
              <a:t>transmission sends </a:t>
            </a:r>
            <a:r>
              <a:rPr lang="en-US" dirty="0"/>
              <a:t>one bit at a </a:t>
            </a:r>
            <a:r>
              <a:rPr lang="en-US" dirty="0" smtClean="0"/>
              <a:t>time.</a:t>
            </a:r>
            <a:endParaRPr lang="en-US" dirty="0"/>
          </a:p>
          <a:p>
            <a:pPr>
              <a:lnSpc>
                <a:spcPct val="90000"/>
              </a:lnSpc>
            </a:pPr>
            <a:r>
              <a:rPr lang="en-US" dirty="0"/>
              <a:t>It may seem that anyone would choose parallel transmission for high speeds</a:t>
            </a:r>
          </a:p>
          <a:p>
            <a:pPr lvl="1">
              <a:lnSpc>
                <a:spcPct val="90000"/>
              </a:lnSpc>
            </a:pPr>
            <a:r>
              <a:rPr lang="en-US" dirty="0"/>
              <a:t>However, most communication systems use serial mode</a:t>
            </a:r>
          </a:p>
          <a:p>
            <a:pPr>
              <a:lnSpc>
                <a:spcPct val="90000"/>
              </a:lnSpc>
            </a:pPr>
            <a:r>
              <a:rPr lang="en-US" dirty="0"/>
              <a:t>There are two main reasons</a:t>
            </a:r>
          </a:p>
          <a:p>
            <a:pPr lvl="1">
              <a:lnSpc>
                <a:spcPct val="90000"/>
              </a:lnSpc>
            </a:pPr>
            <a:r>
              <a:rPr lang="en-US" dirty="0"/>
              <a:t>First, serial networks can be extended over long distances at much less </a:t>
            </a:r>
            <a:r>
              <a:rPr lang="en-US" dirty="0" smtClean="0"/>
              <a:t>cost.</a:t>
            </a:r>
            <a:endParaRPr lang="en-US" dirty="0"/>
          </a:p>
          <a:p>
            <a:pPr lvl="1">
              <a:lnSpc>
                <a:spcPct val="90000"/>
              </a:lnSpc>
            </a:pPr>
            <a:r>
              <a:rPr lang="en-US" dirty="0"/>
              <a:t>Second, using only one physical wire means that there is </a:t>
            </a:r>
            <a:r>
              <a:rPr lang="en-US" dirty="0" smtClean="0"/>
              <a:t>no </a:t>
            </a:r>
            <a:r>
              <a:rPr lang="en-US" dirty="0"/>
              <a:t>timing problem caused by one wire being slightly longer than </a:t>
            </a:r>
            <a:r>
              <a:rPr lang="en-US" dirty="0" smtClean="0"/>
              <a:t>the other.</a:t>
            </a:r>
            <a:endParaRPr lang="en-US" dirty="0"/>
          </a:p>
          <a:p>
            <a:pPr>
              <a:lnSpc>
                <a:spcPct val="90000"/>
              </a:lnSpc>
            </a:pPr>
            <a:r>
              <a:rPr lang="en-US" dirty="0"/>
              <a:t>Sender and receiver must contain a hardware that converts data from the parallel form used in the device to the serial form used on the </a:t>
            </a:r>
            <a:r>
              <a:rPr lang="en-US" dirty="0" smtClean="0"/>
              <a:t>wire.</a:t>
            </a:r>
            <a:endParaRPr lang="en-US" dirty="0"/>
          </a:p>
          <a:p>
            <a:endParaRPr lang="en-US" dirty="0"/>
          </a:p>
        </p:txBody>
      </p:sp>
    </p:spTree>
    <p:extLst>
      <p:ext uri="{BB962C8B-B14F-4D97-AF65-F5344CB8AC3E}">
        <p14:creationId xmlns:p14="http://schemas.microsoft.com/office/powerpoint/2010/main" xmlns="" val="26971551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Serial Transmission</a:t>
            </a:r>
          </a:p>
        </p:txBody>
      </p:sp>
      <p:pic>
        <p:nvPicPr>
          <p:cNvPr id="4" name="Picture 5"/>
          <p:cNvPicPr>
            <a:picLocks noGrp="1" noChangeAspect="1" noChangeArrowheads="1"/>
          </p:cNvPicPr>
          <p:nvPr>
            <p:ph idx="1"/>
          </p:nvPr>
        </p:nvPicPr>
        <p:blipFill>
          <a:blip r:embed="rId2">
            <a:lum bright="-20000" contrast="20000"/>
            <a:extLst>
              <a:ext uri="{28A0092B-C50C-407E-A947-70E740481C1C}">
                <a14:useLocalDpi xmlns:a14="http://schemas.microsoft.com/office/drawing/2010/main" xmlns="" val="0"/>
              </a:ext>
            </a:extLst>
          </a:blip>
          <a:srcRect/>
          <a:stretch>
            <a:fillRect/>
          </a:stretch>
        </p:blipFill>
        <p:spPr bwMode="auto">
          <a:xfrm>
            <a:off x="1447800" y="1676400"/>
            <a:ext cx="7086600" cy="4419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20729049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868362"/>
          </a:xfrm>
        </p:spPr>
        <p:txBody>
          <a:bodyPr/>
          <a:lstStyle/>
          <a:p>
            <a:r>
              <a:rPr lang="en-US" dirty="0"/>
              <a:t>Timing of Serial Transmission</a:t>
            </a:r>
          </a:p>
        </p:txBody>
      </p:sp>
      <p:sp>
        <p:nvSpPr>
          <p:cNvPr id="3" name="Content Placeholder 2"/>
          <p:cNvSpPr>
            <a:spLocks noGrp="1"/>
          </p:cNvSpPr>
          <p:nvPr>
            <p:ph idx="1"/>
          </p:nvPr>
        </p:nvSpPr>
        <p:spPr>
          <a:xfrm>
            <a:off x="1435608" y="1295400"/>
            <a:ext cx="7498080" cy="4953000"/>
          </a:xfrm>
        </p:spPr>
        <p:txBody>
          <a:bodyPr>
            <a:normAutofit fontScale="85000" lnSpcReduction="20000"/>
          </a:bodyPr>
          <a:lstStyle/>
          <a:p>
            <a:r>
              <a:rPr lang="en-US" dirty="0"/>
              <a:t>Serial transmission </a:t>
            </a:r>
            <a:r>
              <a:rPr lang="en-US" dirty="0" smtClean="0"/>
              <a:t>can </a:t>
            </a:r>
            <a:r>
              <a:rPr lang="en-US" dirty="0"/>
              <a:t>be divided into </a:t>
            </a:r>
            <a:r>
              <a:rPr lang="en-US" dirty="0" smtClean="0"/>
              <a:t>three categories </a:t>
            </a:r>
            <a:r>
              <a:rPr lang="en-US" dirty="0"/>
              <a:t>(depending on how transmissions are spaced in time):</a:t>
            </a:r>
          </a:p>
          <a:p>
            <a:r>
              <a:rPr lang="en-US" i="1" dirty="0"/>
              <a:t> </a:t>
            </a:r>
            <a:r>
              <a:rPr lang="en-US" dirty="0">
                <a:solidFill>
                  <a:srgbClr val="FF0000"/>
                </a:solidFill>
              </a:rPr>
              <a:t>Asynchronous</a:t>
            </a:r>
            <a:r>
              <a:rPr lang="en-US" dirty="0"/>
              <a:t> transmission can occur at any time</a:t>
            </a:r>
          </a:p>
          <a:p>
            <a:pPr lvl="1"/>
            <a:r>
              <a:rPr lang="en-US" dirty="0"/>
              <a:t>with an </a:t>
            </a:r>
            <a:r>
              <a:rPr lang="en-US" dirty="0">
                <a:solidFill>
                  <a:srgbClr val="FF0000"/>
                </a:solidFill>
              </a:rPr>
              <a:t>arbitrary delay</a:t>
            </a:r>
            <a:r>
              <a:rPr lang="en-US" dirty="0"/>
              <a:t> between the transmission of two data items</a:t>
            </a:r>
          </a:p>
          <a:p>
            <a:r>
              <a:rPr lang="en-US" dirty="0"/>
              <a:t> </a:t>
            </a:r>
            <a:r>
              <a:rPr lang="en-US" dirty="0">
                <a:solidFill>
                  <a:srgbClr val="FF0000"/>
                </a:solidFill>
              </a:rPr>
              <a:t>Synchronous</a:t>
            </a:r>
            <a:r>
              <a:rPr lang="en-US" dirty="0"/>
              <a:t> transmission occurs continuously </a:t>
            </a:r>
          </a:p>
          <a:p>
            <a:pPr lvl="1"/>
            <a:r>
              <a:rPr lang="en-US" dirty="0"/>
              <a:t>with </a:t>
            </a:r>
            <a:r>
              <a:rPr lang="en-US" dirty="0">
                <a:solidFill>
                  <a:srgbClr val="FF0000"/>
                </a:solidFill>
              </a:rPr>
              <a:t>no gap </a:t>
            </a:r>
            <a:r>
              <a:rPr lang="en-US" dirty="0"/>
              <a:t>between the transmission of two data items</a:t>
            </a:r>
          </a:p>
          <a:p>
            <a:r>
              <a:rPr lang="en-US" dirty="0"/>
              <a:t> </a:t>
            </a:r>
            <a:r>
              <a:rPr lang="en-US" dirty="0">
                <a:solidFill>
                  <a:srgbClr val="FF0000"/>
                </a:solidFill>
              </a:rPr>
              <a:t>Isochronous</a:t>
            </a:r>
            <a:r>
              <a:rPr lang="en-US" dirty="0"/>
              <a:t> transmission occurs at regular intervals </a:t>
            </a:r>
          </a:p>
          <a:p>
            <a:pPr lvl="1"/>
            <a:r>
              <a:rPr lang="en-US" dirty="0"/>
              <a:t>with a </a:t>
            </a:r>
            <a:r>
              <a:rPr lang="en-US" dirty="0">
                <a:solidFill>
                  <a:srgbClr val="FF0000"/>
                </a:solidFill>
              </a:rPr>
              <a:t>fixed gap </a:t>
            </a:r>
            <a:r>
              <a:rPr lang="en-US" dirty="0"/>
              <a:t>between the transmission of two data items</a:t>
            </a:r>
          </a:p>
          <a:p>
            <a:endParaRPr lang="en-US" dirty="0"/>
          </a:p>
        </p:txBody>
      </p:sp>
    </p:spTree>
    <p:extLst>
      <p:ext uri="{BB962C8B-B14F-4D97-AF65-F5344CB8AC3E}">
        <p14:creationId xmlns:p14="http://schemas.microsoft.com/office/powerpoint/2010/main" xmlns="" val="2812476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639762"/>
          </a:xfrm>
        </p:spPr>
        <p:txBody>
          <a:bodyPr>
            <a:normAutofit/>
          </a:bodyPr>
          <a:lstStyle/>
          <a:p>
            <a:r>
              <a:rPr lang="en-US" sz="3200" b="1" dirty="0"/>
              <a:t>Asynchronous Transmission</a:t>
            </a:r>
          </a:p>
        </p:txBody>
      </p:sp>
      <p:sp>
        <p:nvSpPr>
          <p:cNvPr id="3" name="Content Placeholder 2"/>
          <p:cNvSpPr>
            <a:spLocks noGrp="1"/>
          </p:cNvSpPr>
          <p:nvPr>
            <p:ph idx="1"/>
          </p:nvPr>
        </p:nvSpPr>
        <p:spPr>
          <a:xfrm>
            <a:off x="1435608" y="990600"/>
            <a:ext cx="7498080" cy="5410200"/>
          </a:xfrm>
        </p:spPr>
        <p:txBody>
          <a:bodyPr>
            <a:normAutofit fontScale="85000" lnSpcReduction="20000"/>
          </a:bodyPr>
          <a:lstStyle/>
          <a:p>
            <a:r>
              <a:rPr lang="en-US" dirty="0"/>
              <a:t>A</a:t>
            </a:r>
            <a:r>
              <a:rPr lang="en-US" dirty="0" smtClean="0"/>
              <a:t>llows </a:t>
            </a:r>
            <a:r>
              <a:rPr lang="en-US" dirty="0"/>
              <a:t>the </a:t>
            </a:r>
            <a:r>
              <a:rPr lang="en-US" dirty="0" smtClean="0"/>
              <a:t>transmission </a:t>
            </a:r>
            <a:r>
              <a:rPr lang="en-US" dirty="0"/>
              <a:t>medium to be </a:t>
            </a:r>
            <a:r>
              <a:rPr lang="en-US" dirty="0">
                <a:solidFill>
                  <a:srgbClr val="FF3300"/>
                </a:solidFill>
              </a:rPr>
              <a:t>idle</a:t>
            </a:r>
            <a:r>
              <a:rPr lang="en-US" dirty="0"/>
              <a:t> for an arbitrary time between two </a:t>
            </a:r>
            <a:r>
              <a:rPr lang="en-US" dirty="0" smtClean="0"/>
              <a:t>transmissions.</a:t>
            </a:r>
          </a:p>
          <a:p>
            <a:pPr>
              <a:defRPr/>
            </a:pPr>
            <a:r>
              <a:rPr lang="cy-GB" dirty="0"/>
              <a:t>The sender and receiver are not </a:t>
            </a:r>
            <a:r>
              <a:rPr lang="cy-GB" dirty="0" smtClean="0"/>
              <a:t>synchronised</a:t>
            </a:r>
            <a:r>
              <a:rPr lang="cy-GB" dirty="0"/>
              <a:t>.</a:t>
            </a:r>
          </a:p>
          <a:p>
            <a:pPr>
              <a:defRPr/>
            </a:pPr>
            <a:r>
              <a:rPr lang="cy-GB" dirty="0"/>
              <a:t>The sender sends only one character at a time</a:t>
            </a:r>
            <a:r>
              <a:rPr lang="cy-GB" dirty="0" smtClean="0"/>
              <a:t>.</a:t>
            </a:r>
          </a:p>
          <a:p>
            <a:pPr>
              <a:defRPr/>
            </a:pPr>
            <a:r>
              <a:rPr lang="en-US" dirty="0">
                <a:cs typeface="Arial" pitchFamily="34" charset="0"/>
              </a:rPr>
              <a:t>Each character of data is treated </a:t>
            </a:r>
            <a:r>
              <a:rPr lang="en-US" dirty="0" smtClean="0">
                <a:cs typeface="Arial" pitchFamily="34" charset="0"/>
              </a:rPr>
              <a:t>independently</a:t>
            </a:r>
          </a:p>
          <a:p>
            <a:pPr>
              <a:defRPr/>
            </a:pPr>
            <a:r>
              <a:rPr lang="en-US" dirty="0">
                <a:cs typeface="Arial" pitchFamily="34" charset="0"/>
              </a:rPr>
              <a:t>D</a:t>
            </a:r>
            <a:r>
              <a:rPr lang="en-US" dirty="0" smtClean="0">
                <a:cs typeface="Arial" pitchFamily="34" charset="0"/>
              </a:rPr>
              <a:t>ata </a:t>
            </a:r>
            <a:r>
              <a:rPr lang="en-US" dirty="0">
                <a:cs typeface="Arial" pitchFamily="34" charset="0"/>
              </a:rPr>
              <a:t>is transmitted one character at a time where each character is 5 or 8 bits in length</a:t>
            </a:r>
            <a:endParaRPr lang="cy-GB" dirty="0"/>
          </a:p>
          <a:p>
            <a:r>
              <a:rPr lang="en-US" dirty="0">
                <a:cs typeface="Arial" pitchFamily="34" charset="0"/>
              </a:rPr>
              <a:t>Each character begins with a start bit that alerts the receiver that a character is arriving.</a:t>
            </a:r>
          </a:p>
          <a:p>
            <a:r>
              <a:rPr lang="en-US" dirty="0">
                <a:cs typeface="Arial" pitchFamily="34" charset="0"/>
              </a:rPr>
              <a:t>The receiver samples each bit in the character and then looks for the beginning of the next character.</a:t>
            </a:r>
          </a:p>
          <a:p>
            <a:pPr>
              <a:defRPr/>
            </a:pPr>
            <a:r>
              <a:rPr lang="cy-GB" dirty="0" smtClean="0"/>
              <a:t>There </a:t>
            </a:r>
            <a:r>
              <a:rPr lang="cy-GB" dirty="0"/>
              <a:t>can be idle time between each character.</a:t>
            </a:r>
            <a:endParaRPr lang="en-US" dirty="0"/>
          </a:p>
          <a:p>
            <a:endParaRPr lang="en-US" dirty="0"/>
          </a:p>
          <a:p>
            <a:endParaRPr lang="en-US" dirty="0"/>
          </a:p>
        </p:txBody>
      </p:sp>
    </p:spTree>
    <p:extLst>
      <p:ext uri="{BB962C8B-B14F-4D97-AF65-F5344CB8AC3E}">
        <p14:creationId xmlns:p14="http://schemas.microsoft.com/office/powerpoint/2010/main" xmlns="" val="2873417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rrowheads="1"/>
          </p:cNvSpPr>
          <p:nvPr>
            <p:ph type="title"/>
          </p:nvPr>
        </p:nvSpPr>
        <p:spPr/>
        <p:txBody>
          <a:bodyPr/>
          <a:lstStyle/>
          <a:p>
            <a:pPr eaLnBrk="1" hangingPunct="1">
              <a:defRPr/>
            </a:pPr>
            <a:r>
              <a:rPr lang="cy-GB" smtClean="0"/>
              <a:t>Asynchronous</a:t>
            </a:r>
            <a:endParaRPr lang="en-US" smtClean="0"/>
          </a:p>
        </p:txBody>
      </p:sp>
      <p:sp>
        <p:nvSpPr>
          <p:cNvPr id="17411" name="Rectangle 3"/>
          <p:cNvSpPr>
            <a:spLocks noGrp="1" noRot="1" noChangeArrowheads="1"/>
          </p:cNvSpPr>
          <p:nvPr>
            <p:ph type="body" idx="1"/>
          </p:nvPr>
        </p:nvSpPr>
        <p:spPr>
          <a:xfrm>
            <a:off x="1435608" y="1447800"/>
            <a:ext cx="7498080" cy="5105400"/>
          </a:xfrm>
        </p:spPr>
        <p:txBody>
          <a:bodyPr>
            <a:normAutofit/>
          </a:bodyPr>
          <a:lstStyle/>
          <a:p>
            <a:pPr eaLnBrk="1" hangingPunct="1">
              <a:defRPr/>
            </a:pPr>
            <a:endParaRPr lang="cy-GB" dirty="0" smtClean="0"/>
          </a:p>
          <a:p>
            <a:pPr eaLnBrk="1" hangingPunct="1">
              <a:defRPr/>
            </a:pPr>
            <a:endParaRPr lang="cy-GB" dirty="0" smtClean="0"/>
          </a:p>
          <a:p>
            <a:pPr eaLnBrk="1" hangingPunct="1">
              <a:defRPr/>
            </a:pPr>
            <a:endParaRPr lang="cy-GB" dirty="0" smtClean="0"/>
          </a:p>
          <a:p>
            <a:endParaRPr lang="en-US" dirty="0" smtClean="0"/>
          </a:p>
          <a:p>
            <a:endParaRPr lang="en-US" dirty="0"/>
          </a:p>
          <a:p>
            <a:pPr>
              <a:defRPr/>
            </a:pPr>
            <a:r>
              <a:rPr lang="cy-GB" dirty="0" smtClean="0"/>
              <a:t>Asynchronous </a:t>
            </a:r>
            <a:r>
              <a:rPr lang="cy-GB" dirty="0"/>
              <a:t>has a much higher </a:t>
            </a:r>
            <a:r>
              <a:rPr lang="cy-GB" dirty="0" smtClean="0"/>
              <a:t>overhead costs.</a:t>
            </a:r>
            <a:endParaRPr lang="cy-GB" dirty="0"/>
          </a:p>
          <a:p>
            <a:pPr eaLnBrk="1" hangingPunct="1">
              <a:defRPr/>
            </a:pPr>
            <a:endParaRPr lang="en-US" dirty="0" smtClean="0"/>
          </a:p>
        </p:txBody>
      </p:sp>
      <p:pic>
        <p:nvPicPr>
          <p:cNvPr id="6148" name="Picture 4" descr="Async1"/>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371600" y="1484313"/>
            <a:ext cx="7256463" cy="1409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8706535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381000"/>
            <a:ext cx="7498080" cy="5867400"/>
          </a:xfrm>
        </p:spPr>
        <p:txBody>
          <a:bodyPr>
            <a:normAutofit fontScale="92500" lnSpcReduction="20000"/>
          </a:bodyPr>
          <a:lstStyle/>
          <a:p>
            <a:pPr marL="82296" indent="0">
              <a:buNone/>
            </a:pPr>
            <a:r>
              <a:rPr lang="en-US" sz="3500" b="1" dirty="0">
                <a:effectLst>
                  <a:outerShdw blurRad="38100" dist="38100" dir="2700000" algn="tl">
                    <a:srgbClr val="000000">
                      <a:alpha val="43137"/>
                    </a:srgbClr>
                  </a:outerShdw>
                </a:effectLst>
                <a:cs typeface="Arial" pitchFamily="34" charset="0"/>
              </a:rPr>
              <a:t>Synchronous </a:t>
            </a:r>
            <a:r>
              <a:rPr lang="en-US" sz="3500" b="1" dirty="0" smtClean="0">
                <a:effectLst>
                  <a:outerShdw blurRad="38100" dist="38100" dir="2700000" algn="tl">
                    <a:srgbClr val="000000">
                      <a:alpha val="43137"/>
                    </a:srgbClr>
                  </a:outerShdw>
                </a:effectLst>
                <a:cs typeface="Arial" pitchFamily="34" charset="0"/>
              </a:rPr>
              <a:t>Transmission</a:t>
            </a:r>
            <a:r>
              <a:rPr lang="en-US" sz="3500" dirty="0" smtClean="0">
                <a:effectLst>
                  <a:outerShdw blurRad="38100" dist="38100" dir="2700000" algn="tl">
                    <a:srgbClr val="000000">
                      <a:alpha val="43137"/>
                    </a:srgbClr>
                  </a:outerShdw>
                </a:effectLst>
                <a:cs typeface="Arial" pitchFamily="34" charset="0"/>
              </a:rPr>
              <a:t> </a:t>
            </a:r>
            <a:endParaRPr lang="en-US" sz="2600" dirty="0" smtClean="0">
              <a:effectLst>
                <a:outerShdw blurRad="38100" dist="38100" dir="2700000" algn="tl">
                  <a:srgbClr val="000000">
                    <a:alpha val="43137"/>
                  </a:srgbClr>
                </a:outerShdw>
              </a:effectLst>
              <a:cs typeface="Arial" pitchFamily="34" charset="0"/>
            </a:endParaRPr>
          </a:p>
          <a:p>
            <a:r>
              <a:rPr lang="en-US" sz="2400" dirty="0" smtClean="0">
                <a:cs typeface="Arial" pitchFamily="34" charset="0"/>
              </a:rPr>
              <a:t>Used </a:t>
            </a:r>
            <a:r>
              <a:rPr lang="en-US" sz="2400" dirty="0">
                <a:cs typeface="Arial" pitchFamily="34" charset="0"/>
              </a:rPr>
              <a:t>for large blocks of data. </a:t>
            </a:r>
          </a:p>
          <a:p>
            <a:r>
              <a:rPr lang="en-US" sz="2400" dirty="0">
                <a:cs typeface="Arial" pitchFamily="34" charset="0"/>
              </a:rPr>
              <a:t>Each block of data is formatted as </a:t>
            </a:r>
            <a:r>
              <a:rPr lang="en-US" sz="2400" dirty="0" smtClean="0">
                <a:cs typeface="Arial" pitchFamily="34" charset="0"/>
              </a:rPr>
              <a:t>a data frame (packet)  </a:t>
            </a:r>
            <a:r>
              <a:rPr lang="en-US" sz="2400" dirty="0">
                <a:cs typeface="Arial" pitchFamily="34" charset="0"/>
              </a:rPr>
              <a:t>that includes a starting and an ending flag, and is transmitted in a steady stream without start and stop codes. </a:t>
            </a:r>
          </a:p>
          <a:p>
            <a:r>
              <a:rPr lang="en-US" sz="2400" dirty="0">
                <a:cs typeface="Arial" pitchFamily="34" charset="0"/>
              </a:rPr>
              <a:t>The block may be many bits in length. </a:t>
            </a:r>
            <a:endParaRPr lang="en-US" sz="2400" dirty="0" smtClean="0">
              <a:cs typeface="Arial" pitchFamily="34" charset="0"/>
            </a:endParaRPr>
          </a:p>
          <a:p>
            <a:r>
              <a:rPr lang="en-US" sz="2400" dirty="0" smtClean="0"/>
              <a:t>Synchronous transmits </a:t>
            </a:r>
            <a:r>
              <a:rPr lang="en-US" sz="2400" dirty="0"/>
              <a:t>bits of data continually with no idle time between bits</a:t>
            </a:r>
            <a:r>
              <a:rPr lang="en-US" sz="2400" dirty="0" smtClean="0"/>
              <a:t>.</a:t>
            </a:r>
          </a:p>
          <a:p>
            <a:r>
              <a:rPr lang="en-US" sz="2400" dirty="0"/>
              <a:t>The sender and receiver constantly remain </a:t>
            </a:r>
            <a:r>
              <a:rPr lang="en-US" sz="2400" dirty="0" smtClean="0"/>
              <a:t>synchronized.</a:t>
            </a:r>
          </a:p>
          <a:p>
            <a:r>
              <a:rPr lang="cy-GB" sz="2400" dirty="0"/>
              <a:t>Synchronisation is achieved by sending a ‘start’ frame and a ‘stop’ frame</a:t>
            </a:r>
            <a:r>
              <a:rPr lang="cy-GB" sz="2400" dirty="0" smtClean="0"/>
              <a:t>.</a:t>
            </a:r>
            <a:endParaRPr lang="en-US" sz="2400" dirty="0">
              <a:cs typeface="Arial" pitchFamily="34" charset="0"/>
            </a:endParaRPr>
          </a:p>
          <a:p>
            <a:r>
              <a:rPr lang="en-US" sz="2400" dirty="0">
                <a:cs typeface="Arial" pitchFamily="34" charset="0"/>
              </a:rPr>
              <a:t>To prevent timing drift between transmitter and receiver, their clocks must be synchronized.</a:t>
            </a:r>
          </a:p>
          <a:p>
            <a:pPr lvl="1"/>
            <a:r>
              <a:rPr lang="en-US" sz="2400" dirty="0">
                <a:cs typeface="Arial" pitchFamily="34" charset="0"/>
              </a:rPr>
              <a:t>One possibility is to provide a separate clock line between transmitter and receiver. </a:t>
            </a:r>
          </a:p>
          <a:p>
            <a:pPr lvl="1"/>
            <a:r>
              <a:rPr lang="en-US" sz="2400" dirty="0">
                <a:cs typeface="Arial" pitchFamily="34" charset="0"/>
              </a:rPr>
              <a:t>The other alternative is to embed the clocking information in the data signal.</a:t>
            </a:r>
          </a:p>
        </p:txBody>
      </p:sp>
    </p:spTree>
    <p:extLst>
      <p:ext uri="{BB962C8B-B14F-4D97-AF65-F5344CB8AC3E}">
        <p14:creationId xmlns:p14="http://schemas.microsoft.com/office/powerpoint/2010/main" xmlns="" val="3801988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Rot="1" noChangeArrowheads="1"/>
          </p:cNvSpPr>
          <p:nvPr>
            <p:ph type="title"/>
          </p:nvPr>
        </p:nvSpPr>
        <p:spPr/>
        <p:txBody>
          <a:bodyPr/>
          <a:lstStyle/>
          <a:p>
            <a:pPr eaLnBrk="1" hangingPunct="1">
              <a:defRPr/>
            </a:pPr>
            <a:r>
              <a:rPr lang="cy-GB" smtClean="0"/>
              <a:t>Synchronous</a:t>
            </a:r>
            <a:endParaRPr lang="en-US" smtClean="0"/>
          </a:p>
        </p:txBody>
      </p:sp>
      <p:sp>
        <p:nvSpPr>
          <p:cNvPr id="18435" name="Rectangle 3"/>
          <p:cNvSpPr>
            <a:spLocks noGrp="1" noRot="1" noChangeArrowheads="1"/>
          </p:cNvSpPr>
          <p:nvPr>
            <p:ph type="body" idx="1"/>
          </p:nvPr>
        </p:nvSpPr>
        <p:spPr/>
        <p:txBody>
          <a:bodyPr/>
          <a:lstStyle/>
          <a:p>
            <a:pPr eaLnBrk="1" hangingPunct="1">
              <a:defRPr/>
            </a:pPr>
            <a:endParaRPr lang="en-GB" smtClean="0"/>
          </a:p>
        </p:txBody>
      </p:sp>
      <p:pic>
        <p:nvPicPr>
          <p:cNvPr id="7172" name="Picture 5" descr="Sync"/>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142999" y="1219200"/>
            <a:ext cx="7821613" cy="5105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120409071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685800"/>
            <a:ext cx="7498080" cy="5562600"/>
          </a:xfrm>
        </p:spPr>
        <p:txBody>
          <a:bodyPr>
            <a:normAutofit fontScale="70000" lnSpcReduction="20000"/>
          </a:bodyPr>
          <a:lstStyle/>
          <a:p>
            <a:pPr marL="82296" indent="0">
              <a:buNone/>
            </a:pPr>
            <a:r>
              <a:rPr lang="en-US" b="1" i="1" dirty="0" smtClean="0"/>
              <a:t>Isochronous</a:t>
            </a:r>
          </a:p>
          <a:p>
            <a:pPr lvl="1"/>
            <a:r>
              <a:rPr lang="en-US" dirty="0" smtClean="0"/>
              <a:t>is </a:t>
            </a:r>
            <a:r>
              <a:rPr lang="en-US" dirty="0"/>
              <a:t>designed to provide steady bit flow for multimedia applications</a:t>
            </a:r>
          </a:p>
          <a:p>
            <a:r>
              <a:rPr lang="en-US" dirty="0"/>
              <a:t>Delivering such data at a steady rate is essential </a:t>
            </a:r>
          </a:p>
          <a:p>
            <a:pPr lvl="1"/>
            <a:r>
              <a:rPr lang="en-US" dirty="0"/>
              <a:t>because variations in delay known as jitter can disrupt reception (cause pops or clicks in audio/make video freeze for a short time</a:t>
            </a:r>
            <a:r>
              <a:rPr lang="en-US" dirty="0" smtClean="0"/>
              <a:t>)</a:t>
            </a:r>
            <a:endParaRPr lang="en-US" b="1" i="1" dirty="0"/>
          </a:p>
          <a:p>
            <a:r>
              <a:rPr lang="en-US" dirty="0"/>
              <a:t>In real-time audio and video, in which </a:t>
            </a:r>
            <a:r>
              <a:rPr lang="en-US" dirty="0" smtClean="0"/>
              <a:t>delays </a:t>
            </a:r>
            <a:r>
              <a:rPr lang="en-US" dirty="0"/>
              <a:t>between frames are not </a:t>
            </a:r>
            <a:r>
              <a:rPr lang="en-US" dirty="0" smtClean="0"/>
              <a:t>acceptable, synchronous </a:t>
            </a:r>
            <a:r>
              <a:rPr lang="en-US" dirty="0"/>
              <a:t>transmission fails. </a:t>
            </a:r>
            <a:endParaRPr lang="en-US" dirty="0" smtClean="0"/>
          </a:p>
          <a:p>
            <a:r>
              <a:rPr lang="en-US" dirty="0" smtClean="0"/>
              <a:t>For </a:t>
            </a:r>
            <a:r>
              <a:rPr lang="en-US" dirty="0"/>
              <a:t>example, TV images are broadcast at the </a:t>
            </a:r>
            <a:r>
              <a:rPr lang="en-US" dirty="0" smtClean="0"/>
              <a:t>rate of </a:t>
            </a:r>
            <a:r>
              <a:rPr lang="en-US" dirty="0"/>
              <a:t>30 images per second; they must be viewed at the same rate. </a:t>
            </a:r>
            <a:endParaRPr lang="en-US" dirty="0" smtClean="0"/>
          </a:p>
          <a:p>
            <a:r>
              <a:rPr lang="en-US" dirty="0" smtClean="0"/>
              <a:t>If </a:t>
            </a:r>
            <a:r>
              <a:rPr lang="en-US" dirty="0"/>
              <a:t>each image is </a:t>
            </a:r>
            <a:r>
              <a:rPr lang="en-US" dirty="0" smtClean="0"/>
              <a:t>sent by </a:t>
            </a:r>
            <a:r>
              <a:rPr lang="en-US" dirty="0"/>
              <a:t>using one or more frames, there should be no delays between frames. </a:t>
            </a:r>
            <a:endParaRPr lang="en-US" dirty="0" smtClean="0"/>
          </a:p>
          <a:p>
            <a:r>
              <a:rPr lang="en-US" dirty="0" smtClean="0"/>
              <a:t>For </a:t>
            </a:r>
            <a:r>
              <a:rPr lang="en-US" dirty="0"/>
              <a:t>this </a:t>
            </a:r>
            <a:r>
              <a:rPr lang="en-US" dirty="0" smtClean="0"/>
              <a:t>type of </a:t>
            </a:r>
            <a:r>
              <a:rPr lang="en-US" dirty="0"/>
              <a:t>application, synchronization between characters is not enough; the entire stream </a:t>
            </a:r>
            <a:r>
              <a:rPr lang="en-US" dirty="0" smtClean="0"/>
              <a:t>of bits </a:t>
            </a:r>
            <a:r>
              <a:rPr lang="en-US" dirty="0"/>
              <a:t>must be synchronized. </a:t>
            </a:r>
            <a:endParaRPr lang="en-US" dirty="0" smtClean="0"/>
          </a:p>
          <a:p>
            <a:r>
              <a:rPr lang="en-US" dirty="0" smtClean="0"/>
              <a:t>The </a:t>
            </a:r>
            <a:r>
              <a:rPr lang="en-US" dirty="0"/>
              <a:t>isochronous transmission guarantees that the </a:t>
            </a:r>
            <a:r>
              <a:rPr lang="en-US" dirty="0" smtClean="0"/>
              <a:t>data arrive </a:t>
            </a:r>
            <a:r>
              <a:rPr lang="en-US" dirty="0"/>
              <a:t>at a fixed rate.</a:t>
            </a:r>
          </a:p>
        </p:txBody>
      </p:sp>
    </p:spTree>
    <p:extLst>
      <p:ext uri="{BB962C8B-B14F-4D97-AF65-F5344CB8AC3E}">
        <p14:creationId xmlns:p14="http://schemas.microsoft.com/office/powerpoint/2010/main" xmlns="" val="10445314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Simplex, </a:t>
            </a:r>
            <a:r>
              <a:rPr lang="en-US" sz="3200" dirty="0" smtClean="0"/>
              <a:t>Half-Duplex and </a:t>
            </a:r>
            <a:r>
              <a:rPr lang="en-US" sz="3200" dirty="0"/>
              <a:t>Full-Duplex Transmission</a:t>
            </a:r>
          </a:p>
        </p:txBody>
      </p:sp>
      <p:sp>
        <p:nvSpPr>
          <p:cNvPr id="3" name="Content Placeholder 2"/>
          <p:cNvSpPr>
            <a:spLocks noGrp="1"/>
          </p:cNvSpPr>
          <p:nvPr>
            <p:ph idx="1"/>
          </p:nvPr>
        </p:nvSpPr>
        <p:spPr/>
        <p:txBody>
          <a:bodyPr/>
          <a:lstStyle/>
          <a:p>
            <a:r>
              <a:rPr lang="en-US" dirty="0"/>
              <a:t>A communications channel is classified as one of three types:</a:t>
            </a:r>
          </a:p>
          <a:p>
            <a:pPr lvl="1">
              <a:buFontTx/>
              <a:buNone/>
            </a:pPr>
            <a:r>
              <a:rPr lang="en-US" dirty="0"/>
              <a:t>(depending on the direction of transfer)</a:t>
            </a:r>
          </a:p>
          <a:p>
            <a:pPr lvl="1"/>
            <a:r>
              <a:rPr lang="en-US" dirty="0" smtClean="0"/>
              <a:t>Simplex - </a:t>
            </a:r>
            <a:r>
              <a:rPr lang="en-US" dirty="0"/>
              <a:t>can only transfer data in a single </a:t>
            </a:r>
            <a:r>
              <a:rPr lang="en-US" dirty="0" smtClean="0"/>
              <a:t>direction</a:t>
            </a:r>
          </a:p>
          <a:p>
            <a:pPr lvl="1"/>
            <a:r>
              <a:rPr lang="en-US" dirty="0" smtClean="0"/>
              <a:t>Half-Duplex</a:t>
            </a:r>
            <a:endParaRPr lang="en-US" dirty="0"/>
          </a:p>
          <a:p>
            <a:pPr lvl="1"/>
            <a:r>
              <a:rPr lang="en-US" dirty="0" smtClean="0"/>
              <a:t>Full-Duplex  - </a:t>
            </a:r>
            <a:r>
              <a:rPr lang="en-US" dirty="0"/>
              <a:t>allows transmission in two directions </a:t>
            </a:r>
            <a:r>
              <a:rPr lang="en-US" dirty="0" smtClean="0"/>
              <a:t>simultaneously</a:t>
            </a:r>
            <a:endParaRPr lang="en-US" dirty="0"/>
          </a:p>
          <a:p>
            <a:endParaRPr lang="en-US" dirty="0"/>
          </a:p>
        </p:txBody>
      </p:sp>
    </p:spTree>
    <p:extLst>
      <p:ext uri="{BB962C8B-B14F-4D97-AF65-F5344CB8AC3E}">
        <p14:creationId xmlns:p14="http://schemas.microsoft.com/office/powerpoint/2010/main" xmlns="" val="38688846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solidFill>
                  <a:schemeClr val="tx1"/>
                </a:solidFill>
              </a:rPr>
              <a:t>Simplex Mode</a:t>
            </a:r>
            <a:endParaRPr lang="en-US" sz="3600" dirty="0">
              <a:solidFill>
                <a:schemeClr val="tx1"/>
              </a:solidFill>
            </a:endParaRPr>
          </a:p>
        </p:txBody>
      </p:sp>
      <p:sp>
        <p:nvSpPr>
          <p:cNvPr id="3" name="Content Placeholder 2"/>
          <p:cNvSpPr>
            <a:spLocks noGrp="1"/>
          </p:cNvSpPr>
          <p:nvPr>
            <p:ph idx="1"/>
          </p:nvPr>
        </p:nvSpPr>
        <p:spPr/>
        <p:txBody>
          <a:bodyPr/>
          <a:lstStyle/>
          <a:p>
            <a:r>
              <a:rPr lang="en-US" sz="2400" dirty="0"/>
              <a:t>S</a:t>
            </a:r>
            <a:r>
              <a:rPr lang="en-US" sz="2400" dirty="0" smtClean="0"/>
              <a:t>implex </a:t>
            </a:r>
            <a:r>
              <a:rPr lang="en-US" sz="2400" dirty="0"/>
              <a:t>can </a:t>
            </a:r>
            <a:r>
              <a:rPr lang="en-US" sz="2400" dirty="0" smtClean="0"/>
              <a:t>only transfer </a:t>
            </a:r>
            <a:r>
              <a:rPr lang="en-US" sz="2400" dirty="0"/>
              <a:t>data in a single </a:t>
            </a:r>
            <a:r>
              <a:rPr lang="en-US" sz="2400" dirty="0" smtClean="0"/>
              <a:t>direction</a:t>
            </a:r>
          </a:p>
          <a:p>
            <a:r>
              <a:rPr lang="en-US" sz="2400" dirty="0" smtClean="0"/>
              <a:t>Information is sent in only one direction.</a:t>
            </a:r>
          </a:p>
          <a:p>
            <a:r>
              <a:rPr lang="en-US" sz="2400" dirty="0" smtClean="0"/>
              <a:t>Devices </a:t>
            </a:r>
            <a:r>
              <a:rPr lang="en-US" sz="2400" dirty="0"/>
              <a:t>connected in simplex mode is either sent only or </a:t>
            </a:r>
            <a:r>
              <a:rPr lang="en-US" sz="2400" dirty="0" smtClean="0"/>
              <a:t>receive </a:t>
            </a:r>
            <a:r>
              <a:rPr lang="en-US" sz="2400" dirty="0"/>
              <a:t>only that is one device can only send, other device can only receive</a:t>
            </a:r>
            <a:r>
              <a:rPr lang="en-US" sz="2400" dirty="0" smtClean="0"/>
              <a:t>.</a:t>
            </a:r>
          </a:p>
          <a:p>
            <a:r>
              <a:rPr lang="en-US" sz="2400" dirty="0" smtClean="0"/>
              <a:t>Communication </a:t>
            </a:r>
            <a:r>
              <a:rPr lang="en-US" sz="2400" dirty="0"/>
              <a:t>is </a:t>
            </a:r>
            <a:r>
              <a:rPr lang="en-US" sz="2400" dirty="0" smtClean="0"/>
              <a:t>unidirectional</a:t>
            </a:r>
            <a:r>
              <a:rPr lang="en-US" sz="2400" dirty="0" smtClean="0">
                <a:solidFill>
                  <a:schemeClr val="hlink"/>
                </a:solidFill>
              </a:rPr>
              <a:t>.</a:t>
            </a:r>
          </a:p>
          <a:p>
            <a:r>
              <a:rPr lang="en-US" sz="2400" dirty="0" smtClean="0"/>
              <a:t>Example:  TV, Radio Broadcasting, </a:t>
            </a:r>
            <a:endParaRPr lang="en-US" sz="2400" dirty="0"/>
          </a:p>
          <a:p>
            <a:pPr marL="82296" indent="0">
              <a:buNone/>
            </a:pPr>
            <a:endParaRPr lang="en-US" dirty="0"/>
          </a:p>
        </p:txBody>
      </p:sp>
    </p:spTree>
    <p:extLst>
      <p:ext uri="{BB962C8B-B14F-4D97-AF65-F5344CB8AC3E}">
        <p14:creationId xmlns:p14="http://schemas.microsoft.com/office/powerpoint/2010/main" xmlns="" val="27011107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solidFill>
                  <a:schemeClr val="tx1"/>
                </a:solidFill>
              </a:rPr>
              <a:t>Half Duplex</a:t>
            </a:r>
            <a:endParaRPr lang="en-US" sz="3600" dirty="0">
              <a:solidFill>
                <a:schemeClr val="tx1"/>
              </a:solidFill>
            </a:endParaRPr>
          </a:p>
        </p:txBody>
      </p:sp>
      <p:sp>
        <p:nvSpPr>
          <p:cNvPr id="3" name="Content Placeholder 2"/>
          <p:cNvSpPr>
            <a:spLocks noGrp="1"/>
          </p:cNvSpPr>
          <p:nvPr>
            <p:ph idx="1"/>
          </p:nvPr>
        </p:nvSpPr>
        <p:spPr/>
        <p:txBody>
          <a:bodyPr>
            <a:normAutofit/>
          </a:bodyPr>
          <a:lstStyle/>
          <a:p>
            <a:r>
              <a:rPr lang="en-US" altLang="en-US" sz="2400" dirty="0"/>
              <a:t>A half duplex channel can send and receive, but not at the same time.</a:t>
            </a:r>
            <a:endParaRPr lang="en-US" sz="2400" dirty="0" smtClean="0"/>
          </a:p>
          <a:p>
            <a:r>
              <a:rPr lang="en-US" sz="2400" dirty="0" smtClean="0"/>
              <a:t>In </a:t>
            </a:r>
            <a:r>
              <a:rPr lang="en-US" sz="2400" dirty="0"/>
              <a:t>half duplex transmission data can be sent in both </a:t>
            </a:r>
            <a:r>
              <a:rPr lang="en-US" sz="2400" dirty="0" smtClean="0"/>
              <a:t>directions</a:t>
            </a:r>
            <a:r>
              <a:rPr lang="en-US" sz="2400" dirty="0"/>
              <a:t>, but only in one direction at a time.</a:t>
            </a:r>
          </a:p>
          <a:p>
            <a:r>
              <a:rPr lang="en-US" sz="2400" dirty="0"/>
              <a:t>Both the connected device can transmit and receive but not simultaneously.</a:t>
            </a:r>
          </a:p>
          <a:p>
            <a:r>
              <a:rPr lang="en-US" sz="2400" dirty="0"/>
              <a:t>When one device is sending the other can only receive and vice-versa</a:t>
            </a:r>
            <a:r>
              <a:rPr lang="en-US" sz="2400" dirty="0" smtClean="0"/>
              <a:t>.</a:t>
            </a:r>
          </a:p>
          <a:p>
            <a:r>
              <a:rPr lang="en-US" sz="2400" dirty="0" smtClean="0"/>
              <a:t>Example:  Police radio, walkie-talkies</a:t>
            </a:r>
            <a:endParaRPr lang="en-US" sz="2400" dirty="0"/>
          </a:p>
          <a:p>
            <a:endParaRPr lang="en-US" dirty="0"/>
          </a:p>
        </p:txBody>
      </p:sp>
    </p:spTree>
    <p:extLst>
      <p:ext uri="{BB962C8B-B14F-4D97-AF65-F5344CB8AC3E}">
        <p14:creationId xmlns:p14="http://schemas.microsoft.com/office/powerpoint/2010/main" xmlns="" val="31603368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solidFill>
                  <a:schemeClr val="tx1"/>
                </a:solidFill>
              </a:rPr>
              <a:t>Full Duplex</a:t>
            </a:r>
            <a:endParaRPr lang="en-US" sz="3600" dirty="0">
              <a:solidFill>
                <a:schemeClr val="tx1"/>
              </a:solidFill>
            </a:endParaRPr>
          </a:p>
        </p:txBody>
      </p:sp>
      <p:sp>
        <p:nvSpPr>
          <p:cNvPr id="3" name="Content Placeholder 2"/>
          <p:cNvSpPr>
            <a:spLocks noGrp="1"/>
          </p:cNvSpPr>
          <p:nvPr>
            <p:ph idx="1"/>
          </p:nvPr>
        </p:nvSpPr>
        <p:spPr/>
        <p:txBody>
          <a:bodyPr/>
          <a:lstStyle/>
          <a:p>
            <a:pPr>
              <a:lnSpc>
                <a:spcPct val="90000"/>
              </a:lnSpc>
            </a:pPr>
            <a:r>
              <a:rPr lang="en-US" sz="2400" dirty="0"/>
              <a:t>In full duplex transmission, data can be sent in both </a:t>
            </a:r>
            <a:r>
              <a:rPr lang="en-US" sz="2400" dirty="0" smtClean="0"/>
              <a:t>directions </a:t>
            </a:r>
            <a:r>
              <a:rPr lang="en-US" sz="2400" dirty="0"/>
              <a:t>simultaneously.</a:t>
            </a:r>
          </a:p>
          <a:p>
            <a:pPr>
              <a:lnSpc>
                <a:spcPct val="90000"/>
              </a:lnSpc>
            </a:pPr>
            <a:r>
              <a:rPr lang="en-US" sz="2400" dirty="0"/>
              <a:t>Both the connected devices can transmit and receive at the same time</a:t>
            </a:r>
            <a:r>
              <a:rPr lang="en-US" sz="2400" dirty="0" smtClean="0"/>
              <a:t>.</a:t>
            </a:r>
          </a:p>
          <a:p>
            <a:pPr>
              <a:lnSpc>
                <a:spcPct val="90000"/>
              </a:lnSpc>
            </a:pPr>
            <a:r>
              <a:rPr lang="en-US" sz="2400" dirty="0" smtClean="0"/>
              <a:t>Allows </a:t>
            </a:r>
            <a:r>
              <a:rPr lang="en-US" sz="2400" dirty="0"/>
              <a:t>transmission in two directions </a:t>
            </a:r>
            <a:r>
              <a:rPr lang="en-US" sz="2400" dirty="0" smtClean="0"/>
              <a:t>simultaneously</a:t>
            </a:r>
            <a:endParaRPr lang="en-US" sz="2400" dirty="0"/>
          </a:p>
          <a:p>
            <a:pPr>
              <a:lnSpc>
                <a:spcPct val="90000"/>
              </a:lnSpc>
            </a:pPr>
            <a:r>
              <a:rPr lang="en-US" sz="2400" dirty="0" smtClean="0"/>
              <a:t>Full duplex represents bi-directional system.</a:t>
            </a:r>
          </a:p>
          <a:p>
            <a:pPr>
              <a:lnSpc>
                <a:spcPct val="90000"/>
              </a:lnSpc>
            </a:pPr>
            <a:r>
              <a:rPr lang="en-US" sz="2400" dirty="0" smtClean="0"/>
              <a:t>In </a:t>
            </a:r>
            <a:r>
              <a:rPr lang="en-US" sz="2400" dirty="0"/>
              <a:t>full duplex mode, signals going in </a:t>
            </a:r>
            <a:r>
              <a:rPr lang="en-US" sz="2400" dirty="0" smtClean="0"/>
              <a:t>either direction </a:t>
            </a:r>
            <a:r>
              <a:rPr lang="en-US" sz="2400" dirty="0"/>
              <a:t>share the full capacity of link. </a:t>
            </a:r>
            <a:endParaRPr lang="en-US" sz="2400" dirty="0" smtClean="0"/>
          </a:p>
          <a:p>
            <a:pPr>
              <a:lnSpc>
                <a:spcPct val="90000"/>
              </a:lnSpc>
            </a:pPr>
            <a:r>
              <a:rPr lang="en-US" sz="2400" dirty="0" smtClean="0"/>
              <a:t>Example:  Telephone conversation</a:t>
            </a:r>
            <a:endParaRPr lang="en-US" sz="2400" dirty="0"/>
          </a:p>
          <a:p>
            <a:endParaRPr lang="en-US" dirty="0"/>
          </a:p>
        </p:txBody>
      </p:sp>
    </p:spTree>
    <p:extLst>
      <p:ext uri="{BB962C8B-B14F-4D97-AF65-F5344CB8AC3E}">
        <p14:creationId xmlns:p14="http://schemas.microsoft.com/office/powerpoint/2010/main" xmlns="" val="36051547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685800"/>
            <a:ext cx="7498080" cy="5562600"/>
          </a:xfrm>
        </p:spPr>
        <p:txBody>
          <a:bodyPr>
            <a:normAutofit fontScale="85000" lnSpcReduction="20000"/>
          </a:bodyPr>
          <a:lstStyle/>
          <a:p>
            <a:pPr marL="82296" indent="0">
              <a:buNone/>
            </a:pPr>
            <a:r>
              <a:rPr lang="en-US" sz="3300" b="1" dirty="0" smtClean="0"/>
              <a:t>Data And </a:t>
            </a:r>
            <a:r>
              <a:rPr lang="en-US" sz="3300" b="1" dirty="0"/>
              <a:t>Signals </a:t>
            </a:r>
            <a:r>
              <a:rPr lang="en-US" sz="3300" b="1" dirty="0" smtClean="0"/>
              <a:t> </a:t>
            </a:r>
          </a:p>
          <a:p>
            <a:r>
              <a:rPr lang="en-US" dirty="0" smtClean="0"/>
              <a:t>Information </a:t>
            </a:r>
            <a:r>
              <a:rPr lang="en-US" dirty="0"/>
              <a:t>can be </a:t>
            </a:r>
            <a:r>
              <a:rPr lang="en-US" dirty="0" smtClean="0"/>
              <a:t>in form </a:t>
            </a:r>
            <a:r>
              <a:rPr lang="en-US" dirty="0"/>
              <a:t>of data, voice, picture, and so on.</a:t>
            </a:r>
          </a:p>
          <a:p>
            <a:r>
              <a:rPr lang="en-US" dirty="0"/>
              <a:t>I</a:t>
            </a:r>
            <a:r>
              <a:rPr lang="en-US" dirty="0" smtClean="0"/>
              <a:t>nformation </a:t>
            </a:r>
            <a:r>
              <a:rPr lang="en-US" dirty="0"/>
              <a:t>usable to a person or application  is not in a form that can be transmitted over a network.</a:t>
            </a:r>
          </a:p>
          <a:p>
            <a:r>
              <a:rPr lang="en-US" dirty="0"/>
              <a:t>I</a:t>
            </a:r>
            <a:r>
              <a:rPr lang="en-US" dirty="0" smtClean="0"/>
              <a:t>nformation  </a:t>
            </a:r>
            <a:r>
              <a:rPr lang="en-US" dirty="0"/>
              <a:t>must be converted into a form that </a:t>
            </a:r>
            <a:r>
              <a:rPr lang="en-US" dirty="0" smtClean="0"/>
              <a:t>a transmission </a:t>
            </a:r>
            <a:r>
              <a:rPr lang="en-US" dirty="0"/>
              <a:t>media can accept</a:t>
            </a:r>
            <a:r>
              <a:rPr lang="en-US" dirty="0" smtClean="0"/>
              <a:t>.</a:t>
            </a:r>
            <a:endParaRPr lang="en-US" dirty="0"/>
          </a:p>
          <a:p>
            <a:r>
              <a:rPr lang="en-US" dirty="0"/>
              <a:t>Transmission media work by conducting energy along a physical path</a:t>
            </a:r>
            <a:r>
              <a:rPr lang="en-US" dirty="0" smtClean="0"/>
              <a:t>.</a:t>
            </a:r>
            <a:endParaRPr lang="en-US" dirty="0"/>
          </a:p>
          <a:p>
            <a:r>
              <a:rPr lang="en-US" dirty="0"/>
              <a:t>So a data stream of 1s and 0s must be turned into energy in the form of </a:t>
            </a:r>
            <a:r>
              <a:rPr lang="en-US" dirty="0" smtClean="0"/>
              <a:t>electromagnetic signals.</a:t>
            </a:r>
            <a:endParaRPr lang="en-US" dirty="0"/>
          </a:p>
          <a:p>
            <a:r>
              <a:rPr lang="en-US" dirty="0"/>
              <a:t>A signal is the </a:t>
            </a:r>
            <a:r>
              <a:rPr lang="en-US" dirty="0" smtClean="0"/>
              <a:t>representation </a:t>
            </a:r>
            <a:r>
              <a:rPr lang="en-US" dirty="0"/>
              <a:t>of  a certain information.</a:t>
            </a:r>
          </a:p>
          <a:p>
            <a:endParaRPr lang="en-US" dirty="0"/>
          </a:p>
        </p:txBody>
      </p:sp>
    </p:spTree>
    <p:extLst>
      <p:ext uri="{BB962C8B-B14F-4D97-AF65-F5344CB8AC3E}">
        <p14:creationId xmlns:p14="http://schemas.microsoft.com/office/powerpoint/2010/main" xmlns="" val="24853551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533400"/>
            <a:ext cx="7498080" cy="5715000"/>
          </a:xfrm>
        </p:spPr>
        <p:txBody>
          <a:bodyPr>
            <a:normAutofit lnSpcReduction="10000"/>
          </a:bodyPr>
          <a:lstStyle/>
          <a:p>
            <a:r>
              <a:rPr lang="en-US" dirty="0"/>
              <a:t>Signals and data are classified as </a:t>
            </a:r>
            <a:r>
              <a:rPr lang="en-US" u="sng" dirty="0" smtClean="0"/>
              <a:t>Analog </a:t>
            </a:r>
            <a:r>
              <a:rPr lang="en-US" u="sng" dirty="0"/>
              <a:t>or </a:t>
            </a:r>
            <a:r>
              <a:rPr lang="en-US" u="sng" dirty="0" smtClean="0"/>
              <a:t>Digital.</a:t>
            </a:r>
            <a:endParaRPr lang="en-US" u="sng" dirty="0"/>
          </a:p>
          <a:p>
            <a:r>
              <a:rPr lang="en-US" u="sng" dirty="0"/>
              <a:t>Analog </a:t>
            </a:r>
            <a:r>
              <a:rPr lang="en-US" dirty="0"/>
              <a:t> refers </a:t>
            </a:r>
            <a:r>
              <a:rPr lang="en-US" dirty="0" smtClean="0"/>
              <a:t>to information that </a:t>
            </a:r>
            <a:r>
              <a:rPr lang="en-US" dirty="0"/>
              <a:t>is </a:t>
            </a:r>
            <a:r>
              <a:rPr lang="en-US" dirty="0" smtClean="0"/>
              <a:t>continuous waveform e.g. music, video etc.</a:t>
            </a:r>
            <a:endParaRPr lang="en-US" dirty="0"/>
          </a:p>
          <a:p>
            <a:pPr lvl="1"/>
            <a:r>
              <a:rPr lang="en-US" dirty="0"/>
              <a:t>An example of analog data is the human voice</a:t>
            </a:r>
            <a:r>
              <a:rPr lang="en-US" dirty="0" smtClean="0"/>
              <a:t>.</a:t>
            </a:r>
          </a:p>
          <a:p>
            <a:r>
              <a:rPr lang="en-US" dirty="0" smtClean="0"/>
              <a:t>Digital refers </a:t>
            </a:r>
            <a:r>
              <a:rPr lang="en-US" dirty="0"/>
              <a:t>to information that has discrete states. (0s and 1s) </a:t>
            </a:r>
          </a:p>
          <a:p>
            <a:pPr lvl="1"/>
            <a:r>
              <a:rPr lang="en-US" dirty="0" smtClean="0"/>
              <a:t>An </a:t>
            </a:r>
            <a:r>
              <a:rPr lang="en-US" dirty="0"/>
              <a:t>example of digital data is data stored in  the memory of a computer in the form of 0s and 1s.</a:t>
            </a:r>
          </a:p>
          <a:p>
            <a:endParaRPr lang="en-US" dirty="0"/>
          </a:p>
        </p:txBody>
      </p:sp>
    </p:spTree>
    <p:extLst>
      <p:ext uri="{BB962C8B-B14F-4D97-AF65-F5344CB8AC3E}">
        <p14:creationId xmlns:p14="http://schemas.microsoft.com/office/powerpoint/2010/main" xmlns="" val="24628210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685800"/>
            <a:ext cx="7498080" cy="5562600"/>
          </a:xfrm>
        </p:spPr>
        <p:txBody>
          <a:bodyPr>
            <a:normAutofit fontScale="92500" lnSpcReduction="20000"/>
          </a:bodyPr>
          <a:lstStyle/>
          <a:p>
            <a:pPr marL="82296" indent="0">
              <a:buNone/>
            </a:pPr>
            <a:r>
              <a:rPr lang="en-US" dirty="0" smtClean="0"/>
              <a:t>Digital signals: </a:t>
            </a:r>
            <a:endParaRPr lang="en-US" dirty="0"/>
          </a:p>
          <a:p>
            <a:pPr lvl="1"/>
            <a:r>
              <a:rPr lang="en-US" dirty="0" smtClean="0"/>
              <a:t>Are </a:t>
            </a:r>
            <a:r>
              <a:rPr lang="en-US" dirty="0"/>
              <a:t>cheaper</a:t>
            </a:r>
            <a:r>
              <a:rPr lang="en-US" dirty="0" smtClean="0"/>
              <a:t>.</a:t>
            </a:r>
            <a:endParaRPr lang="en-US" dirty="0"/>
          </a:p>
          <a:p>
            <a:pPr lvl="1"/>
            <a:r>
              <a:rPr lang="en-US" dirty="0" smtClean="0"/>
              <a:t>Are </a:t>
            </a:r>
            <a:r>
              <a:rPr lang="en-US" dirty="0"/>
              <a:t>more accurate </a:t>
            </a:r>
          </a:p>
          <a:p>
            <a:pPr lvl="1"/>
            <a:r>
              <a:rPr lang="en-US" dirty="0" smtClean="0"/>
              <a:t>Are </a:t>
            </a:r>
            <a:r>
              <a:rPr lang="en-US" dirty="0"/>
              <a:t>more reliable </a:t>
            </a:r>
          </a:p>
          <a:p>
            <a:pPr lvl="1"/>
            <a:r>
              <a:rPr lang="en-US" dirty="0" smtClean="0"/>
              <a:t>Have </a:t>
            </a:r>
            <a:r>
              <a:rPr lang="en-US" dirty="0"/>
              <a:t>fewer transmission errors </a:t>
            </a:r>
          </a:p>
          <a:p>
            <a:pPr lvl="1"/>
            <a:r>
              <a:rPr lang="en-US" dirty="0" smtClean="0"/>
              <a:t>Are </a:t>
            </a:r>
            <a:r>
              <a:rPr lang="en-US" dirty="0"/>
              <a:t>easier to maintain </a:t>
            </a:r>
            <a:r>
              <a:rPr lang="en-US" dirty="0" smtClean="0"/>
              <a:t>than </a:t>
            </a:r>
            <a:r>
              <a:rPr lang="en-US" dirty="0"/>
              <a:t>analog </a:t>
            </a:r>
            <a:r>
              <a:rPr lang="en-US" dirty="0" smtClean="0"/>
              <a:t>signals. </a:t>
            </a:r>
            <a:endParaRPr lang="en-US" dirty="0"/>
          </a:p>
          <a:p>
            <a:r>
              <a:rPr lang="en-US" dirty="0" smtClean="0"/>
              <a:t>Vast </a:t>
            </a:r>
            <a:r>
              <a:rPr lang="en-US" dirty="0"/>
              <a:t>structures exist for analog signaling and much of it can be adapted to transport digital signals as well. </a:t>
            </a:r>
          </a:p>
          <a:p>
            <a:r>
              <a:rPr lang="en-US" dirty="0"/>
              <a:t>T</a:t>
            </a:r>
            <a:r>
              <a:rPr lang="en-US" dirty="0" smtClean="0"/>
              <a:t>elephone </a:t>
            </a:r>
            <a:r>
              <a:rPr lang="en-US" dirty="0"/>
              <a:t>network, cable TV infrastructure and partially every form of wireless communication are </a:t>
            </a:r>
            <a:r>
              <a:rPr lang="en-US" dirty="0" smtClean="0"/>
              <a:t>naturally </a:t>
            </a:r>
            <a:r>
              <a:rPr lang="en-US" dirty="0"/>
              <a:t>analog transmission media </a:t>
            </a:r>
            <a:r>
              <a:rPr lang="en-US" dirty="0" smtClean="0"/>
              <a:t>but </a:t>
            </a:r>
            <a:r>
              <a:rPr lang="en-US" dirty="0"/>
              <a:t>have been adapted for digital transmission. </a:t>
            </a:r>
          </a:p>
          <a:p>
            <a:endParaRPr lang="en-US" dirty="0"/>
          </a:p>
        </p:txBody>
      </p:sp>
    </p:spTree>
    <p:extLst>
      <p:ext uri="{BB962C8B-B14F-4D97-AF65-F5344CB8AC3E}">
        <p14:creationId xmlns:p14="http://schemas.microsoft.com/office/powerpoint/2010/main" xmlns="" val="27736111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685800"/>
            <a:ext cx="7498080" cy="5562600"/>
          </a:xfrm>
        </p:spPr>
        <p:txBody>
          <a:bodyPr/>
          <a:lstStyle/>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524000" y="838200"/>
            <a:ext cx="7315200" cy="5257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1147061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533400"/>
            <a:ext cx="7498080" cy="5867400"/>
          </a:xfrm>
        </p:spPr>
        <p:txBody>
          <a:bodyPr>
            <a:normAutofit fontScale="70000" lnSpcReduction="20000"/>
          </a:bodyPr>
          <a:lstStyle/>
          <a:p>
            <a:r>
              <a:rPr lang="en-US" dirty="0" smtClean="0"/>
              <a:t>Analog </a:t>
            </a:r>
            <a:r>
              <a:rPr lang="en-US" dirty="0"/>
              <a:t>data can be encoded as an analog signal, for example, cassette tape player and audio video component of TV program. </a:t>
            </a:r>
          </a:p>
          <a:p>
            <a:r>
              <a:rPr lang="en-US" dirty="0" smtClean="0"/>
              <a:t>Digital </a:t>
            </a:r>
            <a:r>
              <a:rPr lang="en-US" dirty="0"/>
              <a:t>data is regularly represented by digital signal, for example, email. </a:t>
            </a:r>
          </a:p>
          <a:p>
            <a:r>
              <a:rPr lang="en-US" dirty="0" smtClean="0"/>
              <a:t>Also</a:t>
            </a:r>
            <a:r>
              <a:rPr lang="en-US" dirty="0"/>
              <a:t>, analog data is also commonly encoded with digital signals. </a:t>
            </a:r>
          </a:p>
          <a:p>
            <a:r>
              <a:rPr lang="en-US" dirty="0" smtClean="0"/>
              <a:t>When </a:t>
            </a:r>
            <a:r>
              <a:rPr lang="en-US" dirty="0"/>
              <a:t>you scan an image or capture sound on the computer, you are converting analog data to digital signal. </a:t>
            </a:r>
          </a:p>
          <a:p>
            <a:r>
              <a:rPr lang="en-US" dirty="0" smtClean="0"/>
              <a:t>Digital </a:t>
            </a:r>
            <a:r>
              <a:rPr lang="en-US" dirty="0"/>
              <a:t>transmission has replaced analog transmission </a:t>
            </a:r>
            <a:r>
              <a:rPr lang="en-US" dirty="0" smtClean="0"/>
              <a:t>except </a:t>
            </a:r>
            <a:r>
              <a:rPr lang="en-US" dirty="0"/>
              <a:t>the </a:t>
            </a:r>
            <a:r>
              <a:rPr lang="en-US" dirty="0" smtClean="0"/>
              <a:t>telephone network. </a:t>
            </a:r>
          </a:p>
          <a:p>
            <a:r>
              <a:rPr lang="en-US" dirty="0" smtClean="0"/>
              <a:t>Although </a:t>
            </a:r>
            <a:r>
              <a:rPr lang="en-US" dirty="0"/>
              <a:t>voice is the primary signal carried by the </a:t>
            </a:r>
            <a:r>
              <a:rPr lang="en-US" dirty="0" smtClean="0"/>
              <a:t>network, </a:t>
            </a:r>
            <a:r>
              <a:rPr lang="en-US" dirty="0"/>
              <a:t>this network is now widely used to carry digital information or data as well. </a:t>
            </a:r>
          </a:p>
          <a:p>
            <a:r>
              <a:rPr lang="en-US" dirty="0" smtClean="0"/>
              <a:t> </a:t>
            </a:r>
            <a:r>
              <a:rPr lang="en-US" dirty="0"/>
              <a:t>A modem is used </a:t>
            </a:r>
            <a:r>
              <a:rPr lang="en-US" dirty="0" smtClean="0"/>
              <a:t>in telephone network </a:t>
            </a:r>
            <a:r>
              <a:rPr lang="en-US" dirty="0"/>
              <a:t>to convert digital signals to analog for transmission. </a:t>
            </a:r>
          </a:p>
          <a:p>
            <a:r>
              <a:rPr lang="en-US" dirty="0" smtClean="0"/>
              <a:t> </a:t>
            </a:r>
            <a:r>
              <a:rPr lang="en-US" dirty="0"/>
              <a:t>A modem also converts analog signal received from a </a:t>
            </a:r>
            <a:r>
              <a:rPr lang="en-US" dirty="0" smtClean="0"/>
              <a:t>telephone network </a:t>
            </a:r>
            <a:r>
              <a:rPr lang="en-US" dirty="0"/>
              <a:t>into digital form. </a:t>
            </a:r>
          </a:p>
        </p:txBody>
      </p:sp>
    </p:spTree>
    <p:extLst>
      <p:ext uri="{BB962C8B-B14F-4D97-AF65-F5344CB8AC3E}">
        <p14:creationId xmlns:p14="http://schemas.microsoft.com/office/powerpoint/2010/main" xmlns="" val="16795753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381000"/>
            <a:ext cx="7098792" cy="533400"/>
          </a:xfrm>
        </p:spPr>
        <p:txBody>
          <a:bodyPr>
            <a:normAutofit fontScale="90000"/>
          </a:bodyPr>
          <a:lstStyle/>
          <a:p>
            <a:r>
              <a:rPr lang="en-US" sz="3100" b="1" dirty="0">
                <a:effectLst/>
              </a:rPr>
              <a:t>Transmission rate and </a:t>
            </a:r>
            <a:r>
              <a:rPr lang="en-US" sz="3100" b="1" dirty="0" smtClean="0">
                <a:effectLst/>
              </a:rPr>
              <a:t>Bandwidth</a:t>
            </a:r>
            <a:endParaRPr lang="en-US" dirty="0"/>
          </a:p>
        </p:txBody>
      </p:sp>
      <p:sp>
        <p:nvSpPr>
          <p:cNvPr id="3" name="Content Placeholder 2"/>
          <p:cNvSpPr>
            <a:spLocks noGrp="1"/>
          </p:cNvSpPr>
          <p:nvPr>
            <p:ph idx="1"/>
          </p:nvPr>
        </p:nvSpPr>
        <p:spPr>
          <a:xfrm>
            <a:off x="1435608" y="838200"/>
            <a:ext cx="7498080" cy="5410200"/>
          </a:xfrm>
        </p:spPr>
        <p:txBody>
          <a:bodyPr>
            <a:normAutofit fontScale="85000" lnSpcReduction="10000"/>
          </a:bodyPr>
          <a:lstStyle/>
          <a:p>
            <a:r>
              <a:rPr lang="en-US" sz="2600" dirty="0" smtClean="0"/>
              <a:t>In </a:t>
            </a:r>
            <a:r>
              <a:rPr lang="en-US" sz="2600" dirty="0"/>
              <a:t>computer networks, bandwidth is used as a </a:t>
            </a:r>
            <a:r>
              <a:rPr lang="en-US" sz="2600" dirty="0" smtClean="0"/>
              <a:t>synonym (substitute) </a:t>
            </a:r>
            <a:r>
              <a:rPr lang="en-US" sz="2600" dirty="0"/>
              <a:t>for data transfer rate, </a:t>
            </a:r>
            <a:endParaRPr lang="en-US" sz="2600" dirty="0" smtClean="0"/>
          </a:p>
          <a:p>
            <a:pPr lvl="1"/>
            <a:r>
              <a:rPr lang="en-US" sz="2600" dirty="0" smtClean="0"/>
              <a:t>the </a:t>
            </a:r>
            <a:r>
              <a:rPr lang="en-US" sz="2600" dirty="0"/>
              <a:t>amount of data that can be carried from one point to another in a given time period (usually a second). </a:t>
            </a:r>
            <a:endParaRPr lang="en-US" sz="2600" dirty="0" smtClean="0"/>
          </a:p>
          <a:p>
            <a:r>
              <a:rPr lang="en-US" sz="2600" dirty="0" smtClean="0"/>
              <a:t>Network </a:t>
            </a:r>
            <a:r>
              <a:rPr lang="en-US" sz="2600" dirty="0"/>
              <a:t>bandwidth is usually expressed in bits per second (bps); </a:t>
            </a:r>
            <a:endParaRPr lang="en-US" sz="2600" dirty="0" smtClean="0"/>
          </a:p>
          <a:p>
            <a:r>
              <a:rPr lang="en-US" sz="2600" dirty="0"/>
              <a:t>M</a:t>
            </a:r>
            <a:r>
              <a:rPr lang="en-US" sz="2600" dirty="0" smtClean="0"/>
              <a:t>odern </a:t>
            </a:r>
            <a:r>
              <a:rPr lang="en-US" sz="2600" dirty="0"/>
              <a:t>networks </a:t>
            </a:r>
            <a:r>
              <a:rPr lang="en-US" sz="2600" dirty="0" smtClean="0"/>
              <a:t>have </a:t>
            </a:r>
            <a:r>
              <a:rPr lang="en-US" sz="2600" dirty="0"/>
              <a:t>speeds measured in </a:t>
            </a:r>
            <a:r>
              <a:rPr lang="en-US" sz="2600" dirty="0" smtClean="0"/>
              <a:t>millions </a:t>
            </a:r>
            <a:r>
              <a:rPr lang="en-US" sz="2600" dirty="0"/>
              <a:t>of bits per second (megabits per second, or Mbps) or billions of bits per second (gigabits per second, or </a:t>
            </a:r>
            <a:r>
              <a:rPr lang="en-US" sz="2600" dirty="0" err="1"/>
              <a:t>Gbps</a:t>
            </a:r>
            <a:r>
              <a:rPr lang="en-US" sz="2600" dirty="0" smtClean="0"/>
              <a:t>).</a:t>
            </a:r>
          </a:p>
          <a:p>
            <a:r>
              <a:rPr lang="en-US" sz="2600" dirty="0"/>
              <a:t>Different applications require different bandwidths.  </a:t>
            </a:r>
          </a:p>
          <a:p>
            <a:r>
              <a:rPr lang="en-US" sz="2600" dirty="0"/>
              <a:t>An instant messaging conversation might take less than 1,000 bits per second (bps);  </a:t>
            </a:r>
          </a:p>
          <a:p>
            <a:r>
              <a:rPr lang="en-US" sz="2600" dirty="0"/>
              <a:t>Standard definition video works at 1 megabit per second (Mbps), but HD video wants around 4 Mbps, and HDX more than 7 Mbps.</a:t>
            </a:r>
          </a:p>
          <a:p>
            <a:endParaRPr lang="en-US" dirty="0"/>
          </a:p>
        </p:txBody>
      </p:sp>
    </p:spTree>
    <p:extLst>
      <p:ext uri="{BB962C8B-B14F-4D97-AF65-F5344CB8AC3E}">
        <p14:creationId xmlns:p14="http://schemas.microsoft.com/office/powerpoint/2010/main" xmlns="" val="47575195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533400"/>
            <a:ext cx="7498080" cy="6019800"/>
          </a:xfrm>
        </p:spPr>
        <p:txBody>
          <a:bodyPr>
            <a:normAutofit fontScale="70000" lnSpcReduction="20000"/>
          </a:bodyPr>
          <a:lstStyle/>
          <a:p>
            <a:r>
              <a:rPr lang="en-US" dirty="0" smtClean="0"/>
              <a:t>Bandwidth </a:t>
            </a:r>
            <a:r>
              <a:rPr lang="en-US" dirty="0"/>
              <a:t>is </a:t>
            </a:r>
            <a:r>
              <a:rPr lang="en-US" dirty="0" smtClean="0"/>
              <a:t>also described as the </a:t>
            </a:r>
            <a:r>
              <a:rPr lang="en-US" dirty="0"/>
              <a:t>range of frequencies that can be transmitted with minimum distortion. </a:t>
            </a:r>
            <a:endParaRPr lang="en-US" dirty="0" smtClean="0"/>
          </a:p>
          <a:p>
            <a:r>
              <a:rPr lang="en-US" dirty="0" smtClean="0"/>
              <a:t>Bandwidth refers </a:t>
            </a:r>
            <a:r>
              <a:rPr lang="en-US" dirty="0"/>
              <a:t>to a range of frequencies used to transmit a signal. </a:t>
            </a:r>
            <a:endParaRPr lang="en-US" dirty="0" smtClean="0"/>
          </a:p>
          <a:p>
            <a:pPr lvl="1"/>
            <a:r>
              <a:rPr lang="en-US" dirty="0" smtClean="0"/>
              <a:t>Frequency </a:t>
            </a:r>
            <a:r>
              <a:rPr lang="en-US" dirty="0"/>
              <a:t>of a signal is the number of cycles per second and is expressed in units called Hertz (Hz for </a:t>
            </a:r>
            <a:r>
              <a:rPr lang="en-US" dirty="0" smtClean="0"/>
              <a:t>short). I </a:t>
            </a:r>
            <a:r>
              <a:rPr lang="en-US" dirty="0"/>
              <a:t>Hz is 1cycle per second</a:t>
            </a:r>
            <a:r>
              <a:rPr lang="en-US" dirty="0" smtClean="0"/>
              <a:t>.</a:t>
            </a:r>
          </a:p>
          <a:p>
            <a:pPr lvl="1"/>
            <a:r>
              <a:rPr lang="en-US" dirty="0"/>
              <a:t>Frequency can be described as the number of waves that pass a fixed place in a given amount of time</a:t>
            </a:r>
            <a:r>
              <a:rPr lang="en-US" dirty="0" smtClean="0"/>
              <a:t>.</a:t>
            </a:r>
            <a:endParaRPr lang="en-US" dirty="0"/>
          </a:p>
          <a:p>
            <a:r>
              <a:rPr lang="en-US" dirty="0" smtClean="0"/>
              <a:t>Bandwidth </a:t>
            </a:r>
            <a:r>
              <a:rPr lang="en-US" dirty="0"/>
              <a:t>is equal to the rate of information transfer or transmission rate, which is equal to amount of information that is communicated from the source to the destination in a fixed amount of time typically one second. </a:t>
            </a:r>
          </a:p>
          <a:p>
            <a:r>
              <a:rPr lang="en-US" dirty="0" smtClean="0"/>
              <a:t>Bandwidth </a:t>
            </a:r>
            <a:r>
              <a:rPr lang="en-US" dirty="0"/>
              <a:t>is also a measure of transmission capacity of a communication medium. </a:t>
            </a:r>
          </a:p>
          <a:p>
            <a:r>
              <a:rPr lang="en-US" dirty="0" smtClean="0"/>
              <a:t>There </a:t>
            </a:r>
            <a:r>
              <a:rPr lang="en-US" dirty="0"/>
              <a:t>is a general rule that relates bandwidth and information capacity. </a:t>
            </a:r>
          </a:p>
          <a:p>
            <a:r>
              <a:rPr lang="en-US" dirty="0"/>
              <a:t>Hartley’s Law, </a:t>
            </a:r>
            <a:r>
              <a:rPr lang="en-US" dirty="0" smtClean="0"/>
              <a:t>states </a:t>
            </a:r>
            <a:r>
              <a:rPr lang="en-US" dirty="0"/>
              <a:t>that the amount of information that can be transmitted in a given time is directly proportional to the </a:t>
            </a:r>
            <a:r>
              <a:rPr lang="en-US" dirty="0" smtClean="0"/>
              <a:t>bandwidth. </a:t>
            </a:r>
            <a:endParaRPr lang="en-US" dirty="0"/>
          </a:p>
          <a:p>
            <a:endParaRPr lang="en-US" dirty="0"/>
          </a:p>
          <a:p>
            <a:endParaRPr lang="en-US" dirty="0" smtClean="0"/>
          </a:p>
          <a:p>
            <a:endParaRPr lang="en-US" dirty="0"/>
          </a:p>
        </p:txBody>
      </p:sp>
    </p:spTree>
    <p:extLst>
      <p:ext uri="{BB962C8B-B14F-4D97-AF65-F5344CB8AC3E}">
        <p14:creationId xmlns:p14="http://schemas.microsoft.com/office/powerpoint/2010/main" xmlns="" val="26695910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533400"/>
            <a:ext cx="7498080" cy="5943600"/>
          </a:xfrm>
        </p:spPr>
        <p:txBody>
          <a:bodyPr>
            <a:normAutofit fontScale="62500" lnSpcReduction="20000"/>
          </a:bodyPr>
          <a:lstStyle/>
          <a:p>
            <a:r>
              <a:rPr lang="en-US" dirty="0"/>
              <a:t>I</a:t>
            </a:r>
            <a:r>
              <a:rPr lang="en-US" dirty="0" smtClean="0"/>
              <a:t>t </a:t>
            </a:r>
            <a:r>
              <a:rPr lang="en-US" dirty="0"/>
              <a:t>is clear that the greater the channel bandwidth the greater the amount of information you can transmit in a given time.</a:t>
            </a:r>
          </a:p>
          <a:p>
            <a:r>
              <a:rPr lang="en-US" dirty="0"/>
              <a:t> You can still transmit the same information over a narrower channel except that it will take longer.</a:t>
            </a:r>
          </a:p>
          <a:p>
            <a:r>
              <a:rPr lang="en-US" dirty="0"/>
              <a:t> High bandwidth applications include:</a:t>
            </a:r>
          </a:p>
          <a:p>
            <a:pPr lvl="1"/>
            <a:r>
              <a:rPr lang="en-US" dirty="0"/>
              <a:t>Web browsing,</a:t>
            </a:r>
          </a:p>
          <a:p>
            <a:pPr lvl="1"/>
            <a:r>
              <a:rPr lang="en-US" dirty="0"/>
              <a:t>E-commerce</a:t>
            </a:r>
          </a:p>
          <a:p>
            <a:pPr lvl="1"/>
            <a:r>
              <a:rPr lang="en-US" dirty="0"/>
              <a:t>Audio and video streaming</a:t>
            </a:r>
          </a:p>
          <a:p>
            <a:pPr lvl="1"/>
            <a:r>
              <a:rPr lang="en-US" dirty="0"/>
              <a:t>Real time document sharing</a:t>
            </a:r>
          </a:p>
          <a:p>
            <a:pPr lvl="1"/>
            <a:r>
              <a:rPr lang="en-US" dirty="0"/>
              <a:t>Video conferencing</a:t>
            </a:r>
          </a:p>
          <a:p>
            <a:pPr lvl="1"/>
            <a:r>
              <a:rPr lang="en-US" dirty="0"/>
              <a:t>On line gaming</a:t>
            </a:r>
          </a:p>
          <a:p>
            <a:pPr lvl="1"/>
            <a:r>
              <a:rPr lang="en-US" dirty="0"/>
              <a:t>Digital </a:t>
            </a:r>
            <a:r>
              <a:rPr lang="en-US" dirty="0" smtClean="0"/>
              <a:t>TV</a:t>
            </a:r>
            <a:endParaRPr lang="en-US" dirty="0"/>
          </a:p>
          <a:p>
            <a:r>
              <a:rPr lang="en-US" dirty="0"/>
              <a:t>For digital devices, the bandwidth is expressed as bits per second (bps).  </a:t>
            </a:r>
          </a:p>
          <a:p>
            <a:r>
              <a:rPr lang="en-US" dirty="0"/>
              <a:t>For analog devices, bandwidth is expressed in cycles per second or Hertz (Hz). </a:t>
            </a:r>
          </a:p>
          <a:p>
            <a:r>
              <a:rPr lang="en-US" dirty="0"/>
              <a:t>This type of bandwidth is measured in hertz and is often referenced in signal processing applications.</a:t>
            </a:r>
          </a:p>
          <a:p>
            <a:r>
              <a:rPr lang="en-US" dirty="0"/>
              <a:t>Bandwidth measures how much data can flow through a specific connection at one time</a:t>
            </a:r>
            <a:r>
              <a:rPr lang="en-US" dirty="0" smtClean="0"/>
              <a:t>.</a:t>
            </a:r>
            <a:endParaRPr lang="en-US" dirty="0"/>
          </a:p>
        </p:txBody>
      </p:sp>
    </p:spTree>
    <p:extLst>
      <p:ext uri="{BB962C8B-B14F-4D97-AF65-F5344CB8AC3E}">
        <p14:creationId xmlns:p14="http://schemas.microsoft.com/office/powerpoint/2010/main" xmlns="" val="90480409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4236</TotalTime>
  <Words>2141</Words>
  <Application>Microsoft Office PowerPoint</Application>
  <PresentationFormat>On-screen Show (4:3)</PresentationFormat>
  <Paragraphs>190</Paragraphs>
  <Slides>30</Slides>
  <Notes>0</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Solstice</vt:lpstr>
      <vt:lpstr>DATA AND SIGNALS</vt:lpstr>
      <vt:lpstr>Data communication</vt:lpstr>
      <vt:lpstr>Characteristics of data communicaton</vt:lpstr>
      <vt:lpstr>5 Basic Components</vt:lpstr>
      <vt:lpstr>5 Basic Components </vt:lpstr>
      <vt:lpstr>Data Transmission</vt:lpstr>
      <vt:lpstr>Transmission Mode</vt:lpstr>
      <vt:lpstr>Parallel Transmission</vt:lpstr>
      <vt:lpstr>Parallel Transmission</vt:lpstr>
      <vt:lpstr>Slide 10</vt:lpstr>
      <vt:lpstr>Serial Transmission</vt:lpstr>
      <vt:lpstr>Serial Transmission</vt:lpstr>
      <vt:lpstr>Timing of Serial Transmission</vt:lpstr>
      <vt:lpstr>Asynchronous Transmission</vt:lpstr>
      <vt:lpstr>Asynchronous</vt:lpstr>
      <vt:lpstr>Slide 16</vt:lpstr>
      <vt:lpstr>Synchronous</vt:lpstr>
      <vt:lpstr>Slide 18</vt:lpstr>
      <vt:lpstr>Simplex, Half-Duplex and Full-Duplex Transmission</vt:lpstr>
      <vt:lpstr>Simplex Mode</vt:lpstr>
      <vt:lpstr>Half Duplex</vt:lpstr>
      <vt:lpstr>Full Duplex</vt:lpstr>
      <vt:lpstr>Slide 23</vt:lpstr>
      <vt:lpstr>Slide 24</vt:lpstr>
      <vt:lpstr>Slide 25</vt:lpstr>
      <vt:lpstr>Slide 26</vt:lpstr>
      <vt:lpstr>Slide 27</vt:lpstr>
      <vt:lpstr>Transmission rate and Bandwidth</vt:lpstr>
      <vt:lpstr>Slide 29</vt:lpstr>
      <vt:lpstr>Slide 30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AND SIGNALS</dc:title>
  <dc:creator>FAIR</dc:creator>
  <cp:lastModifiedBy>Chimphelo</cp:lastModifiedBy>
  <cp:revision>269</cp:revision>
  <dcterms:created xsi:type="dcterms:W3CDTF">2014-09-22T18:53:36Z</dcterms:created>
  <dcterms:modified xsi:type="dcterms:W3CDTF">2015-11-12T10:25:03Z</dcterms:modified>
</cp:coreProperties>
</file>