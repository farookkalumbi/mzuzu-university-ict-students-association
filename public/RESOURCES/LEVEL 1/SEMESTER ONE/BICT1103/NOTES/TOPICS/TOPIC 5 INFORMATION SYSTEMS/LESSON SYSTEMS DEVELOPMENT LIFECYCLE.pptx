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06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0CFCD93-45A9-42C8-ACD0-08FAC0D0C95C}" type="datetimeFigureOut">
              <a:rPr lang="en-GB" smtClean="0"/>
              <a:t>14/10/2016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F7D2594-6F57-45F6-9A32-3332ED5B4196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Systems Development Life Cycle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61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At </a:t>
            </a:r>
            <a:r>
              <a:rPr lang="en-GB" dirty="0"/>
              <a:t>some stage, most businesses will need a new computerized system to help them with their day to day tasks. </a:t>
            </a:r>
          </a:p>
          <a:p>
            <a:r>
              <a:rPr lang="en-GB" dirty="0" smtClean="0"/>
              <a:t>This </a:t>
            </a:r>
            <a:r>
              <a:rPr lang="en-GB" dirty="0"/>
              <a:t>could be a system to keep track of all the students' names, addresses, telephone numbers and grades, or it could be a new system for an online </a:t>
            </a:r>
            <a:r>
              <a:rPr lang="en-GB" dirty="0" smtClean="0"/>
              <a:t>banking </a:t>
            </a:r>
            <a:r>
              <a:rPr lang="en-GB" dirty="0"/>
              <a:t>to let customers open a new account </a:t>
            </a:r>
            <a:endParaRPr lang="en-GB" dirty="0" smtClean="0"/>
          </a:p>
          <a:p>
            <a:r>
              <a:rPr lang="en-GB" dirty="0" smtClean="0"/>
              <a:t>System development life cycle gives a framework for planning and managing a software development project.</a:t>
            </a:r>
          </a:p>
          <a:p>
            <a:r>
              <a:rPr lang="en-GB" dirty="0" smtClean="0"/>
              <a:t>It shows what should be done, when and by whom.</a:t>
            </a:r>
          </a:p>
          <a:p>
            <a:r>
              <a:rPr lang="en-GB" dirty="0" smtClean="0"/>
              <a:t>A SDLC divides a development project into phases and shows how each of these phases relate to the others.</a:t>
            </a:r>
          </a:p>
          <a:p>
            <a:r>
              <a:rPr lang="en-GB" dirty="0" smtClean="0"/>
              <a:t>Each of these phases may require different skills , so the SDLC can also show us where programmers or systems analysts (or other skill) will be needed.</a:t>
            </a:r>
          </a:p>
          <a:p>
            <a:r>
              <a:rPr lang="en-GB" dirty="0" smtClean="0"/>
              <a:t>SDLC provides a convenient template for a project plan, something that is of value to the project manager</a:t>
            </a:r>
          </a:p>
          <a:p>
            <a:pPr marL="82296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714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Feasibility Study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49552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A preliminary investigation of a project, to decide whether it will be cost effective, will realise the benefits that are expected and be technically feasible.</a:t>
            </a:r>
            <a:endParaRPr lang="en-GB" dirty="0"/>
          </a:p>
          <a:p>
            <a:r>
              <a:rPr lang="en-GB" dirty="0"/>
              <a:t>During this stage, the company has to decide </a:t>
            </a:r>
            <a:r>
              <a:rPr lang="en-GB" dirty="0" smtClean="0"/>
              <a:t>whether </a:t>
            </a:r>
            <a:r>
              <a:rPr lang="en-GB" dirty="0"/>
              <a:t>there is a need for the system and </a:t>
            </a:r>
            <a:endParaRPr lang="en-GB" dirty="0" smtClean="0"/>
          </a:p>
          <a:p>
            <a:r>
              <a:rPr lang="en-GB" dirty="0" smtClean="0"/>
              <a:t>secondly</a:t>
            </a:r>
            <a:r>
              <a:rPr lang="en-GB" dirty="0"/>
              <a:t>, if there is a need, can the cost of the system be justified against the benefits that it will bring. </a:t>
            </a:r>
            <a:endParaRPr lang="en-GB" dirty="0" smtClean="0"/>
          </a:p>
          <a:p>
            <a:r>
              <a:rPr lang="en-GB" dirty="0" smtClean="0"/>
              <a:t>It is often criticised as being unnecessary and delaying the start of the project.</a:t>
            </a:r>
          </a:p>
          <a:p>
            <a:r>
              <a:rPr lang="en-GB" dirty="0" smtClean="0"/>
              <a:t>It should be seen as a risk analysis and reduction measure.</a:t>
            </a:r>
          </a:p>
          <a:p>
            <a:r>
              <a:rPr lang="en-GB" dirty="0" smtClean="0"/>
              <a:t>Allows a better appreciation of the risks that may be inherent (existing) in the project and then plan to reduce those risks accordingly.</a:t>
            </a:r>
          </a:p>
          <a:p>
            <a:r>
              <a:rPr lang="en-GB" dirty="0" smtClean="0"/>
              <a:t>During this process a better understanding of the time and resources that will be required in the full project so that a better project can be produced. 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0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Requirements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Is concerned with discovering what the new system is required to do.</a:t>
            </a:r>
          </a:p>
          <a:p>
            <a:r>
              <a:rPr lang="en-GB" dirty="0" smtClean="0"/>
              <a:t>Some requirements are already known from Feasibility Study but those may not be sufficient to start building a new system.</a:t>
            </a:r>
          </a:p>
          <a:p>
            <a:r>
              <a:rPr lang="en-GB" dirty="0" smtClean="0"/>
              <a:t>Start this stage by examining an existing system.</a:t>
            </a:r>
          </a:p>
          <a:p>
            <a:r>
              <a:rPr lang="en-GB" dirty="0" smtClean="0"/>
              <a:t>This provides a lot of information about how that system works and becomes the basis of the requirements definition for the new system.</a:t>
            </a:r>
          </a:p>
          <a:p>
            <a:r>
              <a:rPr lang="en-GB" dirty="0" smtClean="0"/>
              <a:t>Note that an existing system does not necessarily mean a computer system.</a:t>
            </a:r>
            <a:endParaRPr lang="en-GB" dirty="0"/>
          </a:p>
          <a:p>
            <a:r>
              <a:rPr lang="en-GB" dirty="0" smtClean="0"/>
              <a:t>The outcome from this stage </a:t>
            </a:r>
            <a:r>
              <a:rPr lang="en-GB" dirty="0"/>
              <a:t>is a </a:t>
            </a:r>
            <a:r>
              <a:rPr lang="en-GB" dirty="0" smtClean="0"/>
              <a:t>series of different documents that model or describe the existing system and describe business options that are available to implement the system.</a:t>
            </a:r>
          </a:p>
        </p:txBody>
      </p:sp>
    </p:spTree>
    <p:extLst>
      <p:ext uri="{BB962C8B-B14F-4D97-AF65-F5344CB8AC3E}">
        <p14:creationId xmlns:p14="http://schemas.microsoft.com/office/powerpoint/2010/main" val="173842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Requirements Specification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This stage is concerned  with converting the output of Requirements Analysis stage into a specification (description) that reflects what the new system is required to do.</a:t>
            </a:r>
          </a:p>
          <a:p>
            <a:r>
              <a:rPr lang="en-GB" dirty="0" smtClean="0"/>
              <a:t>This involves some further modelling activities that looks very closely at:</a:t>
            </a:r>
          </a:p>
          <a:p>
            <a:pPr lvl="1"/>
            <a:r>
              <a:rPr lang="en-GB" dirty="0" smtClean="0"/>
              <a:t>The functions that the system is required to perform.</a:t>
            </a:r>
          </a:p>
          <a:p>
            <a:pPr lvl="1"/>
            <a:r>
              <a:rPr lang="en-GB" dirty="0" smtClean="0"/>
              <a:t>The data that underlies the required system.</a:t>
            </a:r>
          </a:p>
          <a:p>
            <a:pPr lvl="1"/>
            <a:r>
              <a:rPr lang="en-GB" dirty="0" smtClean="0"/>
              <a:t>How data changes over time as a result of events.</a:t>
            </a:r>
          </a:p>
          <a:p>
            <a:r>
              <a:rPr lang="en-GB" dirty="0" smtClean="0"/>
              <a:t>This stage should result in an acceptance of the requirements for the new system.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994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Logical Design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Logical design (this stage) is concerned with how the system will work, without the choice of technical architecture.</a:t>
            </a:r>
          </a:p>
          <a:p>
            <a:r>
              <a:rPr lang="en-GB" dirty="0" smtClean="0"/>
              <a:t>Logical design could be implemented on a different type of computer platform without needing total revision.</a:t>
            </a:r>
          </a:p>
          <a:p>
            <a:r>
              <a:rPr lang="en-US" b="1" dirty="0"/>
              <a:t>Logical design </a:t>
            </a:r>
            <a:r>
              <a:rPr lang="en-US" dirty="0"/>
              <a:t>shows the flow of data through an information system.</a:t>
            </a:r>
            <a:endParaRPr lang="en-GB" dirty="0" smtClean="0"/>
          </a:p>
          <a:p>
            <a:r>
              <a:rPr lang="en-GB" dirty="0" smtClean="0"/>
              <a:t>Logical design includes aspect such as:  </a:t>
            </a:r>
          </a:p>
          <a:p>
            <a:pPr lvl="1"/>
            <a:r>
              <a:rPr lang="en-GB" dirty="0" smtClean="0"/>
              <a:t>Dialogue design – the screen interface with the users of the system.</a:t>
            </a:r>
          </a:p>
          <a:p>
            <a:pPr lvl="1"/>
            <a:r>
              <a:rPr lang="en-GB" dirty="0" smtClean="0"/>
              <a:t>Update processes – processes that change the underlying system data.</a:t>
            </a:r>
          </a:p>
          <a:p>
            <a:pPr lvl="1"/>
            <a:r>
              <a:rPr lang="en-GB" dirty="0" smtClean="0"/>
              <a:t>Enquiry processes – the extraction of useful information from the system data.</a:t>
            </a:r>
          </a:p>
          <a:p>
            <a:r>
              <a:rPr lang="en-GB" dirty="0" smtClean="0"/>
              <a:t>Dialogue design will influence how the system looks and behaves to its users.</a:t>
            </a:r>
          </a:p>
          <a:p>
            <a:pPr marL="82296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39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Physical Design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The stage where all design decisions are made that are dependent on physical system architecture.</a:t>
            </a:r>
          </a:p>
          <a:p>
            <a:r>
              <a:rPr lang="en-GB" dirty="0" smtClean="0"/>
              <a:t>The primary users of this work will be programmers who will implement the design</a:t>
            </a:r>
            <a:r>
              <a:rPr lang="en-GB" dirty="0"/>
              <a:t>.</a:t>
            </a:r>
            <a:endParaRPr lang="en-GB" dirty="0" smtClean="0"/>
          </a:p>
          <a:p>
            <a:r>
              <a:rPr lang="en-GB" dirty="0"/>
              <a:t>I</a:t>
            </a:r>
            <a:r>
              <a:rPr lang="en-GB" dirty="0" smtClean="0"/>
              <a:t>t is important that physical design stage provides all information that programmers will require.</a:t>
            </a:r>
          </a:p>
          <a:p>
            <a:r>
              <a:rPr lang="en-US" b="1" dirty="0" smtClean="0"/>
              <a:t>Physical </a:t>
            </a:r>
            <a:r>
              <a:rPr lang="en-US" b="1" dirty="0"/>
              <a:t>design </a:t>
            </a:r>
            <a:r>
              <a:rPr lang="en-US" dirty="0"/>
              <a:t>refers to how the tasks are accomplished, including how </a:t>
            </a:r>
            <a:r>
              <a:rPr lang="en-US" dirty="0" smtClean="0"/>
              <a:t>the components </a:t>
            </a:r>
            <a:r>
              <a:rPr lang="en-US" dirty="0"/>
              <a:t>work together and what each component does.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purpose of </a:t>
            </a:r>
            <a:r>
              <a:rPr lang="en-US" dirty="0" smtClean="0"/>
              <a:t>physical design </a:t>
            </a:r>
            <a:r>
              <a:rPr lang="en-US" dirty="0"/>
              <a:t>stage is to convert the system </a:t>
            </a:r>
            <a:r>
              <a:rPr lang="en-US" dirty="0" smtClean="0"/>
              <a:t>proposal </a:t>
            </a:r>
            <a:r>
              <a:rPr lang="en-US" dirty="0"/>
              <a:t>into the specific hardware and </a:t>
            </a:r>
            <a:r>
              <a:rPr lang="en-US" dirty="0" smtClean="0"/>
              <a:t>computer programs </a:t>
            </a:r>
            <a:r>
              <a:rPr lang="en-US" dirty="0"/>
              <a:t>that transform the logical design into a working information system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70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In this stage the programmer convert the specification into efficient, maintainable program code according to the standard that are used by the organisation.</a:t>
            </a:r>
          </a:p>
          <a:p>
            <a:r>
              <a:rPr lang="en-GB" dirty="0" smtClean="0"/>
              <a:t>Most program code will be repetitious focusing on managing screen interaction and some underlying processing.</a:t>
            </a:r>
          </a:p>
          <a:p>
            <a:r>
              <a:rPr lang="en-GB" dirty="0" smtClean="0"/>
              <a:t>Coding is not carried out in one enormous monolithic chunk.</a:t>
            </a:r>
          </a:p>
          <a:p>
            <a:r>
              <a:rPr lang="en-GB" dirty="0" smtClean="0"/>
              <a:t>Program code is written in short pieces that carry out a single well defined function.</a:t>
            </a:r>
          </a:p>
          <a:p>
            <a:r>
              <a:rPr lang="en-GB" dirty="0" smtClean="0"/>
              <a:t>These program units are then integrated together. </a:t>
            </a:r>
          </a:p>
          <a:p>
            <a:r>
              <a:rPr lang="en-GB" dirty="0" smtClean="0"/>
              <a:t>This has consequences for the testing phase.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995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There are several different forms of testing.</a:t>
            </a:r>
          </a:p>
          <a:p>
            <a:r>
              <a:rPr lang="en-GB" dirty="0" smtClean="0"/>
              <a:t>The first is Unit Testing which is done by the programmer responsible for the program unit.</a:t>
            </a:r>
          </a:p>
          <a:p>
            <a:r>
              <a:rPr lang="en-GB" dirty="0" smtClean="0"/>
              <a:t>As the system is assembled, further testing is carried out on the system again by the programing team.</a:t>
            </a:r>
          </a:p>
          <a:p>
            <a:r>
              <a:rPr lang="en-GB" dirty="0" smtClean="0"/>
              <a:t>Eventually, the whole system is ready for testing as a system.</a:t>
            </a:r>
          </a:p>
          <a:p>
            <a:r>
              <a:rPr lang="en-GB" dirty="0" smtClean="0"/>
              <a:t>Further testing may be carried out by another test team and or by the business function for which the system was developed.</a:t>
            </a:r>
          </a:p>
          <a:p>
            <a:r>
              <a:rPr lang="en-GB" dirty="0" smtClean="0"/>
              <a:t>Testing is a large and very important part of the system development life cycle.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56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</a:t>
            </a:r>
            <a:r>
              <a:rPr lang="en-GB" dirty="0" smtClean="0"/>
              <a:t>mplementation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077544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This is where the system is introduced into user environment.</a:t>
            </a:r>
          </a:p>
          <a:p>
            <a:r>
              <a:rPr lang="en-GB" dirty="0" smtClean="0"/>
              <a:t>Implementation stage consists of a lot of connected activities:</a:t>
            </a:r>
          </a:p>
          <a:p>
            <a:pPr lvl="1"/>
            <a:r>
              <a:rPr lang="en-GB" dirty="0" smtClean="0"/>
              <a:t>New computer equipment may be needed.  If so this will need installing and testing.</a:t>
            </a:r>
          </a:p>
          <a:p>
            <a:pPr lvl="1"/>
            <a:r>
              <a:rPr lang="en-GB" dirty="0" smtClean="0"/>
              <a:t>Users need to be trained, often on a special isolated training system where no damage to real data can be done.</a:t>
            </a:r>
          </a:p>
          <a:p>
            <a:pPr lvl="1"/>
            <a:r>
              <a:rPr lang="en-GB" dirty="0" smtClean="0"/>
              <a:t>The system is installed on the target computer system.</a:t>
            </a:r>
          </a:p>
          <a:p>
            <a:pPr lvl="1"/>
            <a:r>
              <a:rPr lang="en-GB" dirty="0" smtClean="0"/>
              <a:t>Data may need to be transferred from old system</a:t>
            </a:r>
          </a:p>
          <a:p>
            <a:pPr lvl="1"/>
            <a:r>
              <a:rPr lang="en-GB" dirty="0" smtClean="0"/>
              <a:t>New data may need to be entered.</a:t>
            </a:r>
          </a:p>
          <a:p>
            <a:pPr lvl="1"/>
            <a:r>
              <a:rPr lang="en-GB" dirty="0" smtClean="0"/>
              <a:t>The old system and the new system may need to run in parallel for a period to ensure that the new system is performing correctly.</a:t>
            </a:r>
          </a:p>
          <a:p>
            <a:r>
              <a:rPr lang="en-GB" dirty="0" smtClean="0"/>
              <a:t>Implementation phase is terminated by a formal acceptance process, when the Business Manager declares that he/she is satisfied what the system meets its objectives.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27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4664"/>
            <a:ext cx="7498080" cy="6120680"/>
          </a:xfrm>
        </p:spPr>
        <p:txBody>
          <a:bodyPr>
            <a:normAutofit fontScale="70000" lnSpcReduction="20000"/>
          </a:bodyPr>
          <a:lstStyle/>
          <a:p>
            <a:r>
              <a:rPr lang="en-GB" sz="2900" dirty="0" smtClean="0"/>
              <a:t>There </a:t>
            </a:r>
            <a:r>
              <a:rPr lang="en-GB" sz="2900" dirty="0"/>
              <a:t>are three different ways that you can implement (install) a new </a:t>
            </a:r>
            <a:r>
              <a:rPr lang="en-GB" sz="2900" dirty="0" smtClean="0"/>
              <a:t>system: </a:t>
            </a:r>
          </a:p>
          <a:p>
            <a:pPr lvl="1"/>
            <a:r>
              <a:rPr lang="en-GB" sz="3100" dirty="0" smtClean="0"/>
              <a:t>1) Direct </a:t>
            </a:r>
            <a:r>
              <a:rPr lang="en-GB" sz="3100" dirty="0"/>
              <a:t>Changeover- Switch off the old system and switch on the new. </a:t>
            </a:r>
          </a:p>
          <a:p>
            <a:pPr lvl="2"/>
            <a:r>
              <a:rPr lang="en-US" sz="2900" dirty="0" smtClean="0"/>
              <a:t>an </a:t>
            </a:r>
            <a:r>
              <a:rPr lang="en-US" sz="2900" dirty="0"/>
              <a:t>existing information system is replaced by a </a:t>
            </a:r>
            <a:r>
              <a:rPr lang="en-US" sz="2900" dirty="0" smtClean="0"/>
              <a:t>new information </a:t>
            </a:r>
            <a:r>
              <a:rPr lang="en-US" sz="2900" dirty="0"/>
              <a:t>system as of a certain date; the old system is no longer used.</a:t>
            </a:r>
            <a:endParaRPr lang="en-GB" sz="2900" dirty="0"/>
          </a:p>
          <a:p>
            <a:pPr lvl="1"/>
            <a:r>
              <a:rPr lang="en-GB" sz="3100" dirty="0" smtClean="0"/>
              <a:t>2</a:t>
            </a:r>
            <a:r>
              <a:rPr lang="en-GB" sz="3100" dirty="0"/>
              <a:t>) Parallel Running- You run the old and new system in parallel for a time. </a:t>
            </a:r>
          </a:p>
          <a:p>
            <a:pPr lvl="2"/>
            <a:r>
              <a:rPr lang="en-US" sz="2900" dirty="0" smtClean="0"/>
              <a:t>both </a:t>
            </a:r>
            <a:r>
              <a:rPr lang="en-US" sz="2900" dirty="0"/>
              <a:t>new and old information systems are used for a certain period of </a:t>
            </a:r>
            <a:r>
              <a:rPr lang="en-US" sz="2900" dirty="0" smtClean="0"/>
              <a:t>time, after </a:t>
            </a:r>
            <a:r>
              <a:rPr lang="en-US" sz="2900" dirty="0"/>
              <a:t>which the old system is no longer used.</a:t>
            </a:r>
            <a:endParaRPr lang="en-GB" sz="2900" dirty="0"/>
          </a:p>
          <a:p>
            <a:pPr lvl="1"/>
            <a:r>
              <a:rPr lang="en-GB" sz="3100" dirty="0" smtClean="0"/>
              <a:t>3</a:t>
            </a:r>
            <a:r>
              <a:rPr lang="en-GB" sz="3100" dirty="0"/>
              <a:t>) Phased Implementation- You run only part of the new system </a:t>
            </a:r>
            <a:endParaRPr lang="en-GB" sz="3100" dirty="0" smtClean="0"/>
          </a:p>
          <a:p>
            <a:pPr lvl="2"/>
            <a:r>
              <a:rPr lang="en-US" sz="2900" dirty="0"/>
              <a:t>the </a:t>
            </a:r>
            <a:r>
              <a:rPr lang="en-US" sz="2900" dirty="0" smtClean="0"/>
              <a:t>new information </a:t>
            </a:r>
            <a:r>
              <a:rPr lang="en-US" sz="2900" dirty="0"/>
              <a:t>system is installed in phases, or segments. </a:t>
            </a:r>
            <a:r>
              <a:rPr lang="en-US" sz="2900" dirty="0" smtClean="0"/>
              <a:t> As </a:t>
            </a:r>
            <a:r>
              <a:rPr lang="en-US" sz="2900" dirty="0"/>
              <a:t>individual segments of </a:t>
            </a:r>
            <a:r>
              <a:rPr lang="en-US" sz="2900" dirty="0" smtClean="0"/>
              <a:t>the system </a:t>
            </a:r>
            <a:r>
              <a:rPr lang="en-US" sz="2900" dirty="0"/>
              <a:t>are developed, they are installed and used</a:t>
            </a:r>
            <a:r>
              <a:rPr lang="en-US" sz="2900" dirty="0" smtClean="0"/>
              <a:t>.</a:t>
            </a:r>
          </a:p>
          <a:p>
            <a:r>
              <a:rPr lang="en-US" sz="2900" dirty="0"/>
              <a:t>If </a:t>
            </a:r>
            <a:r>
              <a:rPr lang="en-US" sz="2900" dirty="0" smtClean="0"/>
              <a:t>the system </a:t>
            </a:r>
            <a:r>
              <a:rPr lang="en-US" sz="2900" dirty="0"/>
              <a:t>is to be used </a:t>
            </a:r>
            <a:r>
              <a:rPr lang="en-US" sz="2900" dirty="0" smtClean="0"/>
              <a:t>in multiple </a:t>
            </a:r>
            <a:r>
              <a:rPr lang="en-US" sz="2900" dirty="0"/>
              <a:t>locations, </a:t>
            </a:r>
            <a:r>
              <a:rPr lang="en-US" sz="2900" b="1" dirty="0"/>
              <a:t>pilot conversion </a:t>
            </a:r>
            <a:r>
              <a:rPr lang="en-US" sz="2900" dirty="0"/>
              <a:t>may prove safe and economical. </a:t>
            </a:r>
            <a:endParaRPr lang="en-US" sz="2900" dirty="0" smtClean="0"/>
          </a:p>
          <a:p>
            <a:r>
              <a:rPr lang="en-US" sz="2900" dirty="0" smtClean="0"/>
              <a:t>With pilot conversion</a:t>
            </a:r>
            <a:r>
              <a:rPr lang="en-US" sz="2900" dirty="0"/>
              <a:t>, a new system is installed in one location and tried there before it is installed </a:t>
            </a:r>
            <a:r>
              <a:rPr lang="en-US" sz="2900" dirty="0" smtClean="0"/>
              <a:t>in other </a:t>
            </a:r>
            <a:r>
              <a:rPr lang="en-US" sz="2900" dirty="0"/>
              <a:t>locations.</a:t>
            </a:r>
            <a:endParaRPr lang="en-GB" sz="29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85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Maintenance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Maintenance stage begins once the implementation is complete.</a:t>
            </a:r>
          </a:p>
          <a:p>
            <a:r>
              <a:rPr lang="en-GB" dirty="0" smtClean="0"/>
              <a:t>Maintenance may be carried out by programmers as a part time activity by programmers.</a:t>
            </a:r>
            <a:endParaRPr lang="en-GB" dirty="0"/>
          </a:p>
          <a:p>
            <a:r>
              <a:rPr lang="en-GB" dirty="0"/>
              <a:t>Over time, bugs will be discovered that weren't picked up </a:t>
            </a:r>
            <a:r>
              <a:rPr lang="en-GB" dirty="0" smtClean="0"/>
              <a:t>during testing period. </a:t>
            </a:r>
            <a:endParaRPr lang="en-GB" dirty="0"/>
          </a:p>
          <a:p>
            <a:r>
              <a:rPr lang="en-GB" dirty="0" smtClean="0"/>
              <a:t>These </a:t>
            </a:r>
            <a:r>
              <a:rPr lang="en-GB" dirty="0"/>
              <a:t>will need to be fixed. </a:t>
            </a:r>
            <a:endParaRPr lang="en-GB" dirty="0" smtClean="0"/>
          </a:p>
          <a:p>
            <a:r>
              <a:rPr lang="en-GB" dirty="0" smtClean="0"/>
              <a:t>Staff </a:t>
            </a:r>
            <a:r>
              <a:rPr lang="en-GB" dirty="0"/>
              <a:t>or developers will identify parts of the system which could be tweaked to work more efficiently. </a:t>
            </a:r>
          </a:p>
          <a:p>
            <a:r>
              <a:rPr lang="en-GB" dirty="0" smtClean="0"/>
              <a:t>Larger </a:t>
            </a:r>
            <a:r>
              <a:rPr lang="en-GB" dirty="0"/>
              <a:t>changes might need to be made to the system. </a:t>
            </a:r>
          </a:p>
          <a:p>
            <a:r>
              <a:rPr lang="en-GB" dirty="0" smtClean="0"/>
              <a:t>Perhaps </a:t>
            </a:r>
            <a:r>
              <a:rPr lang="en-GB" dirty="0"/>
              <a:t>extra functionality or maybe changes in working practices or the law might mean that parts of the system have to be altered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368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Phase 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Phase </a:t>
            </a:r>
            <a:r>
              <a:rPr lang="en-GB" dirty="0" smtClean="0"/>
              <a:t>Out occurs when it is no longer feasible to continue using the system and it is disconnected in an orderly fashion.</a:t>
            </a:r>
          </a:p>
          <a:p>
            <a:r>
              <a:rPr lang="en-GB" dirty="0" smtClean="0"/>
              <a:t>There are several reasons why phase out occurs:</a:t>
            </a:r>
          </a:p>
          <a:p>
            <a:pPr lvl="1"/>
            <a:r>
              <a:rPr lang="en-GB" dirty="0" smtClean="0"/>
              <a:t>Maintenance costs for the system have risen to the point where there are more economical alternatives.</a:t>
            </a:r>
          </a:p>
          <a:p>
            <a:pPr lvl="1"/>
            <a:r>
              <a:rPr lang="en-GB" dirty="0" smtClean="0"/>
              <a:t>The needs of the business or legislative environment have changed and it is not possible or financially justifiable to modify the system to meet the new requirements.</a:t>
            </a:r>
          </a:p>
          <a:p>
            <a:pPr lvl="1"/>
            <a:r>
              <a:rPr lang="en-GB" dirty="0" smtClean="0"/>
              <a:t>The company adopts a new IT strategy that mandates a different platform (hardware and operating system) on which the application will not run.</a:t>
            </a:r>
          </a:p>
          <a:p>
            <a:pPr lvl="1"/>
            <a:r>
              <a:rPr lang="en-GB" dirty="0" smtClean="0"/>
              <a:t>With application packages, the supplier may cease operating or withdraw support. </a:t>
            </a:r>
          </a:p>
        </p:txBody>
      </p:sp>
    </p:spTree>
    <p:extLst>
      <p:ext uri="{BB962C8B-B14F-4D97-AF65-F5344CB8AC3E}">
        <p14:creationId xmlns:p14="http://schemas.microsoft.com/office/powerpoint/2010/main" val="174245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GB" b="1" dirty="0"/>
              <a:t>SDLC </a:t>
            </a:r>
            <a:r>
              <a:rPr lang="en-GB" b="1" dirty="0" smtClean="0"/>
              <a:t>Models</a:t>
            </a:r>
          </a:p>
          <a:p>
            <a:r>
              <a:rPr lang="en-GB" dirty="0" smtClean="0"/>
              <a:t>There </a:t>
            </a:r>
            <a:r>
              <a:rPr lang="en-GB" dirty="0"/>
              <a:t>are various </a:t>
            </a:r>
            <a:r>
              <a:rPr lang="en-GB" dirty="0" smtClean="0"/>
              <a:t>system </a:t>
            </a:r>
            <a:r>
              <a:rPr lang="en-GB" dirty="0"/>
              <a:t>development life cycle models defined and designed which are followed during software development process. </a:t>
            </a:r>
            <a:endParaRPr lang="en-GB" dirty="0" smtClean="0"/>
          </a:p>
          <a:p>
            <a:pPr lvl="1"/>
            <a:r>
              <a:rPr lang="en-GB" i="1" dirty="0"/>
              <a:t>SDLC Model</a:t>
            </a:r>
            <a:r>
              <a:rPr lang="en-GB" dirty="0"/>
              <a:t>. A framework that describes the activities performed at each stage of a software development project.</a:t>
            </a:r>
            <a:endParaRPr lang="en-GB" dirty="0" smtClean="0"/>
          </a:p>
          <a:p>
            <a:r>
              <a:rPr lang="en-GB" dirty="0" smtClean="0"/>
              <a:t>These </a:t>
            </a:r>
            <a:r>
              <a:rPr lang="en-GB" dirty="0"/>
              <a:t>models are also referred as "Software Development Process Models". </a:t>
            </a:r>
            <a:endParaRPr lang="en-GB" dirty="0" smtClean="0"/>
          </a:p>
          <a:p>
            <a:r>
              <a:rPr lang="en-GB" dirty="0" smtClean="0"/>
              <a:t>Each </a:t>
            </a:r>
            <a:r>
              <a:rPr lang="en-GB" dirty="0"/>
              <a:t>process model follows a </a:t>
            </a:r>
            <a:r>
              <a:rPr lang="en-GB" dirty="0" smtClean="0"/>
              <a:t>series </a:t>
            </a:r>
            <a:r>
              <a:rPr lang="en-GB" dirty="0"/>
              <a:t>of steps unique to its type, in order to ensure success in process of software development.</a:t>
            </a:r>
          </a:p>
          <a:p>
            <a:r>
              <a:rPr lang="en-GB" dirty="0" smtClean="0"/>
              <a:t>The following </a:t>
            </a:r>
            <a:r>
              <a:rPr lang="en-GB" dirty="0"/>
              <a:t>are the most important and popular SDLC </a:t>
            </a:r>
            <a:r>
              <a:rPr lang="en-GB" dirty="0" smtClean="0"/>
              <a:t>models:</a:t>
            </a:r>
            <a:endParaRPr lang="en-GB" dirty="0"/>
          </a:p>
          <a:p>
            <a:pPr lvl="1"/>
            <a:r>
              <a:rPr lang="en-GB" dirty="0"/>
              <a:t>Waterfall Model</a:t>
            </a:r>
          </a:p>
          <a:p>
            <a:pPr lvl="1"/>
            <a:r>
              <a:rPr lang="en-GB" dirty="0"/>
              <a:t>Iterative Model</a:t>
            </a:r>
          </a:p>
          <a:p>
            <a:pPr lvl="1"/>
            <a:r>
              <a:rPr lang="en-GB" dirty="0"/>
              <a:t>Spiral Model</a:t>
            </a:r>
          </a:p>
          <a:p>
            <a:pPr lvl="1"/>
            <a:r>
              <a:rPr lang="en-GB" dirty="0"/>
              <a:t>V-Model</a:t>
            </a:r>
          </a:p>
          <a:p>
            <a:pPr lvl="1"/>
            <a:r>
              <a:rPr lang="en-GB" dirty="0"/>
              <a:t>Big Bang Model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878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517</TotalTime>
  <Words>1541</Words>
  <Application>Microsoft Office PowerPoint</Application>
  <PresentationFormat>On-screen Show (4:3)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Gill Sans MT</vt:lpstr>
      <vt:lpstr>Verdana</vt:lpstr>
      <vt:lpstr>Wingdings 2</vt:lpstr>
      <vt:lpstr>Solstice</vt:lpstr>
      <vt:lpstr>Systems Development Life Cycle</vt:lpstr>
      <vt:lpstr>PowerPoint Presentation</vt:lpstr>
      <vt:lpstr>Feasibility Study</vt:lpstr>
      <vt:lpstr>Requirements Analysis</vt:lpstr>
      <vt:lpstr>Requirements Specification</vt:lpstr>
      <vt:lpstr>Logical Design</vt:lpstr>
      <vt:lpstr>Physical Design</vt:lpstr>
      <vt:lpstr>Coding</vt:lpstr>
      <vt:lpstr>Testing</vt:lpstr>
      <vt:lpstr>Implementation</vt:lpstr>
      <vt:lpstr>PowerPoint Presentation</vt:lpstr>
      <vt:lpstr>Maintenance</vt:lpstr>
      <vt:lpstr>Phase Out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 1</dc:creator>
  <cp:lastModifiedBy>User</cp:lastModifiedBy>
  <cp:revision>36</cp:revision>
  <dcterms:created xsi:type="dcterms:W3CDTF">2015-02-10T06:24:51Z</dcterms:created>
  <dcterms:modified xsi:type="dcterms:W3CDTF">2016-10-14T07:11:59Z</dcterms:modified>
</cp:coreProperties>
</file>