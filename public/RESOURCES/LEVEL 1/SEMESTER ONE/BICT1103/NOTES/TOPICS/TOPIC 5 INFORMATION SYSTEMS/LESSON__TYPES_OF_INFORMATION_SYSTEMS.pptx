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84" r:id="rId1"/>
  </p:sldMasterIdLst>
  <p:sldIdLst>
    <p:sldId id="256" r:id="rId2"/>
    <p:sldId id="257" r:id="rId3"/>
    <p:sldId id="265" r:id="rId4"/>
    <p:sldId id="266" r:id="rId5"/>
    <p:sldId id="258" r:id="rId6"/>
    <p:sldId id="259" r:id="rId7"/>
    <p:sldId id="260" r:id="rId8"/>
    <p:sldId id="261" r:id="rId9"/>
    <p:sldId id="262" r:id="rId10"/>
    <p:sldId id="263" r:id="rId11"/>
    <p:sldId id="264" r:id="rId12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69" d="100"/>
          <a:sy n="69" d="100"/>
        </p:scale>
        <p:origin x="-1164" y="-108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itle 13"/>
          <p:cNvSpPr>
            <a:spLocks noGrp="1"/>
          </p:cNvSpPr>
          <p:nvPr>
            <p:ph type="ctrTitle"/>
          </p:nvPr>
        </p:nvSpPr>
        <p:spPr>
          <a:xfrm>
            <a:off x="1432560" y="359898"/>
            <a:ext cx="7406640" cy="1472184"/>
          </a:xfrm>
        </p:spPr>
        <p:txBody>
          <a:bodyPr anchor="b"/>
          <a:lstStyle>
            <a:lvl1pPr algn="l">
              <a:defRPr/>
            </a:lvl1pPr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22" name="Subtitle 21"/>
          <p:cNvSpPr>
            <a:spLocks noGrp="1"/>
          </p:cNvSpPr>
          <p:nvPr>
            <p:ph type="subTitle" idx="1"/>
          </p:nvPr>
        </p:nvSpPr>
        <p:spPr>
          <a:xfrm>
            <a:off x="1432560" y="1850064"/>
            <a:ext cx="7406640" cy="1752600"/>
          </a:xfrm>
        </p:spPr>
        <p:txBody>
          <a:bodyPr tIns="0"/>
          <a:lstStyle>
            <a:lvl1pPr marL="27432" indent="0" algn="l">
              <a:buNone/>
              <a:defRPr sz="2600">
                <a:solidFill>
                  <a:schemeClr val="tx2">
                    <a:shade val="30000"/>
                    <a:satMod val="150000"/>
                  </a:schemeClr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  <a:extLst/>
          </a:lstStyle>
          <a:p>
            <a:r>
              <a:rPr kumimoji="0" lang="en-US" smtClean="0"/>
              <a:t>Click to edit Master subtitle style</a:t>
            </a:r>
            <a:endParaRPr kumimoji="0"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B0921635-B110-4C40-BDA3-4816FA2CF831}" type="datetimeFigureOut">
              <a:rPr lang="en-GB" smtClean="0"/>
              <a:t>20/06/2015</a:t>
            </a:fld>
            <a:endParaRPr lang="en-GB"/>
          </a:p>
        </p:txBody>
      </p:sp>
      <p:sp>
        <p:nvSpPr>
          <p:cNvPr id="20" name="Footer Placeholder 19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GB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3F9BD9E4-2F6D-4A26-91F9-4AF8AF367D91}" type="slidenum">
              <a:rPr lang="en-GB" smtClean="0"/>
              <a:t>‹#›</a:t>
            </a:fld>
            <a:endParaRPr lang="en-GB"/>
          </a:p>
        </p:txBody>
      </p:sp>
      <p:sp>
        <p:nvSpPr>
          <p:cNvPr id="8" name="Oval 7"/>
          <p:cNvSpPr/>
          <p:nvPr/>
        </p:nvSpPr>
        <p:spPr>
          <a:xfrm>
            <a:off x="921433" y="1413802"/>
            <a:ext cx="210312" cy="210312"/>
          </a:xfrm>
          <a:prstGeom prst="ellipse">
            <a:avLst/>
          </a:prstGeom>
          <a:gradFill rotWithShape="1">
            <a:gsLst>
              <a:gs pos="0">
                <a:schemeClr val="accent1">
                  <a:tint val="20000"/>
                  <a:satMod val="450000"/>
                  <a:alpha val="95000"/>
                </a:schemeClr>
              </a:gs>
              <a:gs pos="50000">
                <a:schemeClr val="accent1">
                  <a:tint val="38000"/>
                  <a:satMod val="250000"/>
                  <a:alpha val="90000"/>
                </a:schemeClr>
              </a:gs>
              <a:gs pos="95000">
                <a:schemeClr val="accent1">
                  <a:tint val="75000"/>
                  <a:satMod val="255000"/>
                  <a:alpha val="88000"/>
                </a:schemeClr>
              </a:gs>
              <a:gs pos="100000">
                <a:schemeClr val="accent1">
                  <a:tint val="100000"/>
                  <a:shade val="90000"/>
                  <a:satMod val="255000"/>
                  <a:alpha val="85000"/>
                </a:schemeClr>
              </a:gs>
            </a:gsLst>
            <a:path path="circle">
              <a:fillToRect l="25000" t="12500" r="75000" b="87500"/>
            </a:path>
          </a:gradFill>
          <a:ln w="2000" cap="rnd" cmpd="sng" algn="ctr">
            <a:solidFill>
              <a:schemeClr val="accent1">
                <a:shade val="90000"/>
                <a:satMod val="110000"/>
                <a:alpha val="60000"/>
              </a:schemeClr>
            </a:solidFill>
            <a:prstDash val="solid"/>
          </a:ln>
          <a:effectLst/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9" name="Oval 8"/>
          <p:cNvSpPr/>
          <p:nvPr/>
        </p:nvSpPr>
        <p:spPr>
          <a:xfrm>
            <a:off x="1157176" y="1345016"/>
            <a:ext cx="64008" cy="64008"/>
          </a:xfrm>
          <a:prstGeom prst="ellipse">
            <a:avLst/>
          </a:prstGeom>
          <a:noFill/>
          <a:ln w="12700" cap="rnd" cmpd="sng" algn="ctr">
            <a:solidFill>
              <a:schemeClr val="accent1">
                <a:shade val="75000"/>
                <a:alpha val="60000"/>
              </a:schemeClr>
            </a:solidFill>
            <a:prstDash val="solid"/>
          </a:ln>
          <a:effectLst/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B0921635-B110-4C40-BDA3-4816FA2CF831}" type="datetimeFigureOut">
              <a:rPr lang="en-GB" smtClean="0"/>
              <a:t>20/06/2015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3F9BD9E4-2F6D-4A26-91F9-4AF8AF367D91}" type="slidenum">
              <a:rPr lang="en-GB" smtClean="0"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2282890" y="-54"/>
            <a:ext cx="6858000" cy="6858054"/>
          </a:xfrm>
          <a:prstGeom prst="rect">
            <a:avLst/>
          </a:prstGeom>
          <a:solidFill>
            <a:schemeClr val="bg1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78392" y="2600325"/>
            <a:ext cx="6400800" cy="2286000"/>
          </a:xfrm>
        </p:spPr>
        <p:txBody>
          <a:bodyPr anchor="t"/>
          <a:lstStyle>
            <a:lvl1pPr algn="l">
              <a:lnSpc>
                <a:spcPts val="4500"/>
              </a:lnSpc>
              <a:buNone/>
              <a:defRPr sz="4000" b="1" cap="all"/>
            </a:lvl1pPr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78392" y="1066800"/>
            <a:ext cx="6400800" cy="1509712"/>
          </a:xfrm>
        </p:spPr>
        <p:txBody>
          <a:bodyPr anchor="b"/>
          <a:lstStyle>
            <a:lvl1pPr marL="18288" indent="0">
              <a:lnSpc>
                <a:spcPts val="2300"/>
              </a:lnSpc>
              <a:spcBef>
                <a:spcPts val="0"/>
              </a:spcBef>
              <a:buNone/>
              <a:defRPr sz="2000">
                <a:solidFill>
                  <a:schemeClr val="tx2">
                    <a:shade val="30000"/>
                    <a:satMod val="150000"/>
                  </a:schemeClr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extLst/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B0921635-B110-4C40-BDA3-4816FA2CF831}" type="datetimeFigureOut">
              <a:rPr lang="en-GB" smtClean="0"/>
              <a:t>20/06/2015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3F9BD9E4-2F6D-4A26-91F9-4AF8AF367D91}" type="slidenum">
              <a:rPr lang="en-GB" smtClean="0"/>
              <a:t>‹#›</a:t>
            </a:fld>
            <a:endParaRPr lang="en-GB"/>
          </a:p>
        </p:txBody>
      </p:sp>
      <p:sp>
        <p:nvSpPr>
          <p:cNvPr id="10" name="Rectangle 9"/>
          <p:cNvSpPr/>
          <p:nvPr/>
        </p:nvSpPr>
        <p:spPr bwMode="invGray">
          <a:xfrm>
            <a:off x="2286000" y="0"/>
            <a:ext cx="76200" cy="6858054"/>
          </a:xfrm>
          <a:prstGeom prst="rect">
            <a:avLst/>
          </a:prstGeom>
          <a:solidFill>
            <a:schemeClr val="bg1"/>
          </a:solidFill>
          <a:ln w="25400" cap="rnd" cmpd="sng" algn="ctr">
            <a:noFill/>
            <a:prstDash val="solid"/>
          </a:ln>
          <a:effectLst>
            <a:outerShdw blurRad="38550" dist="38000" dir="10800000" algn="tl" rotWithShape="0">
              <a:schemeClr val="bg2">
                <a:shade val="20000"/>
                <a:satMod val="110000"/>
                <a:alpha val="25000"/>
              </a:scheme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8" name="Oval 7"/>
          <p:cNvSpPr/>
          <p:nvPr/>
        </p:nvSpPr>
        <p:spPr>
          <a:xfrm>
            <a:off x="2172321" y="2814656"/>
            <a:ext cx="210312" cy="210312"/>
          </a:xfrm>
          <a:prstGeom prst="ellipse">
            <a:avLst/>
          </a:prstGeom>
          <a:gradFill rotWithShape="1">
            <a:gsLst>
              <a:gs pos="0">
                <a:schemeClr val="accent1">
                  <a:tint val="20000"/>
                  <a:satMod val="450000"/>
                  <a:alpha val="95000"/>
                </a:schemeClr>
              </a:gs>
              <a:gs pos="50000">
                <a:schemeClr val="accent1">
                  <a:tint val="38000"/>
                  <a:satMod val="250000"/>
                  <a:alpha val="90000"/>
                </a:schemeClr>
              </a:gs>
              <a:gs pos="95000">
                <a:schemeClr val="accent1">
                  <a:tint val="75000"/>
                  <a:satMod val="255000"/>
                  <a:alpha val="88000"/>
                </a:schemeClr>
              </a:gs>
              <a:gs pos="100000">
                <a:schemeClr val="accent1">
                  <a:tint val="100000"/>
                  <a:shade val="90000"/>
                  <a:satMod val="255000"/>
                  <a:alpha val="85000"/>
                </a:schemeClr>
              </a:gs>
            </a:gsLst>
            <a:path path="circle">
              <a:fillToRect l="25000" t="12500" r="75000" b="87500"/>
            </a:path>
          </a:gradFill>
          <a:ln w="2000" cap="rnd" cmpd="sng" algn="ctr">
            <a:solidFill>
              <a:schemeClr val="accent1">
                <a:shade val="90000"/>
                <a:satMod val="110000"/>
                <a:alpha val="60000"/>
              </a:schemeClr>
            </a:solidFill>
            <a:prstDash val="solid"/>
          </a:ln>
          <a:effectLst/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9" name="Oval 8"/>
          <p:cNvSpPr/>
          <p:nvPr/>
        </p:nvSpPr>
        <p:spPr>
          <a:xfrm>
            <a:off x="2408064" y="2745870"/>
            <a:ext cx="64008" cy="64008"/>
          </a:xfrm>
          <a:prstGeom prst="ellipse">
            <a:avLst/>
          </a:prstGeom>
          <a:noFill/>
          <a:ln w="12700" cap="rnd" cmpd="sng" algn="ctr">
            <a:solidFill>
              <a:schemeClr val="accent1">
                <a:shade val="75000"/>
                <a:alpha val="60000"/>
              </a:schemeClr>
            </a:solidFill>
            <a:prstDash val="solid"/>
          </a:ln>
          <a:effectLst/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35608" y="274320"/>
            <a:ext cx="7498080" cy="1143000"/>
          </a:xfrm>
        </p:spPr>
        <p:txBody>
          <a:bodyPr/>
          <a:lstStyle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435608" y="1524000"/>
            <a:ext cx="3657600" cy="466344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276088" y="1524000"/>
            <a:ext cx="3657600" cy="466344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B0921635-B110-4C40-BDA3-4816FA2CF831}" type="datetimeFigureOut">
              <a:rPr lang="en-GB" smtClean="0"/>
              <a:t>20/06/2015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3F9BD9E4-2F6D-4A26-91F9-4AF8AF367D91}" type="slidenum">
              <a:rPr lang="en-GB" smtClean="0"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160336"/>
            <a:ext cx="8229600" cy="1143000"/>
          </a:xfrm>
        </p:spPr>
        <p:txBody>
          <a:bodyPr anchor="ctr"/>
          <a:lstStyle>
            <a:lvl1pPr algn="ctr">
              <a:defRPr sz="4500" b="1" cap="none" baseline="0"/>
            </a:lvl1pPr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328278"/>
            <a:ext cx="4023360" cy="640080"/>
          </a:xfrm>
          <a:solidFill>
            <a:schemeClr val="bg1"/>
          </a:solidFill>
          <a:ln w="10795">
            <a:solidFill>
              <a:schemeClr val="bg1"/>
            </a:solidFill>
            <a:miter lim="800000"/>
          </a:ln>
        </p:spPr>
        <p:txBody>
          <a:bodyPr anchor="ctr"/>
          <a:lstStyle>
            <a:lvl1pPr marL="64008" indent="0" algn="l">
              <a:lnSpc>
                <a:spcPct val="100000"/>
              </a:lnSpc>
              <a:spcBef>
                <a:spcPts val="100"/>
              </a:spcBef>
              <a:buNone/>
              <a:defRPr sz="1900" b="0">
                <a:solidFill>
                  <a:schemeClr val="tx1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  <a:extLst/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3"/>
          </p:nvPr>
        </p:nvSpPr>
        <p:spPr>
          <a:xfrm>
            <a:off x="4663440" y="328278"/>
            <a:ext cx="4023360" cy="640080"/>
          </a:xfrm>
          <a:solidFill>
            <a:schemeClr val="bg1"/>
          </a:solidFill>
          <a:ln w="10795">
            <a:solidFill>
              <a:schemeClr val="bg1"/>
            </a:solidFill>
            <a:miter lim="800000"/>
          </a:ln>
        </p:spPr>
        <p:txBody>
          <a:bodyPr anchor="ctr"/>
          <a:lstStyle>
            <a:lvl1pPr marL="64008" indent="0" algn="l">
              <a:lnSpc>
                <a:spcPct val="100000"/>
              </a:lnSpc>
              <a:spcBef>
                <a:spcPts val="100"/>
              </a:spcBef>
              <a:buNone/>
              <a:defRPr sz="1900" b="0">
                <a:solidFill>
                  <a:schemeClr val="tx1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  <a:extLst/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sz="quarter" idx="2"/>
          </p:nvPr>
        </p:nvSpPr>
        <p:spPr>
          <a:xfrm>
            <a:off x="457200" y="969336"/>
            <a:ext cx="4023360" cy="4114800"/>
          </a:xfrm>
          <a:ln w="10795">
            <a:solidFill>
              <a:schemeClr val="bg1"/>
            </a:solidFill>
            <a:prstDash val="dash"/>
            <a:miter lim="800000"/>
          </a:ln>
        </p:spPr>
        <p:txBody>
          <a:bodyPr/>
          <a:lstStyle>
            <a:lvl1pPr marL="393192" indent="-274320">
              <a:lnSpc>
                <a:spcPct val="100000"/>
              </a:lnSpc>
              <a:spcBef>
                <a:spcPts val="700"/>
              </a:spcBef>
              <a:defRPr sz="2400"/>
            </a:lvl1pPr>
            <a:lvl2pPr>
              <a:lnSpc>
                <a:spcPct val="100000"/>
              </a:lnSpc>
              <a:spcBef>
                <a:spcPts val="700"/>
              </a:spcBef>
              <a:defRPr sz="2000"/>
            </a:lvl2pPr>
            <a:lvl3pPr>
              <a:lnSpc>
                <a:spcPct val="100000"/>
              </a:lnSpc>
              <a:spcBef>
                <a:spcPts val="700"/>
              </a:spcBef>
              <a:defRPr sz="1800"/>
            </a:lvl3pPr>
            <a:lvl4pPr>
              <a:lnSpc>
                <a:spcPct val="100000"/>
              </a:lnSpc>
              <a:spcBef>
                <a:spcPts val="700"/>
              </a:spcBef>
              <a:defRPr sz="1600"/>
            </a:lvl4pPr>
            <a:lvl5pPr>
              <a:lnSpc>
                <a:spcPct val="100000"/>
              </a:lnSpc>
              <a:spcBef>
                <a:spcPts val="700"/>
              </a:spcBef>
              <a:defRPr sz="1600"/>
            </a:lvl5pPr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63440" y="969336"/>
            <a:ext cx="4023360" cy="4114800"/>
          </a:xfrm>
          <a:ln w="10795">
            <a:solidFill>
              <a:schemeClr val="bg1"/>
            </a:solidFill>
            <a:prstDash val="dash"/>
            <a:miter lim="800000"/>
          </a:ln>
        </p:spPr>
        <p:txBody>
          <a:bodyPr/>
          <a:lstStyle>
            <a:lvl1pPr marL="393192" indent="-274320">
              <a:lnSpc>
                <a:spcPct val="100000"/>
              </a:lnSpc>
              <a:spcBef>
                <a:spcPts val="700"/>
              </a:spcBef>
              <a:defRPr sz="2400"/>
            </a:lvl1pPr>
            <a:lvl2pPr>
              <a:lnSpc>
                <a:spcPct val="100000"/>
              </a:lnSpc>
              <a:spcBef>
                <a:spcPts val="700"/>
              </a:spcBef>
              <a:defRPr sz="2000"/>
            </a:lvl2pPr>
            <a:lvl3pPr>
              <a:lnSpc>
                <a:spcPct val="100000"/>
              </a:lnSpc>
              <a:spcBef>
                <a:spcPts val="700"/>
              </a:spcBef>
              <a:defRPr sz="1800"/>
            </a:lvl3pPr>
            <a:lvl4pPr>
              <a:lnSpc>
                <a:spcPct val="100000"/>
              </a:lnSpc>
              <a:spcBef>
                <a:spcPts val="700"/>
              </a:spcBef>
              <a:defRPr sz="1600"/>
            </a:lvl4pPr>
            <a:lvl5pPr>
              <a:lnSpc>
                <a:spcPct val="100000"/>
              </a:lnSpc>
              <a:spcBef>
                <a:spcPts val="700"/>
              </a:spcBef>
              <a:defRPr sz="1600"/>
            </a:lvl5pPr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B0921635-B110-4C40-BDA3-4816FA2CF831}" type="datetimeFigureOut">
              <a:rPr lang="en-GB" smtClean="0"/>
              <a:t>20/06/2015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3F9BD9E4-2F6D-4A26-91F9-4AF8AF367D91}" type="slidenum">
              <a:rPr lang="en-GB" smtClean="0"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35608" y="274320"/>
            <a:ext cx="7498080" cy="1143000"/>
          </a:xfrm>
        </p:spPr>
        <p:txBody>
          <a:bodyPr anchor="ctr"/>
          <a:lstStyle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B0921635-B110-4C40-BDA3-4816FA2CF831}" type="datetimeFigureOut">
              <a:rPr lang="en-GB" smtClean="0"/>
              <a:t>20/06/2015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3F9BD9E4-2F6D-4A26-91F9-4AF8AF367D91}" type="slidenum">
              <a:rPr lang="en-GB" smtClean="0"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1014984" y="0"/>
            <a:ext cx="8129016" cy="6858000"/>
          </a:xfrm>
          <a:prstGeom prst="rect">
            <a:avLst/>
          </a:prstGeom>
          <a:solidFill>
            <a:schemeClr val="bg1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B0921635-B110-4C40-BDA3-4816FA2CF831}" type="datetimeFigureOut">
              <a:rPr lang="en-GB" smtClean="0"/>
              <a:t>20/06/2015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3F9BD9E4-2F6D-4A26-91F9-4AF8AF367D91}" type="slidenum">
              <a:rPr lang="en-GB" smtClean="0"/>
              <a:t>‹#›</a:t>
            </a:fld>
            <a:endParaRPr lang="en-GB"/>
          </a:p>
        </p:txBody>
      </p:sp>
      <p:sp>
        <p:nvSpPr>
          <p:cNvPr id="6" name="Rectangle 5"/>
          <p:cNvSpPr/>
          <p:nvPr/>
        </p:nvSpPr>
        <p:spPr bwMode="invGray">
          <a:xfrm>
            <a:off x="1014984" y="-54"/>
            <a:ext cx="73152" cy="6858054"/>
          </a:xfrm>
          <a:prstGeom prst="rect">
            <a:avLst/>
          </a:prstGeom>
          <a:solidFill>
            <a:schemeClr val="bg1"/>
          </a:solidFill>
          <a:ln w="25400" cap="rnd" cmpd="sng" algn="ctr">
            <a:noFill/>
            <a:prstDash val="solid"/>
          </a:ln>
          <a:effectLst>
            <a:outerShdw blurRad="38550" dist="38000" dir="10800000" algn="tl" rotWithShape="0">
              <a:schemeClr val="bg2">
                <a:shade val="20000"/>
                <a:satMod val="110000"/>
                <a:alpha val="25000"/>
              </a:scheme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16778"/>
            <a:ext cx="3810000" cy="1162050"/>
          </a:xfrm>
          <a:ln>
            <a:noFill/>
          </a:ln>
        </p:spPr>
        <p:txBody>
          <a:bodyPr anchor="b"/>
          <a:lstStyle>
            <a:lvl1pPr algn="l">
              <a:lnSpc>
                <a:spcPts val="2000"/>
              </a:lnSpc>
              <a:buNone/>
              <a:defRPr sz="2200" b="1" cap="all" baseline="0"/>
            </a:lvl1pPr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2"/>
          </p:nvPr>
        </p:nvSpPr>
        <p:spPr>
          <a:xfrm>
            <a:off x="457200" y="1406964"/>
            <a:ext cx="3810000" cy="698500"/>
          </a:xfrm>
        </p:spPr>
        <p:txBody>
          <a:bodyPr/>
          <a:lstStyle>
            <a:lvl1pPr marL="45720" indent="0">
              <a:lnSpc>
                <a:spcPct val="100000"/>
              </a:lnSpc>
              <a:spcBef>
                <a:spcPts val="0"/>
              </a:spcBef>
              <a:buNone/>
              <a:defRPr sz="1400"/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  <a:extLst/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1"/>
          </p:nvPr>
        </p:nvSpPr>
        <p:spPr>
          <a:xfrm>
            <a:off x="457200" y="2133600"/>
            <a:ext cx="8153400" cy="399256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B0921635-B110-4C40-BDA3-4816FA2CF831}" type="datetimeFigureOut">
              <a:rPr lang="en-GB" smtClean="0"/>
              <a:t>20/06/2015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3F9BD9E4-2F6D-4A26-91F9-4AF8AF367D91}" type="slidenum">
              <a:rPr lang="en-GB" smtClean="0"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86896" y="1066800"/>
            <a:ext cx="2743200" cy="1981200"/>
          </a:xfrm>
        </p:spPr>
        <p:txBody>
          <a:bodyPr anchor="b">
            <a:noAutofit/>
          </a:bodyPr>
          <a:lstStyle>
            <a:lvl1pPr algn="l">
              <a:buNone/>
              <a:defRPr sz="2100" b="1">
                <a:effectLst/>
              </a:defRPr>
            </a:lvl1pPr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B0921635-B110-4C40-BDA3-4816FA2CF831}" type="datetimeFigureOut">
              <a:rPr lang="en-GB" smtClean="0"/>
              <a:t>20/06/2015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3F9BD9E4-2F6D-4A26-91F9-4AF8AF367D91}" type="slidenum">
              <a:rPr lang="en-GB" smtClean="0"/>
              <a:t>‹#›</a:t>
            </a:fld>
            <a:endParaRPr lang="en-GB"/>
          </a:p>
        </p:txBody>
      </p:sp>
      <p:sp>
        <p:nvSpPr>
          <p:cNvPr id="8" name="Rectangle 7"/>
          <p:cNvSpPr/>
          <p:nvPr/>
        </p:nvSpPr>
        <p:spPr>
          <a:xfrm>
            <a:off x="762000" y="1066800"/>
            <a:ext cx="4572000" cy="4572000"/>
          </a:xfrm>
          <a:prstGeom prst="rect">
            <a:avLst/>
          </a:prstGeom>
          <a:solidFill>
            <a:srgbClr val="FFFFFF"/>
          </a:solidFill>
          <a:ln w="88900" cap="sq">
            <a:solidFill>
              <a:srgbClr val="FFFFFF"/>
            </a:solidFill>
            <a:miter lim="800000"/>
          </a:ln>
          <a:effectLst>
            <a:outerShdw blurRad="55500" dist="18500" dir="5400000" algn="tl" rotWithShape="0">
              <a:srgbClr val="000000">
                <a:alpha val="35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 contourW="635">
            <a:bevelT w="25400" h="19050"/>
            <a:contourClr>
              <a:srgbClr val="969696"/>
            </a:contourClr>
          </a:sp3d>
        </p:spPr>
        <p:txBody>
          <a:bodyPr lIns="91440" tIns="274320" rtlCol="0" anchor="t">
            <a:normAutofit/>
          </a:bodyPr>
          <a:lstStyle>
            <a:extLst/>
          </a:lstStyle>
          <a:p>
            <a:pPr marL="0" indent="-283464" algn="l" rtl="0" eaLnBrk="1" latinLnBrk="0" hangingPunct="1">
              <a:lnSpc>
                <a:spcPts val="3000"/>
              </a:lnSpc>
              <a:spcBef>
                <a:spcPts val="600"/>
              </a:spcBef>
              <a:buClr>
                <a:schemeClr val="accent1"/>
              </a:buClr>
              <a:buSzPct val="80000"/>
              <a:buFont typeface="Wingdings 2"/>
              <a:buNone/>
            </a:pPr>
            <a:endParaRPr kumimoji="0" lang="en-US" sz="3200" kern="120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838200" y="1143003"/>
            <a:ext cx="4419600" cy="3514531"/>
          </a:xfrm>
          <a:prstGeom prst="roundRect">
            <a:avLst>
              <a:gd name="adj" fmla="val 783"/>
            </a:avLst>
          </a:prstGeom>
          <a:solidFill>
            <a:schemeClr val="bg2"/>
          </a:solidFill>
          <a:ln w="127000">
            <a:noFill/>
            <a:miter lim="800000"/>
          </a:ln>
          <a:effectLst/>
        </p:spPr>
        <p:txBody>
          <a:bodyPr lIns="91440" tIns="274320" anchor="t"/>
          <a:lstStyle>
            <a:lvl1pPr indent="0">
              <a:buNone/>
              <a:defRPr sz="3200"/>
            </a:lvl1pPr>
            <a:extLst/>
          </a:lstStyle>
          <a:p>
            <a:pPr marL="0" algn="l" eaLnBrk="1" latinLnBrk="0" hangingPunct="1"/>
            <a:r>
              <a:rPr kumimoji="0" lang="en-US" smtClean="0"/>
              <a:t>Click icon to add picture</a:t>
            </a:r>
            <a:endParaRPr kumimoji="0" lang="en-US" dirty="0"/>
          </a:p>
        </p:txBody>
      </p:sp>
      <p:sp>
        <p:nvSpPr>
          <p:cNvPr id="9" name="Flowchart: Process 8"/>
          <p:cNvSpPr/>
          <p:nvPr/>
        </p:nvSpPr>
        <p:spPr>
          <a:xfrm rot="19468671">
            <a:off x="396725" y="954341"/>
            <a:ext cx="685800" cy="204310"/>
          </a:xfrm>
          <a:prstGeom prst="flowChartProcess">
            <a:avLst/>
          </a:prstGeom>
          <a:solidFill>
            <a:srgbClr val="FBFBFB">
              <a:alpha val="45098"/>
            </a:srgbClr>
          </a:solidFill>
          <a:ln w="6350" cap="rnd" cmpd="sng" algn="ctr">
            <a:solidFill>
              <a:srgbClr val="FFFFFF">
                <a:alpha val="100000"/>
              </a:srgbClr>
            </a:solidFill>
            <a:prstDash val="solid"/>
          </a:ln>
          <a:effectLst>
            <a:outerShdw blurRad="25400" dist="25400" dir="3300000" sx="96000" sy="96000" algn="tl" rotWithShape="0">
              <a:schemeClr val="bg2">
                <a:shade val="90000"/>
                <a:satMod val="200000"/>
                <a:alpha val="40000"/>
              </a:scheme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10" name="Flowchart: Process 9"/>
          <p:cNvSpPr/>
          <p:nvPr/>
        </p:nvSpPr>
        <p:spPr>
          <a:xfrm rot="2103354" flipH="1">
            <a:off x="5003667" y="936786"/>
            <a:ext cx="649224" cy="204310"/>
          </a:xfrm>
          <a:prstGeom prst="flowChartProcess">
            <a:avLst/>
          </a:prstGeom>
          <a:solidFill>
            <a:srgbClr val="FBFBFB">
              <a:alpha val="45098"/>
            </a:srgbClr>
          </a:solidFill>
          <a:ln w="6350" cap="rnd" cmpd="sng" algn="ctr">
            <a:solidFill>
              <a:srgbClr val="FFFFFF">
                <a:alpha val="100000"/>
              </a:srgbClr>
            </a:solidFill>
            <a:prstDash val="solid"/>
          </a:ln>
          <a:effectLst>
            <a:outerShdw blurRad="25400" dist="25400" dir="3300000" sx="96000" sy="96000" algn="tl" rotWithShape="0">
              <a:schemeClr val="bg2">
                <a:alpha val="20000"/>
              </a:scheme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8200" y="4800600"/>
            <a:ext cx="4419600" cy="762000"/>
          </a:xfrm>
        </p:spPr>
        <p:txBody>
          <a:bodyPr anchor="ctr"/>
          <a:lstStyle>
            <a:lvl1pPr marL="0" indent="0" algn="l">
              <a:lnSpc>
                <a:spcPts val="1600"/>
              </a:lnSpc>
              <a:spcBef>
                <a:spcPts val="0"/>
              </a:spcBef>
              <a:buNone/>
              <a:defRPr sz="1400">
                <a:solidFill>
                  <a:srgbClr val="777777"/>
                </a:solidFill>
              </a:defRPr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  <a:extLst/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B0921635-B110-4C40-BDA3-4816FA2CF831}" type="datetimeFigureOut">
              <a:rPr lang="en-GB" smtClean="0"/>
              <a:t>20/06/2015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3F9BD9E4-2F6D-4A26-91F9-4AF8AF367D91}" type="slidenum">
              <a:rPr lang="en-GB" smtClean="0"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858000" y="274639"/>
            <a:ext cx="1828800" cy="5851525"/>
          </a:xfrm>
        </p:spPr>
        <p:txBody>
          <a:bodyPr vert="eaVert"/>
          <a:lstStyle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43000" y="274640"/>
            <a:ext cx="5562600" cy="5851525"/>
          </a:xfrm>
        </p:spPr>
        <p:txBody>
          <a:bodyPr vert="eaVert"/>
          <a:lstStyle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B0921635-B110-4C40-BDA3-4816FA2CF831}" type="datetimeFigureOut">
              <a:rPr lang="en-GB" smtClean="0"/>
              <a:t>20/06/2015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3F9BD9E4-2F6D-4A26-91F9-4AF8AF367D91}" type="slidenum">
              <a:rPr lang="en-GB" smtClean="0"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ie 6"/>
          <p:cNvSpPr/>
          <p:nvPr/>
        </p:nvSpPr>
        <p:spPr>
          <a:xfrm>
            <a:off x="-815927" y="-815922"/>
            <a:ext cx="1638887" cy="1638887"/>
          </a:xfrm>
          <a:prstGeom prst="pie">
            <a:avLst>
              <a:gd name="adj1" fmla="val 0"/>
              <a:gd name="adj2" fmla="val 5402120"/>
            </a:avLst>
          </a:prstGeom>
          <a:solidFill>
            <a:schemeClr val="bg2">
              <a:tint val="18000"/>
              <a:satMod val="220000"/>
              <a:alpha val="33000"/>
            </a:schemeClr>
          </a:solidFill>
          <a:ln w="3175" cap="rnd" cmpd="sng" algn="ctr">
            <a:solidFill>
              <a:schemeClr val="bg2">
                <a:shade val="70000"/>
                <a:satMod val="200000"/>
                <a:alpha val="100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8" name="Oval 7"/>
          <p:cNvSpPr/>
          <p:nvPr/>
        </p:nvSpPr>
        <p:spPr>
          <a:xfrm>
            <a:off x="168816" y="21102"/>
            <a:ext cx="1702191" cy="1702191"/>
          </a:xfrm>
          <a:prstGeom prst="ellipse">
            <a:avLst/>
          </a:prstGeom>
          <a:noFill/>
          <a:ln w="27305" cap="rnd" cmpd="sng" algn="ctr">
            <a:solidFill>
              <a:schemeClr val="bg2">
                <a:tint val="45000"/>
                <a:satMod val="325000"/>
                <a:alpha val="100000"/>
              </a:schemeClr>
            </a:solidFill>
            <a:prstDash val="solid"/>
          </a:ln>
          <a:effectLst>
            <a:outerShdw blurRad="25400" dist="25400" dir="5400000" algn="tl" rotWithShape="0">
              <a:schemeClr val="bg2">
                <a:shade val="50000"/>
                <a:satMod val="150000"/>
                <a:alpha val="85000"/>
              </a:scheme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11" name="Donut 10"/>
          <p:cNvSpPr/>
          <p:nvPr/>
        </p:nvSpPr>
        <p:spPr>
          <a:xfrm rot="2315675">
            <a:off x="182881" y="1055077"/>
            <a:ext cx="1125717" cy="1102624"/>
          </a:xfrm>
          <a:prstGeom prst="donut">
            <a:avLst>
              <a:gd name="adj" fmla="val 11833"/>
            </a:avLst>
          </a:prstGeom>
          <a:gradFill rotWithShape="1">
            <a:gsLst>
              <a:gs pos="0">
                <a:schemeClr val="bg2">
                  <a:tint val="10000"/>
                  <a:shade val="99000"/>
                  <a:satMod val="355000"/>
                  <a:alpha val="70000"/>
                </a:schemeClr>
              </a:gs>
              <a:gs pos="70000">
                <a:schemeClr val="bg2">
                  <a:tint val="6000"/>
                  <a:shade val="100000"/>
                  <a:satMod val="400000"/>
                  <a:alpha val="55000"/>
                </a:schemeClr>
              </a:gs>
              <a:gs pos="100000">
                <a:schemeClr val="bg2">
                  <a:tint val="100000"/>
                  <a:shade val="75000"/>
                  <a:satMod val="370000"/>
                  <a:alpha val="60000"/>
                </a:schemeClr>
              </a:gs>
            </a:gsLst>
            <a:path path="circle">
              <a:fillToRect l="-407500" t="-50000" r="507500" b="150000"/>
            </a:path>
          </a:gradFill>
          <a:ln w="7350" cap="rnd" cmpd="sng" algn="ctr">
            <a:solidFill>
              <a:schemeClr val="bg2">
                <a:shade val="60000"/>
                <a:satMod val="220000"/>
                <a:alpha val="100000"/>
              </a:schemeClr>
            </a:solidFill>
            <a:prstDash val="solid"/>
          </a:ln>
          <a:effectLst>
            <a:outerShdw blurRad="12700" dist="15000" dir="4500000" algn="tl" rotWithShape="0">
              <a:schemeClr val="bg2">
                <a:shade val="10000"/>
                <a:satMod val="200000"/>
                <a:alpha val="35000"/>
              </a:scheme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12" name="Rectangle 11"/>
          <p:cNvSpPr/>
          <p:nvPr/>
        </p:nvSpPr>
        <p:spPr>
          <a:xfrm>
            <a:off x="1012873" y="-54"/>
            <a:ext cx="8131127" cy="6858054"/>
          </a:xfrm>
          <a:prstGeom prst="rect">
            <a:avLst/>
          </a:prstGeom>
          <a:solidFill>
            <a:schemeClr val="bg1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5" name="Title Placeholder 4"/>
          <p:cNvSpPr>
            <a:spLocks noGrp="1"/>
          </p:cNvSpPr>
          <p:nvPr>
            <p:ph type="title"/>
          </p:nvPr>
        </p:nvSpPr>
        <p:spPr>
          <a:xfrm>
            <a:off x="1435608" y="274638"/>
            <a:ext cx="7498080" cy="1143000"/>
          </a:xfrm>
          <a:prstGeom prst="rect">
            <a:avLst/>
          </a:prstGeom>
        </p:spPr>
        <p:txBody>
          <a:bodyPr anchor="ctr">
            <a:normAutofit/>
          </a:bodyPr>
          <a:lstStyle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9" name="Text Placeholder 8"/>
          <p:cNvSpPr>
            <a:spLocks noGrp="1"/>
          </p:cNvSpPr>
          <p:nvPr>
            <p:ph type="body" idx="1"/>
          </p:nvPr>
        </p:nvSpPr>
        <p:spPr>
          <a:xfrm>
            <a:off x="1435608" y="1447800"/>
            <a:ext cx="7498080" cy="4800600"/>
          </a:xfrm>
          <a:prstGeom prst="rect">
            <a:avLst/>
          </a:prstGeom>
        </p:spPr>
        <p:txBody>
          <a:bodyPr>
            <a:normAutofit/>
          </a:bodyPr>
          <a:lstStyle>
            <a:extLst/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  <a:p>
            <a:pPr lvl="1" eaLnBrk="1" latinLnBrk="0" hangingPunct="1"/>
            <a:r>
              <a:rPr kumimoji="0" lang="en-US" smtClean="0"/>
              <a:t>Second level</a:t>
            </a:r>
          </a:p>
          <a:p>
            <a:pPr lvl="2" eaLnBrk="1" latinLnBrk="0" hangingPunct="1"/>
            <a:r>
              <a:rPr kumimoji="0" lang="en-US" smtClean="0"/>
              <a:t>Third level</a:t>
            </a:r>
          </a:p>
          <a:p>
            <a:pPr lvl="3" eaLnBrk="1" latinLnBrk="0" hangingPunct="1"/>
            <a:r>
              <a:rPr kumimoji="0" lang="en-US" smtClean="0"/>
              <a:t>Fourth level</a:t>
            </a:r>
          </a:p>
          <a:p>
            <a:pPr lvl="4" eaLnBrk="1" latinLnBrk="0" hangingPunct="1"/>
            <a:r>
              <a:rPr kumimoji="0" lang="en-US" smtClean="0"/>
              <a:t>Fifth level</a:t>
            </a:r>
            <a:endParaRPr kumimoji="0" lang="en-US"/>
          </a:p>
        </p:txBody>
      </p:sp>
      <p:sp>
        <p:nvSpPr>
          <p:cNvPr id="24" name="Date Placeholder 23"/>
          <p:cNvSpPr>
            <a:spLocks noGrp="1"/>
          </p:cNvSpPr>
          <p:nvPr>
            <p:ph type="dt" sz="half" idx="2"/>
          </p:nvPr>
        </p:nvSpPr>
        <p:spPr>
          <a:xfrm>
            <a:off x="3581400" y="6305550"/>
            <a:ext cx="2133600" cy="476250"/>
          </a:xfrm>
          <a:prstGeom prst="rect">
            <a:avLst/>
          </a:prstGeom>
        </p:spPr>
        <p:txBody>
          <a:bodyPr anchor="b"/>
          <a:lstStyle>
            <a:lvl1pPr algn="r" eaLnBrk="1" latinLnBrk="0" hangingPunct="1">
              <a:defRPr kumimoji="0" sz="1200">
                <a:solidFill>
                  <a:schemeClr val="bg2">
                    <a:shade val="50000"/>
                    <a:satMod val="200000"/>
                  </a:schemeClr>
                </a:solidFill>
              </a:defRPr>
            </a:lvl1pPr>
            <a:extLst/>
          </a:lstStyle>
          <a:p>
            <a:fld id="{B0921635-B110-4C40-BDA3-4816FA2CF831}" type="datetimeFigureOut">
              <a:rPr lang="en-GB" smtClean="0"/>
              <a:t>20/06/2015</a:t>
            </a:fld>
            <a:endParaRPr lang="en-GB"/>
          </a:p>
        </p:txBody>
      </p:sp>
      <p:sp>
        <p:nvSpPr>
          <p:cNvPr id="10" name="Footer Placeholder 9"/>
          <p:cNvSpPr>
            <a:spLocks noGrp="1"/>
          </p:cNvSpPr>
          <p:nvPr>
            <p:ph type="ftr" sz="quarter" idx="3"/>
          </p:nvPr>
        </p:nvSpPr>
        <p:spPr>
          <a:xfrm>
            <a:off x="5715000" y="6305550"/>
            <a:ext cx="2895600" cy="476250"/>
          </a:xfrm>
          <a:prstGeom prst="rect">
            <a:avLst/>
          </a:prstGeom>
        </p:spPr>
        <p:txBody>
          <a:bodyPr anchor="b"/>
          <a:lstStyle>
            <a:lvl1pPr eaLnBrk="1" latinLnBrk="0" hangingPunct="1">
              <a:defRPr kumimoji="0" sz="1200">
                <a:solidFill>
                  <a:schemeClr val="bg2">
                    <a:shade val="50000"/>
                    <a:satMod val="200000"/>
                  </a:schemeClr>
                </a:solidFill>
                <a:effectLst/>
              </a:defRPr>
            </a:lvl1pPr>
            <a:extLst/>
          </a:lstStyle>
          <a:p>
            <a:endParaRPr lang="en-GB"/>
          </a:p>
        </p:txBody>
      </p:sp>
      <p:sp>
        <p:nvSpPr>
          <p:cNvPr id="22" name="Slide Number Placeholder 21"/>
          <p:cNvSpPr>
            <a:spLocks noGrp="1"/>
          </p:cNvSpPr>
          <p:nvPr>
            <p:ph type="sldNum" sz="quarter" idx="4"/>
          </p:nvPr>
        </p:nvSpPr>
        <p:spPr>
          <a:xfrm>
            <a:off x="8613648" y="6305550"/>
            <a:ext cx="457200" cy="476250"/>
          </a:xfrm>
          <a:prstGeom prst="rect">
            <a:avLst/>
          </a:prstGeom>
        </p:spPr>
        <p:txBody>
          <a:bodyPr anchor="b"/>
          <a:lstStyle>
            <a:lvl1pPr algn="ctr" eaLnBrk="1" latinLnBrk="0" hangingPunct="1">
              <a:defRPr kumimoji="0" sz="1200">
                <a:solidFill>
                  <a:schemeClr val="bg2">
                    <a:shade val="50000"/>
                    <a:satMod val="200000"/>
                  </a:schemeClr>
                </a:solidFill>
                <a:effectLst/>
              </a:defRPr>
            </a:lvl1pPr>
            <a:extLst/>
          </a:lstStyle>
          <a:p>
            <a:fld id="{3F9BD9E4-2F6D-4A26-91F9-4AF8AF367D91}" type="slidenum">
              <a:rPr lang="en-GB" smtClean="0"/>
              <a:t>‹#›</a:t>
            </a:fld>
            <a:endParaRPr lang="en-GB"/>
          </a:p>
        </p:txBody>
      </p:sp>
      <p:sp>
        <p:nvSpPr>
          <p:cNvPr id="15" name="Rectangle 14"/>
          <p:cNvSpPr/>
          <p:nvPr/>
        </p:nvSpPr>
        <p:spPr bwMode="invGray">
          <a:xfrm>
            <a:off x="1014984" y="-54"/>
            <a:ext cx="73152" cy="6858054"/>
          </a:xfrm>
          <a:prstGeom prst="rect">
            <a:avLst/>
          </a:prstGeom>
          <a:solidFill>
            <a:schemeClr val="bg1"/>
          </a:solidFill>
          <a:ln w="25400" cap="rnd" cmpd="sng" algn="ctr">
            <a:noFill/>
            <a:prstDash val="solid"/>
          </a:ln>
          <a:effectLst>
            <a:outerShdw blurRad="38550" dist="38000" dir="10800000" algn="tl" rotWithShape="0">
              <a:schemeClr val="bg2">
                <a:shade val="20000"/>
                <a:satMod val="110000"/>
                <a:alpha val="25000"/>
              </a:scheme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  <p:sldLayoutId id="2147483686" r:id="rId2"/>
    <p:sldLayoutId id="2147483687" r:id="rId3"/>
    <p:sldLayoutId id="2147483688" r:id="rId4"/>
    <p:sldLayoutId id="2147483689" r:id="rId5"/>
    <p:sldLayoutId id="2147483690" r:id="rId6"/>
    <p:sldLayoutId id="2147483691" r:id="rId7"/>
    <p:sldLayoutId id="2147483692" r:id="rId8"/>
    <p:sldLayoutId id="2147483693" r:id="rId9"/>
    <p:sldLayoutId id="2147483694" r:id="rId10"/>
    <p:sldLayoutId id="2147483695" r:id="rId11"/>
  </p:sldLayoutIdLst>
  <p:txStyles>
    <p:titleStyle>
      <a:lvl1pPr algn="l" rtl="0" eaLnBrk="1" latinLnBrk="0" hangingPunct="1">
        <a:spcBef>
          <a:spcPct val="0"/>
        </a:spcBef>
        <a:buNone/>
        <a:defRPr kumimoji="0" sz="4300" kern="1200">
          <a:solidFill>
            <a:schemeClr val="tx2">
              <a:satMod val="130000"/>
            </a:schemeClr>
          </a:solidFill>
          <a:effectLst>
            <a:outerShdw blurRad="50000" dist="30000" dir="5400000" algn="tl" rotWithShape="0">
              <a:srgbClr val="000000">
                <a:alpha val="30000"/>
              </a:srgbClr>
            </a:outerShdw>
          </a:effectLst>
          <a:latin typeface="+mj-lt"/>
          <a:ea typeface="+mj-ea"/>
          <a:cs typeface="+mj-cs"/>
        </a:defRPr>
      </a:lvl1pPr>
      <a:extLst/>
    </p:titleStyle>
    <p:bodyStyle>
      <a:lvl1pPr marL="365760" indent="-283464" algn="l" rtl="0" eaLnBrk="1" latinLnBrk="0" hangingPunct="1">
        <a:lnSpc>
          <a:spcPct val="100000"/>
        </a:lnSpc>
        <a:spcBef>
          <a:spcPts val="600"/>
        </a:spcBef>
        <a:buClr>
          <a:schemeClr val="accent1"/>
        </a:buClr>
        <a:buSzPct val="80000"/>
        <a:buFont typeface="Wingdings 2"/>
        <a:buChar char=""/>
        <a:defRPr kumimoji="0"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640080" indent="-237744" algn="l" rtl="0" eaLnBrk="1" latinLnBrk="0" hangingPunct="1">
        <a:lnSpc>
          <a:spcPct val="100000"/>
        </a:lnSpc>
        <a:spcBef>
          <a:spcPts val="550"/>
        </a:spcBef>
        <a:buClr>
          <a:schemeClr val="accent1"/>
        </a:buClr>
        <a:buFont typeface="Verdana"/>
        <a:buChar char="◦"/>
        <a:defRPr kumimoji="0"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886968" indent="-228600" algn="l" rtl="0" eaLnBrk="1" latinLnBrk="0" hangingPunct="1">
        <a:lnSpc>
          <a:spcPct val="100000"/>
        </a:lnSpc>
        <a:spcBef>
          <a:spcPct val="20000"/>
        </a:spcBef>
        <a:buClr>
          <a:schemeClr val="accent2"/>
        </a:buClr>
        <a:buFont typeface="Wingdings 2"/>
        <a:buChar char=""/>
        <a:defRPr kumimoji="0"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097280" indent="-173736" algn="l" rtl="0" eaLnBrk="1" latinLnBrk="0" hangingPunct="1">
        <a:lnSpc>
          <a:spcPct val="100000"/>
        </a:lnSpc>
        <a:spcBef>
          <a:spcPct val="20000"/>
        </a:spcBef>
        <a:buClr>
          <a:schemeClr val="accent3"/>
        </a:buClr>
        <a:buFont typeface="Wingdings 2"/>
        <a:buChar char="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1298448" indent="-182880" algn="l" rtl="0" eaLnBrk="1" latinLnBrk="0" hangingPunct="1">
        <a:lnSpc>
          <a:spcPct val="100000"/>
        </a:lnSpc>
        <a:spcBef>
          <a:spcPct val="20000"/>
        </a:spcBef>
        <a:buClr>
          <a:schemeClr val="accent4"/>
        </a:buClr>
        <a:buFont typeface="Wingdings 2"/>
        <a:buChar char="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1508760" indent="-182880" algn="l" rtl="0" eaLnBrk="1" latinLnBrk="0" hangingPunct="1">
        <a:lnSpc>
          <a:spcPct val="100000"/>
        </a:lnSpc>
        <a:spcBef>
          <a:spcPct val="20000"/>
        </a:spcBef>
        <a:buClr>
          <a:schemeClr val="accent5"/>
        </a:buClr>
        <a:buFont typeface="Wingdings 2"/>
        <a:buChar char="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1719072" indent="-182880" algn="l" rtl="0" eaLnBrk="1" latinLnBrk="0" hangingPunct="1">
        <a:lnSpc>
          <a:spcPct val="100000"/>
        </a:lnSpc>
        <a:spcBef>
          <a:spcPct val="20000"/>
        </a:spcBef>
        <a:buClr>
          <a:schemeClr val="accent6"/>
        </a:buClr>
        <a:buFont typeface="Wingdings 2"/>
        <a:buChar char="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1920240" indent="-182880" algn="l" rtl="0" eaLnBrk="1" latinLnBrk="0" hangingPunct="1">
        <a:lnSpc>
          <a:spcPct val="100000"/>
        </a:lnSpc>
        <a:spcBef>
          <a:spcPct val="20000"/>
        </a:spcBef>
        <a:buClr>
          <a:schemeClr val="accent6"/>
        </a:buClr>
        <a:buFont typeface="Wingdings 2"/>
        <a:buChar char="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2130552" indent="-182880" algn="l" rtl="0" eaLnBrk="1" latinLnBrk="0" hangingPunct="1">
        <a:lnSpc>
          <a:spcPct val="100000"/>
        </a:lnSpc>
        <a:spcBef>
          <a:spcPct val="20000"/>
        </a:spcBef>
        <a:buClr>
          <a:schemeClr val="accent6"/>
        </a:buClr>
        <a:buFont typeface="Wingdings 2"/>
        <a:buChar char="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9pPr>
      <a:extLst/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  <a:extLst/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GB" dirty="0"/>
              <a:t/>
            </a:r>
            <a:br>
              <a:rPr lang="en-GB" dirty="0"/>
            </a:br>
            <a:r>
              <a:rPr lang="en-GB" dirty="0"/>
              <a:t> </a:t>
            </a:r>
            <a:r>
              <a:rPr lang="en-GB" b="1" i="1" dirty="0" smtClean="0"/>
              <a:t>INFORMATION </a:t>
            </a:r>
            <a:r>
              <a:rPr lang="en-GB" b="1" i="1" dirty="0"/>
              <a:t>SYSTEMS </a:t>
            </a:r>
            <a:endParaRPr lang="en-GB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GB" dirty="0"/>
          </a:p>
          <a:p>
            <a:r>
              <a:rPr lang="en-GB" dirty="0"/>
              <a:t> </a:t>
            </a:r>
            <a:r>
              <a:rPr lang="en-GB" b="1" i="1" dirty="0"/>
              <a:t>TYPES OF INFORMATION SYSTEMS 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60518769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435608" y="692696"/>
            <a:ext cx="7498080" cy="5555704"/>
          </a:xfrm>
        </p:spPr>
        <p:txBody>
          <a:bodyPr>
            <a:normAutofit lnSpcReduction="10000"/>
          </a:bodyPr>
          <a:lstStyle/>
          <a:p>
            <a:r>
              <a:rPr lang="en-US" altLang="en-US" dirty="0"/>
              <a:t>A </a:t>
            </a:r>
            <a:r>
              <a:rPr lang="en-US" altLang="en-US" b="1" dirty="0"/>
              <a:t>system </a:t>
            </a:r>
            <a:r>
              <a:rPr lang="en-US" altLang="en-US" dirty="0"/>
              <a:t>can be defined as a collection of interrelated components that work together towards a collective goal. </a:t>
            </a:r>
            <a:endParaRPr lang="en-US" altLang="en-US" dirty="0" smtClean="0"/>
          </a:p>
          <a:p>
            <a:r>
              <a:rPr lang="en-US" altLang="en-US" dirty="0" smtClean="0"/>
              <a:t>The </a:t>
            </a:r>
            <a:r>
              <a:rPr lang="en-US" altLang="en-US" dirty="0"/>
              <a:t>function of a system is to receive inputs and transform these into outputs. </a:t>
            </a:r>
            <a:endParaRPr lang="en-US" altLang="en-US" dirty="0" smtClean="0"/>
          </a:p>
          <a:p>
            <a:pPr lvl="0"/>
            <a:r>
              <a:rPr lang="en-US" dirty="0" smtClean="0"/>
              <a:t>An </a:t>
            </a:r>
            <a:r>
              <a:rPr lang="en-US" dirty="0"/>
              <a:t>information system can be any organized combination of people, hardware, software, communications network, and data resources that collects, transforms, and disseminates information in an </a:t>
            </a:r>
            <a:r>
              <a:rPr lang="en-US" dirty="0" smtClean="0"/>
              <a:t>organization.</a:t>
            </a:r>
            <a:r>
              <a:rPr lang="en-US" altLang="en-US" dirty="0"/>
              <a:t/>
            </a:r>
            <a:br>
              <a:rPr lang="en-US" altLang="en-US" dirty="0"/>
            </a:br>
            <a:endParaRPr lang="en-US" altLang="en-US" dirty="0"/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38132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Information System (IS)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dirty="0" smtClean="0"/>
              <a:t>Any system that make use of IT</a:t>
            </a:r>
          </a:p>
          <a:p>
            <a:r>
              <a:rPr lang="da-DK" dirty="0" smtClean="0"/>
              <a:t>The role of information system is to provide information to management which will enable them to make decisions which ensure that the organisation is controlled.</a:t>
            </a:r>
            <a:endParaRPr lang="en-US" dirty="0" smtClean="0"/>
          </a:p>
          <a:p>
            <a:r>
              <a:rPr lang="en-US" dirty="0" smtClean="0"/>
              <a:t>IS affect:</a:t>
            </a:r>
          </a:p>
          <a:p>
            <a:pPr>
              <a:buNone/>
            </a:pPr>
            <a:r>
              <a:rPr lang="en-US" dirty="0" smtClean="0"/>
              <a:t>	- how manager decide</a:t>
            </a:r>
          </a:p>
          <a:p>
            <a:pPr>
              <a:buNone/>
            </a:pPr>
            <a:r>
              <a:rPr lang="en-US" dirty="0" smtClean="0"/>
              <a:t>	- how senior manager plan</a:t>
            </a:r>
          </a:p>
          <a:p>
            <a:pPr>
              <a:buNone/>
            </a:pPr>
            <a:r>
              <a:rPr lang="en-US" dirty="0" smtClean="0"/>
              <a:t>	- what produce and service are produced and how.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8478039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435608" y="404664"/>
            <a:ext cx="7498080" cy="5843736"/>
          </a:xfrm>
        </p:spPr>
        <p:txBody>
          <a:bodyPr>
            <a:normAutofit fontScale="85000" lnSpcReduction="10000"/>
          </a:bodyPr>
          <a:lstStyle/>
          <a:p>
            <a:r>
              <a:rPr lang="en-GB" dirty="0"/>
              <a:t>T</a:t>
            </a:r>
            <a:r>
              <a:rPr lang="en-GB" dirty="0" smtClean="0"/>
              <a:t>here </a:t>
            </a:r>
            <a:r>
              <a:rPr lang="en-GB" dirty="0"/>
              <a:t>are a variety of requirements for information. </a:t>
            </a:r>
            <a:endParaRPr lang="en-GB" dirty="0" smtClean="0"/>
          </a:p>
          <a:p>
            <a:r>
              <a:rPr lang="en-GB" dirty="0" smtClean="0"/>
              <a:t>Senior </a:t>
            </a:r>
            <a:r>
              <a:rPr lang="en-GB" dirty="0"/>
              <a:t>managers need information to help with their business planning. </a:t>
            </a:r>
            <a:endParaRPr lang="en-GB" dirty="0" smtClean="0"/>
          </a:p>
          <a:p>
            <a:r>
              <a:rPr lang="en-GB" dirty="0" smtClean="0"/>
              <a:t>Middle </a:t>
            </a:r>
            <a:r>
              <a:rPr lang="en-GB" dirty="0"/>
              <a:t>management need more detailed information to help them monitor and control business activities. </a:t>
            </a:r>
            <a:endParaRPr lang="en-GB" dirty="0" smtClean="0"/>
          </a:p>
          <a:p>
            <a:r>
              <a:rPr lang="en-GB" dirty="0" smtClean="0"/>
              <a:t>Employees </a:t>
            </a:r>
            <a:r>
              <a:rPr lang="en-GB" dirty="0"/>
              <a:t>with operational roles need information to help them carry out their duties.</a:t>
            </a:r>
          </a:p>
          <a:p>
            <a:r>
              <a:rPr lang="en-GB" dirty="0"/>
              <a:t>As a result, businesses tend to have several "information systems" operating at the same </a:t>
            </a:r>
            <a:r>
              <a:rPr lang="en-GB" dirty="0" smtClean="0"/>
              <a:t>time.</a:t>
            </a:r>
          </a:p>
          <a:p>
            <a:r>
              <a:rPr lang="en-GB" dirty="0" smtClean="0"/>
              <a:t>There several categories </a:t>
            </a:r>
            <a:r>
              <a:rPr lang="en-GB" dirty="0"/>
              <a:t>of information </a:t>
            </a:r>
            <a:r>
              <a:rPr lang="en-GB" dirty="0" smtClean="0"/>
              <a:t>systems. 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91390732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GB" altLang="en-US" sz="3200" dirty="0"/>
              <a:t>Resources that support </a:t>
            </a:r>
            <a:r>
              <a:rPr lang="en-GB" altLang="en-US" sz="3200" dirty="0" smtClean="0"/>
              <a:t>Information Systems</a:t>
            </a:r>
            <a:endParaRPr lang="en-GB" sz="32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pPr marL="457200" indent="-457200">
              <a:lnSpc>
                <a:spcPct val="80000"/>
              </a:lnSpc>
              <a:spcBef>
                <a:spcPct val="10000"/>
              </a:spcBef>
            </a:pPr>
            <a:r>
              <a:rPr lang="en-US" altLang="en-US" b="1" dirty="0" smtClean="0"/>
              <a:t>People </a:t>
            </a:r>
            <a:r>
              <a:rPr lang="en-US" altLang="en-US" b="1" dirty="0"/>
              <a:t>resources</a:t>
            </a:r>
            <a:r>
              <a:rPr lang="en-US" altLang="en-US" dirty="0"/>
              <a:t>: </a:t>
            </a:r>
            <a:endParaRPr lang="en-US" altLang="en-US" dirty="0" smtClean="0"/>
          </a:p>
          <a:p>
            <a:pPr marL="731520" lvl="1" indent="-457200">
              <a:lnSpc>
                <a:spcPct val="80000"/>
              </a:lnSpc>
              <a:spcBef>
                <a:spcPct val="10000"/>
              </a:spcBef>
            </a:pPr>
            <a:r>
              <a:rPr lang="en-US" altLang="en-US" dirty="0" smtClean="0"/>
              <a:t>People </a:t>
            </a:r>
            <a:r>
              <a:rPr lang="en-US" altLang="en-US" dirty="0"/>
              <a:t>resources include the users of an </a:t>
            </a:r>
            <a:r>
              <a:rPr lang="en-US" altLang="en-US" dirty="0" smtClean="0"/>
              <a:t>information </a:t>
            </a:r>
            <a:r>
              <a:rPr lang="en-US" altLang="en-US" dirty="0"/>
              <a:t>system and those who develop, maintain and operate the </a:t>
            </a:r>
            <a:r>
              <a:rPr lang="en-US" altLang="en-US" dirty="0" smtClean="0"/>
              <a:t>system.</a:t>
            </a:r>
          </a:p>
          <a:p>
            <a:pPr marL="457200" indent="-457200">
              <a:lnSpc>
                <a:spcPct val="80000"/>
              </a:lnSpc>
              <a:spcBef>
                <a:spcPct val="10000"/>
              </a:spcBef>
            </a:pPr>
            <a:r>
              <a:rPr lang="en-US" altLang="en-US" b="1" dirty="0" smtClean="0"/>
              <a:t>Hardware </a:t>
            </a:r>
            <a:r>
              <a:rPr lang="en-US" altLang="en-US" b="1" dirty="0"/>
              <a:t>resources</a:t>
            </a:r>
            <a:r>
              <a:rPr lang="en-US" altLang="en-US" dirty="0"/>
              <a:t>: </a:t>
            </a:r>
            <a:endParaRPr lang="en-US" altLang="en-US" dirty="0" smtClean="0"/>
          </a:p>
          <a:p>
            <a:pPr marL="731520" lvl="1" indent="-457200">
              <a:lnSpc>
                <a:spcPct val="80000"/>
              </a:lnSpc>
              <a:spcBef>
                <a:spcPct val="10000"/>
              </a:spcBef>
            </a:pPr>
            <a:r>
              <a:rPr lang="en-US" altLang="en-US" dirty="0" smtClean="0"/>
              <a:t>The </a:t>
            </a:r>
            <a:r>
              <a:rPr lang="en-US" altLang="en-US" dirty="0"/>
              <a:t>term hardware resources refers to all types </a:t>
            </a:r>
            <a:r>
              <a:rPr lang="en-US" altLang="en-US" dirty="0" smtClean="0"/>
              <a:t>of </a:t>
            </a:r>
            <a:r>
              <a:rPr lang="en-US" altLang="en-US" dirty="0"/>
              <a:t>machines, not just computer hardware. </a:t>
            </a:r>
            <a:endParaRPr lang="en-US" altLang="en-US" dirty="0" smtClean="0"/>
          </a:p>
          <a:p>
            <a:pPr marL="457200" indent="-457200">
              <a:lnSpc>
                <a:spcPct val="80000"/>
              </a:lnSpc>
              <a:spcBef>
                <a:spcPct val="10000"/>
              </a:spcBef>
            </a:pPr>
            <a:r>
              <a:rPr lang="en-US" altLang="en-US" b="1" dirty="0" smtClean="0"/>
              <a:t>Software </a:t>
            </a:r>
            <a:r>
              <a:rPr lang="en-US" altLang="en-US" b="1" dirty="0"/>
              <a:t>resources</a:t>
            </a:r>
            <a:r>
              <a:rPr lang="en-US" altLang="en-US" dirty="0"/>
              <a:t>:  </a:t>
            </a:r>
            <a:endParaRPr lang="en-US" altLang="en-US" dirty="0" smtClean="0"/>
          </a:p>
          <a:p>
            <a:pPr marL="731520" lvl="1" indent="-457200">
              <a:lnSpc>
                <a:spcPct val="80000"/>
              </a:lnSpc>
              <a:spcBef>
                <a:spcPct val="10000"/>
              </a:spcBef>
            </a:pPr>
            <a:r>
              <a:rPr lang="en-US" altLang="en-US" dirty="0" smtClean="0"/>
              <a:t>In </a:t>
            </a:r>
            <a:r>
              <a:rPr lang="en-US" altLang="en-US" dirty="0"/>
              <a:t>the same way, the term software resources does not only refer to computer programs and the media on which they </a:t>
            </a:r>
            <a:r>
              <a:rPr lang="en-US" altLang="en-US" dirty="0" smtClean="0"/>
              <a:t>are </a:t>
            </a:r>
            <a:r>
              <a:rPr lang="en-US" altLang="en-US" dirty="0"/>
              <a:t>stored. The term can also be used to describe the procedures used by people. </a:t>
            </a:r>
            <a:endParaRPr lang="en-US" altLang="en-US" dirty="0" smtClean="0"/>
          </a:p>
          <a:p>
            <a:pPr marL="457200" indent="-457200">
              <a:lnSpc>
                <a:spcPct val="80000"/>
              </a:lnSpc>
              <a:spcBef>
                <a:spcPct val="10000"/>
              </a:spcBef>
            </a:pPr>
            <a:r>
              <a:rPr lang="en-US" altLang="en-US" b="1" dirty="0" smtClean="0"/>
              <a:t>Communications </a:t>
            </a:r>
            <a:r>
              <a:rPr lang="en-US" altLang="en-US" b="1" dirty="0"/>
              <a:t>resources</a:t>
            </a:r>
            <a:r>
              <a:rPr lang="en-US" altLang="en-US" dirty="0"/>
              <a:t>: </a:t>
            </a:r>
            <a:endParaRPr lang="en-US" altLang="en-US" dirty="0" smtClean="0"/>
          </a:p>
          <a:p>
            <a:pPr marL="731520" lvl="1" indent="-457200">
              <a:lnSpc>
                <a:spcPct val="80000"/>
              </a:lnSpc>
              <a:spcBef>
                <a:spcPct val="10000"/>
              </a:spcBef>
            </a:pPr>
            <a:r>
              <a:rPr lang="en-US" altLang="en-US" dirty="0" smtClean="0"/>
              <a:t>Resources </a:t>
            </a:r>
            <a:r>
              <a:rPr lang="en-US" altLang="en-US" dirty="0"/>
              <a:t>are also required to enable different systems to transfer data. </a:t>
            </a:r>
            <a:endParaRPr lang="en-US" altLang="en-US" dirty="0" smtClean="0"/>
          </a:p>
          <a:p>
            <a:pPr marL="457200" indent="-457200">
              <a:lnSpc>
                <a:spcPct val="80000"/>
              </a:lnSpc>
              <a:spcBef>
                <a:spcPct val="10000"/>
              </a:spcBef>
            </a:pPr>
            <a:r>
              <a:rPr lang="en-US" altLang="en-US" b="1" dirty="0" smtClean="0"/>
              <a:t>Data </a:t>
            </a:r>
            <a:r>
              <a:rPr lang="en-US" altLang="en-US" b="1" dirty="0"/>
              <a:t>resources</a:t>
            </a:r>
            <a:r>
              <a:rPr lang="en-US" altLang="en-US" dirty="0"/>
              <a:t>: </a:t>
            </a:r>
            <a:endParaRPr lang="en-US" altLang="en-US" dirty="0" smtClean="0"/>
          </a:p>
          <a:p>
            <a:pPr marL="731520" lvl="1" indent="-457200">
              <a:lnSpc>
                <a:spcPct val="80000"/>
              </a:lnSpc>
              <a:spcBef>
                <a:spcPct val="10000"/>
              </a:spcBef>
            </a:pPr>
            <a:r>
              <a:rPr lang="en-US" altLang="en-US" dirty="0" smtClean="0"/>
              <a:t>Data </a:t>
            </a:r>
            <a:r>
              <a:rPr lang="en-US" altLang="en-US" dirty="0"/>
              <a:t>resources describe all of the data that an </a:t>
            </a:r>
            <a:r>
              <a:rPr lang="en-US" altLang="en-US" dirty="0" err="1"/>
              <a:t>organisation</a:t>
            </a:r>
            <a:r>
              <a:rPr lang="en-US" altLang="en-US" dirty="0"/>
              <a:t> has access to, regardless of its form. </a:t>
            </a:r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26887843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GB" dirty="0"/>
              <a:t/>
            </a:r>
            <a:br>
              <a:rPr lang="en-GB" dirty="0"/>
            </a:br>
            <a:r>
              <a:rPr lang="en-GB" dirty="0"/>
              <a:t> </a:t>
            </a:r>
            <a:r>
              <a:rPr lang="en-GB" b="1" i="1" dirty="0" smtClean="0"/>
              <a:t>Types Of Information Systems 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pPr marL="82296" indent="0">
              <a:buNone/>
            </a:pPr>
            <a:r>
              <a:rPr lang="en-GB" b="1" i="1" dirty="0" smtClean="0"/>
              <a:t>1</a:t>
            </a:r>
            <a:r>
              <a:rPr lang="en-GB" b="1" i="1" dirty="0"/>
              <a:t>. Executive Support System </a:t>
            </a:r>
            <a:r>
              <a:rPr lang="en-GB" b="1" i="1" dirty="0" smtClean="0"/>
              <a:t>(ESS) </a:t>
            </a:r>
            <a:endParaRPr lang="en-GB" dirty="0"/>
          </a:p>
          <a:p>
            <a:r>
              <a:rPr lang="en-GB" dirty="0" smtClean="0"/>
              <a:t> ESS </a:t>
            </a:r>
            <a:r>
              <a:rPr lang="en-GB" dirty="0"/>
              <a:t>is designed to help senior management make strategic decisions. </a:t>
            </a:r>
            <a:endParaRPr lang="en-GB" dirty="0" smtClean="0"/>
          </a:p>
          <a:p>
            <a:r>
              <a:rPr lang="en-GB" dirty="0" smtClean="0"/>
              <a:t>ESS help executives and senior managers analyse the environment in which the organisation operates to identify long term trends and to plan appropriate courses of action.</a:t>
            </a:r>
            <a:endParaRPr lang="en-GB" dirty="0"/>
          </a:p>
          <a:p>
            <a:r>
              <a:rPr lang="en-GB" dirty="0" smtClean="0"/>
              <a:t>It </a:t>
            </a:r>
            <a:r>
              <a:rPr lang="en-GB" dirty="0"/>
              <a:t>gathers, analyses </a:t>
            </a:r>
            <a:r>
              <a:rPr lang="en-GB" dirty="0" smtClean="0"/>
              <a:t>and </a:t>
            </a:r>
            <a:r>
              <a:rPr lang="en-GB" dirty="0"/>
              <a:t>summarises the key internal and external information used in the business. </a:t>
            </a:r>
          </a:p>
          <a:p>
            <a:r>
              <a:rPr lang="en-GB" dirty="0" smtClean="0"/>
              <a:t>ESS </a:t>
            </a:r>
            <a:r>
              <a:rPr lang="en-GB" dirty="0"/>
              <a:t>typically involve lots of data analysis and modelling tools such as "what-if" analysis to help strategic decision-making. </a:t>
            </a:r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92733980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435608" y="404664"/>
            <a:ext cx="7498080" cy="5843736"/>
          </a:xfrm>
        </p:spPr>
        <p:txBody>
          <a:bodyPr>
            <a:normAutofit fontScale="92500" lnSpcReduction="10000"/>
          </a:bodyPr>
          <a:lstStyle/>
          <a:p>
            <a:r>
              <a:rPr lang="fr-FR" b="1" i="1" dirty="0" smtClean="0"/>
              <a:t>2</a:t>
            </a:r>
            <a:r>
              <a:rPr lang="fr-FR" b="1" i="1" dirty="0"/>
              <a:t>. Management Information System </a:t>
            </a:r>
            <a:r>
              <a:rPr lang="fr-FR" b="1" i="1" dirty="0" smtClean="0"/>
              <a:t>(MIS) </a:t>
            </a:r>
            <a:endParaRPr lang="fr-FR" dirty="0"/>
          </a:p>
          <a:p>
            <a:r>
              <a:rPr lang="en-GB" dirty="0" smtClean="0"/>
              <a:t>Provides information for managing an organisation.</a:t>
            </a:r>
            <a:endParaRPr lang="en-US" dirty="0"/>
          </a:p>
          <a:p>
            <a:r>
              <a:rPr lang="en-US" dirty="0" smtClean="0"/>
              <a:t>MIS </a:t>
            </a:r>
            <a:r>
              <a:rPr lang="en-US" dirty="0"/>
              <a:t>is mainly concerned with internal sources of information. </a:t>
            </a:r>
            <a:endParaRPr lang="en-GB" dirty="0" smtClean="0"/>
          </a:p>
          <a:p>
            <a:r>
              <a:rPr lang="en-GB" dirty="0" smtClean="0"/>
              <a:t>MIS take or extract </a:t>
            </a:r>
            <a:r>
              <a:rPr lang="en-GB" dirty="0"/>
              <a:t>data from T</a:t>
            </a:r>
            <a:r>
              <a:rPr lang="en-GB" dirty="0" smtClean="0"/>
              <a:t>ransaction </a:t>
            </a:r>
            <a:r>
              <a:rPr lang="en-GB" dirty="0"/>
              <a:t>P</a:t>
            </a:r>
            <a:r>
              <a:rPr lang="en-GB" dirty="0" smtClean="0"/>
              <a:t>rocessing Systems </a:t>
            </a:r>
            <a:r>
              <a:rPr lang="en-GB" dirty="0"/>
              <a:t>and summarise it into a series of management reports. </a:t>
            </a:r>
            <a:endParaRPr lang="en-GB" dirty="0" smtClean="0"/>
          </a:p>
          <a:p>
            <a:r>
              <a:rPr lang="en-GB" dirty="0" smtClean="0"/>
              <a:t>MIS allow managers to monitor and direct the organisation.</a:t>
            </a:r>
          </a:p>
          <a:p>
            <a:r>
              <a:rPr lang="en-GB" dirty="0" smtClean="0"/>
              <a:t>MIS </a:t>
            </a:r>
            <a:r>
              <a:rPr lang="en-GB" dirty="0"/>
              <a:t>reports tend to be used by middle management and operational supervisors. </a:t>
            </a:r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12503333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435608" y="548680"/>
            <a:ext cx="7498080" cy="5699720"/>
          </a:xfrm>
        </p:spPr>
        <p:txBody>
          <a:bodyPr>
            <a:normAutofit fontScale="85000" lnSpcReduction="10000"/>
          </a:bodyPr>
          <a:lstStyle/>
          <a:p>
            <a:pPr marL="82296" indent="0">
              <a:buNone/>
            </a:pPr>
            <a:r>
              <a:rPr lang="en-GB" b="1" i="1" dirty="0" smtClean="0"/>
              <a:t>3</a:t>
            </a:r>
            <a:r>
              <a:rPr lang="en-GB" b="1" i="1" dirty="0"/>
              <a:t>. </a:t>
            </a:r>
            <a:r>
              <a:rPr lang="en-GB" b="1" i="1" dirty="0" smtClean="0"/>
              <a:t>Decision-Support </a:t>
            </a:r>
            <a:r>
              <a:rPr lang="en-GB" b="1" i="1" dirty="0"/>
              <a:t>systems </a:t>
            </a:r>
            <a:r>
              <a:rPr lang="en-GB" b="1" i="1" dirty="0" smtClean="0"/>
              <a:t>(DSS) </a:t>
            </a:r>
            <a:endParaRPr lang="en-GB" dirty="0"/>
          </a:p>
          <a:p>
            <a:r>
              <a:rPr lang="en-GB" dirty="0" smtClean="0"/>
              <a:t>DSS </a:t>
            </a:r>
            <a:r>
              <a:rPr lang="en-GB" dirty="0"/>
              <a:t>are </a:t>
            </a:r>
            <a:r>
              <a:rPr lang="en-GB" dirty="0" smtClean="0"/>
              <a:t>designed </a:t>
            </a:r>
            <a:r>
              <a:rPr lang="en-GB" dirty="0"/>
              <a:t>to help management make decisions in situations where there is uncertainty about the possible outcomes of </a:t>
            </a:r>
            <a:r>
              <a:rPr lang="en-GB" dirty="0" smtClean="0"/>
              <a:t>some decisions</a:t>
            </a:r>
            <a:r>
              <a:rPr lang="en-GB" dirty="0"/>
              <a:t>. </a:t>
            </a:r>
            <a:endParaRPr lang="en-GB" dirty="0" smtClean="0"/>
          </a:p>
          <a:p>
            <a:r>
              <a:rPr lang="en-GB" dirty="0"/>
              <a:t>DSS comprise of tools and techniques to help gather relevant information and analyse the options and alternatives. </a:t>
            </a:r>
          </a:p>
          <a:p>
            <a:r>
              <a:rPr lang="en-GB" dirty="0"/>
              <a:t>DSS often involves use of complex </a:t>
            </a:r>
            <a:r>
              <a:rPr lang="en-GB" dirty="0" err="1"/>
              <a:t>spreadsheet</a:t>
            </a:r>
            <a:r>
              <a:rPr lang="en-GB" dirty="0"/>
              <a:t> and databases to create "what-if" models. </a:t>
            </a:r>
          </a:p>
          <a:p>
            <a:r>
              <a:rPr lang="en-GB" dirty="0"/>
              <a:t>DSS support analytical work</a:t>
            </a:r>
            <a:r>
              <a:rPr lang="en-GB" dirty="0" smtClean="0"/>
              <a:t>.</a:t>
            </a:r>
          </a:p>
          <a:p>
            <a:r>
              <a:rPr lang="en-GB" dirty="0" smtClean="0"/>
              <a:t>An interactive information system that provides information, models and data manipulation tools to help make decisions in semi-structured and unstructured situations</a:t>
            </a:r>
            <a:endParaRPr lang="en-GB" dirty="0"/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14181860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435608" y="548680"/>
            <a:ext cx="7498080" cy="5904656"/>
          </a:xfrm>
        </p:spPr>
        <p:txBody>
          <a:bodyPr>
            <a:normAutofit fontScale="77500" lnSpcReduction="20000"/>
          </a:bodyPr>
          <a:lstStyle/>
          <a:p>
            <a:pPr marL="82296" indent="0">
              <a:buNone/>
            </a:pPr>
            <a:r>
              <a:rPr lang="en-GB" b="1" i="1" dirty="0" smtClean="0"/>
              <a:t>4</a:t>
            </a:r>
            <a:r>
              <a:rPr lang="en-GB" b="1" i="1" dirty="0"/>
              <a:t>. Knowledge Management Systems </a:t>
            </a:r>
            <a:r>
              <a:rPr lang="en-GB" b="1" i="1" dirty="0" smtClean="0"/>
              <a:t>(KMS) </a:t>
            </a:r>
            <a:endParaRPr lang="en-GB" dirty="0"/>
          </a:p>
          <a:p>
            <a:r>
              <a:rPr lang="en-GB" dirty="0" smtClean="0"/>
              <a:t>KMS </a:t>
            </a:r>
            <a:r>
              <a:rPr lang="en-GB" dirty="0"/>
              <a:t>exist to help businesses create and share information. </a:t>
            </a:r>
          </a:p>
          <a:p>
            <a:r>
              <a:rPr lang="en-GB" dirty="0" smtClean="0"/>
              <a:t>These </a:t>
            </a:r>
            <a:r>
              <a:rPr lang="en-GB" dirty="0"/>
              <a:t>are typically used in a business where employees create new knowledge and expertise - which can then be shared by other people in the organisation to create further commercial opportunities. </a:t>
            </a:r>
          </a:p>
          <a:p>
            <a:r>
              <a:rPr lang="en-GB" dirty="0" smtClean="0"/>
              <a:t>Good </a:t>
            </a:r>
            <a:r>
              <a:rPr lang="en-GB" dirty="0"/>
              <a:t>examples include firms of lawyers, accountants and management consultants. </a:t>
            </a:r>
          </a:p>
          <a:p>
            <a:r>
              <a:rPr lang="en-GB" dirty="0" smtClean="0"/>
              <a:t>KMS </a:t>
            </a:r>
            <a:r>
              <a:rPr lang="en-GB" dirty="0"/>
              <a:t>are built around systems which allow efficient categorisation and distribution of knowledge. </a:t>
            </a:r>
          </a:p>
          <a:p>
            <a:r>
              <a:rPr lang="en-GB" dirty="0" smtClean="0"/>
              <a:t>For </a:t>
            </a:r>
            <a:r>
              <a:rPr lang="en-GB" dirty="0"/>
              <a:t>example, the knowledge itself might be contained in word processing documents, spreadsheets, PowerPoint presentations. internet pages or whatever. </a:t>
            </a:r>
          </a:p>
          <a:p>
            <a:r>
              <a:rPr lang="en-GB" dirty="0" smtClean="0"/>
              <a:t>To </a:t>
            </a:r>
            <a:r>
              <a:rPr lang="en-GB" dirty="0"/>
              <a:t>share the knowledge, a KMS would use group collaboration systems such as an intranet. </a:t>
            </a:r>
          </a:p>
          <a:p>
            <a:pPr marL="82296" indent="0">
              <a:buNone/>
            </a:pP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43403940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435608" y="404664"/>
            <a:ext cx="7498080" cy="5843736"/>
          </a:xfrm>
        </p:spPr>
        <p:txBody>
          <a:bodyPr>
            <a:normAutofit lnSpcReduction="10000"/>
          </a:bodyPr>
          <a:lstStyle/>
          <a:p>
            <a:pPr marL="82296" indent="0">
              <a:buNone/>
            </a:pPr>
            <a:r>
              <a:rPr lang="en-GB" b="1" i="1" dirty="0" smtClean="0"/>
              <a:t>5</a:t>
            </a:r>
            <a:r>
              <a:rPr lang="en-GB" b="1" i="1" dirty="0"/>
              <a:t>. Transaction Processing Systems </a:t>
            </a:r>
            <a:r>
              <a:rPr lang="en-GB" b="1" i="1" dirty="0" smtClean="0"/>
              <a:t>(TPS) </a:t>
            </a:r>
            <a:endParaRPr lang="en-GB" dirty="0"/>
          </a:p>
          <a:p>
            <a:r>
              <a:rPr lang="en-GB" dirty="0" smtClean="0"/>
              <a:t>TPS </a:t>
            </a:r>
            <a:r>
              <a:rPr lang="en-GB" dirty="0"/>
              <a:t>are designed to process routine transactions efficiently and accurately. </a:t>
            </a:r>
          </a:p>
          <a:p>
            <a:r>
              <a:rPr lang="en-GB" dirty="0" smtClean="0"/>
              <a:t>A </a:t>
            </a:r>
            <a:r>
              <a:rPr lang="en-GB" dirty="0"/>
              <a:t>business will have several (sometimes many) TPS; for example: </a:t>
            </a:r>
          </a:p>
          <a:p>
            <a:pPr lvl="1"/>
            <a:r>
              <a:rPr lang="en-GB" dirty="0" smtClean="0"/>
              <a:t>-Billing </a:t>
            </a:r>
            <a:r>
              <a:rPr lang="en-GB" dirty="0"/>
              <a:t>systems to send invoices to customers </a:t>
            </a:r>
          </a:p>
          <a:p>
            <a:pPr lvl="1"/>
            <a:r>
              <a:rPr lang="en-GB" dirty="0" smtClean="0"/>
              <a:t>- </a:t>
            </a:r>
            <a:r>
              <a:rPr lang="en-GB" dirty="0"/>
              <a:t>Systems to calculate </a:t>
            </a:r>
            <a:r>
              <a:rPr lang="en-GB" dirty="0" smtClean="0"/>
              <a:t>weekly </a:t>
            </a:r>
            <a:r>
              <a:rPr lang="en-GB" dirty="0"/>
              <a:t>and monthly payroll and tax payments </a:t>
            </a:r>
          </a:p>
          <a:p>
            <a:pPr lvl="1"/>
            <a:r>
              <a:rPr lang="en-GB" dirty="0" smtClean="0"/>
              <a:t>- </a:t>
            </a:r>
            <a:r>
              <a:rPr lang="en-GB" dirty="0"/>
              <a:t>Production and purchasing systems to calculate raw material requirements </a:t>
            </a:r>
          </a:p>
          <a:p>
            <a:pPr lvl="1"/>
            <a:r>
              <a:rPr lang="en-GB" dirty="0" smtClean="0"/>
              <a:t>- </a:t>
            </a:r>
            <a:r>
              <a:rPr lang="en-GB" dirty="0"/>
              <a:t>Stock control systems to process all movements into, within and out of the business </a:t>
            </a:r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05094490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435608" y="404664"/>
            <a:ext cx="7498080" cy="5843736"/>
          </a:xfrm>
        </p:spPr>
        <p:txBody>
          <a:bodyPr>
            <a:normAutofit fontScale="85000" lnSpcReduction="20000"/>
          </a:bodyPr>
          <a:lstStyle/>
          <a:p>
            <a:pPr marL="82296" indent="0">
              <a:buNone/>
            </a:pPr>
            <a:r>
              <a:rPr lang="en-GB" b="1" i="1" dirty="0" smtClean="0"/>
              <a:t>6</a:t>
            </a:r>
            <a:r>
              <a:rPr lang="en-GB" b="1" i="1" dirty="0"/>
              <a:t>. Office Automation Systems </a:t>
            </a:r>
            <a:r>
              <a:rPr lang="en-GB" b="1" i="1" dirty="0" smtClean="0"/>
              <a:t>(OAS)</a:t>
            </a:r>
            <a:endParaRPr lang="en-GB" dirty="0"/>
          </a:p>
          <a:p>
            <a:r>
              <a:rPr lang="en-GB" dirty="0" smtClean="0"/>
              <a:t>OAS </a:t>
            </a:r>
            <a:r>
              <a:rPr lang="en-GB" dirty="0"/>
              <a:t>are systems that try to improve the productivity of employees who need to process data and information. </a:t>
            </a:r>
            <a:endParaRPr lang="en-GB" dirty="0" smtClean="0"/>
          </a:p>
          <a:p>
            <a:r>
              <a:rPr lang="en-GB" dirty="0"/>
              <a:t>Help people perform personal record </a:t>
            </a:r>
            <a:r>
              <a:rPr lang="en-GB" dirty="0" smtClean="0"/>
              <a:t> keeping</a:t>
            </a:r>
            <a:r>
              <a:rPr lang="en-GB" dirty="0"/>
              <a:t>, writing, and calculations efficiently</a:t>
            </a:r>
          </a:p>
          <a:p>
            <a:r>
              <a:rPr lang="en-GB" dirty="0"/>
              <a:t>Main types of tools include:</a:t>
            </a:r>
          </a:p>
          <a:p>
            <a:pPr lvl="1"/>
            <a:r>
              <a:rPr lang="en-GB" dirty="0"/>
              <a:t>Spreadsheet programs</a:t>
            </a:r>
          </a:p>
          <a:p>
            <a:pPr lvl="1"/>
            <a:r>
              <a:rPr lang="en-GB" dirty="0"/>
              <a:t>Text &amp; image processing systems</a:t>
            </a:r>
          </a:p>
          <a:p>
            <a:pPr lvl="1"/>
            <a:r>
              <a:rPr lang="en-GB" dirty="0"/>
              <a:t>Personal database systems and note-taking </a:t>
            </a:r>
            <a:r>
              <a:rPr lang="en-GB" dirty="0" smtClean="0"/>
              <a:t>systems</a:t>
            </a:r>
            <a:endParaRPr lang="en-GB" dirty="0"/>
          </a:p>
          <a:p>
            <a:r>
              <a:rPr lang="en-GB" dirty="0" smtClean="0"/>
              <a:t>A wide </a:t>
            </a:r>
            <a:r>
              <a:rPr lang="en-GB" dirty="0"/>
              <a:t>range of software systems that exist to improve the productivity of employees working in an office (e.g. Microsoft </a:t>
            </a:r>
            <a:r>
              <a:rPr lang="en-GB" dirty="0" smtClean="0"/>
              <a:t>Office)</a:t>
            </a:r>
          </a:p>
          <a:p>
            <a:r>
              <a:rPr lang="en-GB" dirty="0" smtClean="0"/>
              <a:t> </a:t>
            </a:r>
            <a:r>
              <a:rPr lang="en-GB" dirty="0"/>
              <a:t>or systems that allow employees to work from home or whilst on the move. </a:t>
            </a:r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874813851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Solstice">
  <a:themeElements>
    <a:clrScheme name="Solstice">
      <a:dk1>
        <a:sysClr val="windowText" lastClr="000000"/>
      </a:dk1>
      <a:lt1>
        <a:sysClr val="window" lastClr="FFFFFF"/>
      </a:lt1>
      <a:dk2>
        <a:srgbClr val="4F271C"/>
      </a:dk2>
      <a:lt2>
        <a:srgbClr val="E7DEC9"/>
      </a:lt2>
      <a:accent1>
        <a:srgbClr val="3891A7"/>
      </a:accent1>
      <a:accent2>
        <a:srgbClr val="FEB80A"/>
      </a:accent2>
      <a:accent3>
        <a:srgbClr val="C32D2E"/>
      </a:accent3>
      <a:accent4>
        <a:srgbClr val="84AA33"/>
      </a:accent4>
      <a:accent5>
        <a:srgbClr val="964305"/>
      </a:accent5>
      <a:accent6>
        <a:srgbClr val="475A8D"/>
      </a:accent6>
      <a:hlink>
        <a:srgbClr val="8DC765"/>
      </a:hlink>
      <a:folHlink>
        <a:srgbClr val="AA8A14"/>
      </a:folHlink>
    </a:clrScheme>
    <a:fontScheme name="Solstice">
      <a:majorFont>
        <a:latin typeface="Gill Sans MT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Gill Sans MT"/>
        <a:ea typeface=""/>
        <a:cs typeface=""/>
        <a:font script="Grek" typeface="Corbel"/>
        <a:font script="Cyrl" typeface="Corbel"/>
        <a:font script="Jpan" typeface="HGｺﾞｼｯｸE"/>
        <a:font script="Hang" typeface="HY엽서L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Solstice">
      <a:fillStyleLst>
        <a:solidFill>
          <a:schemeClr val="phClr"/>
        </a:solidFill>
        <a:gradFill rotWithShape="1">
          <a:gsLst>
            <a:gs pos="0">
              <a:schemeClr val="phClr">
                <a:tint val="35000"/>
                <a:satMod val="253000"/>
              </a:schemeClr>
            </a:gs>
            <a:gs pos="50000">
              <a:schemeClr val="phClr">
                <a:tint val="42000"/>
                <a:satMod val="255000"/>
              </a:schemeClr>
            </a:gs>
            <a:gs pos="97000">
              <a:schemeClr val="phClr">
                <a:tint val="53000"/>
                <a:satMod val="260000"/>
              </a:schemeClr>
            </a:gs>
            <a:gs pos="100000">
              <a:schemeClr val="phClr">
                <a:tint val="56000"/>
                <a:satMod val="275000"/>
              </a:schemeClr>
            </a:gs>
          </a:gsLst>
          <a:path path="circle">
            <a:fillToRect l="50000" t="50000" r="50000" b="50000"/>
          </a:path>
        </a:gradFill>
        <a:gradFill rotWithShape="1">
          <a:gsLst>
            <a:gs pos="0">
              <a:schemeClr val="phClr">
                <a:tint val="92000"/>
                <a:satMod val="170000"/>
              </a:schemeClr>
            </a:gs>
            <a:gs pos="15000">
              <a:schemeClr val="phClr">
                <a:tint val="92000"/>
                <a:shade val="99000"/>
                <a:satMod val="170000"/>
              </a:schemeClr>
            </a:gs>
            <a:gs pos="62000">
              <a:schemeClr val="phClr">
                <a:tint val="96000"/>
                <a:shade val="80000"/>
                <a:satMod val="170000"/>
              </a:schemeClr>
            </a:gs>
            <a:gs pos="97000">
              <a:schemeClr val="phClr">
                <a:tint val="98000"/>
                <a:shade val="63000"/>
                <a:satMod val="170000"/>
              </a:schemeClr>
            </a:gs>
            <a:gs pos="100000">
              <a:schemeClr val="phClr">
                <a:shade val="62000"/>
                <a:satMod val="170000"/>
              </a:schemeClr>
            </a:gs>
          </a:gsLst>
          <a:path path="circle">
            <a:fillToRect l="50000" t="50000" r="50000" b="50000"/>
          </a:path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63500" dist="25400" dir="5400000" rotWithShape="0">
              <a:srgbClr val="000000">
                <a:alpha val="43137"/>
              </a:srgbClr>
            </a:outerShdw>
          </a:effectLst>
        </a:effectStyle>
        <a:effectStyle>
          <a:effectLst>
            <a:outerShdw blurRad="63500" dist="25400" dir="5400000" rotWithShape="0">
              <a:srgbClr val="000000">
                <a:alpha val="43137"/>
              </a:srgbClr>
            </a:outerShdw>
          </a:effectLst>
          <a:scene3d>
            <a:camera prst="orthographicFront" fov="0">
              <a:rot lat="0" lon="0" rev="0"/>
            </a:camera>
            <a:lightRig rig="brightRoom" dir="tl">
              <a:rot lat="0" lon="0" rev="8700000"/>
            </a:lightRig>
          </a:scene3d>
          <a:sp3d contourW="12700">
            <a:bevelT w="0" h="0"/>
            <a:contourClr>
              <a:schemeClr val="phClr">
                <a:shade val="80000"/>
              </a:schemeClr>
            </a:contourClr>
          </a:sp3d>
        </a:effectStyle>
        <a:effectStyle>
          <a:effectLst>
            <a:outerShdw blurRad="63500" dist="25400" dir="5400000" rotWithShape="0">
              <a:srgbClr val="000000">
                <a:alpha val="43137"/>
              </a:srgbClr>
            </a:outerShdw>
          </a:effectLst>
          <a:scene3d>
            <a:camera prst="orthographicFront" fov="0">
              <a:rot lat="0" lon="0" rev="0"/>
            </a:camera>
            <a:lightRig rig="brightRoom" dir="tl">
              <a:rot lat="0" lon="0" rev="5400000"/>
            </a:lightRig>
          </a:scene3d>
          <a:sp3d contourW="12700">
            <a:bevelT w="25400" h="50800" prst="angle"/>
            <a:contourClr>
              <a:schemeClr val="phClr"/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60000"/>
                <a:satMod val="355000"/>
              </a:schemeClr>
            </a:gs>
            <a:gs pos="40000">
              <a:schemeClr val="phClr">
                <a:tint val="85000"/>
                <a:satMod val="320000"/>
              </a:schemeClr>
            </a:gs>
            <a:gs pos="100000">
              <a:schemeClr val="phClr">
                <a:shade val="55000"/>
                <a:satMod val="300000"/>
              </a:schemeClr>
            </a:gs>
          </a:gsLst>
          <a:path path="circle">
            <a:fillToRect l="-24500" t="-20000" r="124500" b="120000"/>
          </a:path>
        </a:gradFill>
        <a:blipFill>
          <a:blip xmlns:r="http://schemas.openxmlformats.org/officeDocument/2006/relationships" r:embed="rId1">
            <a:duotone>
              <a:schemeClr val="phClr">
                <a:shade val="9000"/>
                <a:satMod val="300000"/>
              </a:schemeClr>
              <a:schemeClr val="phClr">
                <a:tint val="90000"/>
                <a:satMod val="225000"/>
              </a:schemeClr>
            </a:duotone>
          </a:blip>
          <a:tile tx="0" ty="0" sx="90000" sy="90000" flip="xy" algn="tl"/>
        </a:blip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Solstice</Template>
  <TotalTime>640</TotalTime>
  <Words>849</Words>
  <Application>Microsoft Office PowerPoint</Application>
  <PresentationFormat>On-screen Show (4:3)</PresentationFormat>
  <Paragraphs>71</Paragraphs>
  <Slides>11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2" baseType="lpstr">
      <vt:lpstr>Solstice</vt:lpstr>
      <vt:lpstr>  INFORMATION SYSTEMS </vt:lpstr>
      <vt:lpstr>PowerPoint Presentation</vt:lpstr>
      <vt:lpstr>Information System (IS)</vt:lpstr>
      <vt:lpstr>PowerPoint Presentation</vt:lpstr>
      <vt:lpstr>Resources that support Information Systems</vt:lpstr>
      <vt:lpstr>  Types Of Information Systems 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USER 1</dc:creator>
  <cp:lastModifiedBy>ismail - [2010]</cp:lastModifiedBy>
  <cp:revision>22</cp:revision>
  <dcterms:created xsi:type="dcterms:W3CDTF">2015-02-08T19:15:41Z</dcterms:created>
  <dcterms:modified xsi:type="dcterms:W3CDTF">2015-06-20T10:13:15Z</dcterms:modified>
</cp:coreProperties>
</file>