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87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F7EA9B3-4BC7-45AA-BC5D-7D3D8EC2C3FD}" type="datetimeFigureOut">
              <a:rPr lang="en-GB" smtClean="0"/>
              <a:t>04/07/2015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9E82E91D-352A-4747-9C10-1499449A74A1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400" dirty="0"/>
              <a:t>Computer Security and Safety, Ethics, and Privacy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48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Computer Security and Safety, Ethics, and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</a:t>
            </a:r>
            <a:r>
              <a:rPr lang="en-GB" sz="2400" dirty="0" smtClean="0"/>
              <a:t>eople </a:t>
            </a:r>
            <a:r>
              <a:rPr lang="en-GB" sz="2400" dirty="0"/>
              <a:t>rely on computers to </a:t>
            </a:r>
            <a:r>
              <a:rPr lang="en-GB" sz="2400" dirty="0" smtClean="0"/>
              <a:t>create, </a:t>
            </a:r>
            <a:r>
              <a:rPr lang="en-GB" sz="2400" dirty="0" smtClean="0"/>
              <a:t>store and </a:t>
            </a:r>
            <a:r>
              <a:rPr lang="en-GB" sz="2400" dirty="0"/>
              <a:t>manage critical information. </a:t>
            </a:r>
            <a:endParaRPr lang="en-GB" sz="2400" dirty="0" smtClean="0"/>
          </a:p>
          <a:p>
            <a:r>
              <a:rPr lang="en-GB" sz="2400" dirty="0"/>
              <a:t>I</a:t>
            </a:r>
            <a:r>
              <a:rPr lang="en-GB" sz="2400" dirty="0" smtClean="0"/>
              <a:t>t is </a:t>
            </a:r>
            <a:r>
              <a:rPr lang="en-GB" sz="2400" dirty="0"/>
              <a:t>important that computers and </a:t>
            </a:r>
            <a:r>
              <a:rPr lang="en-GB" sz="2400" dirty="0" smtClean="0"/>
              <a:t>data </a:t>
            </a:r>
            <a:r>
              <a:rPr lang="en-GB" sz="2400" dirty="0"/>
              <a:t>are accessible and available when needed.</a:t>
            </a:r>
          </a:p>
          <a:p>
            <a:r>
              <a:rPr lang="en-GB" sz="2400" dirty="0"/>
              <a:t>It </a:t>
            </a:r>
            <a:r>
              <a:rPr lang="en-GB" sz="2400" dirty="0" smtClean="0"/>
              <a:t>is also important </a:t>
            </a:r>
            <a:r>
              <a:rPr lang="en-GB" sz="2400" dirty="0"/>
              <a:t>that users take measures </a:t>
            </a:r>
            <a:r>
              <a:rPr lang="en-GB" sz="2400" dirty="0" smtClean="0"/>
              <a:t>to protect </a:t>
            </a:r>
            <a:r>
              <a:rPr lang="en-GB" sz="2400" dirty="0"/>
              <a:t>their computers and data from </a:t>
            </a:r>
            <a:r>
              <a:rPr lang="en-GB" sz="2400" dirty="0" smtClean="0"/>
              <a:t>loss, </a:t>
            </a:r>
            <a:r>
              <a:rPr lang="en-GB" sz="2400" dirty="0" smtClean="0"/>
              <a:t>damage and </a:t>
            </a:r>
            <a:r>
              <a:rPr lang="en-GB" sz="2400" dirty="0"/>
              <a:t>misuse. </a:t>
            </a: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167223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168840" cy="5699720"/>
          </a:xfrm>
        </p:spPr>
        <p:txBody>
          <a:bodyPr>
            <a:normAutofit/>
          </a:bodyPr>
          <a:lstStyle/>
          <a:p>
            <a:r>
              <a:rPr lang="en-GB" sz="2400" dirty="0"/>
              <a:t>A </a:t>
            </a:r>
            <a:r>
              <a:rPr lang="en-GB" sz="2400" b="1" dirty="0"/>
              <a:t>computer security risk </a:t>
            </a:r>
            <a:r>
              <a:rPr lang="en-GB" sz="2400" dirty="0"/>
              <a:t>is any event </a:t>
            </a:r>
            <a:r>
              <a:rPr lang="en-GB" sz="2400" dirty="0" smtClean="0"/>
              <a:t>or action </a:t>
            </a:r>
            <a:r>
              <a:rPr lang="en-GB" sz="2400" dirty="0"/>
              <a:t>that could cause a </a:t>
            </a:r>
            <a:r>
              <a:rPr lang="en-GB" sz="2400" dirty="0" smtClean="0"/>
              <a:t>loss or </a:t>
            </a:r>
            <a:r>
              <a:rPr lang="en-GB" sz="2400" dirty="0"/>
              <a:t>damage </a:t>
            </a:r>
            <a:r>
              <a:rPr lang="en-GB" sz="2400" dirty="0" smtClean="0"/>
              <a:t>to computer </a:t>
            </a:r>
            <a:r>
              <a:rPr lang="en-GB" sz="2400" dirty="0"/>
              <a:t>hardware, software, data, </a:t>
            </a:r>
            <a:r>
              <a:rPr lang="en-GB" sz="2400" dirty="0" smtClean="0"/>
              <a:t>information, or </a:t>
            </a:r>
            <a:r>
              <a:rPr lang="en-GB" sz="2400" dirty="0"/>
              <a:t>processing capability. </a:t>
            </a:r>
            <a:endParaRPr lang="en-GB" sz="2400" dirty="0" smtClean="0"/>
          </a:p>
          <a:p>
            <a:r>
              <a:rPr lang="en-GB" sz="2400" dirty="0"/>
              <a:t>S</a:t>
            </a:r>
            <a:r>
              <a:rPr lang="en-GB" sz="2400" dirty="0" smtClean="0"/>
              <a:t>ome breaches to </a:t>
            </a:r>
            <a:r>
              <a:rPr lang="en-GB" sz="2400" dirty="0"/>
              <a:t>computer security are accidental, many </a:t>
            </a:r>
            <a:r>
              <a:rPr lang="en-GB" sz="2400" dirty="0" smtClean="0"/>
              <a:t>are intentional</a:t>
            </a:r>
            <a:r>
              <a:rPr lang="en-GB" sz="2400" dirty="0"/>
              <a:t>. </a:t>
            </a:r>
            <a:endParaRPr lang="en-GB" sz="2400" dirty="0" smtClean="0"/>
          </a:p>
          <a:p>
            <a:r>
              <a:rPr lang="en-GB" sz="2400" dirty="0" smtClean="0"/>
              <a:t>Some </a:t>
            </a:r>
            <a:r>
              <a:rPr lang="en-GB" sz="2400" dirty="0"/>
              <a:t>intruders do no damage; </a:t>
            </a:r>
            <a:r>
              <a:rPr lang="en-GB" sz="2400" dirty="0" smtClean="0"/>
              <a:t>they only </a:t>
            </a:r>
            <a:r>
              <a:rPr lang="en-GB" sz="2400" dirty="0"/>
              <a:t>access data, information, or </a:t>
            </a:r>
            <a:r>
              <a:rPr lang="en-GB" sz="2400" dirty="0" smtClean="0"/>
              <a:t>programs on </a:t>
            </a:r>
            <a:r>
              <a:rPr lang="en-GB" sz="2400" dirty="0"/>
              <a:t>the computer before logging off. </a:t>
            </a:r>
            <a:endParaRPr lang="en-GB" sz="2400" dirty="0" smtClean="0"/>
          </a:p>
          <a:p>
            <a:r>
              <a:rPr lang="en-GB" sz="2400" dirty="0" smtClean="0"/>
              <a:t>Other intruders </a:t>
            </a:r>
            <a:r>
              <a:rPr lang="en-GB" sz="2400" dirty="0"/>
              <a:t>indicate </a:t>
            </a:r>
            <a:r>
              <a:rPr lang="en-GB" sz="2400" dirty="0" smtClean="0"/>
              <a:t>evidence </a:t>
            </a:r>
            <a:r>
              <a:rPr lang="en-GB" sz="2400" dirty="0"/>
              <a:t>of their </a:t>
            </a:r>
            <a:r>
              <a:rPr lang="en-GB" sz="2400" dirty="0" smtClean="0"/>
              <a:t>presence either </a:t>
            </a:r>
            <a:r>
              <a:rPr lang="en-GB" sz="2400" dirty="0"/>
              <a:t>by leaving a message or by </a:t>
            </a:r>
            <a:r>
              <a:rPr lang="en-GB" sz="2400" dirty="0" smtClean="0"/>
              <a:t>deliberately altering </a:t>
            </a:r>
            <a:r>
              <a:rPr lang="en-GB" sz="2400" dirty="0"/>
              <a:t>or damaging data.</a:t>
            </a:r>
          </a:p>
        </p:txBody>
      </p:sp>
    </p:spTree>
    <p:extLst>
      <p:ext uri="{BB962C8B-B14F-4D97-AF65-F5344CB8AC3E}">
        <p14:creationId xmlns:p14="http://schemas.microsoft.com/office/powerpoint/2010/main" val="58168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60648"/>
            <a:ext cx="7498080" cy="5987752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An intentional breach of computer </a:t>
            </a:r>
            <a:r>
              <a:rPr lang="en-GB" dirty="0" smtClean="0"/>
              <a:t>security involves </a:t>
            </a:r>
            <a:r>
              <a:rPr lang="en-GB" dirty="0"/>
              <a:t>a deliberate act that is </a:t>
            </a:r>
            <a:r>
              <a:rPr lang="en-GB" dirty="0" smtClean="0"/>
              <a:t>against the law.</a:t>
            </a:r>
          </a:p>
          <a:p>
            <a:r>
              <a:rPr lang="en-GB" dirty="0" smtClean="0"/>
              <a:t>Any </a:t>
            </a:r>
            <a:r>
              <a:rPr lang="en-GB" dirty="0"/>
              <a:t>illegal act involving a </a:t>
            </a:r>
            <a:r>
              <a:rPr lang="en-GB" dirty="0" smtClean="0"/>
              <a:t>computer is </a:t>
            </a:r>
            <a:r>
              <a:rPr lang="en-GB" dirty="0"/>
              <a:t>referred to as a </a:t>
            </a:r>
            <a:r>
              <a:rPr lang="en-GB" b="1" dirty="0"/>
              <a:t>C</a:t>
            </a:r>
            <a:r>
              <a:rPr lang="en-GB" b="1" dirty="0" smtClean="0"/>
              <a:t>omputer </a:t>
            </a:r>
            <a:r>
              <a:rPr lang="en-GB" b="1" dirty="0"/>
              <a:t>crime</a:t>
            </a:r>
            <a:r>
              <a:rPr lang="en-GB" dirty="0"/>
              <a:t>.</a:t>
            </a:r>
          </a:p>
          <a:p>
            <a:r>
              <a:rPr lang="en-GB" b="1" dirty="0"/>
              <a:t>C</a:t>
            </a:r>
            <a:r>
              <a:rPr lang="en-GB" b="1" dirty="0" smtClean="0"/>
              <a:t>ybercrime </a:t>
            </a:r>
            <a:r>
              <a:rPr lang="en-GB" dirty="0"/>
              <a:t>refers to online </a:t>
            </a:r>
            <a:r>
              <a:rPr lang="en-GB" dirty="0" smtClean="0"/>
              <a:t>or Internet-based </a:t>
            </a:r>
            <a:r>
              <a:rPr lang="en-GB" dirty="0"/>
              <a:t>illegal acts. </a:t>
            </a:r>
            <a:endParaRPr lang="en-GB" dirty="0" smtClean="0"/>
          </a:p>
          <a:p>
            <a:r>
              <a:rPr lang="en-GB" dirty="0" smtClean="0"/>
              <a:t>Software </a:t>
            </a:r>
            <a:r>
              <a:rPr lang="en-GB" dirty="0"/>
              <a:t>used </a:t>
            </a:r>
            <a:r>
              <a:rPr lang="en-GB" dirty="0" smtClean="0"/>
              <a:t>by cybercriminals </a:t>
            </a:r>
            <a:r>
              <a:rPr lang="en-GB" dirty="0"/>
              <a:t>sometimes is called </a:t>
            </a:r>
            <a:r>
              <a:rPr lang="en-GB" i="1" dirty="0" err="1"/>
              <a:t>crimeware</a:t>
            </a:r>
            <a:r>
              <a:rPr lang="en-GB" dirty="0"/>
              <a:t>.</a:t>
            </a:r>
          </a:p>
          <a:p>
            <a:r>
              <a:rPr lang="en-GB" dirty="0"/>
              <a:t>C</a:t>
            </a:r>
            <a:r>
              <a:rPr lang="en-GB" dirty="0" smtClean="0"/>
              <a:t>ybercrime </a:t>
            </a:r>
            <a:r>
              <a:rPr lang="en-GB" dirty="0"/>
              <a:t>is one of the FBI’s top </a:t>
            </a:r>
            <a:r>
              <a:rPr lang="en-GB" dirty="0" smtClean="0"/>
              <a:t>three priorities</a:t>
            </a:r>
            <a:r>
              <a:rPr lang="en-GB" dirty="0"/>
              <a:t>.</a:t>
            </a:r>
          </a:p>
          <a:p>
            <a:r>
              <a:rPr lang="en-GB" dirty="0"/>
              <a:t>Perpetrators of cybercrime and other </a:t>
            </a:r>
            <a:r>
              <a:rPr lang="en-GB" dirty="0" smtClean="0"/>
              <a:t>intrusions fall </a:t>
            </a:r>
            <a:r>
              <a:rPr lang="en-GB" dirty="0"/>
              <a:t>into </a:t>
            </a:r>
            <a:r>
              <a:rPr lang="en-GB" dirty="0" smtClean="0"/>
              <a:t>the following categories</a:t>
            </a:r>
            <a:r>
              <a:rPr lang="en-GB" dirty="0"/>
              <a:t>: </a:t>
            </a:r>
            <a:endParaRPr lang="en-GB" dirty="0" smtClean="0"/>
          </a:p>
          <a:p>
            <a:pPr lvl="1"/>
            <a:r>
              <a:rPr lang="en-GB" dirty="0" smtClean="0"/>
              <a:t>hacker, cracker</a:t>
            </a:r>
            <a:r>
              <a:rPr lang="en-GB" dirty="0"/>
              <a:t>, script kiddie, corporate spy, </a:t>
            </a:r>
            <a:r>
              <a:rPr lang="en-GB" dirty="0" smtClean="0"/>
              <a:t>unethical employee</a:t>
            </a:r>
            <a:r>
              <a:rPr lang="en-GB" dirty="0"/>
              <a:t>, </a:t>
            </a:r>
            <a:r>
              <a:rPr lang="en-GB" dirty="0" err="1"/>
              <a:t>cyberextortionist</a:t>
            </a:r>
            <a:r>
              <a:rPr lang="en-GB" dirty="0"/>
              <a:t>, and cyberterrorist.</a:t>
            </a:r>
          </a:p>
        </p:txBody>
      </p:sp>
    </p:spTree>
    <p:extLst>
      <p:ext uri="{BB962C8B-B14F-4D97-AF65-F5344CB8AC3E}">
        <p14:creationId xmlns:p14="http://schemas.microsoft.com/office/powerpoint/2010/main" val="41616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H</a:t>
            </a:r>
            <a:r>
              <a:rPr lang="en-GB" b="1" dirty="0" smtClean="0"/>
              <a:t>acker</a:t>
            </a:r>
            <a:r>
              <a:rPr lang="en-GB" dirty="0" smtClean="0"/>
              <a:t> refers </a:t>
            </a:r>
            <a:r>
              <a:rPr lang="en-GB" dirty="0"/>
              <a:t>to someone who accesses </a:t>
            </a:r>
            <a:r>
              <a:rPr lang="en-GB" dirty="0" smtClean="0"/>
              <a:t>a computer </a:t>
            </a:r>
            <a:r>
              <a:rPr lang="en-GB" dirty="0"/>
              <a:t>or network </a:t>
            </a:r>
            <a:r>
              <a:rPr lang="en-GB" dirty="0" smtClean="0"/>
              <a:t>illegally.</a:t>
            </a:r>
          </a:p>
          <a:p>
            <a:pPr lvl="1"/>
            <a:r>
              <a:rPr lang="en-GB" dirty="0" smtClean="0"/>
              <a:t>Some hackers claim </a:t>
            </a:r>
            <a:r>
              <a:rPr lang="en-GB" dirty="0"/>
              <a:t>the </a:t>
            </a:r>
            <a:r>
              <a:rPr lang="en-GB" dirty="0" smtClean="0"/>
              <a:t>intention </a:t>
            </a:r>
            <a:r>
              <a:rPr lang="en-GB" dirty="0"/>
              <a:t>of their security breaches </a:t>
            </a:r>
            <a:r>
              <a:rPr lang="en-GB" dirty="0" smtClean="0"/>
              <a:t>is to </a:t>
            </a:r>
            <a:r>
              <a:rPr lang="en-GB" dirty="0"/>
              <a:t>improve security.</a:t>
            </a:r>
          </a:p>
          <a:p>
            <a:r>
              <a:rPr lang="en-GB" dirty="0" smtClean="0"/>
              <a:t>A </a:t>
            </a:r>
            <a:r>
              <a:rPr lang="en-GB" b="1" dirty="0"/>
              <a:t>cracker </a:t>
            </a:r>
            <a:r>
              <a:rPr lang="en-GB" dirty="0" smtClean="0"/>
              <a:t>is </a:t>
            </a:r>
            <a:r>
              <a:rPr lang="en-GB" dirty="0"/>
              <a:t>someone who </a:t>
            </a:r>
            <a:r>
              <a:rPr lang="en-GB" dirty="0" smtClean="0"/>
              <a:t>accesses a </a:t>
            </a:r>
            <a:r>
              <a:rPr lang="en-GB" dirty="0"/>
              <a:t>computer or network illegally but </a:t>
            </a:r>
            <a:r>
              <a:rPr lang="en-GB" dirty="0" smtClean="0"/>
              <a:t>has the intention </a:t>
            </a:r>
            <a:r>
              <a:rPr lang="en-GB" dirty="0"/>
              <a:t>of destroying data, </a:t>
            </a:r>
            <a:r>
              <a:rPr lang="en-GB" dirty="0" smtClean="0"/>
              <a:t>stealing information</a:t>
            </a:r>
            <a:r>
              <a:rPr lang="en-GB" dirty="0"/>
              <a:t>, or other malicious action.</a:t>
            </a:r>
          </a:p>
          <a:p>
            <a:r>
              <a:rPr lang="en-GB" dirty="0"/>
              <a:t>Both hackers and crackers have </a:t>
            </a:r>
            <a:r>
              <a:rPr lang="en-GB" dirty="0" smtClean="0"/>
              <a:t>advanced computer </a:t>
            </a:r>
            <a:r>
              <a:rPr lang="en-GB" dirty="0"/>
              <a:t>and network skills.</a:t>
            </a:r>
          </a:p>
          <a:p>
            <a:r>
              <a:rPr lang="en-GB" dirty="0" smtClean="0"/>
              <a:t>A </a:t>
            </a:r>
            <a:r>
              <a:rPr lang="en-GB" b="1" dirty="0"/>
              <a:t>script kiddie </a:t>
            </a:r>
            <a:r>
              <a:rPr lang="en-GB" dirty="0"/>
              <a:t>has the same </a:t>
            </a:r>
            <a:r>
              <a:rPr lang="en-GB" dirty="0" smtClean="0"/>
              <a:t>intention </a:t>
            </a:r>
            <a:r>
              <a:rPr lang="en-GB" dirty="0"/>
              <a:t>as </a:t>
            </a:r>
            <a:r>
              <a:rPr lang="en-GB" dirty="0" smtClean="0"/>
              <a:t>a cracker </a:t>
            </a:r>
            <a:r>
              <a:rPr lang="en-GB" dirty="0"/>
              <a:t>but does not have </a:t>
            </a:r>
            <a:r>
              <a:rPr lang="en-GB" dirty="0" smtClean="0"/>
              <a:t>technical skills </a:t>
            </a:r>
            <a:r>
              <a:rPr lang="en-GB" dirty="0"/>
              <a:t>and knowledge. </a:t>
            </a:r>
            <a:endParaRPr lang="en-GB" dirty="0" smtClean="0"/>
          </a:p>
          <a:p>
            <a:pPr lvl="1"/>
            <a:r>
              <a:rPr lang="en-GB" dirty="0" smtClean="0"/>
              <a:t>Script </a:t>
            </a:r>
            <a:r>
              <a:rPr lang="en-GB" dirty="0"/>
              <a:t>kiddies </a:t>
            </a:r>
            <a:r>
              <a:rPr lang="en-GB" dirty="0" smtClean="0"/>
              <a:t>often use prewritten </a:t>
            </a:r>
            <a:r>
              <a:rPr lang="en-GB" dirty="0"/>
              <a:t>hacking and cracking </a:t>
            </a:r>
            <a:r>
              <a:rPr lang="en-GB" dirty="0" smtClean="0"/>
              <a:t>programs to </a:t>
            </a:r>
            <a:r>
              <a:rPr lang="en-GB" dirty="0"/>
              <a:t>break into computers.</a:t>
            </a:r>
          </a:p>
        </p:txBody>
      </p:sp>
    </p:spTree>
    <p:extLst>
      <p:ext uri="{BB962C8B-B14F-4D97-AF65-F5344CB8AC3E}">
        <p14:creationId xmlns:p14="http://schemas.microsoft.com/office/powerpoint/2010/main" val="261775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/>
          </a:bodyPr>
          <a:lstStyle/>
          <a:p>
            <a:r>
              <a:rPr lang="en-GB" dirty="0" smtClean="0"/>
              <a:t>Unethical </a:t>
            </a:r>
            <a:r>
              <a:rPr lang="en-GB" dirty="0"/>
              <a:t>employees may break into </a:t>
            </a:r>
            <a:r>
              <a:rPr lang="en-GB" dirty="0" smtClean="0"/>
              <a:t>their employers</a:t>
            </a:r>
            <a:r>
              <a:rPr lang="en-GB" dirty="0"/>
              <a:t>’ computers for a variety of reasons.</a:t>
            </a:r>
          </a:p>
          <a:p>
            <a:pPr lvl="1"/>
            <a:r>
              <a:rPr lang="en-GB" dirty="0"/>
              <a:t>Some simply want to exploit a </a:t>
            </a:r>
            <a:r>
              <a:rPr lang="en-GB" dirty="0" smtClean="0"/>
              <a:t>security weakness</a:t>
            </a:r>
            <a:r>
              <a:rPr lang="en-GB" dirty="0"/>
              <a:t>. </a:t>
            </a:r>
            <a:endParaRPr lang="en-GB" dirty="0" smtClean="0"/>
          </a:p>
          <a:p>
            <a:pPr lvl="1"/>
            <a:r>
              <a:rPr lang="en-GB" dirty="0" smtClean="0"/>
              <a:t>Others </a:t>
            </a:r>
            <a:r>
              <a:rPr lang="en-GB" dirty="0"/>
              <a:t>seek financial gains </a:t>
            </a:r>
            <a:r>
              <a:rPr lang="en-GB" dirty="0" smtClean="0"/>
              <a:t>from selling </a:t>
            </a:r>
            <a:r>
              <a:rPr lang="en-GB" dirty="0"/>
              <a:t>confidential information. </a:t>
            </a:r>
            <a:endParaRPr lang="en-GB" dirty="0" smtClean="0"/>
          </a:p>
          <a:p>
            <a:pPr lvl="1"/>
            <a:r>
              <a:rPr lang="en-GB" dirty="0" smtClean="0"/>
              <a:t>Disgruntled</a:t>
            </a:r>
            <a:r>
              <a:rPr lang="en-GB" dirty="0"/>
              <a:t> </a:t>
            </a:r>
            <a:r>
              <a:rPr lang="en-GB" dirty="0" smtClean="0"/>
              <a:t>employees </a:t>
            </a:r>
            <a:r>
              <a:rPr lang="en-GB" dirty="0"/>
              <a:t>may want revenge.</a:t>
            </a:r>
          </a:p>
        </p:txBody>
      </p:sp>
    </p:spTree>
    <p:extLst>
      <p:ext uri="{BB962C8B-B14F-4D97-AF65-F5344CB8AC3E}">
        <p14:creationId xmlns:p14="http://schemas.microsoft.com/office/powerpoint/2010/main" val="94234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A </a:t>
            </a:r>
            <a:r>
              <a:rPr lang="en-GB" b="1" dirty="0" err="1"/>
              <a:t>cyberextortionist</a:t>
            </a:r>
            <a:r>
              <a:rPr lang="en-GB" b="1" dirty="0"/>
              <a:t> </a:t>
            </a:r>
            <a:r>
              <a:rPr lang="en-GB" dirty="0"/>
              <a:t>is someone who </a:t>
            </a:r>
            <a:r>
              <a:rPr lang="en-GB" dirty="0" smtClean="0"/>
              <a:t>uses e-mail </a:t>
            </a:r>
            <a:r>
              <a:rPr lang="en-GB" dirty="0"/>
              <a:t>as a </a:t>
            </a:r>
            <a:r>
              <a:rPr lang="en-GB" dirty="0" smtClean="0"/>
              <a:t>means </a:t>
            </a:r>
            <a:r>
              <a:rPr lang="en-GB" dirty="0"/>
              <a:t>for </a:t>
            </a:r>
            <a:r>
              <a:rPr lang="en-GB" dirty="0" smtClean="0"/>
              <a:t>extortion (blackmail). </a:t>
            </a:r>
          </a:p>
          <a:p>
            <a:pPr lvl="1"/>
            <a:r>
              <a:rPr lang="en-GB" dirty="0" smtClean="0"/>
              <a:t>These perpetrators </a:t>
            </a:r>
            <a:r>
              <a:rPr lang="en-GB" dirty="0"/>
              <a:t>send an organization </a:t>
            </a:r>
            <a:r>
              <a:rPr lang="en-GB" dirty="0" smtClean="0"/>
              <a:t>a threatening </a:t>
            </a:r>
            <a:r>
              <a:rPr lang="en-GB" dirty="0"/>
              <a:t>e-mail message indicating </a:t>
            </a:r>
            <a:r>
              <a:rPr lang="en-GB" dirty="0" smtClean="0"/>
              <a:t>they will </a:t>
            </a:r>
            <a:r>
              <a:rPr lang="en-GB" dirty="0"/>
              <a:t>expose confidential information, </a:t>
            </a:r>
            <a:r>
              <a:rPr lang="en-GB" dirty="0" smtClean="0"/>
              <a:t>exploit a </a:t>
            </a:r>
            <a:r>
              <a:rPr lang="en-GB" dirty="0"/>
              <a:t>security flaw, or launch an attack that </a:t>
            </a:r>
            <a:r>
              <a:rPr lang="en-GB" dirty="0" smtClean="0"/>
              <a:t>will compromise </a:t>
            </a:r>
            <a:r>
              <a:rPr lang="en-GB" dirty="0"/>
              <a:t>the organization’s network — </a:t>
            </a:r>
            <a:r>
              <a:rPr lang="en-GB" dirty="0" smtClean="0"/>
              <a:t>if they </a:t>
            </a:r>
            <a:r>
              <a:rPr lang="en-GB" dirty="0"/>
              <a:t>are not paid a sum of money.</a:t>
            </a:r>
          </a:p>
          <a:p>
            <a:r>
              <a:rPr lang="en-GB" dirty="0" smtClean="0"/>
              <a:t>A </a:t>
            </a:r>
            <a:r>
              <a:rPr lang="en-GB" b="1" dirty="0"/>
              <a:t>cyberterrorist </a:t>
            </a:r>
            <a:r>
              <a:rPr lang="en-GB" dirty="0"/>
              <a:t>is someone who </a:t>
            </a:r>
            <a:r>
              <a:rPr lang="en-GB" dirty="0" smtClean="0"/>
              <a:t>uses Internet </a:t>
            </a:r>
            <a:r>
              <a:rPr lang="en-GB" dirty="0"/>
              <a:t>or network to destroy or </a:t>
            </a:r>
            <a:r>
              <a:rPr lang="en-GB" dirty="0" smtClean="0"/>
              <a:t>damage computers </a:t>
            </a:r>
            <a:r>
              <a:rPr lang="en-GB" dirty="0"/>
              <a:t>for political reasons. </a:t>
            </a:r>
            <a:endParaRPr lang="en-GB" dirty="0" smtClean="0"/>
          </a:p>
          <a:p>
            <a:pPr lvl="1"/>
            <a:r>
              <a:rPr lang="en-GB" dirty="0"/>
              <a:t>C</a:t>
            </a:r>
            <a:r>
              <a:rPr lang="en-GB" dirty="0" smtClean="0"/>
              <a:t>yberterrorist </a:t>
            </a:r>
            <a:r>
              <a:rPr lang="en-GB" dirty="0"/>
              <a:t>might target the nation’s </a:t>
            </a:r>
            <a:r>
              <a:rPr lang="en-GB" dirty="0" smtClean="0"/>
              <a:t>air traffic </a:t>
            </a:r>
            <a:r>
              <a:rPr lang="en-GB" dirty="0"/>
              <a:t>control system, </a:t>
            </a:r>
            <a:r>
              <a:rPr lang="en-GB" dirty="0" smtClean="0"/>
              <a:t>electricity generating companies</a:t>
            </a:r>
            <a:r>
              <a:rPr lang="en-GB" dirty="0"/>
              <a:t>, or a telecommunications infrastructure.</a:t>
            </a:r>
          </a:p>
          <a:p>
            <a:r>
              <a:rPr lang="en-GB" b="1" i="1" dirty="0" smtClean="0"/>
              <a:t>Cyber warfare </a:t>
            </a:r>
            <a:r>
              <a:rPr lang="en-GB" dirty="0" smtClean="0"/>
              <a:t>describes an </a:t>
            </a:r>
            <a:r>
              <a:rPr lang="en-GB" dirty="0"/>
              <a:t>attack whose goal ranges from disabling </a:t>
            </a:r>
            <a:r>
              <a:rPr lang="en-GB" dirty="0" smtClean="0"/>
              <a:t>a government’s </a:t>
            </a:r>
            <a:r>
              <a:rPr lang="en-GB" dirty="0"/>
              <a:t>computer network to </a:t>
            </a:r>
            <a:r>
              <a:rPr lang="en-GB" dirty="0" smtClean="0"/>
              <a:t>crippling a </a:t>
            </a:r>
            <a:r>
              <a:rPr lang="en-GB" dirty="0"/>
              <a:t>country. </a:t>
            </a:r>
            <a:endParaRPr lang="en-GB" dirty="0" smtClean="0"/>
          </a:p>
          <a:p>
            <a:r>
              <a:rPr lang="en-GB" dirty="0" smtClean="0"/>
              <a:t>Cyberterrorism </a:t>
            </a:r>
            <a:r>
              <a:rPr lang="en-GB" dirty="0"/>
              <a:t>and </a:t>
            </a:r>
            <a:r>
              <a:rPr lang="en-GB" dirty="0" err="1" smtClean="0"/>
              <a:t>cyberwarfare</a:t>
            </a:r>
            <a:r>
              <a:rPr lang="en-GB" dirty="0"/>
              <a:t> </a:t>
            </a:r>
            <a:r>
              <a:rPr lang="en-GB" dirty="0" smtClean="0"/>
              <a:t>require </a:t>
            </a:r>
            <a:r>
              <a:rPr lang="en-GB" dirty="0"/>
              <a:t>a team of highly </a:t>
            </a:r>
            <a:r>
              <a:rPr lang="en-GB" dirty="0" smtClean="0"/>
              <a:t>skilled </a:t>
            </a:r>
            <a:r>
              <a:rPr lang="en-GB" dirty="0"/>
              <a:t>individuals, millions of dollars, and several </a:t>
            </a:r>
            <a:r>
              <a:rPr lang="en-GB" dirty="0" smtClean="0"/>
              <a:t>years of </a:t>
            </a:r>
            <a:r>
              <a:rPr lang="en-GB" dirty="0"/>
              <a:t>planning.</a:t>
            </a:r>
          </a:p>
        </p:txBody>
      </p:sp>
    </p:spTree>
    <p:extLst>
      <p:ext uri="{BB962C8B-B14F-4D97-AF65-F5344CB8AC3E}">
        <p14:creationId xmlns:p14="http://schemas.microsoft.com/office/powerpoint/2010/main" val="71126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32656"/>
            <a:ext cx="7498080" cy="5915744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GB" dirty="0" smtClean="0"/>
              <a:t> </a:t>
            </a:r>
          </a:p>
          <a:p>
            <a:r>
              <a:rPr lang="en-GB" dirty="0" smtClean="0"/>
              <a:t>Some organizations hire individuals previously convicted of computer crimes to help identify security risks and implement safeguards because these individuals know how criminals attempt to breach security.</a:t>
            </a:r>
          </a:p>
          <a:p>
            <a:r>
              <a:rPr lang="en-GB" b="1" dirty="0" smtClean="0"/>
              <a:t>Common </a:t>
            </a:r>
            <a:r>
              <a:rPr lang="en-GB" b="1" dirty="0"/>
              <a:t>computer security </a:t>
            </a:r>
            <a:r>
              <a:rPr lang="en-GB" b="1" dirty="0" smtClean="0"/>
              <a:t>risks include: </a:t>
            </a:r>
          </a:p>
          <a:p>
            <a:pPr lvl="1"/>
            <a:r>
              <a:rPr lang="en-GB" dirty="0" smtClean="0"/>
              <a:t>Internet </a:t>
            </a:r>
            <a:r>
              <a:rPr lang="en-GB" dirty="0"/>
              <a:t>and network attacks, </a:t>
            </a:r>
            <a:endParaRPr lang="en-GB" dirty="0" smtClean="0"/>
          </a:p>
          <a:p>
            <a:pPr lvl="1"/>
            <a:r>
              <a:rPr lang="en-GB" dirty="0" smtClean="0"/>
              <a:t>unauthorized access </a:t>
            </a:r>
            <a:r>
              <a:rPr lang="en-GB" dirty="0"/>
              <a:t>and use, </a:t>
            </a:r>
            <a:endParaRPr lang="en-GB" dirty="0" smtClean="0"/>
          </a:p>
          <a:p>
            <a:pPr lvl="1"/>
            <a:r>
              <a:rPr lang="en-GB" dirty="0" smtClean="0"/>
              <a:t>hardware </a:t>
            </a:r>
            <a:r>
              <a:rPr lang="en-GB" dirty="0"/>
              <a:t>theft, </a:t>
            </a:r>
            <a:endParaRPr lang="en-GB" dirty="0" smtClean="0"/>
          </a:p>
          <a:p>
            <a:pPr lvl="1"/>
            <a:r>
              <a:rPr lang="en-GB" dirty="0" smtClean="0"/>
              <a:t>software theft</a:t>
            </a:r>
            <a:r>
              <a:rPr lang="en-GB" dirty="0"/>
              <a:t>, </a:t>
            </a:r>
            <a:endParaRPr lang="en-GB" dirty="0" smtClean="0"/>
          </a:p>
          <a:p>
            <a:pPr lvl="1"/>
            <a:r>
              <a:rPr lang="en-GB" dirty="0" smtClean="0"/>
              <a:t>information </a:t>
            </a:r>
            <a:r>
              <a:rPr lang="en-GB" dirty="0"/>
              <a:t>theft, and </a:t>
            </a:r>
            <a:endParaRPr lang="en-GB" dirty="0" smtClean="0"/>
          </a:p>
          <a:p>
            <a:pPr lvl="1"/>
            <a:r>
              <a:rPr lang="en-GB" dirty="0" smtClean="0"/>
              <a:t>system failure.</a:t>
            </a:r>
            <a:endParaRPr lang="en-GB" dirty="0"/>
          </a:p>
          <a:p>
            <a:r>
              <a:rPr lang="en-GB" dirty="0" smtClean="0"/>
              <a:t>The </a:t>
            </a:r>
            <a:r>
              <a:rPr lang="en-GB" dirty="0"/>
              <a:t>following </a:t>
            </a:r>
            <a:r>
              <a:rPr lang="en-GB" dirty="0" smtClean="0"/>
              <a:t>are computer </a:t>
            </a:r>
            <a:r>
              <a:rPr lang="en-GB" dirty="0"/>
              <a:t>security risks and also </a:t>
            </a:r>
            <a:r>
              <a:rPr lang="en-GB" dirty="0" smtClean="0"/>
              <a:t>safeguards that users </a:t>
            </a:r>
            <a:r>
              <a:rPr lang="en-GB" dirty="0"/>
              <a:t>might take to minimize </a:t>
            </a:r>
            <a:r>
              <a:rPr lang="en-GB" dirty="0" smtClean="0"/>
              <a:t>or prevent </a:t>
            </a:r>
            <a:r>
              <a:rPr lang="en-GB" dirty="0"/>
              <a:t>their consequences.</a:t>
            </a:r>
          </a:p>
        </p:txBody>
      </p:sp>
    </p:spTree>
    <p:extLst>
      <p:ext uri="{BB962C8B-B14F-4D97-AF65-F5344CB8AC3E}">
        <p14:creationId xmlns:p14="http://schemas.microsoft.com/office/powerpoint/2010/main" val="344916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20688"/>
            <a:ext cx="7498080" cy="5627712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GB" b="1" dirty="0" smtClean="0"/>
              <a:t>Internet and </a:t>
            </a:r>
            <a:r>
              <a:rPr lang="en-GB" b="1" dirty="0"/>
              <a:t>Network </a:t>
            </a:r>
            <a:r>
              <a:rPr lang="en-GB" b="1" dirty="0" smtClean="0"/>
              <a:t>Attacks</a:t>
            </a:r>
          </a:p>
          <a:p>
            <a:r>
              <a:rPr lang="en-GB" dirty="0"/>
              <a:t>Internet and network attacks that </a:t>
            </a:r>
            <a:r>
              <a:rPr lang="en-GB" dirty="0" smtClean="0"/>
              <a:t>jeopardize (threaten) security </a:t>
            </a:r>
            <a:r>
              <a:rPr lang="en-GB" dirty="0"/>
              <a:t>include computer viruses, worms, </a:t>
            </a:r>
            <a:r>
              <a:rPr lang="en-GB" dirty="0" smtClean="0"/>
              <a:t>Trojan horses</a:t>
            </a:r>
            <a:r>
              <a:rPr lang="en-GB" dirty="0"/>
              <a:t>, and rootkits; botnets; denial of </a:t>
            </a:r>
            <a:r>
              <a:rPr lang="en-GB" dirty="0" smtClean="0"/>
              <a:t>service attacks</a:t>
            </a:r>
            <a:r>
              <a:rPr lang="en-GB" dirty="0"/>
              <a:t>; </a:t>
            </a:r>
            <a:r>
              <a:rPr lang="en-GB" dirty="0" smtClean="0"/>
              <a:t>back </a:t>
            </a:r>
            <a:r>
              <a:rPr lang="en-GB" dirty="0"/>
              <a:t>doors; and spoofing. </a:t>
            </a:r>
            <a:endParaRPr lang="en-GB" dirty="0" smtClean="0"/>
          </a:p>
          <a:p>
            <a:r>
              <a:rPr lang="en-GB" b="1" dirty="0"/>
              <a:t>Computer Viruses, </a:t>
            </a:r>
            <a:r>
              <a:rPr lang="en-GB" b="1" dirty="0" smtClean="0"/>
              <a:t>Worms, Trojan </a:t>
            </a:r>
            <a:r>
              <a:rPr lang="en-GB" b="1" dirty="0"/>
              <a:t>Horses, and Rootkits</a:t>
            </a:r>
          </a:p>
          <a:p>
            <a:r>
              <a:rPr lang="en-GB" dirty="0"/>
              <a:t>Every unprotected computer is </a:t>
            </a:r>
            <a:r>
              <a:rPr lang="en-GB" dirty="0" smtClean="0"/>
              <a:t>subject to a computer </a:t>
            </a:r>
            <a:r>
              <a:rPr lang="en-GB" dirty="0"/>
              <a:t>virus, worm, Trojan horse, </a:t>
            </a:r>
            <a:r>
              <a:rPr lang="en-GB" dirty="0" smtClean="0"/>
              <a:t>and/or rootkit</a:t>
            </a:r>
            <a:r>
              <a:rPr lang="en-GB" dirty="0"/>
              <a:t>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12706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6264696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computer </a:t>
            </a:r>
            <a:r>
              <a:rPr lang="en-GB" b="1" dirty="0"/>
              <a:t>virus </a:t>
            </a:r>
            <a:r>
              <a:rPr lang="en-GB" dirty="0"/>
              <a:t>is a </a:t>
            </a:r>
            <a:r>
              <a:rPr lang="en-GB" dirty="0" smtClean="0"/>
              <a:t>damaging computer </a:t>
            </a:r>
            <a:r>
              <a:rPr lang="en-GB" dirty="0"/>
              <a:t>program that affects, or infects, </a:t>
            </a:r>
            <a:r>
              <a:rPr lang="en-GB" dirty="0" smtClean="0"/>
              <a:t>a computer </a:t>
            </a:r>
            <a:r>
              <a:rPr lang="en-GB" dirty="0"/>
              <a:t>negatively by altering the </a:t>
            </a:r>
            <a:r>
              <a:rPr lang="en-GB" dirty="0" smtClean="0"/>
              <a:t>way the </a:t>
            </a:r>
            <a:r>
              <a:rPr lang="en-GB" dirty="0"/>
              <a:t>computer works without the </a:t>
            </a:r>
            <a:r>
              <a:rPr lang="en-GB" dirty="0" smtClean="0"/>
              <a:t>user’s knowledge </a:t>
            </a:r>
            <a:r>
              <a:rPr lang="en-GB" dirty="0"/>
              <a:t>or permission. </a:t>
            </a:r>
            <a:endParaRPr lang="en-GB" dirty="0" smtClean="0"/>
          </a:p>
          <a:p>
            <a:r>
              <a:rPr lang="en-GB" dirty="0" smtClean="0"/>
              <a:t>Once </a:t>
            </a:r>
            <a:r>
              <a:rPr lang="en-GB" dirty="0"/>
              <a:t>the </a:t>
            </a:r>
            <a:r>
              <a:rPr lang="en-GB" dirty="0" smtClean="0"/>
              <a:t>virus infects </a:t>
            </a:r>
            <a:r>
              <a:rPr lang="en-GB" dirty="0"/>
              <a:t>the computer, it can spread </a:t>
            </a:r>
            <a:r>
              <a:rPr lang="en-GB" dirty="0" smtClean="0"/>
              <a:t>throughout and </a:t>
            </a:r>
            <a:r>
              <a:rPr lang="en-GB" dirty="0"/>
              <a:t>may damage files and system </a:t>
            </a:r>
            <a:r>
              <a:rPr lang="en-GB" dirty="0" smtClean="0"/>
              <a:t>software, including </a:t>
            </a:r>
            <a:r>
              <a:rPr lang="en-GB" dirty="0"/>
              <a:t>operating system</a:t>
            </a:r>
            <a:r>
              <a:rPr lang="en-GB" dirty="0" smtClean="0"/>
              <a:t>. </a:t>
            </a:r>
            <a:endParaRPr lang="en-GB" dirty="0"/>
          </a:p>
          <a:p>
            <a:r>
              <a:rPr lang="en-GB" dirty="0" smtClean="0"/>
              <a:t>A </a:t>
            </a:r>
            <a:r>
              <a:rPr lang="en-GB" b="1" dirty="0"/>
              <a:t>worm </a:t>
            </a:r>
            <a:r>
              <a:rPr lang="en-GB" dirty="0"/>
              <a:t>is a program that copies </a:t>
            </a:r>
            <a:r>
              <a:rPr lang="en-GB" dirty="0" smtClean="0"/>
              <a:t>itself repeatedly</a:t>
            </a:r>
            <a:r>
              <a:rPr lang="en-GB" dirty="0"/>
              <a:t>, for example in memory or on </a:t>
            </a:r>
            <a:r>
              <a:rPr lang="en-GB" dirty="0" smtClean="0"/>
              <a:t>a network</a:t>
            </a:r>
            <a:r>
              <a:rPr lang="en-GB" dirty="0"/>
              <a:t>, using up resources and </a:t>
            </a:r>
            <a:r>
              <a:rPr lang="en-GB" dirty="0" smtClean="0"/>
              <a:t>possibly shutting </a:t>
            </a:r>
            <a:r>
              <a:rPr lang="en-GB" dirty="0"/>
              <a:t>down the computer or network.</a:t>
            </a:r>
          </a:p>
          <a:p>
            <a:r>
              <a:rPr lang="en-GB" dirty="0" smtClean="0"/>
              <a:t>A </a:t>
            </a:r>
            <a:r>
              <a:rPr lang="en-GB" b="1" dirty="0"/>
              <a:t>Trojan horse </a:t>
            </a:r>
            <a:r>
              <a:rPr lang="en-GB" dirty="0"/>
              <a:t>(named after the </a:t>
            </a:r>
            <a:r>
              <a:rPr lang="en-GB" dirty="0" smtClean="0"/>
              <a:t>Greek myth</a:t>
            </a:r>
            <a:r>
              <a:rPr lang="en-GB" dirty="0"/>
              <a:t>) is a program that hides within or </a:t>
            </a:r>
            <a:r>
              <a:rPr lang="en-GB" dirty="0" smtClean="0"/>
              <a:t>looks like </a:t>
            </a:r>
            <a:r>
              <a:rPr lang="en-GB" dirty="0"/>
              <a:t>a legitimate program. </a:t>
            </a:r>
            <a:r>
              <a:rPr lang="en-GB" dirty="0" smtClean="0"/>
              <a:t> A </a:t>
            </a:r>
            <a:r>
              <a:rPr lang="en-GB" dirty="0"/>
              <a:t>certain </a:t>
            </a:r>
            <a:r>
              <a:rPr lang="en-GB" dirty="0" smtClean="0"/>
              <a:t>condition or </a:t>
            </a:r>
            <a:r>
              <a:rPr lang="en-GB" dirty="0"/>
              <a:t>action </a:t>
            </a:r>
            <a:r>
              <a:rPr lang="en-GB" dirty="0" smtClean="0"/>
              <a:t>triggers </a:t>
            </a:r>
            <a:r>
              <a:rPr lang="en-GB" dirty="0"/>
              <a:t>the Trojan horse.</a:t>
            </a:r>
          </a:p>
          <a:p>
            <a:r>
              <a:rPr lang="en-GB" dirty="0"/>
              <a:t>Unlike a virus or worm, a Trojan horse </a:t>
            </a:r>
            <a:r>
              <a:rPr lang="en-GB" dirty="0" smtClean="0"/>
              <a:t>does not </a:t>
            </a:r>
            <a:r>
              <a:rPr lang="en-GB" dirty="0"/>
              <a:t>replicate itself to other computers.</a:t>
            </a:r>
          </a:p>
          <a:p>
            <a:r>
              <a:rPr lang="en-GB" dirty="0" smtClean="0"/>
              <a:t>A </a:t>
            </a:r>
            <a:r>
              <a:rPr lang="en-GB" b="1" dirty="0"/>
              <a:t>rootkit </a:t>
            </a:r>
            <a:r>
              <a:rPr lang="en-GB" dirty="0"/>
              <a:t>is a program that hides in a </a:t>
            </a:r>
            <a:r>
              <a:rPr lang="en-GB" dirty="0" smtClean="0"/>
              <a:t>computer and </a:t>
            </a:r>
            <a:r>
              <a:rPr lang="en-GB" dirty="0"/>
              <a:t>allows someone from a remote </a:t>
            </a:r>
            <a:r>
              <a:rPr lang="en-GB" dirty="0" smtClean="0"/>
              <a:t>location to </a:t>
            </a:r>
            <a:r>
              <a:rPr lang="en-GB" dirty="0"/>
              <a:t>take full control of the computer. </a:t>
            </a:r>
            <a:endParaRPr lang="en-GB" dirty="0" smtClean="0"/>
          </a:p>
          <a:p>
            <a:r>
              <a:rPr lang="en-GB" dirty="0" smtClean="0"/>
              <a:t>Once</a:t>
            </a:r>
            <a:r>
              <a:rPr lang="en-GB" dirty="0"/>
              <a:t> </a:t>
            </a:r>
            <a:r>
              <a:rPr lang="en-GB" dirty="0" smtClean="0"/>
              <a:t>the </a:t>
            </a:r>
            <a:r>
              <a:rPr lang="en-GB" dirty="0"/>
              <a:t>rootkit is installed, the rootkit author </a:t>
            </a:r>
            <a:r>
              <a:rPr lang="en-GB" dirty="0" smtClean="0"/>
              <a:t>can execute </a:t>
            </a:r>
            <a:r>
              <a:rPr lang="en-GB" dirty="0"/>
              <a:t>programs, change settings, </a:t>
            </a:r>
            <a:r>
              <a:rPr lang="en-GB" dirty="0" smtClean="0"/>
              <a:t>monitor activity</a:t>
            </a:r>
            <a:r>
              <a:rPr lang="en-GB" dirty="0"/>
              <a:t>, and access files on the </a:t>
            </a:r>
            <a:r>
              <a:rPr lang="en-GB" dirty="0" smtClean="0"/>
              <a:t>remote computer.</a:t>
            </a:r>
          </a:p>
          <a:p>
            <a:r>
              <a:rPr lang="en-GB" dirty="0" smtClean="0"/>
              <a:t>Although </a:t>
            </a:r>
            <a:r>
              <a:rPr lang="en-GB" dirty="0"/>
              <a:t>rootkits can have </a:t>
            </a:r>
            <a:r>
              <a:rPr lang="en-GB" dirty="0" smtClean="0"/>
              <a:t>legitimate uses</a:t>
            </a:r>
            <a:r>
              <a:rPr lang="en-GB" dirty="0"/>
              <a:t>, such as in law enforcement, their use </a:t>
            </a:r>
            <a:r>
              <a:rPr lang="en-GB" dirty="0" smtClean="0"/>
              <a:t>in nefarious </a:t>
            </a:r>
            <a:r>
              <a:rPr lang="en-GB" dirty="0"/>
              <a:t>and illegal activities is growing rapidly.</a:t>
            </a:r>
          </a:p>
        </p:txBody>
      </p:sp>
    </p:spTree>
    <p:extLst>
      <p:ext uri="{BB962C8B-B14F-4D97-AF65-F5344CB8AC3E}">
        <p14:creationId xmlns:p14="http://schemas.microsoft.com/office/powerpoint/2010/main" val="157846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60648"/>
            <a:ext cx="7498080" cy="6408712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Computer viruses, worms, Trojan horses, </a:t>
            </a:r>
            <a:r>
              <a:rPr lang="en-GB" dirty="0" smtClean="0"/>
              <a:t>and rootkits </a:t>
            </a:r>
            <a:r>
              <a:rPr lang="en-GB" dirty="0"/>
              <a:t>are classified as </a:t>
            </a:r>
            <a:r>
              <a:rPr lang="en-GB" i="1" dirty="0"/>
              <a:t>malware </a:t>
            </a:r>
            <a:r>
              <a:rPr lang="en-GB" dirty="0"/>
              <a:t>(short </a:t>
            </a:r>
            <a:r>
              <a:rPr lang="en-GB" dirty="0" smtClean="0"/>
              <a:t>for </a:t>
            </a:r>
            <a:r>
              <a:rPr lang="en-GB" i="1" dirty="0" smtClean="0"/>
              <a:t>malicious </a:t>
            </a:r>
            <a:r>
              <a:rPr lang="en-GB" i="1" dirty="0"/>
              <a:t>software</a:t>
            </a:r>
            <a:r>
              <a:rPr lang="en-GB" dirty="0"/>
              <a:t>), which are programs that </a:t>
            </a:r>
            <a:r>
              <a:rPr lang="en-GB" dirty="0" smtClean="0"/>
              <a:t>act without </a:t>
            </a:r>
            <a:r>
              <a:rPr lang="en-GB" dirty="0"/>
              <a:t>a user’s knowledge and </a:t>
            </a:r>
            <a:r>
              <a:rPr lang="en-GB" dirty="0" smtClean="0"/>
              <a:t>deliberately alter computer’s </a:t>
            </a:r>
            <a:r>
              <a:rPr lang="en-GB" dirty="0"/>
              <a:t>operations. </a:t>
            </a:r>
            <a:endParaRPr lang="en-GB" dirty="0" smtClean="0"/>
          </a:p>
          <a:p>
            <a:r>
              <a:rPr lang="en-GB" dirty="0" smtClean="0"/>
              <a:t>Other </a:t>
            </a:r>
            <a:r>
              <a:rPr lang="en-GB" dirty="0"/>
              <a:t>classes </a:t>
            </a:r>
            <a:r>
              <a:rPr lang="en-GB" dirty="0" smtClean="0"/>
              <a:t>of malware </a:t>
            </a:r>
            <a:r>
              <a:rPr lang="en-GB" dirty="0"/>
              <a:t>include back doors and </a:t>
            </a:r>
            <a:r>
              <a:rPr lang="en-GB" dirty="0" smtClean="0"/>
              <a:t>spyware.  </a:t>
            </a:r>
          </a:p>
          <a:p>
            <a:r>
              <a:rPr lang="en-GB" dirty="0" smtClean="0"/>
              <a:t>Corrupt </a:t>
            </a:r>
            <a:r>
              <a:rPr lang="en-GB" dirty="0"/>
              <a:t>programmers write </a:t>
            </a:r>
            <a:r>
              <a:rPr lang="en-GB" dirty="0" smtClean="0"/>
              <a:t>malware and </a:t>
            </a:r>
            <a:r>
              <a:rPr lang="en-GB" dirty="0"/>
              <a:t>then test it to ensure it can deliver its payload.</a:t>
            </a:r>
          </a:p>
          <a:p>
            <a:pPr lvl="1"/>
            <a:r>
              <a:rPr lang="en-GB" i="1" dirty="0" smtClean="0"/>
              <a:t>payload </a:t>
            </a:r>
            <a:r>
              <a:rPr lang="en-GB" dirty="0"/>
              <a:t>is the destructive event </a:t>
            </a:r>
            <a:r>
              <a:rPr lang="en-GB" dirty="0" smtClean="0"/>
              <a:t>or prank </a:t>
            </a:r>
            <a:r>
              <a:rPr lang="en-GB" dirty="0"/>
              <a:t>the program is intended to deliver.</a:t>
            </a:r>
          </a:p>
          <a:p>
            <a:r>
              <a:rPr lang="en-GB" dirty="0"/>
              <a:t>A computer infected by a virus, worm, </a:t>
            </a:r>
            <a:r>
              <a:rPr lang="en-GB" dirty="0" smtClean="0"/>
              <a:t>Trojan horse</a:t>
            </a:r>
            <a:r>
              <a:rPr lang="en-GB" dirty="0"/>
              <a:t>, or rootkit often has one or more of </a:t>
            </a:r>
            <a:r>
              <a:rPr lang="en-GB" dirty="0" smtClean="0"/>
              <a:t>the following </a:t>
            </a:r>
            <a:r>
              <a:rPr lang="en-GB" dirty="0"/>
              <a:t>symptoms</a:t>
            </a:r>
            <a:r>
              <a:rPr lang="en-GB" dirty="0" smtClean="0"/>
              <a:t>:</a:t>
            </a:r>
          </a:p>
          <a:p>
            <a:pPr lvl="1"/>
            <a:r>
              <a:rPr lang="en-GB" sz="2900" dirty="0" smtClean="0"/>
              <a:t>Operating </a:t>
            </a:r>
            <a:r>
              <a:rPr lang="en-GB" sz="2900" dirty="0"/>
              <a:t>system runs much slower than </a:t>
            </a:r>
            <a:r>
              <a:rPr lang="en-GB" sz="2900" dirty="0" smtClean="0"/>
              <a:t>usual</a:t>
            </a:r>
          </a:p>
          <a:p>
            <a:pPr lvl="1"/>
            <a:r>
              <a:rPr lang="en-GB" sz="2900" dirty="0" smtClean="0"/>
              <a:t>Available </a:t>
            </a:r>
            <a:r>
              <a:rPr lang="en-GB" sz="2900" dirty="0"/>
              <a:t>memory is less than </a:t>
            </a:r>
            <a:r>
              <a:rPr lang="en-GB" sz="2900" dirty="0" smtClean="0"/>
              <a:t>expected</a:t>
            </a:r>
          </a:p>
          <a:p>
            <a:pPr lvl="1"/>
            <a:r>
              <a:rPr lang="en-GB" sz="2900" dirty="0" smtClean="0"/>
              <a:t>Files </a:t>
            </a:r>
            <a:r>
              <a:rPr lang="en-GB" sz="2900" dirty="0"/>
              <a:t>become </a:t>
            </a:r>
            <a:r>
              <a:rPr lang="en-GB" sz="2900" dirty="0" smtClean="0"/>
              <a:t>corrupted</a:t>
            </a:r>
          </a:p>
          <a:p>
            <a:pPr lvl="1"/>
            <a:r>
              <a:rPr lang="en-GB" sz="2900" dirty="0" smtClean="0"/>
              <a:t>Screen </a:t>
            </a:r>
            <a:r>
              <a:rPr lang="en-GB" sz="2900" dirty="0"/>
              <a:t>displays unusual message or </a:t>
            </a:r>
            <a:r>
              <a:rPr lang="en-GB" sz="2900" dirty="0" smtClean="0"/>
              <a:t>image</a:t>
            </a:r>
          </a:p>
          <a:p>
            <a:pPr lvl="1"/>
            <a:r>
              <a:rPr lang="en-GB" sz="2900" dirty="0" smtClean="0"/>
              <a:t>Existing </a:t>
            </a:r>
            <a:r>
              <a:rPr lang="en-GB" sz="2900" dirty="0"/>
              <a:t>programs and files </a:t>
            </a:r>
            <a:r>
              <a:rPr lang="en-GB" sz="2900" dirty="0" smtClean="0"/>
              <a:t>disappear</a:t>
            </a:r>
          </a:p>
          <a:p>
            <a:pPr lvl="1"/>
            <a:r>
              <a:rPr lang="en-GB" sz="2900" dirty="0" smtClean="0"/>
              <a:t>Programs </a:t>
            </a:r>
            <a:r>
              <a:rPr lang="en-GB" sz="2900" dirty="0"/>
              <a:t>or files do not work </a:t>
            </a:r>
            <a:r>
              <a:rPr lang="en-GB" sz="2900" dirty="0" smtClean="0"/>
              <a:t>properly</a:t>
            </a:r>
          </a:p>
          <a:p>
            <a:pPr lvl="1"/>
            <a:r>
              <a:rPr lang="en-GB" sz="2900" dirty="0" smtClean="0"/>
              <a:t>Unknown </a:t>
            </a:r>
            <a:r>
              <a:rPr lang="en-GB" sz="2900" dirty="0"/>
              <a:t>programs or files mysteriously </a:t>
            </a:r>
            <a:r>
              <a:rPr lang="en-GB" sz="2900" dirty="0" smtClean="0"/>
              <a:t>appear</a:t>
            </a:r>
          </a:p>
          <a:p>
            <a:pPr lvl="1"/>
            <a:r>
              <a:rPr lang="en-GB" sz="2900" dirty="0" smtClean="0"/>
              <a:t>System properties change</a:t>
            </a:r>
          </a:p>
          <a:p>
            <a:pPr lvl="1"/>
            <a:r>
              <a:rPr lang="en-GB" sz="2900" dirty="0" smtClean="0"/>
              <a:t>Operating </a:t>
            </a:r>
            <a:r>
              <a:rPr lang="en-GB" sz="2900" dirty="0"/>
              <a:t>system does not start </a:t>
            </a:r>
            <a:r>
              <a:rPr lang="en-GB" sz="2900" dirty="0" smtClean="0"/>
              <a:t>up</a:t>
            </a:r>
          </a:p>
          <a:p>
            <a:pPr lvl="1"/>
            <a:r>
              <a:rPr lang="en-GB" sz="2900" dirty="0" smtClean="0"/>
              <a:t>Operating </a:t>
            </a:r>
            <a:r>
              <a:rPr lang="en-GB" sz="2900" dirty="0"/>
              <a:t>system shuts down unexpectedly</a:t>
            </a:r>
          </a:p>
        </p:txBody>
      </p:sp>
    </p:spTree>
    <p:extLst>
      <p:ext uri="{BB962C8B-B14F-4D97-AF65-F5344CB8AC3E}">
        <p14:creationId xmlns:p14="http://schemas.microsoft.com/office/powerpoint/2010/main" val="116805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77172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Malware delivers its payload on a </a:t>
            </a:r>
            <a:r>
              <a:rPr lang="en-GB" dirty="0" smtClean="0"/>
              <a:t>computer in </a:t>
            </a:r>
            <a:r>
              <a:rPr lang="en-GB" dirty="0"/>
              <a:t>a variety of ways: </a:t>
            </a:r>
            <a:r>
              <a:rPr lang="en-GB" dirty="0" smtClean="0"/>
              <a:t> when </a:t>
            </a:r>
            <a:r>
              <a:rPr lang="en-GB" dirty="0"/>
              <a:t>a user </a:t>
            </a:r>
            <a:endParaRPr lang="en-GB" dirty="0" smtClean="0"/>
          </a:p>
          <a:p>
            <a:pPr lvl="1"/>
            <a:r>
              <a:rPr lang="en-GB" dirty="0" smtClean="0"/>
              <a:t>(</a:t>
            </a:r>
            <a:r>
              <a:rPr lang="en-GB" dirty="0"/>
              <a:t>1) opens </a:t>
            </a:r>
            <a:r>
              <a:rPr lang="en-GB" dirty="0" smtClean="0"/>
              <a:t>an infected </a:t>
            </a:r>
            <a:r>
              <a:rPr lang="en-GB" dirty="0"/>
              <a:t>file, </a:t>
            </a:r>
            <a:endParaRPr lang="en-GB" dirty="0" smtClean="0"/>
          </a:p>
          <a:p>
            <a:pPr lvl="1"/>
            <a:r>
              <a:rPr lang="en-GB" dirty="0" smtClean="0"/>
              <a:t>(</a:t>
            </a:r>
            <a:r>
              <a:rPr lang="en-GB" dirty="0"/>
              <a:t>2) runs an infected program</a:t>
            </a:r>
            <a:r>
              <a:rPr lang="en-GB" dirty="0" smtClean="0"/>
              <a:t>, </a:t>
            </a:r>
          </a:p>
          <a:p>
            <a:pPr lvl="1"/>
            <a:r>
              <a:rPr lang="en-GB" dirty="0" smtClean="0"/>
              <a:t>(</a:t>
            </a:r>
            <a:r>
              <a:rPr lang="en-GB" dirty="0"/>
              <a:t>3) boots the computer with infected </a:t>
            </a:r>
            <a:r>
              <a:rPr lang="en-GB" dirty="0" smtClean="0"/>
              <a:t>removable media </a:t>
            </a:r>
            <a:r>
              <a:rPr lang="en-GB" dirty="0"/>
              <a:t>inserted in a drive or plugged in a port</a:t>
            </a:r>
            <a:r>
              <a:rPr lang="en-GB" dirty="0" smtClean="0"/>
              <a:t>, </a:t>
            </a:r>
          </a:p>
          <a:p>
            <a:pPr lvl="1"/>
            <a:r>
              <a:rPr lang="en-GB" dirty="0" smtClean="0"/>
              <a:t>(</a:t>
            </a:r>
            <a:r>
              <a:rPr lang="en-GB" dirty="0"/>
              <a:t>4) connects an unprotected computer to a </a:t>
            </a:r>
            <a:r>
              <a:rPr lang="en-GB" dirty="0" smtClean="0"/>
              <a:t>network, or </a:t>
            </a:r>
          </a:p>
          <a:p>
            <a:pPr lvl="1"/>
            <a:r>
              <a:rPr lang="en-GB" dirty="0" smtClean="0"/>
              <a:t>(</a:t>
            </a:r>
            <a:r>
              <a:rPr lang="en-GB" dirty="0"/>
              <a:t>5) when a certain condition or </a:t>
            </a:r>
            <a:r>
              <a:rPr lang="en-GB" dirty="0" smtClean="0"/>
              <a:t>event occurs</a:t>
            </a:r>
            <a:r>
              <a:rPr lang="en-GB" dirty="0"/>
              <a:t>, such as the computer’s clock changing </a:t>
            </a:r>
            <a:r>
              <a:rPr lang="en-GB" dirty="0" smtClean="0"/>
              <a:t>to a </a:t>
            </a:r>
            <a:r>
              <a:rPr lang="en-GB" dirty="0"/>
              <a:t>specific </a:t>
            </a:r>
            <a:r>
              <a:rPr lang="en-GB" dirty="0" smtClean="0"/>
              <a:t>date.</a:t>
            </a:r>
          </a:p>
          <a:p>
            <a:r>
              <a:rPr lang="en-GB" dirty="0"/>
              <a:t>A</a:t>
            </a:r>
            <a:r>
              <a:rPr lang="en-GB" dirty="0" smtClean="0"/>
              <a:t> </a:t>
            </a:r>
            <a:r>
              <a:rPr lang="en-GB" dirty="0"/>
              <a:t>common way </a:t>
            </a:r>
            <a:r>
              <a:rPr lang="en-GB" dirty="0" smtClean="0"/>
              <a:t>computers become </a:t>
            </a:r>
            <a:r>
              <a:rPr lang="en-GB" dirty="0"/>
              <a:t>infected with viruses and other </a:t>
            </a:r>
            <a:r>
              <a:rPr lang="en-GB" dirty="0" smtClean="0"/>
              <a:t>malware is </a:t>
            </a:r>
            <a:r>
              <a:rPr lang="en-GB" dirty="0"/>
              <a:t>through users opening infected e-mail </a:t>
            </a:r>
            <a:r>
              <a:rPr lang="en-GB" dirty="0" smtClean="0"/>
              <a:t>attachments.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87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60648"/>
            <a:ext cx="7498080" cy="5987752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GB" b="1" dirty="0"/>
              <a:t>Safeguards against Computer </a:t>
            </a:r>
            <a:r>
              <a:rPr lang="en-GB" b="1" dirty="0" smtClean="0"/>
              <a:t>Viruses and </a:t>
            </a:r>
            <a:r>
              <a:rPr lang="en-GB" b="1" dirty="0"/>
              <a:t>Other </a:t>
            </a:r>
            <a:r>
              <a:rPr lang="en-GB" b="1" dirty="0" smtClean="0"/>
              <a:t>Malware</a:t>
            </a:r>
          </a:p>
          <a:p>
            <a:r>
              <a:rPr lang="en-GB" dirty="0"/>
              <a:t>Methods that guarantee a computer </a:t>
            </a:r>
            <a:r>
              <a:rPr lang="en-GB" dirty="0" smtClean="0"/>
              <a:t>or network </a:t>
            </a:r>
            <a:r>
              <a:rPr lang="en-GB" dirty="0"/>
              <a:t>is safe from computer viruses and </a:t>
            </a:r>
            <a:r>
              <a:rPr lang="en-GB" dirty="0" smtClean="0"/>
              <a:t>other malware do </a:t>
            </a:r>
            <a:r>
              <a:rPr lang="en-GB" dirty="0"/>
              <a:t>not </a:t>
            </a:r>
            <a:r>
              <a:rPr lang="en-GB" dirty="0" smtClean="0"/>
              <a:t>exist.</a:t>
            </a:r>
          </a:p>
          <a:p>
            <a:r>
              <a:rPr lang="en-GB" dirty="0" smtClean="0"/>
              <a:t>Users </a:t>
            </a:r>
            <a:r>
              <a:rPr lang="en-GB" dirty="0"/>
              <a:t>can </a:t>
            </a:r>
            <a:r>
              <a:rPr lang="en-GB" dirty="0" smtClean="0"/>
              <a:t>take precautions </a:t>
            </a:r>
            <a:r>
              <a:rPr lang="en-GB" dirty="0"/>
              <a:t>to protect their </a:t>
            </a:r>
            <a:r>
              <a:rPr lang="en-GB" dirty="0" smtClean="0"/>
              <a:t>home and </a:t>
            </a:r>
            <a:r>
              <a:rPr lang="en-GB" dirty="0"/>
              <a:t>work computers and mobile devices </a:t>
            </a:r>
            <a:r>
              <a:rPr lang="en-GB" dirty="0" smtClean="0"/>
              <a:t>from these </a:t>
            </a:r>
            <a:r>
              <a:rPr lang="en-GB" dirty="0"/>
              <a:t>malicious infections.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following </a:t>
            </a:r>
            <a:r>
              <a:rPr lang="en-GB" dirty="0" smtClean="0"/>
              <a:t>are </a:t>
            </a:r>
            <a:r>
              <a:rPr lang="en-GB" dirty="0"/>
              <a:t>precautionary </a:t>
            </a:r>
            <a:r>
              <a:rPr lang="en-GB" dirty="0" smtClean="0"/>
              <a:t>measures: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931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92696"/>
            <a:ext cx="7498080" cy="5472608"/>
          </a:xfrm>
        </p:spPr>
        <p:txBody>
          <a:bodyPr>
            <a:normAutofit fontScale="70000" lnSpcReduction="20000"/>
          </a:bodyPr>
          <a:lstStyle/>
          <a:p>
            <a:pPr marL="596646" indent="-514350">
              <a:buFont typeface="+mj-lt"/>
              <a:buAutoNum type="arabicPeriod"/>
            </a:pPr>
            <a:r>
              <a:rPr lang="en-GB" dirty="0" smtClean="0"/>
              <a:t>Do </a:t>
            </a:r>
            <a:r>
              <a:rPr lang="en-GB" dirty="0"/>
              <a:t>not start a computer with removable </a:t>
            </a:r>
            <a:r>
              <a:rPr lang="en-GB" dirty="0" smtClean="0"/>
              <a:t>media inserted </a:t>
            </a:r>
            <a:r>
              <a:rPr lang="en-GB" dirty="0"/>
              <a:t>in the drives or plugged in the </a:t>
            </a:r>
            <a:r>
              <a:rPr lang="en-GB" dirty="0" smtClean="0"/>
              <a:t>ports.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 smtClean="0"/>
              <a:t>If you </a:t>
            </a:r>
            <a:r>
              <a:rPr lang="en-GB" dirty="0"/>
              <a:t>start the computer with media in </a:t>
            </a:r>
            <a:r>
              <a:rPr lang="en-GB" dirty="0" smtClean="0"/>
              <a:t>a drive </a:t>
            </a:r>
            <a:r>
              <a:rPr lang="en-GB" dirty="0"/>
              <a:t>or port, be certain the media are </a:t>
            </a:r>
            <a:r>
              <a:rPr lang="en-GB" dirty="0" smtClean="0"/>
              <a:t>uninfected or </a:t>
            </a:r>
            <a:r>
              <a:rPr lang="en-GB" dirty="0"/>
              <a:t>from a trusted </a:t>
            </a:r>
            <a:r>
              <a:rPr lang="en-GB" dirty="0" smtClean="0"/>
              <a:t>source.</a:t>
            </a:r>
          </a:p>
          <a:p>
            <a:pPr marL="603504" lvl="2" indent="0">
              <a:buNone/>
            </a:pPr>
            <a:r>
              <a:rPr lang="en-GB" dirty="0"/>
              <a:t>	</a:t>
            </a:r>
            <a:r>
              <a:rPr lang="en-GB" dirty="0" smtClean="0"/>
              <a:t>A </a:t>
            </a:r>
            <a:r>
              <a:rPr lang="en-GB" b="1" dirty="0"/>
              <a:t>trusted source </a:t>
            </a:r>
            <a:r>
              <a:rPr lang="en-GB" dirty="0"/>
              <a:t>is </a:t>
            </a:r>
            <a:r>
              <a:rPr lang="en-GB" dirty="0" smtClean="0"/>
              <a:t>an organization </a:t>
            </a:r>
            <a:r>
              <a:rPr lang="en-GB" dirty="0"/>
              <a:t>or person you believe will not send </a:t>
            </a:r>
            <a:r>
              <a:rPr lang="en-GB" dirty="0" smtClean="0"/>
              <a:t>	a virus </a:t>
            </a:r>
            <a:r>
              <a:rPr lang="en-GB" dirty="0"/>
              <a:t>infected file knowingly</a:t>
            </a:r>
            <a:r>
              <a:rPr lang="en-GB" dirty="0" smtClean="0"/>
              <a:t>.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Never open an e-mail attachment unless </a:t>
            </a:r>
            <a:r>
              <a:rPr lang="en-GB" dirty="0" smtClean="0"/>
              <a:t>you are </a:t>
            </a:r>
            <a:r>
              <a:rPr lang="en-GB" dirty="0"/>
              <a:t>expecting the attachment </a:t>
            </a:r>
            <a:r>
              <a:rPr lang="en-GB" i="1" dirty="0"/>
              <a:t>and </a:t>
            </a:r>
            <a:r>
              <a:rPr lang="en-GB" dirty="0"/>
              <a:t>it is from </a:t>
            </a:r>
            <a:r>
              <a:rPr lang="en-GB" dirty="0" smtClean="0"/>
              <a:t>a trusted </a:t>
            </a:r>
            <a:r>
              <a:rPr lang="en-GB" dirty="0"/>
              <a:t>source. </a:t>
            </a:r>
            <a:endParaRPr lang="en-GB" dirty="0" smtClean="0"/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Users should install an antivirus program </a:t>
            </a:r>
            <a:r>
              <a:rPr lang="en-GB" dirty="0" smtClean="0"/>
              <a:t>and update </a:t>
            </a:r>
            <a:r>
              <a:rPr lang="en-GB" dirty="0"/>
              <a:t>it </a:t>
            </a:r>
            <a:r>
              <a:rPr lang="en-GB" dirty="0" smtClean="0"/>
              <a:t>frequently.</a:t>
            </a:r>
          </a:p>
          <a:p>
            <a:pPr marL="603504" lvl="2" indent="0">
              <a:buNone/>
            </a:pPr>
            <a:r>
              <a:rPr lang="en-GB" dirty="0"/>
              <a:t>	</a:t>
            </a:r>
            <a:r>
              <a:rPr lang="en-GB" dirty="0" smtClean="0"/>
              <a:t>An </a:t>
            </a:r>
            <a:r>
              <a:rPr lang="en-GB" b="1" dirty="0" smtClean="0"/>
              <a:t>antivirus </a:t>
            </a:r>
            <a:r>
              <a:rPr lang="en-GB" b="1" dirty="0"/>
              <a:t>program </a:t>
            </a:r>
            <a:r>
              <a:rPr lang="en-GB" dirty="0"/>
              <a:t>protects a computer </a:t>
            </a:r>
            <a:r>
              <a:rPr lang="en-GB" dirty="0" smtClean="0"/>
              <a:t>against viruses </a:t>
            </a:r>
            <a:r>
              <a:rPr lang="en-GB" dirty="0"/>
              <a:t>by </a:t>
            </a:r>
            <a:r>
              <a:rPr lang="en-GB" dirty="0" smtClean="0"/>
              <a:t>	identifying </a:t>
            </a:r>
            <a:r>
              <a:rPr lang="en-GB" dirty="0"/>
              <a:t>and removing any </a:t>
            </a:r>
            <a:r>
              <a:rPr lang="en-GB" dirty="0" smtClean="0"/>
              <a:t>computer viruses </a:t>
            </a:r>
            <a:r>
              <a:rPr lang="en-GB" dirty="0"/>
              <a:t>found in memory, on </a:t>
            </a:r>
            <a:r>
              <a:rPr lang="en-GB" dirty="0" smtClean="0"/>
              <a:t>	storage media, or </a:t>
            </a:r>
            <a:r>
              <a:rPr lang="en-GB" dirty="0"/>
              <a:t>on incoming files. </a:t>
            </a:r>
            <a:endParaRPr lang="en-GB" dirty="0" smtClean="0"/>
          </a:p>
          <a:p>
            <a:r>
              <a:rPr lang="en-GB" dirty="0" smtClean="0"/>
              <a:t>Most antivirus programs also </a:t>
            </a:r>
            <a:r>
              <a:rPr lang="en-GB" dirty="0"/>
              <a:t>protect against other malware</a:t>
            </a:r>
            <a:r>
              <a:rPr lang="en-GB" dirty="0" smtClean="0"/>
              <a:t>.</a:t>
            </a:r>
          </a:p>
          <a:p>
            <a:r>
              <a:rPr lang="en-GB" b="1" dirty="0"/>
              <a:t>Popular </a:t>
            </a:r>
            <a:r>
              <a:rPr lang="en-GB" b="1" dirty="0" smtClean="0"/>
              <a:t>Antivirus Programs are:</a:t>
            </a:r>
            <a:endParaRPr lang="en-GB" b="1" dirty="0"/>
          </a:p>
          <a:p>
            <a:pPr lvl="1"/>
            <a:r>
              <a:rPr lang="en-GB" dirty="0" smtClean="0"/>
              <a:t>AVG, </a:t>
            </a:r>
            <a:r>
              <a:rPr lang="en-GB" dirty="0" err="1" smtClean="0"/>
              <a:t>avast</a:t>
            </a:r>
            <a:r>
              <a:rPr lang="en-GB" dirty="0" smtClean="0"/>
              <a:t>!, CA, F-Secure, Kaspersky, McAfee </a:t>
            </a:r>
            <a:r>
              <a:rPr lang="en-GB" dirty="0" err="1" smtClean="0"/>
              <a:t>VirusScan</a:t>
            </a:r>
            <a:r>
              <a:rPr lang="en-GB" dirty="0" smtClean="0"/>
              <a:t>, Norton, Trend Micro, </a:t>
            </a:r>
            <a:r>
              <a:rPr lang="en-GB" dirty="0" err="1" smtClean="0"/>
              <a:t>Vexira</a:t>
            </a:r>
            <a:r>
              <a:rPr lang="en-GB" dirty="0" smtClean="0"/>
              <a:t>.</a:t>
            </a:r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31661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GB" b="1" dirty="0"/>
              <a:t>Unauthorized </a:t>
            </a:r>
            <a:r>
              <a:rPr lang="en-GB" b="1" dirty="0" smtClean="0"/>
              <a:t>Access and Use</a:t>
            </a:r>
          </a:p>
          <a:p>
            <a:r>
              <a:rPr lang="en-GB" dirty="0"/>
              <a:t>Another type of computer security risk </a:t>
            </a:r>
            <a:r>
              <a:rPr lang="en-GB" dirty="0" smtClean="0"/>
              <a:t>is unauthorized </a:t>
            </a:r>
            <a:r>
              <a:rPr lang="en-GB" dirty="0"/>
              <a:t>access and use. </a:t>
            </a:r>
            <a:endParaRPr lang="en-GB" dirty="0" smtClean="0"/>
          </a:p>
          <a:p>
            <a:r>
              <a:rPr lang="en-GB" b="1" dirty="0" smtClean="0"/>
              <a:t>Unauthorized access </a:t>
            </a:r>
            <a:r>
              <a:rPr lang="en-GB" dirty="0"/>
              <a:t>is the use of a computer or network </a:t>
            </a:r>
            <a:r>
              <a:rPr lang="en-GB" dirty="0" smtClean="0"/>
              <a:t>without permission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b="1" dirty="0" smtClean="0"/>
              <a:t>Unauthorized </a:t>
            </a:r>
            <a:r>
              <a:rPr lang="en-GB" b="1" dirty="0"/>
              <a:t>use </a:t>
            </a:r>
            <a:r>
              <a:rPr lang="en-GB" dirty="0"/>
              <a:t>is the use </a:t>
            </a:r>
            <a:r>
              <a:rPr lang="en-GB" dirty="0" smtClean="0"/>
              <a:t>of a </a:t>
            </a:r>
            <a:r>
              <a:rPr lang="en-GB" dirty="0"/>
              <a:t>computer or its data for unapproved or </a:t>
            </a:r>
            <a:r>
              <a:rPr lang="en-GB" dirty="0" smtClean="0"/>
              <a:t>illegal </a:t>
            </a:r>
            <a:r>
              <a:rPr lang="en-GB" dirty="0"/>
              <a:t>activities. </a:t>
            </a:r>
            <a:endParaRPr lang="en-GB" dirty="0" smtClean="0"/>
          </a:p>
          <a:p>
            <a:pPr lvl="1"/>
            <a:r>
              <a:rPr lang="en-GB" dirty="0" smtClean="0"/>
              <a:t>Unauthorized </a:t>
            </a:r>
            <a:r>
              <a:rPr lang="en-GB" dirty="0"/>
              <a:t>use activities </a:t>
            </a:r>
            <a:r>
              <a:rPr lang="en-GB" dirty="0" smtClean="0"/>
              <a:t>includes: </a:t>
            </a:r>
          </a:p>
          <a:p>
            <a:pPr lvl="2"/>
            <a:r>
              <a:rPr lang="en-GB" dirty="0" smtClean="0"/>
              <a:t>an </a:t>
            </a:r>
            <a:r>
              <a:rPr lang="en-GB" dirty="0"/>
              <a:t>employee using </a:t>
            </a:r>
            <a:r>
              <a:rPr lang="en-GB" dirty="0" smtClean="0"/>
              <a:t>an organization’s </a:t>
            </a:r>
            <a:r>
              <a:rPr lang="en-GB" dirty="0"/>
              <a:t>computer to send personal </a:t>
            </a:r>
            <a:r>
              <a:rPr lang="en-GB" dirty="0" smtClean="0"/>
              <a:t>e-mail messages</a:t>
            </a:r>
            <a:r>
              <a:rPr lang="en-GB" dirty="0"/>
              <a:t>, </a:t>
            </a:r>
            <a:endParaRPr lang="en-GB" dirty="0" smtClean="0"/>
          </a:p>
          <a:p>
            <a:pPr lvl="2"/>
            <a:r>
              <a:rPr lang="en-GB" dirty="0" smtClean="0"/>
              <a:t>an </a:t>
            </a:r>
            <a:r>
              <a:rPr lang="en-GB" dirty="0"/>
              <a:t>employee using the </a:t>
            </a:r>
            <a:r>
              <a:rPr lang="en-GB" dirty="0" smtClean="0"/>
              <a:t>organization’s word </a:t>
            </a:r>
            <a:r>
              <a:rPr lang="en-GB" dirty="0"/>
              <a:t>processing software to track his or </a:t>
            </a:r>
            <a:r>
              <a:rPr lang="en-GB" dirty="0" smtClean="0"/>
              <a:t>her child’s </a:t>
            </a:r>
            <a:r>
              <a:rPr lang="en-GB" dirty="0"/>
              <a:t>soccer league scores, or someone </a:t>
            </a:r>
            <a:r>
              <a:rPr lang="en-GB" dirty="0" smtClean="0"/>
              <a:t>gaining access </a:t>
            </a:r>
            <a:r>
              <a:rPr lang="en-GB" dirty="0"/>
              <a:t>to a bank computer and performing </a:t>
            </a:r>
            <a:r>
              <a:rPr lang="en-GB" dirty="0" smtClean="0"/>
              <a:t>an unauthorized </a:t>
            </a:r>
            <a:r>
              <a:rPr lang="en-GB" dirty="0"/>
              <a:t>transfer. </a:t>
            </a:r>
            <a:endParaRPr lang="en-GB" dirty="0" smtClean="0"/>
          </a:p>
          <a:p>
            <a:r>
              <a:rPr lang="en-GB" dirty="0" smtClean="0"/>
              <a:t>For home </a:t>
            </a:r>
            <a:r>
              <a:rPr lang="en-GB" dirty="0"/>
              <a:t>user, </a:t>
            </a:r>
            <a:r>
              <a:rPr lang="en-GB" dirty="0" smtClean="0"/>
              <a:t>unauthorized </a:t>
            </a:r>
            <a:r>
              <a:rPr lang="en-GB" dirty="0"/>
              <a:t>use occurs on computers that </a:t>
            </a:r>
            <a:r>
              <a:rPr lang="en-GB" dirty="0" smtClean="0"/>
              <a:t>have always-on </a:t>
            </a:r>
            <a:r>
              <a:rPr lang="en-GB" dirty="0"/>
              <a:t>Internet </a:t>
            </a:r>
            <a:r>
              <a:rPr lang="en-GB" dirty="0" smtClean="0"/>
              <a:t>connections.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476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771728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GB" b="1" dirty="0"/>
              <a:t>Safeguards against </a:t>
            </a:r>
            <a:r>
              <a:rPr lang="en-GB" b="1" dirty="0" smtClean="0"/>
              <a:t>Unauthorized Access </a:t>
            </a:r>
            <a:r>
              <a:rPr lang="en-GB" b="1" dirty="0"/>
              <a:t>and </a:t>
            </a:r>
            <a:r>
              <a:rPr lang="en-GB" b="1" dirty="0" smtClean="0"/>
              <a:t>Use</a:t>
            </a:r>
          </a:p>
          <a:p>
            <a:r>
              <a:rPr lang="en-US" dirty="0"/>
              <a:t>Organizations take several measures </a:t>
            </a:r>
            <a:r>
              <a:rPr lang="en-US" dirty="0" smtClean="0"/>
              <a:t>to help </a:t>
            </a:r>
            <a:r>
              <a:rPr lang="en-US" dirty="0"/>
              <a:t>prevent unauthorized access and use.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hey </a:t>
            </a:r>
            <a:r>
              <a:rPr lang="en-US" dirty="0"/>
              <a:t>should have a </a:t>
            </a:r>
            <a:r>
              <a:rPr lang="en-US" dirty="0" smtClean="0"/>
              <a:t>written acceptable </a:t>
            </a:r>
            <a:r>
              <a:rPr lang="en-US" dirty="0"/>
              <a:t>use policy (AUP) that outlines </a:t>
            </a:r>
            <a:r>
              <a:rPr lang="en-US" dirty="0" smtClean="0"/>
              <a:t>computer </a:t>
            </a:r>
            <a:r>
              <a:rPr lang="en-US" dirty="0"/>
              <a:t>activities for which the </a:t>
            </a:r>
            <a:r>
              <a:rPr lang="en-US" dirty="0" smtClean="0"/>
              <a:t>computer and </a:t>
            </a:r>
            <a:r>
              <a:rPr lang="en-US" dirty="0"/>
              <a:t>network may and may not be used.</a:t>
            </a:r>
            <a:endParaRPr lang="en-GB" dirty="0" smtClean="0"/>
          </a:p>
          <a:p>
            <a:r>
              <a:rPr lang="en-GB" dirty="0" smtClean="0"/>
              <a:t>To </a:t>
            </a:r>
            <a:r>
              <a:rPr lang="en-GB" dirty="0"/>
              <a:t>protect your personal computer </a:t>
            </a:r>
            <a:r>
              <a:rPr lang="en-GB" dirty="0" smtClean="0"/>
              <a:t>from unauthorized </a:t>
            </a:r>
            <a:r>
              <a:rPr lang="en-GB" dirty="0"/>
              <a:t>intrusions, you should </a:t>
            </a:r>
            <a:r>
              <a:rPr lang="en-GB" dirty="0" smtClean="0"/>
              <a:t>disable file </a:t>
            </a:r>
            <a:r>
              <a:rPr lang="en-GB" dirty="0"/>
              <a:t>and printer sharing on your </a:t>
            </a:r>
            <a:r>
              <a:rPr lang="en-GB" dirty="0" smtClean="0"/>
              <a:t>Internet connection.</a:t>
            </a:r>
          </a:p>
          <a:p>
            <a:r>
              <a:rPr lang="en-GB" dirty="0" smtClean="0"/>
              <a:t>Install firewalls, intrusion </a:t>
            </a:r>
            <a:r>
              <a:rPr lang="en-GB" dirty="0"/>
              <a:t>detection </a:t>
            </a:r>
            <a:r>
              <a:rPr lang="en-GB" dirty="0" smtClean="0"/>
              <a:t>software and identifying and </a:t>
            </a:r>
            <a:r>
              <a:rPr lang="en-GB" dirty="0"/>
              <a:t>authenticating users</a:t>
            </a:r>
            <a:r>
              <a:rPr lang="en-GB" dirty="0" smtClean="0"/>
              <a:t>.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firewall </a:t>
            </a:r>
            <a:r>
              <a:rPr lang="en-GB" dirty="0"/>
              <a:t>is hardware and/or software </a:t>
            </a:r>
            <a:r>
              <a:rPr lang="en-GB" dirty="0" smtClean="0"/>
              <a:t>that protects </a:t>
            </a:r>
            <a:r>
              <a:rPr lang="en-GB" dirty="0"/>
              <a:t>a network’s resources from intrusion </a:t>
            </a:r>
            <a:r>
              <a:rPr lang="en-GB" dirty="0" smtClean="0"/>
              <a:t>by users </a:t>
            </a:r>
            <a:r>
              <a:rPr lang="en-GB" dirty="0"/>
              <a:t>on another network such as the </a:t>
            </a:r>
            <a:r>
              <a:rPr lang="en-GB" dirty="0" smtClean="0"/>
              <a:t>Internet.</a:t>
            </a:r>
          </a:p>
          <a:p>
            <a:pPr lvl="1"/>
            <a:r>
              <a:rPr lang="en-GB" dirty="0"/>
              <a:t>L</a:t>
            </a:r>
            <a:r>
              <a:rPr lang="en-GB" dirty="0" smtClean="0"/>
              <a:t>arge </a:t>
            </a:r>
            <a:r>
              <a:rPr lang="en-GB" dirty="0"/>
              <a:t>organizations may </a:t>
            </a:r>
            <a:r>
              <a:rPr lang="en-GB" dirty="0" smtClean="0"/>
              <a:t>use intrusion </a:t>
            </a:r>
            <a:r>
              <a:rPr lang="en-GB" dirty="0"/>
              <a:t>detection software to identify </a:t>
            </a:r>
            <a:r>
              <a:rPr lang="en-GB" dirty="0" smtClean="0"/>
              <a:t>possible security </a:t>
            </a:r>
            <a:r>
              <a:rPr lang="en-GB" dirty="0"/>
              <a:t>breaches. </a:t>
            </a:r>
            <a:endParaRPr lang="en-GB" dirty="0" smtClean="0"/>
          </a:p>
          <a:p>
            <a:pPr lvl="1"/>
            <a:r>
              <a:rPr lang="en-GB" i="1" dirty="0" smtClean="0"/>
              <a:t>Intrusion </a:t>
            </a:r>
            <a:r>
              <a:rPr lang="en-GB" i="1" dirty="0"/>
              <a:t>detection </a:t>
            </a:r>
            <a:r>
              <a:rPr lang="en-GB" i="1" dirty="0" smtClean="0"/>
              <a:t>software</a:t>
            </a:r>
            <a:r>
              <a:rPr lang="en-GB" dirty="0" smtClean="0"/>
              <a:t> </a:t>
            </a:r>
            <a:r>
              <a:rPr lang="en-GB" dirty="0" err="1"/>
              <a:t>analyzes</a:t>
            </a:r>
            <a:r>
              <a:rPr lang="en-GB" dirty="0"/>
              <a:t> all network traffic, </a:t>
            </a:r>
            <a:r>
              <a:rPr lang="en-GB" dirty="0" smtClean="0"/>
              <a:t>assesses system </a:t>
            </a:r>
            <a:r>
              <a:rPr lang="en-GB" dirty="0"/>
              <a:t>vulnerabilities, identifies any </a:t>
            </a:r>
            <a:r>
              <a:rPr lang="en-GB" dirty="0" smtClean="0"/>
              <a:t>unauthorized intrusions</a:t>
            </a:r>
            <a:r>
              <a:rPr lang="en-GB" dirty="0"/>
              <a:t>, and notifies network </a:t>
            </a:r>
            <a:r>
              <a:rPr lang="en-GB" dirty="0" smtClean="0"/>
              <a:t>administrators of </a:t>
            </a:r>
            <a:r>
              <a:rPr lang="en-GB" dirty="0"/>
              <a:t>suspicious </a:t>
            </a:r>
            <a:r>
              <a:rPr lang="en-GB" dirty="0" smtClean="0"/>
              <a:t>behaviour </a:t>
            </a:r>
            <a:r>
              <a:rPr lang="en-GB" dirty="0"/>
              <a:t>patterns or </a:t>
            </a:r>
            <a:r>
              <a:rPr lang="en-GB" dirty="0" smtClean="0"/>
              <a:t>system breaches.</a:t>
            </a:r>
          </a:p>
        </p:txBody>
      </p:sp>
    </p:spTree>
    <p:extLst>
      <p:ext uri="{BB962C8B-B14F-4D97-AF65-F5344CB8AC3E}">
        <p14:creationId xmlns:p14="http://schemas.microsoft.com/office/powerpoint/2010/main" val="89085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771728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GB" b="1" dirty="0"/>
              <a:t>Identifying and Authenticating Users</a:t>
            </a:r>
          </a:p>
          <a:p>
            <a:r>
              <a:rPr lang="en-GB" dirty="0"/>
              <a:t>Many organizations use access controls </a:t>
            </a:r>
            <a:r>
              <a:rPr lang="en-GB" dirty="0" smtClean="0"/>
              <a:t>to minimize </a:t>
            </a:r>
            <a:r>
              <a:rPr lang="en-GB" dirty="0"/>
              <a:t>the chance that a perpetrator </a:t>
            </a:r>
            <a:r>
              <a:rPr lang="en-GB" dirty="0" smtClean="0"/>
              <a:t>or </a:t>
            </a:r>
            <a:r>
              <a:rPr lang="en-GB" dirty="0"/>
              <a:t>an employee </a:t>
            </a:r>
            <a:r>
              <a:rPr lang="en-GB" dirty="0" smtClean="0"/>
              <a:t>may </a:t>
            </a:r>
            <a:r>
              <a:rPr lang="en-GB" dirty="0"/>
              <a:t>access confidential information </a:t>
            </a:r>
            <a:r>
              <a:rPr lang="en-GB" dirty="0" smtClean="0"/>
              <a:t>on a </a:t>
            </a:r>
            <a:r>
              <a:rPr lang="en-GB" dirty="0"/>
              <a:t>computer. </a:t>
            </a:r>
            <a:endParaRPr lang="en-GB" dirty="0" smtClean="0"/>
          </a:p>
          <a:p>
            <a:r>
              <a:rPr lang="en-GB" dirty="0" smtClean="0"/>
              <a:t>A</a:t>
            </a:r>
            <a:r>
              <a:rPr lang="en-GB" i="1" dirty="0" smtClean="0"/>
              <a:t>ccess </a:t>
            </a:r>
            <a:r>
              <a:rPr lang="en-GB" i="1" dirty="0"/>
              <a:t>control </a:t>
            </a:r>
            <a:r>
              <a:rPr lang="en-GB" dirty="0"/>
              <a:t>is a security </a:t>
            </a:r>
            <a:r>
              <a:rPr lang="en-GB" dirty="0" smtClean="0"/>
              <a:t>measure that </a:t>
            </a:r>
            <a:r>
              <a:rPr lang="en-GB" dirty="0"/>
              <a:t>defines who can access a </a:t>
            </a:r>
            <a:r>
              <a:rPr lang="en-GB" dirty="0" smtClean="0"/>
              <a:t>computer, when </a:t>
            </a:r>
            <a:r>
              <a:rPr lang="en-GB" dirty="0"/>
              <a:t>they can access it, and what </a:t>
            </a:r>
            <a:r>
              <a:rPr lang="en-GB" dirty="0" smtClean="0"/>
              <a:t>actions they </a:t>
            </a:r>
            <a:r>
              <a:rPr lang="en-GB" dirty="0"/>
              <a:t>can take while accessing the computer.</a:t>
            </a:r>
          </a:p>
          <a:p>
            <a:pPr lvl="1"/>
            <a:r>
              <a:rPr lang="en-GB" dirty="0"/>
              <a:t>In addition, the computer should </a:t>
            </a:r>
            <a:r>
              <a:rPr lang="en-GB" dirty="0" smtClean="0"/>
              <a:t>maintain an </a:t>
            </a:r>
            <a:r>
              <a:rPr lang="en-GB" b="1" dirty="0"/>
              <a:t>audit trail </a:t>
            </a:r>
            <a:r>
              <a:rPr lang="en-GB" dirty="0"/>
              <a:t>that records in a file both </a:t>
            </a:r>
            <a:r>
              <a:rPr lang="en-GB" dirty="0" smtClean="0"/>
              <a:t>successful and </a:t>
            </a:r>
            <a:r>
              <a:rPr lang="en-GB" dirty="0"/>
              <a:t>unsuccessful access attempts. </a:t>
            </a:r>
            <a:endParaRPr lang="en-GB" dirty="0" smtClean="0"/>
          </a:p>
          <a:p>
            <a:r>
              <a:rPr lang="en-GB" dirty="0" smtClean="0"/>
              <a:t>An unsuccessful </a:t>
            </a:r>
            <a:r>
              <a:rPr lang="en-GB" dirty="0"/>
              <a:t>access attempt could result </a:t>
            </a:r>
            <a:r>
              <a:rPr lang="en-GB" dirty="0" smtClean="0"/>
              <a:t>from a </a:t>
            </a:r>
            <a:r>
              <a:rPr lang="en-GB" dirty="0"/>
              <a:t>user mistyping his or her password, or </a:t>
            </a:r>
            <a:r>
              <a:rPr lang="en-GB" dirty="0" smtClean="0"/>
              <a:t>it could </a:t>
            </a:r>
            <a:r>
              <a:rPr lang="en-GB" dirty="0"/>
              <a:t>result from a hacker trying </a:t>
            </a:r>
            <a:r>
              <a:rPr lang="en-GB" dirty="0" smtClean="0"/>
              <a:t>thousands of passwords.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33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771728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Many systems implement access </a:t>
            </a:r>
            <a:r>
              <a:rPr lang="en-GB" dirty="0" smtClean="0"/>
              <a:t>controls using </a:t>
            </a:r>
            <a:r>
              <a:rPr lang="en-GB" dirty="0"/>
              <a:t>a two-phase process called </a:t>
            </a:r>
            <a:r>
              <a:rPr lang="en-GB" dirty="0" smtClean="0"/>
              <a:t>identification and </a:t>
            </a:r>
            <a:r>
              <a:rPr lang="en-GB" dirty="0"/>
              <a:t>authentication. </a:t>
            </a:r>
            <a:endParaRPr lang="en-GB" dirty="0" smtClean="0"/>
          </a:p>
          <a:p>
            <a:pPr lvl="1"/>
            <a:r>
              <a:rPr lang="en-GB" i="1" dirty="0" smtClean="0"/>
              <a:t>Identification </a:t>
            </a:r>
            <a:r>
              <a:rPr lang="en-GB" dirty="0" smtClean="0"/>
              <a:t>verifies </a:t>
            </a:r>
            <a:r>
              <a:rPr lang="en-GB" dirty="0"/>
              <a:t>that an individual is a valid user.</a:t>
            </a:r>
          </a:p>
          <a:p>
            <a:pPr lvl="1"/>
            <a:r>
              <a:rPr lang="en-GB" i="1" dirty="0"/>
              <a:t>Authentication </a:t>
            </a:r>
            <a:r>
              <a:rPr lang="en-GB" dirty="0"/>
              <a:t>verifies that the individual </a:t>
            </a:r>
            <a:r>
              <a:rPr lang="en-GB" dirty="0" smtClean="0"/>
              <a:t>is the </a:t>
            </a:r>
            <a:r>
              <a:rPr lang="en-GB" dirty="0"/>
              <a:t>person he or she claims to be. </a:t>
            </a:r>
            <a:endParaRPr lang="en-GB" dirty="0" smtClean="0"/>
          </a:p>
          <a:p>
            <a:r>
              <a:rPr lang="en-GB" dirty="0" smtClean="0"/>
              <a:t>Three</a:t>
            </a:r>
            <a:r>
              <a:rPr lang="en-GB" dirty="0"/>
              <a:t> </a:t>
            </a:r>
            <a:r>
              <a:rPr lang="en-GB" dirty="0" smtClean="0"/>
              <a:t>methods </a:t>
            </a:r>
            <a:r>
              <a:rPr lang="en-GB" dirty="0"/>
              <a:t>of identification and </a:t>
            </a:r>
            <a:r>
              <a:rPr lang="en-GB" dirty="0" smtClean="0"/>
              <a:t>authentication include:</a:t>
            </a:r>
          </a:p>
          <a:p>
            <a:pPr lvl="1"/>
            <a:r>
              <a:rPr lang="en-GB" dirty="0" smtClean="0"/>
              <a:t>user </a:t>
            </a:r>
            <a:r>
              <a:rPr lang="en-GB" dirty="0"/>
              <a:t>names and passwords, </a:t>
            </a:r>
            <a:endParaRPr lang="en-GB" dirty="0" smtClean="0"/>
          </a:p>
          <a:p>
            <a:pPr lvl="1"/>
            <a:r>
              <a:rPr lang="en-GB" dirty="0" smtClean="0"/>
              <a:t>possessed objects</a:t>
            </a:r>
            <a:r>
              <a:rPr lang="en-GB" dirty="0"/>
              <a:t>, and </a:t>
            </a:r>
            <a:endParaRPr lang="en-GB" dirty="0" smtClean="0"/>
          </a:p>
          <a:p>
            <a:pPr lvl="1"/>
            <a:r>
              <a:rPr lang="en-GB" dirty="0" smtClean="0"/>
              <a:t>bio metric devices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b="1" dirty="0"/>
              <a:t>Possessed Objects </a:t>
            </a:r>
            <a:r>
              <a:rPr lang="en-GB" i="1" dirty="0" smtClean="0"/>
              <a:t> </a:t>
            </a:r>
            <a:r>
              <a:rPr lang="en-GB" dirty="0"/>
              <a:t>is </a:t>
            </a:r>
            <a:r>
              <a:rPr lang="en-GB" dirty="0" smtClean="0"/>
              <a:t>any item </a:t>
            </a:r>
            <a:r>
              <a:rPr lang="en-GB" dirty="0"/>
              <a:t>that you must carry to gain access to </a:t>
            </a:r>
            <a:r>
              <a:rPr lang="en-GB" dirty="0" smtClean="0"/>
              <a:t>a computer </a:t>
            </a:r>
            <a:r>
              <a:rPr lang="en-GB" dirty="0"/>
              <a:t>or computer facility. </a:t>
            </a:r>
            <a:endParaRPr lang="en-GB" dirty="0" smtClean="0"/>
          </a:p>
          <a:p>
            <a:pPr lvl="1"/>
            <a:r>
              <a:rPr lang="en-GB" dirty="0" smtClean="0"/>
              <a:t>Examples of possessed </a:t>
            </a:r>
            <a:r>
              <a:rPr lang="en-GB" dirty="0"/>
              <a:t>objects are badges, cards, smart </a:t>
            </a:r>
            <a:r>
              <a:rPr lang="en-GB" dirty="0" smtClean="0"/>
              <a:t>cards, and </a:t>
            </a:r>
            <a:r>
              <a:rPr lang="en-GB" dirty="0"/>
              <a:t>keys. </a:t>
            </a:r>
            <a:endParaRPr lang="en-GB" dirty="0" smtClean="0"/>
          </a:p>
          <a:p>
            <a:pPr lvl="1"/>
            <a:r>
              <a:rPr lang="en-GB" dirty="0"/>
              <a:t>A</a:t>
            </a:r>
            <a:r>
              <a:rPr lang="en-GB" dirty="0" smtClean="0"/>
              <a:t>utomated </a:t>
            </a:r>
            <a:r>
              <a:rPr lang="en-GB" dirty="0"/>
              <a:t>T</a:t>
            </a:r>
            <a:r>
              <a:rPr lang="en-GB" dirty="0" smtClean="0"/>
              <a:t>eller Machine (ATM) card is </a:t>
            </a:r>
            <a:r>
              <a:rPr lang="en-GB" dirty="0"/>
              <a:t>a possessed object </a:t>
            </a:r>
            <a:r>
              <a:rPr lang="en-GB" dirty="0" smtClean="0"/>
              <a:t>that allows </a:t>
            </a:r>
            <a:r>
              <a:rPr lang="en-GB" dirty="0"/>
              <a:t>access to your bank account.</a:t>
            </a:r>
          </a:p>
          <a:p>
            <a:pPr lvl="1"/>
            <a:r>
              <a:rPr lang="en-GB" dirty="0"/>
              <a:t>Possessed objects </a:t>
            </a:r>
            <a:r>
              <a:rPr lang="en-GB" dirty="0" smtClean="0"/>
              <a:t>are </a:t>
            </a:r>
            <a:r>
              <a:rPr lang="en-GB" dirty="0"/>
              <a:t>used in </a:t>
            </a:r>
            <a:r>
              <a:rPr lang="en-GB" dirty="0" smtClean="0"/>
              <a:t>combination with </a:t>
            </a:r>
            <a:r>
              <a:rPr lang="en-GB" dirty="0"/>
              <a:t>P</a:t>
            </a:r>
            <a:r>
              <a:rPr lang="en-GB" dirty="0" smtClean="0"/>
              <a:t>ersonal </a:t>
            </a:r>
            <a:r>
              <a:rPr lang="en-GB" dirty="0"/>
              <a:t>I</a:t>
            </a:r>
            <a:r>
              <a:rPr lang="en-GB" dirty="0" smtClean="0"/>
              <a:t>dentification </a:t>
            </a:r>
            <a:r>
              <a:rPr lang="en-GB" dirty="0"/>
              <a:t>N</a:t>
            </a:r>
            <a:r>
              <a:rPr lang="en-GB" dirty="0" smtClean="0"/>
              <a:t>umbers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personal identification number </a:t>
            </a:r>
            <a:r>
              <a:rPr lang="en-GB" dirty="0"/>
              <a:t>(</a:t>
            </a:r>
            <a:r>
              <a:rPr lang="en-GB" b="1" dirty="0" smtClean="0"/>
              <a:t>PIN</a:t>
            </a:r>
            <a:r>
              <a:rPr lang="en-GB" dirty="0" smtClean="0"/>
              <a:t>) is </a:t>
            </a:r>
            <a:r>
              <a:rPr lang="en-GB" dirty="0"/>
              <a:t>a numeric </a:t>
            </a:r>
            <a:r>
              <a:rPr lang="en-GB" dirty="0" smtClean="0"/>
              <a:t>password</a:t>
            </a:r>
            <a:r>
              <a:rPr lang="en-GB" dirty="0"/>
              <a:t>, either assigned by </a:t>
            </a:r>
            <a:r>
              <a:rPr lang="en-GB" dirty="0" smtClean="0"/>
              <a:t>a company </a:t>
            </a:r>
            <a:r>
              <a:rPr lang="en-GB" dirty="0"/>
              <a:t>or selected by a </a:t>
            </a:r>
            <a:r>
              <a:rPr lang="en-GB" dirty="0" smtClean="0"/>
              <a:t>user.</a:t>
            </a:r>
          </a:p>
        </p:txBody>
      </p:sp>
    </p:spTree>
    <p:extLst>
      <p:ext uri="{BB962C8B-B14F-4D97-AF65-F5344CB8AC3E}">
        <p14:creationId xmlns:p14="http://schemas.microsoft.com/office/powerpoint/2010/main" val="277718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904656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Biometric Device  </a:t>
            </a:r>
            <a:r>
              <a:rPr lang="en-GB" dirty="0"/>
              <a:t>authenticates a person’s identity by translating a personal characteristic, such as a fingerprint, into a digital code that is compared with a digital code stored in the computer verifying a physical or </a:t>
            </a:r>
            <a:r>
              <a:rPr lang="en-GB" dirty="0" smtClean="0"/>
              <a:t>behavioural </a:t>
            </a:r>
            <a:r>
              <a:rPr lang="en-GB" dirty="0"/>
              <a:t>characteristic. </a:t>
            </a:r>
          </a:p>
          <a:p>
            <a:r>
              <a:rPr lang="en-GB" dirty="0"/>
              <a:t>If the digital code in the computer does not match the personal characteristic code, the computer denies access to the individual</a:t>
            </a:r>
            <a:r>
              <a:rPr lang="en-GB" dirty="0" smtClean="0"/>
              <a:t>.</a:t>
            </a:r>
          </a:p>
          <a:p>
            <a:r>
              <a:rPr lang="en-GB" dirty="0" smtClean="0"/>
              <a:t>Biometric </a:t>
            </a:r>
            <a:r>
              <a:rPr lang="en-GB" dirty="0"/>
              <a:t>devices do have disadvantages. </a:t>
            </a:r>
            <a:endParaRPr lang="en-GB" dirty="0" smtClean="0"/>
          </a:p>
          <a:p>
            <a:pPr lvl="1"/>
            <a:r>
              <a:rPr lang="en-GB" dirty="0" smtClean="0"/>
              <a:t>If you cut </a:t>
            </a:r>
            <a:r>
              <a:rPr lang="en-GB" dirty="0"/>
              <a:t>your finger, a fingerprint reader might </a:t>
            </a:r>
            <a:r>
              <a:rPr lang="en-GB" dirty="0" smtClean="0"/>
              <a:t>reject you </a:t>
            </a:r>
            <a:r>
              <a:rPr lang="en-GB" dirty="0"/>
              <a:t>as a legitimate user. </a:t>
            </a:r>
            <a:endParaRPr lang="en-GB" dirty="0" smtClean="0"/>
          </a:p>
          <a:p>
            <a:pPr lvl="1"/>
            <a:r>
              <a:rPr lang="en-GB" dirty="0" smtClean="0"/>
              <a:t>Hand </a:t>
            </a:r>
            <a:r>
              <a:rPr lang="en-GB" dirty="0"/>
              <a:t>geometry </a:t>
            </a:r>
            <a:r>
              <a:rPr lang="en-GB" dirty="0" smtClean="0"/>
              <a:t>readers can </a:t>
            </a:r>
            <a:r>
              <a:rPr lang="en-GB" dirty="0"/>
              <a:t>transmit </a:t>
            </a:r>
            <a:r>
              <a:rPr lang="en-GB" dirty="0" smtClean="0"/>
              <a:t>germs.</a:t>
            </a:r>
          </a:p>
          <a:p>
            <a:pPr lvl="1"/>
            <a:r>
              <a:rPr lang="en-GB" dirty="0" smtClean="0"/>
              <a:t>If </a:t>
            </a:r>
            <a:r>
              <a:rPr lang="en-GB" dirty="0"/>
              <a:t>you are nervous, a </a:t>
            </a:r>
            <a:r>
              <a:rPr lang="en-GB" dirty="0" smtClean="0"/>
              <a:t>signature might </a:t>
            </a:r>
            <a:r>
              <a:rPr lang="en-GB" dirty="0"/>
              <a:t>not match the one on file. </a:t>
            </a:r>
            <a:endParaRPr lang="en-GB" dirty="0" smtClean="0"/>
          </a:p>
          <a:p>
            <a:pPr lvl="1"/>
            <a:r>
              <a:rPr lang="en-GB" dirty="0" smtClean="0"/>
              <a:t>If </a:t>
            </a:r>
            <a:r>
              <a:rPr lang="en-GB" dirty="0"/>
              <a:t>you </a:t>
            </a:r>
            <a:r>
              <a:rPr lang="en-GB" dirty="0" smtClean="0"/>
              <a:t>have a </a:t>
            </a:r>
            <a:r>
              <a:rPr lang="en-GB" dirty="0"/>
              <a:t>sore throat, a voice recognition system </a:t>
            </a:r>
            <a:r>
              <a:rPr lang="en-GB" dirty="0" smtClean="0"/>
              <a:t>might reject </a:t>
            </a:r>
            <a:r>
              <a:rPr lang="en-GB" dirty="0"/>
              <a:t>you. </a:t>
            </a:r>
            <a:endParaRPr lang="en-GB" dirty="0" smtClean="0"/>
          </a:p>
          <a:p>
            <a:pPr lvl="1"/>
            <a:r>
              <a:rPr lang="en-GB" dirty="0" smtClean="0"/>
              <a:t>Many </a:t>
            </a:r>
            <a:r>
              <a:rPr lang="en-GB" dirty="0"/>
              <a:t>people are uncomfortable </a:t>
            </a:r>
            <a:r>
              <a:rPr lang="en-GB" dirty="0" smtClean="0"/>
              <a:t>with the </a:t>
            </a:r>
            <a:r>
              <a:rPr lang="en-GB" dirty="0"/>
              <a:t>thought of using an iris scanner.</a:t>
            </a:r>
          </a:p>
        </p:txBody>
      </p:sp>
    </p:spTree>
    <p:extLst>
      <p:ext uri="{BB962C8B-B14F-4D97-AF65-F5344CB8AC3E}">
        <p14:creationId xmlns:p14="http://schemas.microsoft.com/office/powerpoint/2010/main" val="139618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92696"/>
            <a:ext cx="7498080" cy="5328592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GB" sz="4000" b="1" dirty="0"/>
              <a:t>Digital </a:t>
            </a:r>
            <a:r>
              <a:rPr lang="en-GB" sz="4000" b="1" dirty="0" smtClean="0"/>
              <a:t>Forensics</a:t>
            </a:r>
            <a:endParaRPr lang="en-GB" b="1" dirty="0"/>
          </a:p>
          <a:p>
            <a:r>
              <a:rPr lang="en-GB" b="1" dirty="0"/>
              <a:t>Digital forensics</a:t>
            </a:r>
            <a:r>
              <a:rPr lang="en-GB" dirty="0"/>
              <a:t>, also called </a:t>
            </a:r>
            <a:r>
              <a:rPr lang="en-GB" i="1" dirty="0" smtClean="0"/>
              <a:t>computer forensics</a:t>
            </a:r>
            <a:r>
              <a:rPr lang="en-GB" dirty="0"/>
              <a:t>, </a:t>
            </a:r>
            <a:r>
              <a:rPr lang="en-GB" i="1" dirty="0"/>
              <a:t>network forensics</a:t>
            </a:r>
            <a:r>
              <a:rPr lang="en-GB" dirty="0"/>
              <a:t>, or </a:t>
            </a:r>
            <a:r>
              <a:rPr lang="en-GB" i="1" dirty="0" err="1"/>
              <a:t>cyberforensics</a:t>
            </a:r>
            <a:r>
              <a:rPr lang="en-GB" dirty="0"/>
              <a:t>, is </a:t>
            </a:r>
            <a:r>
              <a:rPr lang="en-GB" dirty="0" smtClean="0"/>
              <a:t>the discovery</a:t>
            </a:r>
            <a:r>
              <a:rPr lang="en-GB" dirty="0"/>
              <a:t>, collection, and analysis of </a:t>
            </a:r>
            <a:r>
              <a:rPr lang="en-GB" dirty="0" smtClean="0"/>
              <a:t>evidence found </a:t>
            </a:r>
            <a:r>
              <a:rPr lang="en-GB" dirty="0"/>
              <a:t>on computers and networks. </a:t>
            </a:r>
            <a:endParaRPr lang="en-GB" dirty="0" smtClean="0"/>
          </a:p>
          <a:p>
            <a:r>
              <a:rPr lang="en-GB" dirty="0" smtClean="0"/>
              <a:t>Digital</a:t>
            </a:r>
            <a:r>
              <a:rPr lang="en-GB" dirty="0"/>
              <a:t> </a:t>
            </a:r>
            <a:r>
              <a:rPr lang="en-GB" dirty="0" smtClean="0"/>
              <a:t>forensics </a:t>
            </a:r>
            <a:r>
              <a:rPr lang="en-GB" dirty="0"/>
              <a:t>involves </a:t>
            </a:r>
            <a:r>
              <a:rPr lang="en-GB" dirty="0" smtClean="0"/>
              <a:t>examination </a:t>
            </a:r>
            <a:r>
              <a:rPr lang="en-GB" dirty="0"/>
              <a:t>of </a:t>
            </a:r>
            <a:r>
              <a:rPr lang="en-GB" dirty="0" smtClean="0"/>
              <a:t>computer media</a:t>
            </a:r>
            <a:r>
              <a:rPr lang="en-GB" dirty="0"/>
              <a:t>, programs, data and log files on </a:t>
            </a:r>
            <a:r>
              <a:rPr lang="en-GB" dirty="0" smtClean="0"/>
              <a:t>computers, servers</a:t>
            </a:r>
            <a:r>
              <a:rPr lang="en-GB" dirty="0"/>
              <a:t>, and networks. </a:t>
            </a:r>
            <a:endParaRPr lang="en-GB" dirty="0" smtClean="0"/>
          </a:p>
          <a:p>
            <a:r>
              <a:rPr lang="en-GB" dirty="0" smtClean="0"/>
              <a:t>Many </a:t>
            </a:r>
            <a:r>
              <a:rPr lang="en-GB" dirty="0"/>
              <a:t>areas </a:t>
            </a:r>
            <a:r>
              <a:rPr lang="en-GB" dirty="0" smtClean="0"/>
              <a:t>use digital </a:t>
            </a:r>
            <a:r>
              <a:rPr lang="en-GB" dirty="0"/>
              <a:t>forensics, including law </a:t>
            </a:r>
            <a:r>
              <a:rPr lang="en-GB" dirty="0" smtClean="0"/>
              <a:t>enforcement, criminal </a:t>
            </a:r>
            <a:r>
              <a:rPr lang="en-GB" dirty="0"/>
              <a:t>prosecutors, military </a:t>
            </a:r>
            <a:r>
              <a:rPr lang="en-GB" dirty="0" smtClean="0"/>
              <a:t>intelligence, insurance </a:t>
            </a:r>
            <a:r>
              <a:rPr lang="en-GB" dirty="0"/>
              <a:t>agencies, and information </a:t>
            </a:r>
            <a:r>
              <a:rPr lang="en-GB" dirty="0" smtClean="0"/>
              <a:t>security departments </a:t>
            </a:r>
            <a:r>
              <a:rPr lang="en-GB" dirty="0"/>
              <a:t>in the private sector</a:t>
            </a:r>
            <a:r>
              <a:rPr lang="en-GB" dirty="0" smtClean="0"/>
              <a:t>.</a:t>
            </a:r>
          </a:p>
          <a:p>
            <a:r>
              <a:rPr lang="en-GB" dirty="0" smtClean="0"/>
              <a:t>A </a:t>
            </a:r>
            <a:r>
              <a:rPr lang="en-GB" dirty="0"/>
              <a:t>digital forensics examiner must </a:t>
            </a:r>
            <a:r>
              <a:rPr lang="en-GB" dirty="0" smtClean="0"/>
              <a:t>have knowledge </a:t>
            </a:r>
            <a:r>
              <a:rPr lang="en-GB" dirty="0"/>
              <a:t>of the law, technical experience </a:t>
            </a:r>
            <a:r>
              <a:rPr lang="en-GB" dirty="0" smtClean="0"/>
              <a:t>with many </a:t>
            </a:r>
            <a:r>
              <a:rPr lang="en-GB" dirty="0"/>
              <a:t>types of hardware and software </a:t>
            </a:r>
            <a:r>
              <a:rPr lang="en-GB" dirty="0" smtClean="0"/>
              <a:t>products, superior </a:t>
            </a:r>
            <a:r>
              <a:rPr lang="en-GB" dirty="0"/>
              <a:t>communication skills, familiarity </a:t>
            </a:r>
            <a:r>
              <a:rPr lang="en-GB" dirty="0" smtClean="0"/>
              <a:t>with corporate </a:t>
            </a:r>
            <a:r>
              <a:rPr lang="en-GB" dirty="0"/>
              <a:t>structures and policies, a </a:t>
            </a:r>
            <a:r>
              <a:rPr lang="en-GB" dirty="0" smtClean="0"/>
              <a:t>willingness to </a:t>
            </a:r>
            <a:r>
              <a:rPr lang="en-GB" dirty="0"/>
              <a:t>learn and update skills, and a knack for </a:t>
            </a:r>
            <a:r>
              <a:rPr lang="en-GB" dirty="0" smtClean="0"/>
              <a:t>problem solving</a:t>
            </a:r>
            <a:r>
              <a:rPr lang="en-GB" dirty="0"/>
              <a:t>. 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2022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92500"/>
          </a:bodyPr>
          <a:lstStyle/>
          <a:p>
            <a:pPr marL="82296" indent="0">
              <a:buNone/>
            </a:pPr>
            <a:r>
              <a:rPr lang="en-GB" b="1" dirty="0"/>
              <a:t>Hardware Theft and Vandalism</a:t>
            </a:r>
          </a:p>
          <a:p>
            <a:r>
              <a:rPr lang="en-GB" dirty="0"/>
              <a:t>Hardware theft and vandalism are other </a:t>
            </a:r>
            <a:r>
              <a:rPr lang="en-GB" dirty="0" smtClean="0"/>
              <a:t>types of </a:t>
            </a:r>
            <a:r>
              <a:rPr lang="en-GB" dirty="0"/>
              <a:t>computer security risks. </a:t>
            </a:r>
            <a:endParaRPr lang="en-GB" dirty="0" smtClean="0"/>
          </a:p>
          <a:p>
            <a:r>
              <a:rPr lang="en-GB" b="1" dirty="0" smtClean="0"/>
              <a:t>Hardware theft </a:t>
            </a:r>
            <a:r>
              <a:rPr lang="en-GB" dirty="0" smtClean="0"/>
              <a:t>is </a:t>
            </a:r>
            <a:r>
              <a:rPr lang="en-GB" dirty="0"/>
              <a:t>the act of stealing computer equipment.</a:t>
            </a:r>
          </a:p>
          <a:p>
            <a:r>
              <a:rPr lang="en-GB" b="1" dirty="0"/>
              <a:t>Hardware vandalism </a:t>
            </a:r>
            <a:r>
              <a:rPr lang="en-GB" dirty="0"/>
              <a:t>is the act of defacing </a:t>
            </a:r>
            <a:r>
              <a:rPr lang="en-GB" dirty="0" smtClean="0"/>
              <a:t>or destroying </a:t>
            </a:r>
            <a:r>
              <a:rPr lang="en-GB" dirty="0"/>
              <a:t>computer equipment. </a:t>
            </a:r>
            <a:endParaRPr lang="en-GB" dirty="0" smtClean="0"/>
          </a:p>
          <a:p>
            <a:r>
              <a:rPr lang="en-GB" dirty="0" smtClean="0"/>
              <a:t>Hardware vandalism take </a:t>
            </a:r>
            <a:r>
              <a:rPr lang="en-GB" dirty="0"/>
              <a:t>many forms, </a:t>
            </a:r>
            <a:endParaRPr lang="en-GB" dirty="0" smtClean="0"/>
          </a:p>
          <a:p>
            <a:pPr lvl="1"/>
            <a:r>
              <a:rPr lang="en-GB" dirty="0" smtClean="0"/>
              <a:t>from someone cutting </a:t>
            </a:r>
            <a:r>
              <a:rPr lang="en-GB" dirty="0"/>
              <a:t>a computer cable to individuals </a:t>
            </a:r>
            <a:r>
              <a:rPr lang="en-GB" dirty="0" smtClean="0"/>
              <a:t>breaking into </a:t>
            </a:r>
            <a:r>
              <a:rPr lang="en-GB" dirty="0"/>
              <a:t>a business or school computer lab </a:t>
            </a:r>
            <a:r>
              <a:rPr lang="en-GB" dirty="0" smtClean="0"/>
              <a:t>and aimlessly </a:t>
            </a:r>
            <a:r>
              <a:rPr lang="en-GB" dirty="0"/>
              <a:t>smashing computers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2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771728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en-GB" b="1" dirty="0"/>
              <a:t>Safeguards against Hardware </a:t>
            </a:r>
            <a:r>
              <a:rPr lang="en-GB" b="1" dirty="0" smtClean="0"/>
              <a:t>Theft and </a:t>
            </a:r>
            <a:r>
              <a:rPr lang="en-GB" b="1" dirty="0"/>
              <a:t>Vandalism</a:t>
            </a:r>
          </a:p>
          <a:p>
            <a:r>
              <a:rPr lang="en-GB" dirty="0"/>
              <a:t>To help reduce </a:t>
            </a:r>
            <a:r>
              <a:rPr lang="en-GB" dirty="0" smtClean="0"/>
              <a:t>chances </a:t>
            </a:r>
            <a:r>
              <a:rPr lang="en-GB" dirty="0"/>
              <a:t>of theft, </a:t>
            </a:r>
            <a:r>
              <a:rPr lang="en-GB" dirty="0" smtClean="0"/>
              <a:t>companies and </a:t>
            </a:r>
            <a:r>
              <a:rPr lang="en-GB" dirty="0"/>
              <a:t>schools use a variety of security measures.</a:t>
            </a:r>
          </a:p>
          <a:p>
            <a:r>
              <a:rPr lang="en-GB" dirty="0"/>
              <a:t>Physical access controls, such as locked </a:t>
            </a:r>
            <a:r>
              <a:rPr lang="en-GB" dirty="0" smtClean="0"/>
              <a:t>doors and </a:t>
            </a:r>
            <a:r>
              <a:rPr lang="en-GB" dirty="0"/>
              <a:t>windows, </a:t>
            </a:r>
            <a:r>
              <a:rPr lang="en-GB" dirty="0" smtClean="0"/>
              <a:t>are </a:t>
            </a:r>
            <a:r>
              <a:rPr lang="en-GB" dirty="0"/>
              <a:t>adequate to protect </a:t>
            </a:r>
            <a:r>
              <a:rPr lang="en-GB" dirty="0" smtClean="0"/>
              <a:t>the equipment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Many </a:t>
            </a:r>
            <a:r>
              <a:rPr lang="en-GB" dirty="0"/>
              <a:t>businesses, schools, and </a:t>
            </a:r>
            <a:r>
              <a:rPr lang="en-GB" dirty="0" smtClean="0"/>
              <a:t>some homeowners </a:t>
            </a:r>
            <a:r>
              <a:rPr lang="en-GB" dirty="0"/>
              <a:t>install alarm systems for </a:t>
            </a:r>
            <a:r>
              <a:rPr lang="en-GB" dirty="0" smtClean="0"/>
              <a:t>additional security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School </a:t>
            </a:r>
            <a:r>
              <a:rPr lang="en-GB" dirty="0"/>
              <a:t>computer labs and other </a:t>
            </a:r>
            <a:r>
              <a:rPr lang="en-GB" dirty="0" smtClean="0"/>
              <a:t>areas with </a:t>
            </a:r>
            <a:r>
              <a:rPr lang="en-GB" dirty="0"/>
              <a:t>a large number of </a:t>
            </a:r>
            <a:r>
              <a:rPr lang="en-GB" dirty="0" smtClean="0"/>
              <a:t>users attach </a:t>
            </a:r>
            <a:r>
              <a:rPr lang="en-GB" dirty="0"/>
              <a:t>additional physical security devices such </a:t>
            </a:r>
            <a:r>
              <a:rPr lang="en-GB" dirty="0" smtClean="0"/>
              <a:t>as cables </a:t>
            </a:r>
            <a:r>
              <a:rPr lang="en-GB" dirty="0"/>
              <a:t>that lock the equipment to a </a:t>
            </a:r>
            <a:r>
              <a:rPr lang="en-GB" dirty="0" smtClean="0"/>
              <a:t>desk cabinet or </a:t>
            </a:r>
            <a:r>
              <a:rPr lang="en-GB" dirty="0"/>
              <a:t>floor. </a:t>
            </a:r>
            <a:endParaRPr lang="en-GB" dirty="0" smtClean="0"/>
          </a:p>
          <a:p>
            <a:r>
              <a:rPr lang="en-GB" dirty="0" smtClean="0"/>
              <a:t>Small </a:t>
            </a:r>
            <a:r>
              <a:rPr lang="en-GB" dirty="0"/>
              <a:t>locking </a:t>
            </a:r>
            <a:r>
              <a:rPr lang="en-GB" dirty="0" smtClean="0"/>
              <a:t>devices also </a:t>
            </a:r>
            <a:r>
              <a:rPr lang="en-GB" dirty="0"/>
              <a:t>exist that require a key to access a hard </a:t>
            </a:r>
            <a:r>
              <a:rPr lang="en-GB" dirty="0" smtClean="0"/>
              <a:t>disk or </a:t>
            </a:r>
            <a:r>
              <a:rPr lang="en-GB" dirty="0"/>
              <a:t>optical disc drive.</a:t>
            </a:r>
          </a:p>
          <a:p>
            <a:r>
              <a:rPr lang="en-GB" dirty="0"/>
              <a:t>Some businesses use a </a:t>
            </a:r>
            <a:r>
              <a:rPr lang="en-GB" i="1" dirty="0"/>
              <a:t>real time location </a:t>
            </a:r>
            <a:r>
              <a:rPr lang="en-GB" i="1" dirty="0" smtClean="0"/>
              <a:t>system </a:t>
            </a:r>
            <a:r>
              <a:rPr lang="en-GB" dirty="0" smtClean="0"/>
              <a:t>(</a:t>
            </a:r>
            <a:r>
              <a:rPr lang="en-GB" i="1" dirty="0" smtClean="0"/>
              <a:t>RTLS</a:t>
            </a:r>
            <a:r>
              <a:rPr lang="en-GB" dirty="0"/>
              <a:t>) to track and identify the location </a:t>
            </a:r>
            <a:r>
              <a:rPr lang="en-GB" dirty="0" smtClean="0"/>
              <a:t>of high-risk </a:t>
            </a:r>
            <a:r>
              <a:rPr lang="en-GB" dirty="0"/>
              <a:t>or high-value items. </a:t>
            </a:r>
            <a:endParaRPr lang="en-GB" dirty="0" smtClean="0"/>
          </a:p>
          <a:p>
            <a:r>
              <a:rPr lang="en-GB" dirty="0" smtClean="0"/>
              <a:t>One implementation of </a:t>
            </a:r>
            <a:r>
              <a:rPr lang="en-GB" dirty="0"/>
              <a:t>RTLS places RFID tags in items to </a:t>
            </a:r>
            <a:r>
              <a:rPr lang="en-GB" dirty="0" smtClean="0"/>
              <a:t>be tracked</a:t>
            </a:r>
            <a:r>
              <a:rPr lang="en-GB" dirty="0"/>
              <a:t>.</a:t>
            </a:r>
          </a:p>
          <a:p>
            <a:r>
              <a:rPr lang="en-GB" dirty="0" smtClean="0"/>
              <a:t>The best preventive </a:t>
            </a:r>
            <a:r>
              <a:rPr lang="en-GB" dirty="0"/>
              <a:t>measures are common sense </a:t>
            </a:r>
            <a:r>
              <a:rPr lang="en-GB" dirty="0" smtClean="0"/>
              <a:t>and a </a:t>
            </a:r>
            <a:r>
              <a:rPr lang="en-GB" dirty="0"/>
              <a:t>constant awareness of the risk.</a:t>
            </a:r>
          </a:p>
        </p:txBody>
      </p:sp>
    </p:spTree>
    <p:extLst>
      <p:ext uri="{BB962C8B-B14F-4D97-AF65-F5344CB8AC3E}">
        <p14:creationId xmlns:p14="http://schemas.microsoft.com/office/powerpoint/2010/main" val="19553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Some </a:t>
            </a:r>
            <a:r>
              <a:rPr lang="en-GB" dirty="0" smtClean="0"/>
              <a:t>laptop </a:t>
            </a:r>
            <a:r>
              <a:rPr lang="en-GB" dirty="0"/>
              <a:t>computers use </a:t>
            </a:r>
            <a:r>
              <a:rPr lang="en-GB" dirty="0" smtClean="0"/>
              <a:t>passwords, possessed </a:t>
            </a:r>
            <a:r>
              <a:rPr lang="en-GB" dirty="0"/>
              <a:t>objects, and biometrics as </a:t>
            </a:r>
            <a:r>
              <a:rPr lang="en-GB" dirty="0" smtClean="0"/>
              <a:t>methods of </a:t>
            </a:r>
            <a:r>
              <a:rPr lang="en-GB" dirty="0"/>
              <a:t>security. </a:t>
            </a:r>
            <a:endParaRPr lang="en-GB" dirty="0" smtClean="0"/>
          </a:p>
          <a:p>
            <a:pPr lvl="1"/>
            <a:r>
              <a:rPr lang="en-GB" dirty="0" smtClean="0"/>
              <a:t>When </a:t>
            </a:r>
            <a:r>
              <a:rPr lang="en-GB" dirty="0"/>
              <a:t>you start </a:t>
            </a:r>
            <a:r>
              <a:rPr lang="en-GB" dirty="0" smtClean="0"/>
              <a:t>up a computers, you </a:t>
            </a:r>
            <a:r>
              <a:rPr lang="en-GB" dirty="0"/>
              <a:t>must enter a password, slide a card </a:t>
            </a:r>
            <a:r>
              <a:rPr lang="en-GB" dirty="0" smtClean="0"/>
              <a:t>in a </a:t>
            </a:r>
            <a:r>
              <a:rPr lang="en-GB" dirty="0"/>
              <a:t>card reader, or press your finger on a </a:t>
            </a:r>
            <a:r>
              <a:rPr lang="en-GB" dirty="0" smtClean="0"/>
              <a:t>fingerprint reader </a:t>
            </a:r>
            <a:r>
              <a:rPr lang="en-GB" dirty="0"/>
              <a:t>before the hard disk unlocks. </a:t>
            </a:r>
            <a:endParaRPr lang="en-GB" dirty="0" smtClean="0"/>
          </a:p>
          <a:p>
            <a:pPr lvl="1"/>
            <a:r>
              <a:rPr lang="en-GB" dirty="0" smtClean="0"/>
              <a:t>This type </a:t>
            </a:r>
            <a:r>
              <a:rPr lang="en-GB" dirty="0"/>
              <a:t>of security does not prevent theft, but </a:t>
            </a:r>
            <a:r>
              <a:rPr lang="en-GB" dirty="0" smtClean="0"/>
              <a:t>it renders </a:t>
            </a:r>
            <a:r>
              <a:rPr lang="en-GB" dirty="0"/>
              <a:t>the computer useless if it is stolen.</a:t>
            </a:r>
          </a:p>
          <a:p>
            <a:r>
              <a:rPr lang="en-GB" dirty="0"/>
              <a:t>You also can password-protect many </a:t>
            </a:r>
            <a:r>
              <a:rPr lang="en-GB" dirty="0" smtClean="0"/>
              <a:t>portable storage </a:t>
            </a:r>
            <a:r>
              <a:rPr lang="en-GB" dirty="0"/>
              <a:t>devices such as USB flash drives, </a:t>
            </a:r>
            <a:r>
              <a:rPr lang="en-GB" dirty="0" smtClean="0"/>
              <a:t>smart phones</a:t>
            </a:r>
            <a:r>
              <a:rPr lang="en-GB" dirty="0"/>
              <a:t>, and other mobile devices. </a:t>
            </a:r>
            <a:endParaRPr lang="en-GB" dirty="0" smtClean="0"/>
          </a:p>
          <a:p>
            <a:r>
              <a:rPr lang="en-GB" dirty="0" smtClean="0"/>
              <a:t>This allows only </a:t>
            </a:r>
            <a:r>
              <a:rPr lang="en-GB" dirty="0"/>
              <a:t>authorized users to access the device’s data.</a:t>
            </a:r>
          </a:p>
          <a:p>
            <a:r>
              <a:rPr lang="en-GB" dirty="0"/>
              <a:t>Some can be set to destroy data if an </a:t>
            </a:r>
            <a:r>
              <a:rPr lang="en-GB" dirty="0" smtClean="0"/>
              <a:t>incorrect password </a:t>
            </a:r>
            <a:r>
              <a:rPr lang="en-GB" dirty="0"/>
              <a:t>is entered a certain number of times.</a:t>
            </a:r>
          </a:p>
          <a:p>
            <a:r>
              <a:rPr lang="en-GB" dirty="0"/>
              <a:t>You usually can instruct the password screen </a:t>
            </a:r>
            <a:r>
              <a:rPr lang="en-GB" dirty="0" smtClean="0"/>
              <a:t>to display </a:t>
            </a:r>
            <a:r>
              <a:rPr lang="en-GB" dirty="0"/>
              <a:t>your name and telephone number, </a:t>
            </a:r>
            <a:r>
              <a:rPr lang="en-GB" dirty="0" smtClean="0"/>
              <a:t>so that </a:t>
            </a:r>
            <a:r>
              <a:rPr lang="en-GB" dirty="0"/>
              <a:t>a Good Samaritan can return it to you </a:t>
            </a:r>
            <a:r>
              <a:rPr lang="en-GB" dirty="0" smtClean="0"/>
              <a:t>if lost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Several </a:t>
            </a:r>
            <a:r>
              <a:rPr lang="en-GB" dirty="0"/>
              <a:t>models also allow you to </a:t>
            </a:r>
            <a:r>
              <a:rPr lang="en-GB" dirty="0" smtClean="0"/>
              <a:t>encrypt data </a:t>
            </a:r>
            <a:r>
              <a:rPr lang="en-GB" dirty="0"/>
              <a:t>in the device. </a:t>
            </a:r>
          </a:p>
        </p:txBody>
      </p:sp>
    </p:spTree>
    <p:extLst>
      <p:ext uri="{BB962C8B-B14F-4D97-AF65-F5344CB8AC3E}">
        <p14:creationId xmlns:p14="http://schemas.microsoft.com/office/powerpoint/2010/main" val="237905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904656"/>
          </a:xfrm>
        </p:spPr>
        <p:txBody>
          <a:bodyPr>
            <a:normAutofit fontScale="55000" lnSpcReduction="20000"/>
          </a:bodyPr>
          <a:lstStyle/>
          <a:p>
            <a:pPr marL="82296" indent="0">
              <a:buNone/>
            </a:pPr>
            <a:r>
              <a:rPr lang="en-GB" b="1" dirty="0"/>
              <a:t>Software Theft</a:t>
            </a:r>
          </a:p>
          <a:p>
            <a:r>
              <a:rPr lang="en-GB" dirty="0"/>
              <a:t>Another computer security risk is software </a:t>
            </a:r>
            <a:r>
              <a:rPr lang="en-GB" dirty="0" smtClean="0"/>
              <a:t>theft. </a:t>
            </a:r>
          </a:p>
          <a:p>
            <a:r>
              <a:rPr lang="en-GB" b="1" dirty="0" smtClean="0"/>
              <a:t>Software </a:t>
            </a:r>
            <a:r>
              <a:rPr lang="en-GB" b="1" dirty="0"/>
              <a:t>theft </a:t>
            </a:r>
            <a:r>
              <a:rPr lang="en-GB" dirty="0"/>
              <a:t>occurs when someone (1) </a:t>
            </a:r>
            <a:r>
              <a:rPr lang="en-GB" dirty="0" smtClean="0"/>
              <a:t>steals software </a:t>
            </a:r>
            <a:r>
              <a:rPr lang="en-GB" dirty="0"/>
              <a:t>media, (2) intentionally erases programs</a:t>
            </a:r>
            <a:r>
              <a:rPr lang="en-GB" dirty="0" smtClean="0"/>
              <a:t>, (</a:t>
            </a:r>
            <a:r>
              <a:rPr lang="en-GB" dirty="0"/>
              <a:t>3) illegally copies a program, or (4) illegally </a:t>
            </a:r>
            <a:r>
              <a:rPr lang="en-GB" dirty="0" smtClean="0"/>
              <a:t>registers and/or </a:t>
            </a:r>
            <a:r>
              <a:rPr lang="en-GB" dirty="0"/>
              <a:t>activates a program.</a:t>
            </a:r>
          </a:p>
          <a:p>
            <a:r>
              <a:rPr lang="en-GB" dirty="0"/>
              <a:t>The first type of software theft involves </a:t>
            </a:r>
            <a:r>
              <a:rPr lang="en-GB" dirty="0" smtClean="0"/>
              <a:t>a perpetrator </a:t>
            </a:r>
            <a:r>
              <a:rPr lang="en-GB" dirty="0"/>
              <a:t>physically stealing the media </a:t>
            </a:r>
            <a:r>
              <a:rPr lang="en-GB" dirty="0" smtClean="0"/>
              <a:t>that contain </a:t>
            </a:r>
            <a:r>
              <a:rPr lang="en-GB" dirty="0"/>
              <a:t>the software or the hardware that </a:t>
            </a:r>
            <a:r>
              <a:rPr lang="en-GB" dirty="0" smtClean="0"/>
              <a:t>contains the media.</a:t>
            </a:r>
          </a:p>
          <a:p>
            <a:r>
              <a:rPr lang="en-GB" dirty="0" smtClean="0"/>
              <a:t>The </a:t>
            </a:r>
            <a:r>
              <a:rPr lang="en-GB" dirty="0"/>
              <a:t>second type of software theft can </a:t>
            </a:r>
            <a:r>
              <a:rPr lang="en-GB" dirty="0" smtClean="0"/>
              <a:t>occur when </a:t>
            </a:r>
            <a:r>
              <a:rPr lang="en-GB" dirty="0"/>
              <a:t>a programmer is </a:t>
            </a:r>
            <a:r>
              <a:rPr lang="en-GB" dirty="0" smtClean="0"/>
              <a:t>terminated from or stops working for a </a:t>
            </a:r>
            <a:r>
              <a:rPr lang="en-GB" dirty="0"/>
              <a:t>company. </a:t>
            </a:r>
            <a:endParaRPr lang="en-GB" dirty="0" smtClean="0"/>
          </a:p>
          <a:p>
            <a:pPr lvl="1"/>
            <a:r>
              <a:rPr lang="en-GB" dirty="0" smtClean="0"/>
              <a:t>Although </a:t>
            </a:r>
            <a:r>
              <a:rPr lang="en-GB" dirty="0"/>
              <a:t>the </a:t>
            </a:r>
            <a:r>
              <a:rPr lang="en-GB" dirty="0" smtClean="0"/>
              <a:t>programs are </a:t>
            </a:r>
            <a:r>
              <a:rPr lang="en-GB" dirty="0"/>
              <a:t>company property, some dishonest </a:t>
            </a:r>
            <a:r>
              <a:rPr lang="en-GB" dirty="0" smtClean="0"/>
              <a:t>programmers intentionally </a:t>
            </a:r>
            <a:r>
              <a:rPr lang="en-GB" dirty="0"/>
              <a:t>remove or disable the </a:t>
            </a:r>
            <a:r>
              <a:rPr lang="en-GB" dirty="0" smtClean="0"/>
              <a:t>programs they </a:t>
            </a:r>
            <a:r>
              <a:rPr lang="en-GB" dirty="0"/>
              <a:t>have written from company computers.</a:t>
            </a:r>
          </a:p>
          <a:p>
            <a:r>
              <a:rPr lang="en-GB" dirty="0"/>
              <a:t>The third type of software theft occurs </a:t>
            </a:r>
            <a:r>
              <a:rPr lang="en-GB" dirty="0" smtClean="0"/>
              <a:t>when software </a:t>
            </a:r>
            <a:r>
              <a:rPr lang="en-GB" dirty="0"/>
              <a:t>is stolen from software manufacturers.</a:t>
            </a:r>
          </a:p>
          <a:p>
            <a:pPr lvl="1"/>
            <a:r>
              <a:rPr lang="en-GB" dirty="0"/>
              <a:t>This type of </a:t>
            </a:r>
            <a:r>
              <a:rPr lang="en-GB" dirty="0" smtClean="0"/>
              <a:t>theft called piracy is the most </a:t>
            </a:r>
            <a:r>
              <a:rPr lang="en-GB" dirty="0"/>
              <a:t>common form of software theft. </a:t>
            </a:r>
            <a:endParaRPr lang="en-GB" dirty="0" smtClean="0"/>
          </a:p>
          <a:p>
            <a:pPr lvl="1"/>
            <a:r>
              <a:rPr lang="en-GB" dirty="0" smtClean="0"/>
              <a:t>Software </a:t>
            </a:r>
            <a:r>
              <a:rPr lang="en-GB" b="1" dirty="0" smtClean="0"/>
              <a:t>piracy </a:t>
            </a:r>
            <a:r>
              <a:rPr lang="en-GB" dirty="0"/>
              <a:t>is the unauthorized and illegal </a:t>
            </a:r>
            <a:r>
              <a:rPr lang="en-GB" dirty="0" smtClean="0"/>
              <a:t>duplication of </a:t>
            </a:r>
            <a:r>
              <a:rPr lang="en-GB" dirty="0"/>
              <a:t>copyrighted software.</a:t>
            </a:r>
          </a:p>
          <a:p>
            <a:r>
              <a:rPr lang="en-GB" dirty="0"/>
              <a:t>The fourth type of software theft </a:t>
            </a:r>
            <a:r>
              <a:rPr lang="en-GB" dirty="0" smtClean="0"/>
              <a:t>involves users </a:t>
            </a:r>
            <a:r>
              <a:rPr lang="en-GB" dirty="0"/>
              <a:t>illegally obtaining registration </a:t>
            </a:r>
            <a:r>
              <a:rPr lang="en-GB" dirty="0" smtClean="0"/>
              <a:t>numbers and/or </a:t>
            </a:r>
            <a:r>
              <a:rPr lang="en-GB" dirty="0"/>
              <a:t>activation codes. </a:t>
            </a:r>
            <a:endParaRPr lang="en-GB" dirty="0" smtClean="0"/>
          </a:p>
          <a:p>
            <a:pPr lvl="1"/>
            <a:r>
              <a:rPr lang="en-GB" dirty="0" smtClean="0"/>
              <a:t>A </a:t>
            </a:r>
            <a:r>
              <a:rPr lang="en-GB" dirty="0"/>
              <a:t>program called </a:t>
            </a:r>
            <a:r>
              <a:rPr lang="en-GB" dirty="0" smtClean="0"/>
              <a:t>a </a:t>
            </a:r>
            <a:r>
              <a:rPr lang="en-GB" i="1" dirty="0" err="1" smtClean="0"/>
              <a:t>keygen</a:t>
            </a:r>
            <a:r>
              <a:rPr lang="en-GB" dirty="0"/>
              <a:t>, short for key generator, creates </a:t>
            </a:r>
            <a:r>
              <a:rPr lang="en-GB" dirty="0" smtClean="0"/>
              <a:t>software registration </a:t>
            </a:r>
            <a:r>
              <a:rPr lang="en-GB" dirty="0"/>
              <a:t>numbers and sometimes </a:t>
            </a:r>
            <a:r>
              <a:rPr lang="en-GB" dirty="0" smtClean="0"/>
              <a:t>activation codes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Some </a:t>
            </a:r>
            <a:r>
              <a:rPr lang="en-GB" dirty="0"/>
              <a:t>unscrupulous individuals create </a:t>
            </a:r>
            <a:r>
              <a:rPr lang="en-GB" dirty="0" smtClean="0"/>
              <a:t>and post </a:t>
            </a:r>
            <a:r>
              <a:rPr lang="en-GB" dirty="0" err="1"/>
              <a:t>keygens</a:t>
            </a:r>
            <a:r>
              <a:rPr lang="en-GB" dirty="0"/>
              <a:t> so that users can install </a:t>
            </a:r>
            <a:r>
              <a:rPr lang="en-GB" dirty="0" smtClean="0"/>
              <a:t>software without </a:t>
            </a:r>
            <a:r>
              <a:rPr lang="en-GB" dirty="0"/>
              <a:t>legally purchasing it.</a:t>
            </a:r>
          </a:p>
        </p:txBody>
      </p:sp>
    </p:spTree>
    <p:extLst>
      <p:ext uri="{BB962C8B-B14F-4D97-AF65-F5344CB8AC3E}">
        <p14:creationId xmlns:p14="http://schemas.microsoft.com/office/powerpoint/2010/main" val="104260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771728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GB" b="1" dirty="0"/>
              <a:t>Safeguards against Software Theft</a:t>
            </a:r>
          </a:p>
          <a:p>
            <a:r>
              <a:rPr lang="en-GB" dirty="0"/>
              <a:t>To protect software media from being </a:t>
            </a:r>
            <a:r>
              <a:rPr lang="en-GB" dirty="0" smtClean="0"/>
              <a:t>stolen, owners </a:t>
            </a:r>
            <a:r>
              <a:rPr lang="en-GB" dirty="0"/>
              <a:t>should keep original software boxes </a:t>
            </a:r>
            <a:r>
              <a:rPr lang="en-GB" dirty="0" smtClean="0"/>
              <a:t>and media </a:t>
            </a:r>
            <a:r>
              <a:rPr lang="en-GB" dirty="0"/>
              <a:t>in a secure location, out of sight of </a:t>
            </a:r>
            <a:r>
              <a:rPr lang="en-GB" dirty="0" smtClean="0"/>
              <a:t>prying eyes.</a:t>
            </a:r>
          </a:p>
          <a:p>
            <a:r>
              <a:rPr lang="en-GB" dirty="0"/>
              <a:t>C</a:t>
            </a:r>
            <a:r>
              <a:rPr lang="en-GB" dirty="0" smtClean="0"/>
              <a:t>omputer </a:t>
            </a:r>
            <a:r>
              <a:rPr lang="en-GB" dirty="0"/>
              <a:t>users should back up their </a:t>
            </a:r>
            <a:r>
              <a:rPr lang="en-GB" dirty="0" smtClean="0"/>
              <a:t>files and </a:t>
            </a:r>
            <a:r>
              <a:rPr lang="en-GB" dirty="0"/>
              <a:t>disks regularly, in the event of theft. </a:t>
            </a:r>
            <a:endParaRPr lang="en-GB" dirty="0" smtClean="0"/>
          </a:p>
          <a:p>
            <a:r>
              <a:rPr lang="en-GB" dirty="0" smtClean="0"/>
              <a:t>When</a:t>
            </a:r>
            <a:r>
              <a:rPr lang="en-GB" dirty="0"/>
              <a:t> </a:t>
            </a:r>
            <a:r>
              <a:rPr lang="en-GB" dirty="0" smtClean="0"/>
              <a:t>some </a:t>
            </a:r>
            <a:r>
              <a:rPr lang="en-GB" dirty="0"/>
              <a:t>companies terminate a programmer or </a:t>
            </a:r>
            <a:r>
              <a:rPr lang="en-GB" dirty="0" smtClean="0"/>
              <a:t>if the </a:t>
            </a:r>
            <a:r>
              <a:rPr lang="en-GB" dirty="0"/>
              <a:t>programmer </a:t>
            </a:r>
            <a:r>
              <a:rPr lang="en-GB" dirty="0" smtClean="0"/>
              <a:t>quits they </a:t>
            </a:r>
            <a:r>
              <a:rPr lang="en-GB" dirty="0"/>
              <a:t>escort the </a:t>
            </a:r>
            <a:r>
              <a:rPr lang="en-GB" dirty="0" smtClean="0"/>
              <a:t>employee off </a:t>
            </a:r>
            <a:r>
              <a:rPr lang="en-GB" dirty="0"/>
              <a:t>the premises immediately. </a:t>
            </a:r>
            <a:endParaRPr lang="en-GB" dirty="0" smtClean="0"/>
          </a:p>
          <a:p>
            <a:pPr lvl="1"/>
            <a:r>
              <a:rPr lang="en-GB" dirty="0" smtClean="0"/>
              <a:t>These companies believe </a:t>
            </a:r>
            <a:r>
              <a:rPr lang="en-GB" dirty="0"/>
              <a:t>that allowing terminated </a:t>
            </a:r>
            <a:r>
              <a:rPr lang="en-GB" dirty="0" smtClean="0"/>
              <a:t>employees to </a:t>
            </a:r>
            <a:r>
              <a:rPr lang="en-GB" dirty="0"/>
              <a:t>remain on the premises gives them time </a:t>
            </a:r>
            <a:r>
              <a:rPr lang="en-GB" dirty="0" smtClean="0"/>
              <a:t>to sabotage </a:t>
            </a:r>
            <a:r>
              <a:rPr lang="en-GB" dirty="0"/>
              <a:t>files and other network procedures.</a:t>
            </a:r>
          </a:p>
          <a:p>
            <a:r>
              <a:rPr lang="en-GB" dirty="0"/>
              <a:t>To protect themselves from software </a:t>
            </a:r>
            <a:r>
              <a:rPr lang="en-GB" dirty="0" smtClean="0"/>
              <a:t>piracy, software manufacturers </a:t>
            </a:r>
            <a:r>
              <a:rPr lang="en-GB" dirty="0"/>
              <a:t>issue users </a:t>
            </a:r>
            <a:r>
              <a:rPr lang="en-GB" dirty="0" smtClean="0"/>
              <a:t>license agreements</a:t>
            </a:r>
            <a:r>
              <a:rPr lang="en-GB" dirty="0"/>
              <a:t>. </a:t>
            </a:r>
            <a:endParaRPr lang="en-GB" dirty="0" smtClean="0"/>
          </a:p>
          <a:p>
            <a:pPr lvl="1"/>
            <a:r>
              <a:rPr lang="en-GB" dirty="0" smtClean="0"/>
              <a:t>A </a:t>
            </a:r>
            <a:r>
              <a:rPr lang="en-GB" b="1" dirty="0"/>
              <a:t>license agreement </a:t>
            </a:r>
            <a:r>
              <a:rPr lang="en-GB" dirty="0"/>
              <a:t>is the </a:t>
            </a:r>
            <a:r>
              <a:rPr lang="en-GB" dirty="0" smtClean="0"/>
              <a:t>right to </a:t>
            </a:r>
            <a:r>
              <a:rPr lang="en-GB" dirty="0"/>
              <a:t>use the software. That is, you do not </a:t>
            </a:r>
            <a:r>
              <a:rPr lang="en-GB" dirty="0" smtClean="0"/>
              <a:t>own the </a:t>
            </a:r>
            <a:r>
              <a:rPr lang="en-GB" dirty="0"/>
              <a:t>software. </a:t>
            </a:r>
          </a:p>
          <a:p>
            <a:r>
              <a:rPr lang="en-GB" dirty="0" smtClean="0"/>
              <a:t>The license agreement provides specific conditions for use of the software, which a user must accept before using the software.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758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771728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en-GB" b="1" dirty="0"/>
              <a:t>Information Theft</a:t>
            </a:r>
          </a:p>
          <a:p>
            <a:r>
              <a:rPr lang="en-GB" dirty="0"/>
              <a:t>Information theft is </a:t>
            </a:r>
            <a:r>
              <a:rPr lang="en-GB" dirty="0" smtClean="0"/>
              <a:t>another </a:t>
            </a:r>
            <a:r>
              <a:rPr lang="en-GB" dirty="0"/>
              <a:t>type </a:t>
            </a:r>
            <a:r>
              <a:rPr lang="en-GB" dirty="0" smtClean="0"/>
              <a:t>of computer </a:t>
            </a:r>
            <a:r>
              <a:rPr lang="en-GB" dirty="0"/>
              <a:t>security </a:t>
            </a:r>
            <a:r>
              <a:rPr lang="en-GB" dirty="0" smtClean="0"/>
              <a:t>risk.</a:t>
            </a:r>
          </a:p>
          <a:p>
            <a:r>
              <a:rPr lang="en-GB" b="1" dirty="0" smtClean="0"/>
              <a:t>Information theft </a:t>
            </a:r>
            <a:r>
              <a:rPr lang="en-GB" dirty="0" smtClean="0"/>
              <a:t>occurs </a:t>
            </a:r>
            <a:r>
              <a:rPr lang="en-GB" dirty="0"/>
              <a:t>when someone steals personal or </a:t>
            </a:r>
            <a:r>
              <a:rPr lang="en-GB" dirty="0" smtClean="0"/>
              <a:t>confidential information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If stolen, loss of information </a:t>
            </a:r>
            <a:r>
              <a:rPr lang="en-GB" dirty="0"/>
              <a:t>can cause as much damage as (</a:t>
            </a:r>
            <a:r>
              <a:rPr lang="en-GB" dirty="0" smtClean="0"/>
              <a:t>if not </a:t>
            </a:r>
            <a:r>
              <a:rPr lang="en-GB" dirty="0"/>
              <a:t>more than) hardware or software theft.</a:t>
            </a:r>
          </a:p>
          <a:p>
            <a:r>
              <a:rPr lang="en-GB" dirty="0"/>
              <a:t>Both business and home users can fall </a:t>
            </a:r>
            <a:r>
              <a:rPr lang="en-GB" dirty="0" smtClean="0"/>
              <a:t>victim to </a:t>
            </a:r>
            <a:r>
              <a:rPr lang="en-GB" dirty="0"/>
              <a:t>information theft. </a:t>
            </a:r>
            <a:endParaRPr lang="en-GB" dirty="0" smtClean="0"/>
          </a:p>
          <a:p>
            <a:r>
              <a:rPr lang="en-GB" dirty="0" smtClean="0"/>
              <a:t>An </a:t>
            </a:r>
            <a:r>
              <a:rPr lang="en-GB" dirty="0"/>
              <a:t>unethical </a:t>
            </a:r>
            <a:r>
              <a:rPr lang="en-GB" dirty="0" smtClean="0"/>
              <a:t>company executive </a:t>
            </a:r>
            <a:r>
              <a:rPr lang="en-GB" dirty="0"/>
              <a:t>may steal or buy stolen </a:t>
            </a:r>
            <a:r>
              <a:rPr lang="en-GB" dirty="0" smtClean="0"/>
              <a:t>information to </a:t>
            </a:r>
            <a:r>
              <a:rPr lang="en-GB" dirty="0"/>
              <a:t>learn about a competitor.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corrupt </a:t>
            </a:r>
            <a:r>
              <a:rPr lang="en-GB" dirty="0" smtClean="0"/>
              <a:t>individual may </a:t>
            </a:r>
            <a:r>
              <a:rPr lang="en-GB" dirty="0"/>
              <a:t>steal credit card numbers to </a:t>
            </a:r>
            <a:r>
              <a:rPr lang="en-GB" dirty="0" smtClean="0"/>
              <a:t>make fraudulent </a:t>
            </a:r>
            <a:r>
              <a:rPr lang="en-GB" dirty="0"/>
              <a:t>purchases. </a:t>
            </a:r>
            <a:endParaRPr lang="en-GB" dirty="0" smtClean="0"/>
          </a:p>
          <a:p>
            <a:r>
              <a:rPr lang="en-GB" dirty="0" smtClean="0"/>
              <a:t>Information </a:t>
            </a:r>
            <a:r>
              <a:rPr lang="en-GB" dirty="0"/>
              <a:t>theft </a:t>
            </a:r>
            <a:r>
              <a:rPr lang="en-GB" dirty="0" smtClean="0"/>
              <a:t>often is </a:t>
            </a:r>
            <a:r>
              <a:rPr lang="en-GB" dirty="0"/>
              <a:t>linked to other types of computer crime.</a:t>
            </a:r>
          </a:p>
          <a:p>
            <a:pPr lvl="1"/>
            <a:r>
              <a:rPr lang="en-GB" dirty="0"/>
              <a:t>For example, an individual first might </a:t>
            </a:r>
            <a:r>
              <a:rPr lang="en-GB" dirty="0" smtClean="0"/>
              <a:t>gain unauthorized </a:t>
            </a:r>
            <a:r>
              <a:rPr lang="en-GB" dirty="0"/>
              <a:t>access to a computer and </a:t>
            </a:r>
            <a:r>
              <a:rPr lang="en-GB" dirty="0" smtClean="0"/>
              <a:t>then steal </a:t>
            </a:r>
            <a:r>
              <a:rPr lang="en-GB" dirty="0"/>
              <a:t>credit card numbers stored in a </a:t>
            </a:r>
            <a:r>
              <a:rPr lang="en-GB" dirty="0" smtClean="0"/>
              <a:t>firm’s accounting </a:t>
            </a:r>
            <a:r>
              <a:rPr lang="en-GB" dirty="0"/>
              <a:t>department.</a:t>
            </a:r>
          </a:p>
          <a:p>
            <a:r>
              <a:rPr lang="en-GB" dirty="0"/>
              <a:t>Information transmitted over </a:t>
            </a:r>
            <a:r>
              <a:rPr lang="en-GB" dirty="0" smtClean="0"/>
              <a:t>networks offers </a:t>
            </a:r>
            <a:r>
              <a:rPr lang="en-GB" dirty="0"/>
              <a:t>a higher degree of risk because </a:t>
            </a:r>
            <a:r>
              <a:rPr lang="en-GB" dirty="0" smtClean="0"/>
              <a:t>unscrupulous users </a:t>
            </a:r>
            <a:r>
              <a:rPr lang="en-GB" dirty="0"/>
              <a:t>can intercept it during transmission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9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GB" b="1" dirty="0"/>
              <a:t>Safeguards against Information Theft</a:t>
            </a:r>
          </a:p>
          <a:p>
            <a:r>
              <a:rPr lang="en-GB" dirty="0"/>
              <a:t>Most organizations will </a:t>
            </a:r>
            <a:r>
              <a:rPr lang="en-GB" dirty="0" smtClean="0"/>
              <a:t>prevent information </a:t>
            </a:r>
            <a:r>
              <a:rPr lang="en-GB" dirty="0"/>
              <a:t>theft by implementing </a:t>
            </a:r>
            <a:r>
              <a:rPr lang="en-GB" dirty="0" smtClean="0"/>
              <a:t>user identification </a:t>
            </a:r>
            <a:r>
              <a:rPr lang="en-GB" dirty="0"/>
              <a:t>and authentication </a:t>
            </a:r>
            <a:r>
              <a:rPr lang="en-GB" dirty="0" smtClean="0"/>
              <a:t>controls. </a:t>
            </a:r>
          </a:p>
          <a:p>
            <a:r>
              <a:rPr lang="en-GB" dirty="0" smtClean="0"/>
              <a:t>These </a:t>
            </a:r>
            <a:r>
              <a:rPr lang="en-GB" dirty="0"/>
              <a:t>controls </a:t>
            </a:r>
            <a:r>
              <a:rPr lang="en-GB" dirty="0" smtClean="0"/>
              <a:t>are good for </a:t>
            </a:r>
            <a:r>
              <a:rPr lang="en-GB" dirty="0"/>
              <a:t>protecting information on </a:t>
            </a:r>
            <a:r>
              <a:rPr lang="en-GB" dirty="0" smtClean="0"/>
              <a:t>computers located </a:t>
            </a:r>
            <a:r>
              <a:rPr lang="en-GB" dirty="0"/>
              <a:t>on an organization’s premises.</a:t>
            </a:r>
          </a:p>
          <a:p>
            <a:r>
              <a:rPr lang="en-GB" dirty="0"/>
              <a:t>To protect information on the Internet </a:t>
            </a:r>
            <a:r>
              <a:rPr lang="en-GB" dirty="0" smtClean="0"/>
              <a:t>and networks</a:t>
            </a:r>
            <a:r>
              <a:rPr lang="en-GB" dirty="0"/>
              <a:t>, organizations and individuals use </a:t>
            </a:r>
            <a:r>
              <a:rPr lang="en-GB" dirty="0" smtClean="0"/>
              <a:t>a variety </a:t>
            </a:r>
            <a:r>
              <a:rPr lang="en-GB" dirty="0"/>
              <a:t>of encryption techniques</a:t>
            </a:r>
            <a:r>
              <a:rPr lang="en-GB" dirty="0" smtClean="0"/>
              <a:t>.</a:t>
            </a:r>
            <a:endParaRPr lang="en-GB" dirty="0"/>
          </a:p>
          <a:p>
            <a:pPr lvl="1"/>
            <a:r>
              <a:rPr lang="en-GB" b="1" dirty="0"/>
              <a:t>Encryption </a:t>
            </a:r>
            <a:r>
              <a:rPr lang="en-GB" dirty="0"/>
              <a:t>is a process of </a:t>
            </a:r>
            <a:r>
              <a:rPr lang="en-GB" dirty="0" smtClean="0"/>
              <a:t>converting readable </a:t>
            </a:r>
            <a:r>
              <a:rPr lang="en-GB" dirty="0"/>
              <a:t>data into unreadable characters to </a:t>
            </a:r>
            <a:r>
              <a:rPr lang="en-GB" dirty="0" smtClean="0"/>
              <a:t>prevent unauthorized </a:t>
            </a:r>
            <a:r>
              <a:rPr lang="en-GB" dirty="0"/>
              <a:t>access.</a:t>
            </a:r>
          </a:p>
        </p:txBody>
      </p:sp>
    </p:spTree>
    <p:extLst>
      <p:ext uri="{BB962C8B-B14F-4D97-AF65-F5344CB8AC3E}">
        <p14:creationId xmlns:p14="http://schemas.microsoft.com/office/powerpoint/2010/main" val="126142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32656"/>
            <a:ext cx="7498080" cy="6192688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en-GB" b="1" dirty="0"/>
              <a:t>System Failure</a:t>
            </a:r>
          </a:p>
          <a:p>
            <a:r>
              <a:rPr lang="en-GB" dirty="0"/>
              <a:t>System failure is </a:t>
            </a:r>
            <a:r>
              <a:rPr lang="en-GB" dirty="0" smtClean="0"/>
              <a:t>another </a:t>
            </a:r>
            <a:r>
              <a:rPr lang="en-GB" dirty="0"/>
              <a:t>type of </a:t>
            </a:r>
            <a:r>
              <a:rPr lang="en-GB" dirty="0" smtClean="0"/>
              <a:t>computer security </a:t>
            </a:r>
            <a:r>
              <a:rPr lang="en-GB" dirty="0"/>
              <a:t>risk.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b="1" i="1" dirty="0"/>
              <a:t>system failure </a:t>
            </a:r>
            <a:r>
              <a:rPr lang="en-GB" dirty="0" smtClean="0"/>
              <a:t>is a prolonged malfunction </a:t>
            </a:r>
            <a:r>
              <a:rPr lang="en-GB" dirty="0"/>
              <a:t>of a computer. </a:t>
            </a:r>
            <a:endParaRPr lang="en-GB" dirty="0" smtClean="0"/>
          </a:p>
          <a:p>
            <a:r>
              <a:rPr lang="en-GB" dirty="0" smtClean="0"/>
              <a:t>System </a:t>
            </a:r>
            <a:r>
              <a:rPr lang="en-GB" dirty="0"/>
              <a:t>failure </a:t>
            </a:r>
            <a:r>
              <a:rPr lang="en-GB" dirty="0" smtClean="0"/>
              <a:t>also can </a:t>
            </a:r>
            <a:r>
              <a:rPr lang="en-GB" dirty="0"/>
              <a:t>cause loss of hardware, software, data, </a:t>
            </a:r>
            <a:r>
              <a:rPr lang="en-GB" dirty="0" smtClean="0"/>
              <a:t>or information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variety of causes can lead to </a:t>
            </a:r>
            <a:r>
              <a:rPr lang="en-GB" dirty="0" smtClean="0"/>
              <a:t>system failure</a:t>
            </a:r>
            <a:r>
              <a:rPr lang="en-GB" dirty="0"/>
              <a:t>. </a:t>
            </a:r>
            <a:endParaRPr lang="en-GB" dirty="0" smtClean="0"/>
          </a:p>
          <a:p>
            <a:pPr lvl="1"/>
            <a:r>
              <a:rPr lang="en-GB" dirty="0" smtClean="0"/>
              <a:t>These </a:t>
            </a:r>
            <a:r>
              <a:rPr lang="en-GB" dirty="0"/>
              <a:t>include aging hardware; </a:t>
            </a:r>
            <a:r>
              <a:rPr lang="en-GB" dirty="0" smtClean="0"/>
              <a:t>natural disasters </a:t>
            </a:r>
            <a:r>
              <a:rPr lang="en-GB" dirty="0"/>
              <a:t>such as fires, floods, or </a:t>
            </a:r>
            <a:r>
              <a:rPr lang="en-GB" dirty="0" smtClean="0"/>
              <a:t>hurricanes; random </a:t>
            </a:r>
            <a:r>
              <a:rPr lang="en-GB" dirty="0"/>
              <a:t>events such as electrical power </a:t>
            </a:r>
            <a:r>
              <a:rPr lang="en-GB" dirty="0" smtClean="0"/>
              <a:t>problems; and </a:t>
            </a:r>
            <a:r>
              <a:rPr lang="en-GB" dirty="0"/>
              <a:t>even errors in computer programs.</a:t>
            </a:r>
          </a:p>
          <a:p>
            <a:r>
              <a:rPr lang="en-GB" dirty="0"/>
              <a:t>One </a:t>
            </a:r>
            <a:r>
              <a:rPr lang="en-GB" dirty="0" smtClean="0"/>
              <a:t>common </a:t>
            </a:r>
            <a:r>
              <a:rPr lang="en-GB" dirty="0"/>
              <a:t>causes of </a:t>
            </a:r>
            <a:r>
              <a:rPr lang="en-GB" dirty="0" smtClean="0"/>
              <a:t>system failure </a:t>
            </a:r>
            <a:r>
              <a:rPr lang="en-GB" dirty="0"/>
              <a:t>is an electrical power variation. </a:t>
            </a:r>
            <a:endParaRPr lang="en-GB" dirty="0" smtClean="0"/>
          </a:p>
          <a:p>
            <a:r>
              <a:rPr lang="en-GB" dirty="0" smtClean="0"/>
              <a:t>Electrical power </a:t>
            </a:r>
            <a:r>
              <a:rPr lang="en-GB" dirty="0"/>
              <a:t>variations can cause loss of data and </a:t>
            </a:r>
            <a:r>
              <a:rPr lang="en-GB" dirty="0" smtClean="0"/>
              <a:t>loss of </a:t>
            </a:r>
            <a:r>
              <a:rPr lang="en-GB" dirty="0"/>
              <a:t>equipment. </a:t>
            </a:r>
            <a:endParaRPr lang="en-GB" dirty="0" smtClean="0"/>
          </a:p>
          <a:p>
            <a:r>
              <a:rPr lang="en-GB" dirty="0" smtClean="0"/>
              <a:t>If computer </a:t>
            </a:r>
            <a:r>
              <a:rPr lang="en-GB" dirty="0"/>
              <a:t>equipment </a:t>
            </a:r>
            <a:r>
              <a:rPr lang="en-GB" dirty="0" smtClean="0"/>
              <a:t>is networked</a:t>
            </a:r>
            <a:r>
              <a:rPr lang="en-GB" dirty="0"/>
              <a:t>, a single power disturbance </a:t>
            </a:r>
            <a:r>
              <a:rPr lang="en-GB" dirty="0" smtClean="0"/>
              <a:t>can </a:t>
            </a:r>
            <a:r>
              <a:rPr lang="en-GB" dirty="0"/>
              <a:t>damage multiple </a:t>
            </a:r>
            <a:r>
              <a:rPr lang="en-GB" dirty="0" smtClean="0"/>
              <a:t>systems.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484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771728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GB" b="1" dirty="0"/>
              <a:t>Safeguards against System Failure</a:t>
            </a:r>
          </a:p>
          <a:p>
            <a:r>
              <a:rPr lang="en-GB" dirty="0"/>
              <a:t>To protect against electrical power </a:t>
            </a:r>
            <a:r>
              <a:rPr lang="en-GB" dirty="0" smtClean="0"/>
              <a:t>variations, </a:t>
            </a:r>
            <a:r>
              <a:rPr lang="pt-BR" dirty="0" smtClean="0"/>
              <a:t>use </a:t>
            </a:r>
            <a:r>
              <a:rPr lang="pt-BR" dirty="0"/>
              <a:t>a surge protector. </a:t>
            </a:r>
            <a:endParaRPr lang="pt-BR" dirty="0" smtClean="0"/>
          </a:p>
          <a:p>
            <a:pPr lvl="1"/>
            <a:r>
              <a:rPr lang="pt-BR" dirty="0" smtClean="0"/>
              <a:t>A </a:t>
            </a:r>
            <a:r>
              <a:rPr lang="pt-BR" b="1" dirty="0"/>
              <a:t>surge protector</a:t>
            </a:r>
            <a:r>
              <a:rPr lang="pt-BR" dirty="0"/>
              <a:t>, </a:t>
            </a:r>
            <a:r>
              <a:rPr lang="pt-BR" dirty="0" smtClean="0"/>
              <a:t>also </a:t>
            </a:r>
            <a:r>
              <a:rPr lang="en-GB" dirty="0" smtClean="0"/>
              <a:t>called </a:t>
            </a:r>
            <a:r>
              <a:rPr lang="en-GB" dirty="0"/>
              <a:t>a </a:t>
            </a:r>
            <a:r>
              <a:rPr lang="en-GB" i="1" dirty="0"/>
              <a:t>surge suppressor</a:t>
            </a:r>
            <a:r>
              <a:rPr lang="en-GB" dirty="0"/>
              <a:t>, uses special </a:t>
            </a:r>
            <a:r>
              <a:rPr lang="en-GB" dirty="0" smtClean="0"/>
              <a:t>electrical components </a:t>
            </a:r>
            <a:r>
              <a:rPr lang="en-GB" dirty="0"/>
              <a:t>to smooth out minor </a:t>
            </a:r>
            <a:r>
              <a:rPr lang="en-GB" dirty="0" smtClean="0"/>
              <a:t>noise, provide </a:t>
            </a:r>
            <a:r>
              <a:rPr lang="en-GB" dirty="0"/>
              <a:t>a stable current flow, and keep </a:t>
            </a:r>
            <a:r>
              <a:rPr lang="en-GB" dirty="0" smtClean="0"/>
              <a:t>an overvoltage </a:t>
            </a:r>
            <a:r>
              <a:rPr lang="en-GB" dirty="0"/>
              <a:t>from reaching the computer </a:t>
            </a:r>
            <a:r>
              <a:rPr lang="en-GB" dirty="0" smtClean="0"/>
              <a:t>and other </a:t>
            </a:r>
            <a:r>
              <a:rPr lang="en-GB" dirty="0"/>
              <a:t>electronic </a:t>
            </a:r>
            <a:r>
              <a:rPr lang="en-GB" dirty="0" smtClean="0"/>
              <a:t>equipment.</a:t>
            </a:r>
          </a:p>
          <a:p>
            <a:r>
              <a:rPr lang="en-GB" dirty="0"/>
              <a:t>For additional electrical protection, </a:t>
            </a:r>
            <a:r>
              <a:rPr lang="en-GB" dirty="0" smtClean="0"/>
              <a:t>some users </a:t>
            </a:r>
            <a:r>
              <a:rPr lang="en-GB" dirty="0"/>
              <a:t>connect an </a:t>
            </a:r>
            <a:r>
              <a:rPr lang="en-GB" dirty="0" smtClean="0"/>
              <a:t>Uninterruptible </a:t>
            </a:r>
            <a:r>
              <a:rPr lang="en-GB" dirty="0"/>
              <a:t>P</a:t>
            </a:r>
            <a:r>
              <a:rPr lang="en-GB" dirty="0" smtClean="0"/>
              <a:t>ower </a:t>
            </a:r>
            <a:r>
              <a:rPr lang="en-GB" dirty="0"/>
              <a:t>S</a:t>
            </a:r>
            <a:r>
              <a:rPr lang="en-GB" dirty="0" smtClean="0"/>
              <a:t>upply to </a:t>
            </a:r>
            <a:r>
              <a:rPr lang="en-GB" dirty="0"/>
              <a:t>the computer. </a:t>
            </a:r>
            <a:endParaRPr lang="en-GB" dirty="0" smtClean="0"/>
          </a:p>
          <a:p>
            <a:pPr lvl="1"/>
            <a:r>
              <a:rPr lang="en-GB" dirty="0" smtClean="0"/>
              <a:t>An </a:t>
            </a:r>
            <a:r>
              <a:rPr lang="en-GB" b="1" dirty="0"/>
              <a:t>uninterruptible </a:t>
            </a:r>
            <a:r>
              <a:rPr lang="en-GB" b="1" dirty="0" smtClean="0"/>
              <a:t>power supply </a:t>
            </a:r>
            <a:r>
              <a:rPr lang="en-GB" dirty="0"/>
              <a:t>(</a:t>
            </a:r>
            <a:r>
              <a:rPr lang="en-GB" b="1" dirty="0"/>
              <a:t>UPS</a:t>
            </a:r>
            <a:r>
              <a:rPr lang="en-GB" dirty="0"/>
              <a:t>) is a device that contains </a:t>
            </a:r>
            <a:r>
              <a:rPr lang="en-GB" dirty="0" smtClean="0"/>
              <a:t>surge protection </a:t>
            </a:r>
            <a:r>
              <a:rPr lang="en-GB" dirty="0"/>
              <a:t>circuits and one or more </a:t>
            </a:r>
            <a:r>
              <a:rPr lang="en-GB" dirty="0" smtClean="0"/>
              <a:t>batteries that </a:t>
            </a:r>
            <a:r>
              <a:rPr lang="en-GB" dirty="0"/>
              <a:t>can provide power during a </a:t>
            </a:r>
            <a:r>
              <a:rPr lang="en-GB" dirty="0" smtClean="0"/>
              <a:t>temporary or </a:t>
            </a:r>
            <a:r>
              <a:rPr lang="en-GB" dirty="0"/>
              <a:t>permanent loss of </a:t>
            </a:r>
            <a:r>
              <a:rPr lang="en-GB" dirty="0" smtClean="0"/>
              <a:t>power. </a:t>
            </a:r>
          </a:p>
          <a:p>
            <a:r>
              <a:rPr lang="en-GB" dirty="0" smtClean="0"/>
              <a:t>A</a:t>
            </a:r>
            <a:r>
              <a:rPr lang="en-GB" dirty="0"/>
              <a:t> </a:t>
            </a:r>
            <a:r>
              <a:rPr lang="en-GB" dirty="0" smtClean="0"/>
              <a:t>UPS </a:t>
            </a:r>
            <a:r>
              <a:rPr lang="en-GB" dirty="0"/>
              <a:t>connects between your computer and </a:t>
            </a:r>
            <a:r>
              <a:rPr lang="en-GB" dirty="0" smtClean="0"/>
              <a:t>a power </a:t>
            </a:r>
            <a:r>
              <a:rPr lang="en-GB" dirty="0"/>
              <a:t>source.</a:t>
            </a:r>
          </a:p>
        </p:txBody>
      </p:sp>
    </p:spTree>
    <p:extLst>
      <p:ext uri="{BB962C8B-B14F-4D97-AF65-F5344CB8AC3E}">
        <p14:creationId xmlns:p14="http://schemas.microsoft.com/office/powerpoint/2010/main" val="392975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20688"/>
            <a:ext cx="7498080" cy="5544616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Some companies use duplicate components </a:t>
            </a:r>
            <a:r>
              <a:rPr lang="en-GB" dirty="0" smtClean="0"/>
              <a:t>or computers </a:t>
            </a:r>
            <a:r>
              <a:rPr lang="en-GB" dirty="0"/>
              <a:t>to protect against system failure. </a:t>
            </a:r>
            <a:endParaRPr lang="en-GB" dirty="0" smtClean="0"/>
          </a:p>
          <a:p>
            <a:r>
              <a:rPr lang="en-GB" dirty="0" smtClean="0"/>
              <a:t>A</a:t>
            </a:r>
            <a:r>
              <a:rPr lang="en-GB" dirty="0"/>
              <a:t> </a:t>
            </a:r>
            <a:r>
              <a:rPr lang="en-GB" i="1" dirty="0" smtClean="0"/>
              <a:t>fault-tolerant </a:t>
            </a:r>
            <a:r>
              <a:rPr lang="en-GB" i="1" dirty="0"/>
              <a:t>computer </a:t>
            </a:r>
            <a:r>
              <a:rPr lang="en-GB" dirty="0"/>
              <a:t>has duplicate </a:t>
            </a:r>
            <a:r>
              <a:rPr lang="en-GB" dirty="0" smtClean="0"/>
              <a:t>components so </a:t>
            </a:r>
            <a:r>
              <a:rPr lang="en-GB" dirty="0"/>
              <a:t>that it can continue to operate when one </a:t>
            </a:r>
            <a:r>
              <a:rPr lang="en-GB" dirty="0" smtClean="0"/>
              <a:t>of its </a:t>
            </a:r>
            <a:r>
              <a:rPr lang="en-GB" dirty="0"/>
              <a:t>main components fail. </a:t>
            </a:r>
            <a:endParaRPr lang="en-GB" dirty="0" smtClean="0"/>
          </a:p>
          <a:p>
            <a:r>
              <a:rPr lang="en-GB" dirty="0" smtClean="0"/>
              <a:t>Companies </a:t>
            </a:r>
            <a:r>
              <a:rPr lang="en-GB" dirty="0"/>
              <a:t>that </a:t>
            </a:r>
            <a:r>
              <a:rPr lang="en-GB" dirty="0" smtClean="0"/>
              <a:t>must have </a:t>
            </a:r>
            <a:r>
              <a:rPr lang="en-GB" dirty="0"/>
              <a:t>their computers operational at all </a:t>
            </a:r>
            <a:r>
              <a:rPr lang="en-GB" dirty="0" smtClean="0"/>
              <a:t>times may </a:t>
            </a:r>
            <a:r>
              <a:rPr lang="en-GB" dirty="0"/>
              <a:t>have two separate duplicate computers </a:t>
            </a:r>
            <a:r>
              <a:rPr lang="en-GB" dirty="0" smtClean="0"/>
              <a:t>running simultaneously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Airline </a:t>
            </a:r>
            <a:r>
              <a:rPr lang="en-GB" dirty="0"/>
              <a:t>reservation </a:t>
            </a:r>
            <a:r>
              <a:rPr lang="en-GB" dirty="0" smtClean="0"/>
              <a:t>systems, communications </a:t>
            </a:r>
            <a:r>
              <a:rPr lang="en-GB" dirty="0"/>
              <a:t>networks, and automated </a:t>
            </a:r>
            <a:r>
              <a:rPr lang="en-GB" dirty="0" smtClean="0"/>
              <a:t>teller machines </a:t>
            </a:r>
            <a:r>
              <a:rPr lang="en-GB" dirty="0"/>
              <a:t>are examples of systems that </a:t>
            </a:r>
            <a:r>
              <a:rPr lang="en-GB" dirty="0" smtClean="0"/>
              <a:t>duplicate components </a:t>
            </a:r>
            <a:r>
              <a:rPr lang="en-GB" dirty="0"/>
              <a:t>or computers to ensure that </a:t>
            </a:r>
            <a:r>
              <a:rPr lang="en-GB" dirty="0" smtClean="0"/>
              <a:t>no data </a:t>
            </a:r>
            <a:r>
              <a:rPr lang="en-GB" dirty="0"/>
              <a:t>is lost in the event of a system failure.</a:t>
            </a:r>
          </a:p>
        </p:txBody>
      </p:sp>
    </p:spTree>
    <p:extLst>
      <p:ext uri="{BB962C8B-B14F-4D97-AF65-F5344CB8AC3E}">
        <p14:creationId xmlns:p14="http://schemas.microsoft.com/office/powerpoint/2010/main" val="413091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GB" b="1" dirty="0"/>
              <a:t>Backing Up — The </a:t>
            </a:r>
            <a:r>
              <a:rPr lang="en-GB" b="1" dirty="0" smtClean="0"/>
              <a:t>Ultimate Safeguard</a:t>
            </a:r>
            <a:endParaRPr lang="en-GB" b="1" dirty="0"/>
          </a:p>
          <a:p>
            <a:r>
              <a:rPr lang="en-GB" dirty="0"/>
              <a:t>To protect against data loss caused by </a:t>
            </a:r>
            <a:r>
              <a:rPr lang="en-GB" dirty="0" smtClean="0"/>
              <a:t>system failure or hardware/software/information theft, computer </a:t>
            </a:r>
            <a:r>
              <a:rPr lang="en-GB" dirty="0"/>
              <a:t>users should back up files regularly.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backup </a:t>
            </a:r>
            <a:r>
              <a:rPr lang="en-GB" dirty="0"/>
              <a:t>is a duplicate of a file, program, </a:t>
            </a:r>
            <a:r>
              <a:rPr lang="en-GB" dirty="0" smtClean="0"/>
              <a:t>or disk </a:t>
            </a:r>
            <a:r>
              <a:rPr lang="en-GB" dirty="0"/>
              <a:t>that can be used if the original is </a:t>
            </a:r>
            <a:r>
              <a:rPr lang="en-GB" dirty="0" smtClean="0"/>
              <a:t>lost, damaged</a:t>
            </a:r>
            <a:r>
              <a:rPr lang="en-GB" dirty="0"/>
              <a:t>, or destroyed. </a:t>
            </a:r>
            <a:endParaRPr lang="en-GB" dirty="0" smtClean="0"/>
          </a:p>
          <a:p>
            <a:r>
              <a:rPr lang="en-GB" dirty="0" smtClean="0"/>
              <a:t>To </a:t>
            </a:r>
            <a:r>
              <a:rPr lang="en-GB" b="1" dirty="0"/>
              <a:t>back up </a:t>
            </a:r>
            <a:r>
              <a:rPr lang="en-GB" dirty="0"/>
              <a:t>a </a:t>
            </a:r>
            <a:r>
              <a:rPr lang="en-GB" dirty="0" smtClean="0"/>
              <a:t>file means </a:t>
            </a:r>
            <a:r>
              <a:rPr lang="en-GB" dirty="0"/>
              <a:t>to make a copy of it. </a:t>
            </a:r>
            <a:endParaRPr lang="en-GB" dirty="0" smtClean="0"/>
          </a:p>
          <a:p>
            <a:r>
              <a:rPr lang="en-GB" dirty="0" smtClean="0"/>
              <a:t>In case </a:t>
            </a:r>
            <a:r>
              <a:rPr lang="en-GB" dirty="0"/>
              <a:t>of </a:t>
            </a:r>
            <a:r>
              <a:rPr lang="en-GB" dirty="0" smtClean="0"/>
              <a:t>system </a:t>
            </a:r>
            <a:r>
              <a:rPr lang="en-GB" dirty="0"/>
              <a:t>failure or </a:t>
            </a:r>
            <a:r>
              <a:rPr lang="en-GB" dirty="0" smtClean="0"/>
              <a:t>discovery </a:t>
            </a:r>
            <a:r>
              <a:rPr lang="en-GB" dirty="0"/>
              <a:t>of corrupted files, </a:t>
            </a:r>
            <a:r>
              <a:rPr lang="en-GB" dirty="0" smtClean="0"/>
              <a:t>you </a:t>
            </a:r>
            <a:r>
              <a:rPr lang="en-GB" b="1" dirty="0" smtClean="0"/>
              <a:t>restore </a:t>
            </a:r>
            <a:r>
              <a:rPr lang="en-GB" dirty="0"/>
              <a:t>the files by copying the backed up </a:t>
            </a:r>
            <a:r>
              <a:rPr lang="en-GB" dirty="0" smtClean="0"/>
              <a:t>files to </a:t>
            </a:r>
            <a:r>
              <a:rPr lang="en-GB" dirty="0"/>
              <a:t>their original location on the </a:t>
            </a:r>
            <a:r>
              <a:rPr lang="en-GB" dirty="0" smtClean="0"/>
              <a:t>computer</a:t>
            </a:r>
          </a:p>
          <a:p>
            <a:r>
              <a:rPr lang="en-GB" dirty="0"/>
              <a:t>Keep backup copies in a fireproof and </a:t>
            </a:r>
            <a:r>
              <a:rPr lang="en-GB" dirty="0" smtClean="0"/>
              <a:t>heatproof safe </a:t>
            </a:r>
            <a:r>
              <a:rPr lang="en-GB" dirty="0"/>
              <a:t>or vault, or offsite. </a:t>
            </a:r>
            <a:endParaRPr lang="en-GB" dirty="0" smtClean="0"/>
          </a:p>
          <a:p>
            <a:pPr lvl="1"/>
            <a:r>
              <a:rPr lang="en-GB" i="1" dirty="0" smtClean="0"/>
              <a:t>Offsite </a:t>
            </a:r>
            <a:r>
              <a:rPr lang="en-GB" dirty="0"/>
              <a:t>means </a:t>
            </a:r>
            <a:r>
              <a:rPr lang="en-GB" dirty="0" smtClean="0"/>
              <a:t>in a </a:t>
            </a:r>
            <a:r>
              <a:rPr lang="en-GB" dirty="0"/>
              <a:t>location separate from the computer site</a:t>
            </a:r>
            <a:r>
              <a:rPr lang="en-GB" dirty="0" smtClean="0"/>
              <a:t>.</a:t>
            </a:r>
          </a:p>
          <a:p>
            <a:r>
              <a:rPr lang="en-GB" dirty="0"/>
              <a:t>A growing trend is to use cloud storage as </a:t>
            </a:r>
            <a:r>
              <a:rPr lang="en-GB" dirty="0" smtClean="0"/>
              <a:t>an offsite </a:t>
            </a:r>
            <a:r>
              <a:rPr lang="en-GB" dirty="0"/>
              <a:t>location. </a:t>
            </a:r>
            <a:endParaRPr lang="en-GB" dirty="0" smtClean="0"/>
          </a:p>
          <a:p>
            <a:pPr lvl="1"/>
            <a:r>
              <a:rPr lang="en-GB" dirty="0" smtClean="0"/>
              <a:t>Cloud storage </a:t>
            </a:r>
            <a:r>
              <a:rPr lang="en-GB" dirty="0"/>
              <a:t>is an Internet service that provides </a:t>
            </a:r>
            <a:r>
              <a:rPr lang="en-GB" dirty="0" smtClean="0"/>
              <a:t>storage to </a:t>
            </a:r>
            <a:r>
              <a:rPr lang="en-GB" dirty="0"/>
              <a:t>computer users</a:t>
            </a:r>
            <a:r>
              <a:rPr lang="en-GB" dirty="0" smtClean="0"/>
              <a:t>. (Online storage)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515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Ethics and Society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</a:t>
            </a:r>
            <a:r>
              <a:rPr lang="en-GB" dirty="0" smtClean="0"/>
              <a:t>omputers can be </a:t>
            </a:r>
            <a:r>
              <a:rPr lang="en-GB" dirty="0"/>
              <a:t>used for both good and bad </a:t>
            </a:r>
            <a:r>
              <a:rPr lang="en-GB" dirty="0" smtClean="0"/>
              <a:t>intentions.</a:t>
            </a:r>
          </a:p>
          <a:p>
            <a:r>
              <a:rPr lang="en-GB" dirty="0" smtClean="0"/>
              <a:t>The standards </a:t>
            </a:r>
            <a:r>
              <a:rPr lang="en-GB" dirty="0"/>
              <a:t>that determine whether an action </a:t>
            </a:r>
            <a:r>
              <a:rPr lang="en-GB" dirty="0" smtClean="0"/>
              <a:t>is good </a:t>
            </a:r>
            <a:r>
              <a:rPr lang="en-GB" dirty="0"/>
              <a:t>or bad are known as ethics.</a:t>
            </a:r>
          </a:p>
          <a:p>
            <a:r>
              <a:rPr lang="en-GB" b="1" dirty="0"/>
              <a:t>Computer ethics </a:t>
            </a:r>
            <a:r>
              <a:rPr lang="en-GB" dirty="0"/>
              <a:t>are </a:t>
            </a:r>
            <a:r>
              <a:rPr lang="en-GB" dirty="0" smtClean="0"/>
              <a:t>moral </a:t>
            </a:r>
            <a:r>
              <a:rPr lang="en-GB" dirty="0"/>
              <a:t>guidelines </a:t>
            </a:r>
            <a:r>
              <a:rPr lang="en-GB" dirty="0" smtClean="0"/>
              <a:t>that govern </a:t>
            </a:r>
            <a:r>
              <a:rPr lang="en-GB" dirty="0"/>
              <a:t>the use of computers and </a:t>
            </a:r>
            <a:r>
              <a:rPr lang="en-GB" dirty="0" smtClean="0"/>
              <a:t>information systems</a:t>
            </a:r>
            <a:r>
              <a:rPr lang="en-GB" dirty="0"/>
              <a:t>. 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94676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20688"/>
            <a:ext cx="7498080" cy="5627712"/>
          </a:xfrm>
        </p:spPr>
        <p:txBody>
          <a:bodyPr/>
          <a:lstStyle/>
          <a:p>
            <a:r>
              <a:rPr lang="en-GB" dirty="0"/>
              <a:t>Seven areas of computer ethics are: </a:t>
            </a:r>
            <a:endParaRPr lang="en-GB" dirty="0" smtClean="0"/>
          </a:p>
          <a:p>
            <a:pPr lvl="1"/>
            <a:r>
              <a:rPr lang="en-GB" dirty="0" smtClean="0"/>
              <a:t>unauthorized </a:t>
            </a:r>
            <a:r>
              <a:rPr lang="en-GB" dirty="0"/>
              <a:t>use of computers and networks, </a:t>
            </a:r>
            <a:endParaRPr lang="en-GB" dirty="0" smtClean="0"/>
          </a:p>
          <a:p>
            <a:pPr lvl="1"/>
            <a:r>
              <a:rPr lang="en-GB" dirty="0" smtClean="0"/>
              <a:t>software </a:t>
            </a:r>
            <a:r>
              <a:rPr lang="en-GB" dirty="0"/>
              <a:t>theft (piracy), </a:t>
            </a:r>
            <a:endParaRPr lang="en-GB" dirty="0" smtClean="0"/>
          </a:p>
          <a:p>
            <a:pPr lvl="1"/>
            <a:r>
              <a:rPr lang="en-GB" dirty="0" smtClean="0"/>
              <a:t>information </a:t>
            </a:r>
            <a:r>
              <a:rPr lang="en-GB" dirty="0"/>
              <a:t>accuracy, </a:t>
            </a:r>
            <a:endParaRPr lang="en-GB" dirty="0" smtClean="0"/>
          </a:p>
          <a:p>
            <a:pPr lvl="1"/>
            <a:r>
              <a:rPr lang="en-GB" dirty="0" smtClean="0"/>
              <a:t>intellectual </a:t>
            </a:r>
            <a:r>
              <a:rPr lang="en-GB" dirty="0"/>
              <a:t>property rights, </a:t>
            </a:r>
            <a:endParaRPr lang="en-GB" dirty="0" smtClean="0"/>
          </a:p>
          <a:p>
            <a:pPr lvl="1"/>
            <a:r>
              <a:rPr lang="en-GB" dirty="0" smtClean="0"/>
              <a:t>codes </a:t>
            </a:r>
            <a:r>
              <a:rPr lang="en-GB" dirty="0"/>
              <a:t>of conduct, </a:t>
            </a:r>
            <a:endParaRPr lang="en-GB" dirty="0" smtClean="0"/>
          </a:p>
          <a:p>
            <a:pPr lvl="1"/>
            <a:r>
              <a:rPr lang="en-GB" dirty="0" smtClean="0"/>
              <a:t>information </a:t>
            </a:r>
            <a:r>
              <a:rPr lang="en-GB" dirty="0"/>
              <a:t>privacy, and </a:t>
            </a:r>
            <a:endParaRPr lang="en-GB" dirty="0" smtClean="0"/>
          </a:p>
          <a:p>
            <a:pPr lvl="1"/>
            <a:r>
              <a:rPr lang="en-GB" dirty="0" smtClean="0"/>
              <a:t>green </a:t>
            </a:r>
            <a:r>
              <a:rPr lang="en-GB" dirty="0"/>
              <a:t>computing.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11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b="1" dirty="0"/>
              <a:t>Information Accuracy</a:t>
            </a:r>
          </a:p>
          <a:p>
            <a:r>
              <a:rPr lang="en-US" dirty="0"/>
              <a:t>Information accuracy </a:t>
            </a:r>
            <a:r>
              <a:rPr lang="en-US" dirty="0" smtClean="0"/>
              <a:t>is </a:t>
            </a:r>
            <a:r>
              <a:rPr lang="en-US" dirty="0"/>
              <a:t>a </a:t>
            </a:r>
            <a:r>
              <a:rPr lang="en-US" dirty="0" smtClean="0"/>
              <a:t>concern because </a:t>
            </a:r>
            <a:r>
              <a:rPr lang="en-US" dirty="0"/>
              <a:t>many users access information </a:t>
            </a:r>
            <a:r>
              <a:rPr lang="en-US" dirty="0" smtClean="0"/>
              <a:t>maintained by </a:t>
            </a:r>
            <a:r>
              <a:rPr lang="en-US" dirty="0"/>
              <a:t>other people or </a:t>
            </a:r>
            <a:r>
              <a:rPr lang="en-US" dirty="0" smtClean="0"/>
              <a:t>companies such </a:t>
            </a:r>
            <a:r>
              <a:rPr lang="en-US" dirty="0"/>
              <a:t>as </a:t>
            </a:r>
            <a:r>
              <a:rPr lang="en-US" dirty="0" smtClean="0"/>
              <a:t>on the </a:t>
            </a:r>
            <a:r>
              <a:rPr lang="en-US" dirty="0"/>
              <a:t>Internet. </a:t>
            </a:r>
            <a:endParaRPr lang="en-US" dirty="0" smtClean="0"/>
          </a:p>
          <a:p>
            <a:r>
              <a:rPr lang="en-US" dirty="0" smtClean="0"/>
              <a:t>Do </a:t>
            </a:r>
            <a:r>
              <a:rPr lang="en-US" dirty="0"/>
              <a:t>not assume that because </a:t>
            </a:r>
            <a:r>
              <a:rPr lang="en-US" dirty="0" smtClean="0"/>
              <a:t>information </a:t>
            </a:r>
            <a:r>
              <a:rPr lang="en-US" dirty="0"/>
              <a:t>is on the Web that it is correct. </a:t>
            </a:r>
            <a:endParaRPr lang="en-US" dirty="0" smtClean="0"/>
          </a:p>
          <a:p>
            <a:r>
              <a:rPr lang="en-US" dirty="0"/>
              <a:t>U</a:t>
            </a:r>
            <a:r>
              <a:rPr lang="en-US" dirty="0" smtClean="0"/>
              <a:t>sers </a:t>
            </a:r>
            <a:r>
              <a:rPr lang="en-US" dirty="0"/>
              <a:t>should evaluate </a:t>
            </a:r>
            <a:r>
              <a:rPr lang="en-US" dirty="0" smtClean="0"/>
              <a:t>the value </a:t>
            </a:r>
            <a:r>
              <a:rPr lang="en-US" dirty="0"/>
              <a:t>of a Web page before relying on its content.</a:t>
            </a:r>
          </a:p>
          <a:p>
            <a:r>
              <a:rPr lang="en-US" dirty="0"/>
              <a:t>Be aware that the organization </a:t>
            </a:r>
            <a:r>
              <a:rPr lang="en-US" dirty="0" smtClean="0"/>
              <a:t>providing access </a:t>
            </a:r>
            <a:r>
              <a:rPr lang="en-US" dirty="0"/>
              <a:t>to the information may not be </a:t>
            </a:r>
            <a:r>
              <a:rPr lang="en-US" dirty="0" smtClean="0"/>
              <a:t>the creator </a:t>
            </a:r>
            <a:r>
              <a:rPr lang="en-US" dirty="0"/>
              <a:t>of the information</a:t>
            </a:r>
            <a:r>
              <a:rPr lang="en-US" dirty="0" smtClean="0"/>
              <a:t>.</a:t>
            </a:r>
          </a:p>
          <a:p>
            <a:r>
              <a:rPr lang="en-US" dirty="0"/>
              <a:t>Information accuracy is a concern</a:t>
            </a:r>
          </a:p>
          <a:p>
            <a:pPr lvl="1"/>
            <a:r>
              <a:rPr lang="en-US" dirty="0"/>
              <a:t>Not all information on the Web is correct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285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20688"/>
            <a:ext cx="7498080" cy="5627712"/>
          </a:xfrm>
        </p:spPr>
        <p:txBody>
          <a:bodyPr>
            <a:normAutofit fontScale="92500" lnSpcReduction="20000"/>
          </a:bodyPr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dirty="0" smtClean="0"/>
              <a:t>Information accuracy is also concerned about </a:t>
            </a:r>
            <a:r>
              <a:rPr lang="en-US" dirty="0"/>
              <a:t>the ethics of using computers to alter output, </a:t>
            </a:r>
            <a:r>
              <a:rPr lang="en-US" dirty="0" smtClean="0"/>
              <a:t>mainly </a:t>
            </a:r>
            <a:r>
              <a:rPr lang="en-US" dirty="0"/>
              <a:t>graphical output such as a retouched photo</a:t>
            </a:r>
            <a:r>
              <a:rPr lang="en-US" dirty="0" smtClean="0"/>
              <a:t>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dirty="0"/>
              <a:t>Using graphics equipment and software, users </a:t>
            </a:r>
            <a:r>
              <a:rPr lang="en-US" dirty="0" smtClean="0"/>
              <a:t>can easily digitize </a:t>
            </a:r>
            <a:r>
              <a:rPr lang="en-US" dirty="0"/>
              <a:t>photos and then add, change, or remove </a:t>
            </a:r>
            <a:r>
              <a:rPr lang="en-US" dirty="0" smtClean="0"/>
              <a:t>images.</a:t>
            </a:r>
            <a:endParaRPr lang="en-US" dirty="0"/>
          </a:p>
          <a:p>
            <a:r>
              <a:rPr lang="en-US" dirty="0"/>
              <a:t>One group that completely opposes </a:t>
            </a:r>
            <a:r>
              <a:rPr lang="en-US" dirty="0" smtClean="0"/>
              <a:t>any manipulation </a:t>
            </a:r>
            <a:r>
              <a:rPr lang="en-US" dirty="0"/>
              <a:t>of an image is the National </a:t>
            </a:r>
            <a:r>
              <a:rPr lang="en-US" dirty="0" smtClean="0"/>
              <a:t>Press Photographers </a:t>
            </a:r>
            <a:r>
              <a:rPr lang="en-US" dirty="0"/>
              <a:t>Association. 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believes </a:t>
            </a:r>
            <a:r>
              <a:rPr lang="en-US" dirty="0" smtClean="0"/>
              <a:t>that allowing </a:t>
            </a:r>
            <a:r>
              <a:rPr lang="en-US" dirty="0"/>
              <a:t>even the slightest alteration </a:t>
            </a:r>
            <a:r>
              <a:rPr lang="en-US" dirty="0" smtClean="0"/>
              <a:t>eventually could </a:t>
            </a:r>
            <a:r>
              <a:rPr lang="en-US" dirty="0"/>
              <a:t>lead to misrepresentative </a:t>
            </a:r>
            <a:r>
              <a:rPr lang="en-US" dirty="0" smtClean="0"/>
              <a:t>photos.</a:t>
            </a:r>
          </a:p>
          <a:p>
            <a:pPr lvl="1"/>
            <a:r>
              <a:rPr lang="en-US" dirty="0" smtClean="0"/>
              <a:t>Others</a:t>
            </a:r>
            <a:r>
              <a:rPr lang="en-US" dirty="0"/>
              <a:t> </a:t>
            </a:r>
            <a:r>
              <a:rPr lang="en-US" dirty="0" smtClean="0"/>
              <a:t>believe </a:t>
            </a:r>
            <a:r>
              <a:rPr lang="en-US" dirty="0"/>
              <a:t>that digital photo retouching is </a:t>
            </a:r>
            <a:r>
              <a:rPr lang="en-US" dirty="0" smtClean="0"/>
              <a:t>acceptable as </a:t>
            </a:r>
            <a:r>
              <a:rPr lang="en-US" dirty="0"/>
              <a:t>long as the significant content or meaning </a:t>
            </a:r>
            <a:r>
              <a:rPr lang="en-US" dirty="0" smtClean="0"/>
              <a:t>of the </a:t>
            </a:r>
            <a:r>
              <a:rPr lang="en-US" dirty="0"/>
              <a:t>photo does not change. 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dirty="0"/>
              <a:t>Digital retouching </a:t>
            </a:r>
            <a:r>
              <a:rPr lang="en-US" dirty="0" smtClean="0"/>
              <a:t>is an </a:t>
            </a:r>
            <a:r>
              <a:rPr lang="en-US" dirty="0"/>
              <a:t>area in which legal precedents so far have </a:t>
            </a:r>
            <a:r>
              <a:rPr lang="en-US" dirty="0" smtClean="0"/>
              <a:t>not been </a:t>
            </a:r>
            <a:r>
              <a:rPr lang="en-US" dirty="0"/>
              <a:t>established.</a:t>
            </a:r>
          </a:p>
        </p:txBody>
      </p:sp>
    </p:spTree>
    <p:extLst>
      <p:ext uri="{BB962C8B-B14F-4D97-AF65-F5344CB8AC3E}">
        <p14:creationId xmlns:p14="http://schemas.microsoft.com/office/powerpoint/2010/main" val="752402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Intellectual Property Rights</a:t>
            </a:r>
          </a:p>
          <a:p>
            <a:r>
              <a:rPr lang="en-US" i="1" dirty="0"/>
              <a:t>Intellectual property </a:t>
            </a:r>
            <a:r>
              <a:rPr lang="en-US" dirty="0"/>
              <a:t>(</a:t>
            </a:r>
            <a:r>
              <a:rPr lang="en-US" i="1" dirty="0"/>
              <a:t>IP) </a:t>
            </a:r>
            <a:r>
              <a:rPr lang="en-US" dirty="0"/>
              <a:t>refers to </a:t>
            </a:r>
            <a:r>
              <a:rPr lang="en-US" dirty="0" smtClean="0"/>
              <a:t>unique and </a:t>
            </a:r>
            <a:r>
              <a:rPr lang="en-US" dirty="0"/>
              <a:t>original works such as ideas, </a:t>
            </a:r>
            <a:r>
              <a:rPr lang="en-US" dirty="0" smtClean="0"/>
              <a:t>inventions, art</a:t>
            </a:r>
            <a:r>
              <a:rPr lang="en-US" dirty="0"/>
              <a:t>, writings, processes, company and </a:t>
            </a:r>
            <a:r>
              <a:rPr lang="en-US" dirty="0" smtClean="0"/>
              <a:t>product names</a:t>
            </a:r>
            <a:r>
              <a:rPr lang="en-US" dirty="0"/>
              <a:t>, and logos. </a:t>
            </a:r>
            <a:endParaRPr lang="en-US" dirty="0" smtClean="0"/>
          </a:p>
          <a:p>
            <a:r>
              <a:rPr lang="en-US" b="1" dirty="0" smtClean="0"/>
              <a:t>Intellectual </a:t>
            </a:r>
            <a:r>
              <a:rPr lang="en-US" b="1" dirty="0"/>
              <a:t>property </a:t>
            </a:r>
            <a:r>
              <a:rPr lang="en-US" b="1" dirty="0" smtClean="0"/>
              <a:t>rights </a:t>
            </a:r>
            <a:r>
              <a:rPr lang="en-US" dirty="0" smtClean="0"/>
              <a:t>are </a:t>
            </a:r>
            <a:r>
              <a:rPr lang="en-US" dirty="0"/>
              <a:t>the rights to which creators are entitled </a:t>
            </a:r>
            <a:r>
              <a:rPr lang="en-US" dirty="0" smtClean="0"/>
              <a:t>for their work.</a:t>
            </a:r>
          </a:p>
          <a:p>
            <a:r>
              <a:rPr lang="en-US" dirty="0" smtClean="0"/>
              <a:t>A </a:t>
            </a:r>
            <a:r>
              <a:rPr lang="en-US" b="1" dirty="0"/>
              <a:t>copyright </a:t>
            </a:r>
            <a:r>
              <a:rPr lang="en-US" dirty="0"/>
              <a:t>gives authors and artists </a:t>
            </a:r>
            <a:r>
              <a:rPr lang="en-US" dirty="0" smtClean="0"/>
              <a:t>exclusive rights </a:t>
            </a:r>
            <a:r>
              <a:rPr lang="en-US" dirty="0"/>
              <a:t>to duplicate, publish, and sell their materials.</a:t>
            </a:r>
          </a:p>
          <a:p>
            <a:r>
              <a:rPr lang="en-US" dirty="0"/>
              <a:t>A copyright protects any tangible form </a:t>
            </a:r>
            <a:r>
              <a:rPr lang="en-US" dirty="0" smtClean="0"/>
              <a:t>of expression.</a:t>
            </a:r>
          </a:p>
          <a:p>
            <a:r>
              <a:rPr lang="en-US" dirty="0"/>
              <a:t>A common infringement of copyright </a:t>
            </a:r>
            <a:r>
              <a:rPr lang="en-US" dirty="0" smtClean="0"/>
              <a:t>is piracy.</a:t>
            </a:r>
          </a:p>
          <a:p>
            <a:r>
              <a:rPr lang="en-US" dirty="0" smtClean="0"/>
              <a:t>People </a:t>
            </a:r>
            <a:r>
              <a:rPr lang="en-US" dirty="0"/>
              <a:t>pirate (illegally copy) </a:t>
            </a:r>
            <a:r>
              <a:rPr lang="en-US" dirty="0" smtClean="0"/>
              <a:t>software, movies</a:t>
            </a:r>
            <a:r>
              <a:rPr lang="en-US" dirty="0"/>
              <a:t>, and music.</a:t>
            </a:r>
          </a:p>
        </p:txBody>
      </p:sp>
    </p:spTree>
    <p:extLst>
      <p:ext uri="{BB962C8B-B14F-4D97-AF65-F5344CB8AC3E}">
        <p14:creationId xmlns:p14="http://schemas.microsoft.com/office/powerpoint/2010/main" val="3710070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20688"/>
            <a:ext cx="7498080" cy="5627712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/>
              <a:t>Codes of Conduct</a:t>
            </a:r>
          </a:p>
          <a:p>
            <a:r>
              <a:rPr lang="en-US" dirty="0"/>
              <a:t>Recognizing that individuals need </a:t>
            </a:r>
            <a:r>
              <a:rPr lang="en-US" dirty="0" smtClean="0"/>
              <a:t>specific standards </a:t>
            </a:r>
            <a:r>
              <a:rPr lang="en-US" dirty="0"/>
              <a:t>for </a:t>
            </a:r>
            <a:r>
              <a:rPr lang="en-US" dirty="0" smtClean="0"/>
              <a:t>ethical </a:t>
            </a:r>
            <a:r>
              <a:rPr lang="en-US" dirty="0"/>
              <a:t>use </a:t>
            </a:r>
            <a:r>
              <a:rPr lang="en-US" dirty="0" smtClean="0"/>
              <a:t>of computers</a:t>
            </a:r>
            <a:r>
              <a:rPr lang="en-US" dirty="0"/>
              <a:t>, </a:t>
            </a:r>
            <a:r>
              <a:rPr lang="en-US" dirty="0" smtClean="0"/>
              <a:t>a number </a:t>
            </a:r>
            <a:r>
              <a:rPr lang="en-US" dirty="0"/>
              <a:t>of computer-related organizations </a:t>
            </a:r>
            <a:r>
              <a:rPr lang="en-US" dirty="0" smtClean="0"/>
              <a:t>have established </a:t>
            </a:r>
            <a:r>
              <a:rPr lang="en-US" dirty="0"/>
              <a:t>IT (information technology) codes </a:t>
            </a:r>
            <a:r>
              <a:rPr lang="en-US" dirty="0" smtClean="0"/>
              <a:t>of </a:t>
            </a:r>
            <a:r>
              <a:rPr lang="en-US" dirty="0" smtClean="0"/>
              <a:t>conduct.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IT </a:t>
            </a:r>
            <a:r>
              <a:rPr lang="en-US" b="1" dirty="0"/>
              <a:t>code of </a:t>
            </a:r>
            <a:r>
              <a:rPr lang="en-US" b="1" dirty="0" smtClean="0"/>
              <a:t>conduct </a:t>
            </a:r>
            <a:r>
              <a:rPr lang="en-US" dirty="0" smtClean="0"/>
              <a:t>is </a:t>
            </a:r>
            <a:r>
              <a:rPr lang="en-US" dirty="0"/>
              <a:t>a written guideline that helps </a:t>
            </a:r>
            <a:r>
              <a:rPr lang="en-US" dirty="0" smtClean="0"/>
              <a:t>determine whether </a:t>
            </a:r>
            <a:r>
              <a:rPr lang="en-US" dirty="0"/>
              <a:t>a specific </a:t>
            </a:r>
            <a:r>
              <a:rPr lang="en-US" dirty="0" smtClean="0"/>
              <a:t>computer action </a:t>
            </a:r>
            <a:r>
              <a:rPr lang="en-US" dirty="0"/>
              <a:t>is ethical </a:t>
            </a:r>
            <a:r>
              <a:rPr lang="en-US" dirty="0" smtClean="0"/>
              <a:t>or unethical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20673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92696"/>
            <a:ext cx="7312856" cy="5472608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/>
              <a:t>IT Code of </a:t>
            </a:r>
            <a:r>
              <a:rPr lang="en-US" b="1" dirty="0" smtClean="0"/>
              <a:t>Conduct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Computers </a:t>
            </a:r>
            <a:r>
              <a:rPr lang="en-US" dirty="0"/>
              <a:t>may not be used to harm other </a:t>
            </a:r>
            <a:r>
              <a:rPr lang="en-US" dirty="0" smtClean="0"/>
              <a:t>people.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Employees </a:t>
            </a:r>
            <a:r>
              <a:rPr lang="en-US" dirty="0"/>
              <a:t>may not interfere with others’ computer </a:t>
            </a:r>
            <a:r>
              <a:rPr lang="en-US" dirty="0" smtClean="0"/>
              <a:t>work.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Employees </a:t>
            </a:r>
            <a:r>
              <a:rPr lang="en-US" dirty="0"/>
              <a:t>may not meddle in others’ computer </a:t>
            </a:r>
            <a:r>
              <a:rPr lang="en-US" dirty="0" smtClean="0"/>
              <a:t>files.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Computers </a:t>
            </a:r>
            <a:r>
              <a:rPr lang="en-US" dirty="0"/>
              <a:t>may not be used to </a:t>
            </a:r>
            <a:r>
              <a:rPr lang="en-US" dirty="0" smtClean="0"/>
              <a:t>steal.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Computers </a:t>
            </a:r>
            <a:r>
              <a:rPr lang="en-US" dirty="0"/>
              <a:t>may not be used to bear false </a:t>
            </a:r>
            <a:r>
              <a:rPr lang="en-US" dirty="0" smtClean="0"/>
              <a:t>witness.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Employees </a:t>
            </a:r>
            <a:r>
              <a:rPr lang="en-US" dirty="0"/>
              <a:t>may not copy or use software </a:t>
            </a:r>
            <a:r>
              <a:rPr lang="en-US" dirty="0" smtClean="0"/>
              <a:t>illegally.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Employees </a:t>
            </a:r>
            <a:r>
              <a:rPr lang="en-US" dirty="0"/>
              <a:t>may not use others’ computer resources without </a:t>
            </a:r>
            <a:r>
              <a:rPr lang="en-US" dirty="0" smtClean="0"/>
              <a:t>authorization.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Employees </a:t>
            </a:r>
            <a:r>
              <a:rPr lang="en-US" dirty="0"/>
              <a:t>may not use others’ intellectual property as their </a:t>
            </a:r>
            <a:r>
              <a:rPr lang="en-US" dirty="0" smtClean="0"/>
              <a:t>own.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Employees </a:t>
            </a:r>
            <a:r>
              <a:rPr lang="en-US" dirty="0"/>
              <a:t>shall consider the social impact of programs and systems they </a:t>
            </a:r>
            <a:r>
              <a:rPr lang="en-US" dirty="0" smtClean="0"/>
              <a:t>design.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Employees </a:t>
            </a:r>
            <a:r>
              <a:rPr lang="en-US" dirty="0"/>
              <a:t>always should use computers in a way that demonstrates consideration and respect for fellow humans.</a:t>
            </a:r>
          </a:p>
        </p:txBody>
      </p:sp>
    </p:spTree>
    <p:extLst>
      <p:ext uri="{BB962C8B-B14F-4D97-AF65-F5344CB8AC3E}">
        <p14:creationId xmlns:p14="http://schemas.microsoft.com/office/powerpoint/2010/main" val="36046559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Green Computing</a:t>
            </a:r>
          </a:p>
          <a:p>
            <a:r>
              <a:rPr lang="en-US" b="1" dirty="0"/>
              <a:t>Green computing </a:t>
            </a:r>
            <a:r>
              <a:rPr lang="en-US" dirty="0"/>
              <a:t>involves </a:t>
            </a:r>
            <a:r>
              <a:rPr lang="en-US" dirty="0" smtClean="0"/>
              <a:t>reducing electricity </a:t>
            </a:r>
            <a:r>
              <a:rPr lang="en-US" dirty="0"/>
              <a:t>and environmental waste while using </a:t>
            </a:r>
            <a:r>
              <a:rPr lang="en-US" dirty="0" smtClean="0"/>
              <a:t>a computer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People use and waste resources such </a:t>
            </a:r>
            <a:r>
              <a:rPr lang="en-US" dirty="0"/>
              <a:t>as electricity and paper while using a computer.</a:t>
            </a:r>
          </a:p>
          <a:p>
            <a:r>
              <a:rPr lang="en-US" dirty="0"/>
              <a:t>Society has become aware of this waste </a:t>
            </a:r>
            <a:r>
              <a:rPr lang="en-US" dirty="0" smtClean="0"/>
              <a:t>and is </a:t>
            </a:r>
            <a:r>
              <a:rPr lang="en-US" dirty="0"/>
              <a:t>taking measures to combat it</a:t>
            </a:r>
            <a:r>
              <a:rPr lang="en-US" dirty="0" smtClean="0"/>
              <a:t>.</a:t>
            </a:r>
          </a:p>
          <a:p>
            <a:r>
              <a:rPr lang="en-US" dirty="0"/>
              <a:t>Personal computers, display devices, </a:t>
            </a:r>
            <a:r>
              <a:rPr lang="en-US" dirty="0" smtClean="0"/>
              <a:t>and printers </a:t>
            </a:r>
            <a:r>
              <a:rPr lang="en-US" dirty="0"/>
              <a:t>should comply with guidelines of </a:t>
            </a:r>
            <a:r>
              <a:rPr lang="en-US" dirty="0" smtClean="0"/>
              <a:t>the ENERGY </a:t>
            </a:r>
            <a:r>
              <a:rPr lang="en-US" dirty="0"/>
              <a:t>STAR program.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United </a:t>
            </a:r>
            <a:r>
              <a:rPr lang="en-US" dirty="0" smtClean="0"/>
              <a:t>States Department </a:t>
            </a:r>
            <a:r>
              <a:rPr lang="en-US" dirty="0"/>
              <a:t>of Energy (DOE) and the </a:t>
            </a:r>
            <a:r>
              <a:rPr lang="en-US" dirty="0" smtClean="0"/>
              <a:t>United States </a:t>
            </a:r>
            <a:r>
              <a:rPr lang="en-US" dirty="0"/>
              <a:t>Environmental Protection Agency (</a:t>
            </a:r>
            <a:r>
              <a:rPr lang="en-US" dirty="0" smtClean="0"/>
              <a:t>EPA) developed </a:t>
            </a:r>
            <a:r>
              <a:rPr lang="en-US" dirty="0"/>
              <a:t>the </a:t>
            </a:r>
            <a:r>
              <a:rPr lang="en-US" i="1" dirty="0"/>
              <a:t>ENERGY STAR program </a:t>
            </a:r>
            <a:r>
              <a:rPr lang="en-US" dirty="0"/>
              <a:t>to </a:t>
            </a:r>
            <a:r>
              <a:rPr lang="en-US" dirty="0" smtClean="0"/>
              <a:t>help reduce </a:t>
            </a:r>
            <a:r>
              <a:rPr lang="en-US" dirty="0"/>
              <a:t>the amount of electricity used by </a:t>
            </a:r>
            <a:r>
              <a:rPr lang="en-US" dirty="0" smtClean="0"/>
              <a:t>computers and </a:t>
            </a:r>
            <a:r>
              <a:rPr lang="en-US" dirty="0"/>
              <a:t>related devices.</a:t>
            </a:r>
          </a:p>
        </p:txBody>
      </p:sp>
    </p:spTree>
    <p:extLst>
      <p:ext uri="{BB962C8B-B14F-4D97-AF65-F5344CB8AC3E}">
        <p14:creationId xmlns:p14="http://schemas.microsoft.com/office/powerpoint/2010/main" val="1761112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To reduce </a:t>
            </a:r>
            <a:r>
              <a:rPr lang="en-US" dirty="0" smtClean="0"/>
              <a:t>environmental </a:t>
            </a:r>
            <a:r>
              <a:rPr lang="en-US" dirty="0"/>
              <a:t>impact </a:t>
            </a:r>
            <a:r>
              <a:rPr lang="en-US" dirty="0" smtClean="0"/>
              <a:t>of computing </a:t>
            </a:r>
            <a:r>
              <a:rPr lang="en-US" dirty="0"/>
              <a:t>further, </a:t>
            </a:r>
            <a:r>
              <a:rPr lang="en-US" dirty="0" smtClean="0"/>
              <a:t>users can simply </a:t>
            </a:r>
            <a:r>
              <a:rPr lang="en-US" dirty="0"/>
              <a:t>alter </a:t>
            </a:r>
            <a:r>
              <a:rPr lang="en-US" dirty="0" smtClean="0"/>
              <a:t>a few </a:t>
            </a:r>
            <a:r>
              <a:rPr lang="en-US" dirty="0"/>
              <a:t>habits. </a:t>
            </a:r>
            <a:endParaRPr lang="en-US" dirty="0" smtClean="0"/>
          </a:p>
          <a:p>
            <a:pPr marL="82296" indent="0">
              <a:buNone/>
            </a:pPr>
            <a:r>
              <a:rPr lang="en-US" b="1" dirty="0"/>
              <a:t>Green Computing Suggestions</a:t>
            </a:r>
            <a:endParaRPr lang="en-US" dirty="0" smtClean="0"/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Use </a:t>
            </a:r>
            <a:r>
              <a:rPr lang="en-US" dirty="0"/>
              <a:t>computers and devices that </a:t>
            </a:r>
            <a:r>
              <a:rPr lang="en-US" dirty="0" smtClean="0"/>
              <a:t>comply with </a:t>
            </a:r>
            <a:r>
              <a:rPr lang="en-US" dirty="0"/>
              <a:t>the ENERGY STAR </a:t>
            </a:r>
            <a:r>
              <a:rPr lang="en-US" dirty="0" smtClean="0"/>
              <a:t>program.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Do </a:t>
            </a:r>
            <a:r>
              <a:rPr lang="en-US" dirty="0"/>
              <a:t>not leave the computer </a:t>
            </a:r>
            <a:r>
              <a:rPr lang="en-US" dirty="0" smtClean="0"/>
              <a:t>running overnight.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Turn </a:t>
            </a:r>
            <a:r>
              <a:rPr lang="en-US" dirty="0"/>
              <a:t>off the monitor, printer, </a:t>
            </a:r>
            <a:r>
              <a:rPr lang="en-US" dirty="0" smtClean="0"/>
              <a:t>and other </a:t>
            </a:r>
            <a:r>
              <a:rPr lang="en-US" dirty="0"/>
              <a:t>devices when not in </a:t>
            </a:r>
            <a:r>
              <a:rPr lang="en-US" dirty="0" smtClean="0"/>
              <a:t>use.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Use </a:t>
            </a:r>
            <a:r>
              <a:rPr lang="en-US" dirty="0"/>
              <a:t>LCD monitors instead of CRT </a:t>
            </a:r>
            <a:r>
              <a:rPr lang="en-US" dirty="0" smtClean="0"/>
              <a:t>monitors.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Use </a:t>
            </a:r>
            <a:r>
              <a:rPr lang="en-US" dirty="0"/>
              <a:t>paperless methods to </a:t>
            </a:r>
            <a:r>
              <a:rPr lang="en-US" dirty="0" smtClean="0"/>
              <a:t>communicate.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Recycle paper.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Buy </a:t>
            </a:r>
            <a:r>
              <a:rPr lang="en-US" dirty="0"/>
              <a:t>recycled </a:t>
            </a:r>
            <a:r>
              <a:rPr lang="en-US" dirty="0" smtClean="0"/>
              <a:t>paper.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Recycle </a:t>
            </a:r>
            <a:r>
              <a:rPr lang="en-US" dirty="0"/>
              <a:t>toner </a:t>
            </a:r>
            <a:r>
              <a:rPr lang="en-US" dirty="0" smtClean="0"/>
              <a:t>cartridges.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Recycle </a:t>
            </a:r>
            <a:r>
              <a:rPr lang="en-US" dirty="0"/>
              <a:t>old computers, printers, and other </a:t>
            </a:r>
            <a:r>
              <a:rPr lang="en-US" dirty="0" smtClean="0"/>
              <a:t>devices.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Telecommute </a:t>
            </a:r>
            <a:r>
              <a:rPr lang="en-US" dirty="0"/>
              <a:t>to save </a:t>
            </a:r>
            <a:r>
              <a:rPr lang="en-US" dirty="0" smtClean="0"/>
              <a:t>gas.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Use </a:t>
            </a:r>
            <a:r>
              <a:rPr lang="en-US" dirty="0"/>
              <a:t>video conferencing and VoIP for meetings.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720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/>
              <a:t>Information </a:t>
            </a:r>
            <a:r>
              <a:rPr lang="en-US" b="1" dirty="0" smtClean="0"/>
              <a:t>Privacy</a:t>
            </a:r>
          </a:p>
          <a:p>
            <a:r>
              <a:rPr lang="en-US" b="1" dirty="0" smtClean="0"/>
              <a:t>Information </a:t>
            </a:r>
            <a:r>
              <a:rPr lang="en-US" b="1" dirty="0"/>
              <a:t>privacy </a:t>
            </a:r>
            <a:r>
              <a:rPr lang="en-US" dirty="0"/>
              <a:t>refers to the right </a:t>
            </a:r>
            <a:r>
              <a:rPr lang="en-US" dirty="0" smtClean="0"/>
              <a:t>of individuals </a:t>
            </a:r>
            <a:r>
              <a:rPr lang="en-US" dirty="0"/>
              <a:t>and companies to deny or </a:t>
            </a:r>
            <a:r>
              <a:rPr lang="en-US" dirty="0" smtClean="0"/>
              <a:t>restrict collection </a:t>
            </a:r>
            <a:r>
              <a:rPr lang="en-US" dirty="0"/>
              <a:t>and use of information </a:t>
            </a:r>
            <a:r>
              <a:rPr lang="en-US" dirty="0" smtClean="0"/>
              <a:t>about them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past, information privacy was </a:t>
            </a:r>
            <a:r>
              <a:rPr lang="en-US" dirty="0" smtClean="0"/>
              <a:t>easier to </a:t>
            </a:r>
            <a:r>
              <a:rPr lang="en-US" dirty="0"/>
              <a:t>maintain because information was kept </a:t>
            </a:r>
            <a:r>
              <a:rPr lang="en-US" dirty="0" smtClean="0"/>
              <a:t>in separate </a:t>
            </a:r>
            <a:r>
              <a:rPr lang="en-US" dirty="0"/>
              <a:t>locations. </a:t>
            </a:r>
            <a:endParaRPr lang="en-US" dirty="0" smtClean="0"/>
          </a:p>
          <a:p>
            <a:r>
              <a:rPr lang="en-US" dirty="0"/>
              <a:t>Today, huge databases store </a:t>
            </a:r>
            <a:r>
              <a:rPr lang="en-US" dirty="0" smtClean="0"/>
              <a:t>data online. </a:t>
            </a:r>
          </a:p>
          <a:p>
            <a:r>
              <a:rPr lang="en-US" dirty="0" smtClean="0"/>
              <a:t>Much </a:t>
            </a:r>
            <a:r>
              <a:rPr lang="en-US" dirty="0"/>
              <a:t>of the data is personal and </a:t>
            </a:r>
            <a:r>
              <a:rPr lang="en-US" dirty="0" smtClean="0"/>
              <a:t>confidential and </a:t>
            </a:r>
            <a:r>
              <a:rPr lang="en-US" dirty="0"/>
              <a:t>should be accessible only to </a:t>
            </a:r>
            <a:r>
              <a:rPr lang="en-US" dirty="0" smtClean="0"/>
              <a:t>authorized users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individuals and </a:t>
            </a:r>
            <a:r>
              <a:rPr lang="en-US" dirty="0" smtClean="0"/>
              <a:t>organizations </a:t>
            </a:r>
            <a:r>
              <a:rPr lang="en-US" dirty="0"/>
              <a:t>question whether </a:t>
            </a:r>
            <a:r>
              <a:rPr lang="en-US" dirty="0" smtClean="0"/>
              <a:t>online data </a:t>
            </a:r>
            <a:r>
              <a:rPr lang="en-US" dirty="0" smtClean="0"/>
              <a:t>is really private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That </a:t>
            </a:r>
            <a:r>
              <a:rPr lang="en-US" dirty="0"/>
              <a:t>is, some companies and </a:t>
            </a:r>
            <a:r>
              <a:rPr lang="en-US" dirty="0" smtClean="0"/>
              <a:t>individuals </a:t>
            </a:r>
            <a:r>
              <a:rPr lang="en-US" dirty="0" smtClean="0"/>
              <a:t>can collect </a:t>
            </a:r>
            <a:r>
              <a:rPr lang="en-US" dirty="0"/>
              <a:t>and use this information without </a:t>
            </a:r>
            <a:r>
              <a:rPr lang="en-US" dirty="0" smtClean="0"/>
              <a:t>your authorization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Web </a:t>
            </a:r>
            <a:r>
              <a:rPr lang="en-US" dirty="0"/>
              <a:t>sites often collect data </a:t>
            </a:r>
            <a:r>
              <a:rPr lang="en-US" dirty="0" smtClean="0"/>
              <a:t>about you</a:t>
            </a:r>
            <a:r>
              <a:rPr lang="en-US" dirty="0"/>
              <a:t>, so that they can customize </a:t>
            </a:r>
            <a:r>
              <a:rPr lang="en-US" dirty="0" smtClean="0"/>
              <a:t>advertisements and </a:t>
            </a:r>
            <a:r>
              <a:rPr lang="en-US" dirty="0"/>
              <a:t>send you personalized e-mail messages.</a:t>
            </a:r>
          </a:p>
          <a:p>
            <a:r>
              <a:rPr lang="en-US" dirty="0"/>
              <a:t>Some employers monitor your computer </a:t>
            </a:r>
            <a:r>
              <a:rPr lang="en-US" dirty="0" smtClean="0"/>
              <a:t>usage and </a:t>
            </a:r>
            <a:r>
              <a:rPr lang="en-US" dirty="0"/>
              <a:t>e-mail messages.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20651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76672"/>
            <a:ext cx="7498080" cy="5904656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Below is a of list of </a:t>
            </a:r>
            <a:r>
              <a:rPr lang="en-US" dirty="0" smtClean="0"/>
              <a:t>measures </a:t>
            </a:r>
            <a:r>
              <a:rPr lang="en-US" dirty="0"/>
              <a:t>you can take </a:t>
            </a:r>
            <a:r>
              <a:rPr lang="en-US" dirty="0" smtClean="0"/>
              <a:t>to make </a:t>
            </a:r>
            <a:r>
              <a:rPr lang="en-US" dirty="0"/>
              <a:t>your personal data more </a:t>
            </a:r>
            <a:r>
              <a:rPr lang="en-US" dirty="0" smtClean="0"/>
              <a:t>private.</a:t>
            </a:r>
          </a:p>
          <a:p>
            <a:pPr marL="82296" indent="0">
              <a:buNone/>
            </a:pPr>
            <a:r>
              <a:rPr lang="en-US" b="1" dirty="0"/>
              <a:t>How to Safeguard Personal Information</a:t>
            </a:r>
            <a:endParaRPr lang="en-US" dirty="0" smtClean="0"/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Fill </a:t>
            </a:r>
            <a:r>
              <a:rPr lang="en-US" dirty="0"/>
              <a:t>in only necessary information on rebate, </a:t>
            </a:r>
            <a:r>
              <a:rPr lang="en-US" dirty="0" smtClean="0"/>
              <a:t>warranty and </a:t>
            </a:r>
            <a:r>
              <a:rPr lang="en-US" dirty="0"/>
              <a:t>registration </a:t>
            </a:r>
            <a:r>
              <a:rPr lang="en-US" dirty="0" smtClean="0"/>
              <a:t>forms.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Do </a:t>
            </a:r>
            <a:r>
              <a:rPr lang="en-US" dirty="0"/>
              <a:t>not preprint your telephone number or </a:t>
            </a:r>
            <a:r>
              <a:rPr lang="en-US" dirty="0" smtClean="0"/>
              <a:t>Social Security </a:t>
            </a:r>
            <a:r>
              <a:rPr lang="en-US" dirty="0"/>
              <a:t>number on personal </a:t>
            </a:r>
            <a:r>
              <a:rPr lang="en-US" dirty="0" smtClean="0"/>
              <a:t>checks.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Have </a:t>
            </a:r>
            <a:r>
              <a:rPr lang="en-US" dirty="0"/>
              <a:t>an unlisted or unpublished telephone </a:t>
            </a:r>
            <a:r>
              <a:rPr lang="en-US" dirty="0" smtClean="0"/>
              <a:t>number.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/>
              <a:t>Caller ID is available in your area, find out how </a:t>
            </a:r>
            <a:r>
              <a:rPr lang="en-US" dirty="0" smtClean="0"/>
              <a:t>to block </a:t>
            </a:r>
            <a:r>
              <a:rPr lang="en-US" dirty="0"/>
              <a:t>your number from displaying on the </a:t>
            </a:r>
            <a:r>
              <a:rPr lang="en-US" dirty="0" smtClean="0"/>
              <a:t>receiver’s system.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Do </a:t>
            </a:r>
            <a:r>
              <a:rPr lang="en-US" dirty="0"/>
              <a:t>not write your telephone number on charge </a:t>
            </a:r>
            <a:r>
              <a:rPr lang="en-US" dirty="0" smtClean="0"/>
              <a:t>or credit </a:t>
            </a:r>
            <a:r>
              <a:rPr lang="en-US" dirty="0"/>
              <a:t>receipts</a:t>
            </a:r>
            <a:r>
              <a:rPr lang="en-US" dirty="0" smtClean="0"/>
              <a:t>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Request, in writing, to be removed from mailing </a:t>
            </a:r>
            <a:r>
              <a:rPr lang="en-US" dirty="0" smtClean="0"/>
              <a:t>lists.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Limit </a:t>
            </a:r>
            <a:r>
              <a:rPr lang="en-US" dirty="0"/>
              <a:t>the amount of information you provide to </a:t>
            </a:r>
            <a:r>
              <a:rPr lang="en-US" dirty="0" smtClean="0"/>
              <a:t>Web sites</a:t>
            </a:r>
            <a:r>
              <a:rPr lang="en-US" dirty="0"/>
              <a:t>. Fill in only required information</a:t>
            </a:r>
            <a:r>
              <a:rPr lang="en-US" dirty="0" smtClean="0"/>
              <a:t>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Clear your history file when you are finished browsing</a:t>
            </a:r>
            <a:r>
              <a:rPr lang="en-US" dirty="0" smtClean="0"/>
              <a:t>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Do not reply to spam for any </a:t>
            </a:r>
            <a:r>
              <a:rPr lang="en-US" dirty="0" smtClean="0"/>
              <a:t>reason.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Turn </a:t>
            </a:r>
            <a:r>
              <a:rPr lang="en-US" dirty="0"/>
              <a:t>off file and printer sharing on your </a:t>
            </a:r>
            <a:r>
              <a:rPr lang="en-US" dirty="0" smtClean="0"/>
              <a:t>Internet connection.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Set </a:t>
            </a:r>
            <a:r>
              <a:rPr lang="en-US" dirty="0"/>
              <a:t>up a free e-mail account. Use this e-mail </a:t>
            </a:r>
            <a:r>
              <a:rPr lang="en-US" dirty="0" smtClean="0"/>
              <a:t>address for </a:t>
            </a:r>
            <a:r>
              <a:rPr lang="en-US" dirty="0"/>
              <a:t>merchant forms.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1259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5843736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Information privacy </a:t>
            </a:r>
            <a:r>
              <a:rPr lang="en-US" dirty="0"/>
              <a:t>is the right of individuals </a:t>
            </a:r>
            <a:r>
              <a:rPr lang="en-US" dirty="0" smtClean="0"/>
              <a:t>and companies </a:t>
            </a:r>
            <a:r>
              <a:rPr lang="en-US" dirty="0"/>
              <a:t>to deny or restrict the collection and use </a:t>
            </a:r>
            <a:r>
              <a:rPr lang="en-US" dirty="0" smtClean="0"/>
              <a:t>of information </a:t>
            </a:r>
            <a:r>
              <a:rPr lang="en-US" dirty="0"/>
              <a:t>about them. </a:t>
            </a:r>
            <a:endParaRPr lang="en-US" dirty="0" smtClean="0"/>
          </a:p>
          <a:p>
            <a:r>
              <a:rPr lang="en-US" dirty="0" smtClean="0"/>
              <a:t>Issues </a:t>
            </a:r>
            <a:r>
              <a:rPr lang="en-US" dirty="0"/>
              <a:t>surrounding </a:t>
            </a:r>
            <a:r>
              <a:rPr lang="en-US" dirty="0" smtClean="0"/>
              <a:t>information privacy </a:t>
            </a:r>
            <a:r>
              <a:rPr lang="en-US" dirty="0"/>
              <a:t>include the following.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electronic </a:t>
            </a:r>
            <a:r>
              <a:rPr lang="en-US" dirty="0" smtClean="0"/>
              <a:t>profile combines data </a:t>
            </a:r>
            <a:r>
              <a:rPr lang="en-US" dirty="0"/>
              <a:t>about an individual’s Web use with data </a:t>
            </a:r>
            <a:r>
              <a:rPr lang="en-US" dirty="0" smtClean="0"/>
              <a:t>from public </a:t>
            </a:r>
            <a:r>
              <a:rPr lang="en-US" dirty="0"/>
              <a:t>sources, which then is sold.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/>
              <a:t>cookie </a:t>
            </a:r>
            <a:r>
              <a:rPr lang="en-US" dirty="0"/>
              <a:t>is a </a:t>
            </a:r>
            <a:r>
              <a:rPr lang="en-US" dirty="0" smtClean="0"/>
              <a:t>file that a </a:t>
            </a:r>
            <a:r>
              <a:rPr lang="en-US" dirty="0"/>
              <a:t>Web server stores on a computer to collect data </a:t>
            </a:r>
            <a:r>
              <a:rPr lang="en-US" dirty="0" smtClean="0"/>
              <a:t>about the </a:t>
            </a:r>
            <a:r>
              <a:rPr lang="en-US" dirty="0"/>
              <a:t>user. </a:t>
            </a:r>
            <a:r>
              <a:rPr lang="en-US" i="1" dirty="0" smtClean="0"/>
              <a:t>Spyware </a:t>
            </a:r>
            <a:r>
              <a:rPr lang="en-US" dirty="0"/>
              <a:t>is a program placed on a computer </a:t>
            </a:r>
            <a:r>
              <a:rPr lang="en-US" dirty="0" smtClean="0"/>
              <a:t>that secretly </a:t>
            </a:r>
            <a:r>
              <a:rPr lang="en-US" dirty="0"/>
              <a:t>collects information about the user. </a:t>
            </a:r>
            <a:r>
              <a:rPr lang="en-US" i="1" dirty="0"/>
              <a:t>Adware </a:t>
            </a:r>
            <a:r>
              <a:rPr lang="en-US" dirty="0"/>
              <a:t>is </a:t>
            </a:r>
            <a:r>
              <a:rPr lang="en-US" dirty="0" smtClean="0"/>
              <a:t>a program </a:t>
            </a:r>
            <a:r>
              <a:rPr lang="en-US" dirty="0"/>
              <a:t>that displays an online advertisement in a </a:t>
            </a:r>
            <a:r>
              <a:rPr lang="en-US" dirty="0" smtClean="0"/>
              <a:t>banner or pop-up window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dirty="0" smtClean="0"/>
              <a:t>Spam </a:t>
            </a:r>
            <a:r>
              <a:rPr lang="en-US" dirty="0"/>
              <a:t>is an unsolicited e-mail </a:t>
            </a:r>
            <a:r>
              <a:rPr lang="en-US" dirty="0" smtClean="0"/>
              <a:t>message or </a:t>
            </a:r>
            <a:r>
              <a:rPr lang="en-US" dirty="0"/>
              <a:t>newsgroup posting sent to many recipients or </a:t>
            </a:r>
            <a:r>
              <a:rPr lang="en-US" dirty="0" smtClean="0"/>
              <a:t>newsgroups at </a:t>
            </a:r>
            <a:r>
              <a:rPr lang="en-US" dirty="0"/>
              <a:t>once. </a:t>
            </a:r>
            <a:endParaRPr lang="en-US" dirty="0" smtClean="0"/>
          </a:p>
          <a:p>
            <a:r>
              <a:rPr lang="en-US" b="1" dirty="0" smtClean="0"/>
              <a:t>Phishing </a:t>
            </a:r>
            <a:r>
              <a:rPr lang="en-US" dirty="0"/>
              <a:t>is a scam in which a </a:t>
            </a:r>
            <a:r>
              <a:rPr lang="en-US" dirty="0" smtClean="0"/>
              <a:t>perpetrator attempts </a:t>
            </a:r>
            <a:r>
              <a:rPr lang="en-US" dirty="0"/>
              <a:t>to obtain personal or </a:t>
            </a:r>
            <a:r>
              <a:rPr lang="en-US" dirty="0" smtClean="0"/>
              <a:t>financial </a:t>
            </a:r>
            <a:r>
              <a:rPr lang="en-US" dirty="0"/>
              <a:t>information. </a:t>
            </a:r>
            <a:r>
              <a:rPr lang="en-US" dirty="0" smtClean="0"/>
              <a:t>The concern </a:t>
            </a:r>
            <a:r>
              <a:rPr lang="en-US" dirty="0"/>
              <a:t>about privacy has led to the enactment of </a:t>
            </a:r>
            <a:r>
              <a:rPr lang="en-US" dirty="0" smtClean="0"/>
              <a:t>many federal </a:t>
            </a:r>
            <a:r>
              <a:rPr lang="en-US" dirty="0"/>
              <a:t>and state laws regarding the disclosure of data. </a:t>
            </a:r>
            <a:endParaRPr lang="en-US" dirty="0" smtClean="0"/>
          </a:p>
          <a:p>
            <a:r>
              <a:rPr lang="en-US" dirty="0" smtClean="0"/>
              <a:t>As related </a:t>
            </a:r>
            <a:r>
              <a:rPr lang="en-US" dirty="0"/>
              <a:t>to the use of computers, </a:t>
            </a:r>
            <a:r>
              <a:rPr lang="en-US" b="1" dirty="0"/>
              <a:t>social engineering </a:t>
            </a:r>
            <a:r>
              <a:rPr lang="en-US" dirty="0" smtClean="0"/>
              <a:t>is defined </a:t>
            </a:r>
            <a:r>
              <a:rPr lang="en-US" dirty="0"/>
              <a:t>as gaining unauthorized access or obtaining </a:t>
            </a:r>
            <a:r>
              <a:rPr lang="en-US" dirty="0" smtClean="0"/>
              <a:t>confidential </a:t>
            </a:r>
            <a:r>
              <a:rPr lang="en-US" dirty="0"/>
              <a:t>information by taking advantage of the </a:t>
            </a:r>
            <a:r>
              <a:rPr lang="en-US" dirty="0" smtClean="0"/>
              <a:t>trusting human </a:t>
            </a:r>
            <a:r>
              <a:rPr lang="en-US" dirty="0"/>
              <a:t>nature of some victims and the naivety of others.</a:t>
            </a:r>
          </a:p>
          <a:p>
            <a:r>
              <a:rPr lang="en-US" b="1" dirty="0"/>
              <a:t>Employee monitoring </a:t>
            </a:r>
            <a:r>
              <a:rPr lang="en-US" dirty="0"/>
              <a:t>uses computers to </a:t>
            </a:r>
            <a:r>
              <a:rPr lang="en-US" dirty="0" smtClean="0"/>
              <a:t>observe, record</a:t>
            </a:r>
            <a:r>
              <a:rPr lang="en-US" dirty="0"/>
              <a:t>, and review an employee’s computer use. </a:t>
            </a:r>
            <a:endParaRPr lang="en-US" dirty="0" smtClean="0"/>
          </a:p>
          <a:p>
            <a:r>
              <a:rPr lang="en-US" b="1" dirty="0" smtClean="0"/>
              <a:t>Content filtering </a:t>
            </a:r>
            <a:r>
              <a:rPr lang="en-US" dirty="0"/>
              <a:t>restricts access to certain materials on the Web.</a:t>
            </a:r>
          </a:p>
        </p:txBody>
      </p:sp>
    </p:spTree>
    <p:extLst>
      <p:ext uri="{BB962C8B-B14F-4D97-AF65-F5344CB8AC3E}">
        <p14:creationId xmlns:p14="http://schemas.microsoft.com/office/powerpoint/2010/main" val="783520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1203</TotalTime>
  <Words>4690</Words>
  <Application>Microsoft Office PowerPoint</Application>
  <PresentationFormat>On-screen Show (4:3)</PresentationFormat>
  <Paragraphs>317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Solstice</vt:lpstr>
      <vt:lpstr>Computer Security and Safety, Ethics, and Privacy</vt:lpstr>
      <vt:lpstr>Computer Security and Safety, Ethics, and Privacy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Ethics and Society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 1</dc:creator>
  <cp:lastModifiedBy>ismail - [2010]</cp:lastModifiedBy>
  <cp:revision>72</cp:revision>
  <dcterms:created xsi:type="dcterms:W3CDTF">2015-02-10T17:49:31Z</dcterms:created>
  <dcterms:modified xsi:type="dcterms:W3CDTF">2015-07-04T11:43:03Z</dcterms:modified>
</cp:coreProperties>
</file>