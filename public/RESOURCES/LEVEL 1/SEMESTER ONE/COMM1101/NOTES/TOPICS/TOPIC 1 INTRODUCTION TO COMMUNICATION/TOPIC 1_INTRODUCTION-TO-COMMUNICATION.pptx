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61" r:id="rId4"/>
    <p:sldId id="262" r:id="rId5"/>
    <p:sldId id="263" r:id="rId6"/>
    <p:sldId id="264" r:id="rId7"/>
    <p:sldId id="258" r:id="rId8"/>
    <p:sldId id="259" r:id="rId9"/>
    <p:sldId id="289" r:id="rId10"/>
    <p:sldId id="260" r:id="rId11"/>
    <p:sldId id="265" r:id="rId12"/>
    <p:sldId id="288" r:id="rId13"/>
    <p:sldId id="266" r:id="rId14"/>
    <p:sldId id="267" r:id="rId15"/>
    <p:sldId id="268" r:id="rId16"/>
    <p:sldId id="269" r:id="rId17"/>
    <p:sldId id="270" r:id="rId18"/>
    <p:sldId id="275" r:id="rId19"/>
    <p:sldId id="271" r:id="rId20"/>
    <p:sldId id="272" r:id="rId21"/>
    <p:sldId id="273" r:id="rId22"/>
    <p:sldId id="274" r:id="rId23"/>
    <p:sldId id="276" r:id="rId24"/>
    <p:sldId id="277" r:id="rId25"/>
    <p:sldId id="278" r:id="rId26"/>
    <p:sldId id="280" r:id="rId27"/>
    <p:sldId id="279" r:id="rId28"/>
    <p:sldId id="281" r:id="rId29"/>
    <p:sldId id="282" r:id="rId30"/>
    <p:sldId id="283" r:id="rId31"/>
    <p:sldId id="284" r:id="rId32"/>
    <p:sldId id="285" r:id="rId33"/>
    <p:sldId id="286" r:id="rId34"/>
    <p:sldId id="287" r:id="rId35"/>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224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3BA5B2-1EAD-4F98-9212-0F4A0F3FF024}" type="datetimeFigureOut">
              <a:rPr lang="en-US" smtClean="0"/>
              <a:t>5/19/2022</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B70CB1-0973-41A1-8956-8A5022B18A2A}" type="slidenum">
              <a:rPr lang="en-US" smtClean="0"/>
              <a:t>‹#›</a:t>
            </a:fld>
            <a:endParaRPr lang="en-US" dirty="0"/>
          </a:p>
        </p:txBody>
      </p:sp>
    </p:spTree>
    <p:extLst>
      <p:ext uri="{BB962C8B-B14F-4D97-AF65-F5344CB8AC3E}">
        <p14:creationId xmlns:p14="http://schemas.microsoft.com/office/powerpoint/2010/main" val="3475396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B70CB1-0973-41A1-8956-8A5022B18A2A}" type="slidenum">
              <a:rPr lang="en-US" smtClean="0"/>
              <a:t>15</a:t>
            </a:fld>
            <a:endParaRPr lang="en-US" dirty="0"/>
          </a:p>
        </p:txBody>
      </p:sp>
    </p:spTree>
    <p:extLst>
      <p:ext uri="{BB962C8B-B14F-4D97-AF65-F5344CB8AC3E}">
        <p14:creationId xmlns:p14="http://schemas.microsoft.com/office/powerpoint/2010/main" val="4044288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77687" y="1451113"/>
            <a:ext cx="6619461" cy="7228646"/>
          </a:xfrm>
          <a:prstGeom prst="rect">
            <a:avLst/>
          </a:prstGeom>
        </p:spPr>
        <p:txBody>
          <a:bodyPr wrap="square">
            <a:spAutoFit/>
          </a:bodyPr>
          <a:lstStyle/>
          <a:p>
            <a:pPr algn="just">
              <a:lnSpc>
                <a:spcPct val="115000"/>
              </a:lnSpc>
              <a:spcAft>
                <a:spcPts val="1000"/>
              </a:spcAft>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TOPIC 1 : INTRODUCTION TO COMMUNICATION</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Communication is a process of sharing or transferring or exchanging messages from a source to a receiver through a medium to achieve the desired response</a:t>
            </a:r>
            <a:r>
              <a:rPr lang="en-US"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318052" y="1614157"/>
            <a:ext cx="7176052" cy="5625579"/>
          </a:xfrm>
          <a:prstGeom prst="rect">
            <a:avLst/>
          </a:prstGeom>
        </p:spPr>
        <p:txBody>
          <a:bodyPr wrap="square">
            <a:spAutoFit/>
          </a:bodyPr>
          <a:lstStyle/>
          <a:p>
            <a:pPr algn="just">
              <a:lnSpc>
                <a:spcPct val="115000"/>
              </a:lnSpc>
              <a:spcAft>
                <a:spcPts val="1000"/>
              </a:spcAft>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Elements/Components of Communication Process</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mj-lt"/>
              <a:buAutoNum type="alphaLcPeriod"/>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Source: </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0"/>
              </a:spcAft>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The source initiates the communication process by encoding a thought or idea to be put across.</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6835" y="1133061"/>
            <a:ext cx="6977270" cy="8337219"/>
          </a:xfrm>
          <a:prstGeom prst="rect">
            <a:avLst/>
          </a:prstGeom>
        </p:spPr>
        <p:txBody>
          <a:bodyPr wrap="square">
            <a:spAutoFit/>
          </a:bodyPr>
          <a:lstStyle/>
          <a:p>
            <a:pPr lvl="0" algn="just">
              <a:lnSpc>
                <a:spcPct val="115000"/>
              </a:lnSpc>
              <a:spcAft>
                <a:spcPts val="0"/>
              </a:spcAft>
            </a:pPr>
            <a:r>
              <a:rPr lang="en-US" sz="3600" b="1" dirty="0" smtClean="0">
                <a:latin typeface="Calibri" panose="020F0502020204030204" pitchFamily="34" charset="0"/>
                <a:ea typeface="Calibri" panose="020F0502020204030204" pitchFamily="34" charset="0"/>
                <a:cs typeface="Times New Roman" panose="02020603050405020304" pitchFamily="18" charset="0"/>
              </a:rPr>
              <a:t>b. </a:t>
            </a:r>
            <a:r>
              <a:rPr lang="en-US" sz="3600" b="1" dirty="0" smtClean="0">
                <a:effectLst/>
                <a:latin typeface="Calibri" panose="020F0502020204030204" pitchFamily="34" charset="0"/>
                <a:ea typeface="Calibri" panose="020F0502020204030204" pitchFamily="34" charset="0"/>
                <a:cs typeface="Times New Roman" panose="02020603050405020304" pitchFamily="18" charset="0"/>
              </a:rPr>
              <a:t>Message</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Is the idea, thought or feeling that a person wishes to communicate to another person/group</a:t>
            </a:r>
          </a:p>
          <a:p>
            <a:pPr marL="342900" lvl="0" indent="-342900" algn="just">
              <a:lnSpc>
                <a:spcPct val="115000"/>
              </a:lnSpc>
              <a:spcAft>
                <a:spcPts val="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The message is the content of the interaction</a:t>
            </a:r>
          </a:p>
          <a:p>
            <a:pPr marL="342900" lvl="0" indent="-342900" algn="just">
              <a:lnSpc>
                <a:spcPct val="115000"/>
              </a:lnSpc>
              <a:spcAft>
                <a:spcPts val="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Includes symbols (words and phrases), facial expressions, bodily movements, gestures, touch, tone of voice</a:t>
            </a:r>
          </a:p>
          <a:p>
            <a:pPr marL="342900" lvl="0" indent="-342900" algn="just">
              <a:lnSpc>
                <a:spcPct val="115000"/>
              </a:lnSpc>
              <a:spcAft>
                <a:spcPts val="100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Message becomes effective if it is interpreted to meet the intent and purpose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35537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065" y="488560"/>
            <a:ext cx="6564795" cy="7879080"/>
          </a:xfrm>
          <a:prstGeom prst="rect">
            <a:avLst/>
          </a:prstGeom>
        </p:spPr>
        <p:txBody>
          <a:bodyPr wrap="square">
            <a:spAutoFit/>
          </a:bodyPr>
          <a:lstStyle/>
          <a:p>
            <a:pPr lvl="0" algn="just">
              <a:lnSpc>
                <a:spcPct val="115000"/>
              </a:lnSpc>
              <a:spcAft>
                <a:spcPts val="0"/>
              </a:spcAft>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c. Channel</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It is also known as a medium</a:t>
            </a:r>
          </a:p>
          <a:p>
            <a:pPr marL="342900" lvl="0" indent="-342900" algn="just">
              <a:lnSpc>
                <a:spcPct val="115000"/>
              </a:lnSpc>
              <a:spcAft>
                <a:spcPts val="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Is the means by which a message moves from the source to the receiver</a:t>
            </a:r>
          </a:p>
          <a:p>
            <a:pPr marL="342900" lvl="0" indent="-342900" algn="just">
              <a:lnSpc>
                <a:spcPct val="115000"/>
              </a:lnSpc>
              <a:spcAft>
                <a:spcPts val="100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The message reaches the sources by traveling in a channel </a:t>
            </a: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e.g. </a:t>
            </a: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airwaves, print, sound waves</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0381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1135" y="0"/>
            <a:ext cx="6525040" cy="9461501"/>
          </a:xfrm>
          <a:prstGeom prst="rect">
            <a:avLst/>
          </a:prstGeom>
        </p:spPr>
        <p:txBody>
          <a:bodyPr wrap="square">
            <a:spAutoFit/>
          </a:bodyPr>
          <a:lstStyle/>
          <a:p>
            <a:pPr lvl="0" algn="just">
              <a:lnSpc>
                <a:spcPct val="115000"/>
              </a:lnSpc>
              <a:spcAft>
                <a:spcPts val="0"/>
              </a:spcAft>
            </a:pPr>
            <a:r>
              <a:rPr lang="en-US" sz="4000" b="1" dirty="0" smtClean="0">
                <a:effectLst/>
                <a:latin typeface="Calibri" panose="020F0502020204030204" pitchFamily="34" charset="0"/>
                <a:ea typeface="Calibri" panose="020F0502020204030204" pitchFamily="34" charset="0"/>
                <a:cs typeface="Times New Roman" panose="02020603050405020304" pitchFamily="18" charset="0"/>
              </a:rPr>
              <a:t>d. Receiver</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0"/>
              </a:spcAft>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Is the intended target of the message i.e. the destination </a:t>
            </a:r>
          </a:p>
          <a:p>
            <a:pPr marL="457200" algn="just">
              <a:lnSpc>
                <a:spcPct val="115000"/>
              </a:lnSpc>
              <a:spcAft>
                <a:spcPts val="0"/>
              </a:spcAft>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The receiver decodes the message from the sender. To decode is to interpret the message or assigning meaning to the message. </a:t>
            </a:r>
          </a:p>
          <a:p>
            <a:pPr marL="457200" algn="just">
              <a:lnSpc>
                <a:spcPct val="115000"/>
              </a:lnSpc>
              <a:spcAft>
                <a:spcPts val="1000"/>
              </a:spcAft>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The receiver decodes the message through motor skills and senses </a:t>
            </a: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i.e. listening, thinking, reading, etc.</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1205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8417" y="198783"/>
            <a:ext cx="7513983" cy="8445389"/>
          </a:xfrm>
          <a:prstGeom prst="rect">
            <a:avLst/>
          </a:prstGeom>
        </p:spPr>
        <p:txBody>
          <a:bodyPr wrap="square">
            <a:spAutoFit/>
          </a:bodyPr>
          <a:lstStyle/>
          <a:p>
            <a:pPr lvl="0" algn="just">
              <a:lnSpc>
                <a:spcPct val="115000"/>
              </a:lnSpc>
              <a:spcAft>
                <a:spcPts val="0"/>
              </a:spcAft>
            </a:pPr>
            <a:r>
              <a:rPr lang="en-US" sz="3600" b="1" dirty="0" smtClean="0">
                <a:effectLst/>
                <a:latin typeface="Calibri" panose="020F0502020204030204" pitchFamily="34" charset="0"/>
                <a:ea typeface="Calibri" panose="020F0502020204030204" pitchFamily="34" charset="0"/>
                <a:cs typeface="Times New Roman" panose="02020603050405020304" pitchFamily="18" charset="0"/>
              </a:rPr>
              <a:t>e. Feedback</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Refers to the receiver’s verbal and nonverbal response the message sent by the source </a:t>
            </a:r>
          </a:p>
          <a:p>
            <a:pPr marL="342900" lvl="0" indent="-342900" algn="just">
              <a:lnSpc>
                <a:spcPct val="115000"/>
              </a:lnSpc>
              <a:spcAft>
                <a:spcPts val="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Feedback tells the source that the message was receive as intended or otherwise</a:t>
            </a:r>
          </a:p>
          <a:p>
            <a:pPr marL="342900" lvl="0" indent="-342900" algn="just">
              <a:lnSpc>
                <a:spcPct val="115000"/>
              </a:lnSpc>
              <a:spcAft>
                <a:spcPts val="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It is a reverse process of communication hence the receiver becomes the sender and the sender becomes the receiver </a:t>
            </a:r>
          </a:p>
          <a:p>
            <a:pPr marL="342900" lvl="0" indent="-342900" algn="just">
              <a:lnSpc>
                <a:spcPct val="115000"/>
              </a:lnSpc>
              <a:spcAft>
                <a:spcPts val="1000"/>
              </a:spcAft>
              <a:buFont typeface="Calibri" panose="020F0502020204030204" pitchFamily="34" charset="0"/>
              <a:buChar char="-"/>
            </a:pPr>
            <a:r>
              <a:rPr lang="en-US" sz="3600" dirty="0" smtClean="0">
                <a:effectLst/>
                <a:latin typeface="Calibri" panose="020F0502020204030204" pitchFamily="34" charset="0"/>
                <a:ea typeface="Calibri" panose="020F0502020204030204" pitchFamily="34" charset="0"/>
                <a:cs typeface="Times New Roman" panose="02020603050405020304" pitchFamily="18" charset="0"/>
              </a:rPr>
              <a:t>Where there is no feedback, communication is incomplete</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7193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377688" y="0"/>
            <a:ext cx="6500190" cy="5671296"/>
          </a:xfrm>
          <a:prstGeom prst="rect">
            <a:avLst/>
          </a:prstGeom>
        </p:spPr>
        <p:txBody>
          <a:bodyPr wrap="square">
            <a:spAutoFit/>
          </a:bodyPr>
          <a:lstStyle/>
          <a:p>
            <a:pPr lvl="0" algn="just">
              <a:lnSpc>
                <a:spcPct val="115000"/>
              </a:lnSpc>
              <a:spcAft>
                <a:spcPts val="0"/>
              </a:spcAft>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f. Noise</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Noise is any interference in the communication process</a:t>
            </a:r>
          </a:p>
          <a:p>
            <a:pPr marL="342900" lvl="0" indent="-342900" algn="just">
              <a:lnSpc>
                <a:spcPct val="115000"/>
              </a:lnSpc>
              <a:spcAft>
                <a:spcPts val="100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It affects the encoding and decoding processes </a:t>
            </a:r>
          </a:p>
          <a:p>
            <a:pPr marL="342900" lvl="0" indent="-342900" algn="just">
              <a:lnSpc>
                <a:spcPct val="115000"/>
              </a:lnSpc>
              <a:spcAft>
                <a:spcPts val="1000"/>
              </a:spcAft>
              <a:buFont typeface="Calibri" panose="020F0502020204030204" pitchFamily="34" charset="0"/>
              <a:buChar char="-"/>
            </a:pPr>
            <a:r>
              <a:rPr lang="en-US" sz="4400" dirty="0" smtClean="0">
                <a:latin typeface="Calibri" panose="020F0502020204030204" pitchFamily="34" charset="0"/>
                <a:ea typeface="Calibri" panose="020F0502020204030204" pitchFamily="34" charset="0"/>
                <a:cs typeface="Times New Roman" panose="02020603050405020304" pitchFamily="18" charset="0"/>
              </a:rPr>
              <a:t>Noise can be </a:t>
            </a:r>
            <a:r>
              <a:rPr lang="en-US" sz="4400" dirty="0" smtClean="0">
                <a:latin typeface="Calibri" panose="020F0502020204030204" pitchFamily="34" charset="0"/>
                <a:ea typeface="Calibri" panose="020F0502020204030204" pitchFamily="34" charset="0"/>
                <a:cs typeface="Times New Roman" panose="02020603050405020304" pitchFamily="18" charset="0"/>
              </a:rPr>
              <a:t>:</a:t>
            </a:r>
            <a:endParaRPr lang="en-US" sz="4400" dirty="0" smtClean="0">
              <a:latin typeface="Calibri" panose="020F0502020204030204" pitchFamily="34" charset="0"/>
              <a:ea typeface="Calibri" panose="020F0502020204030204" pitchFamily="34"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616226" y="397565"/>
            <a:ext cx="6679096" cy="10002738"/>
          </a:xfrm>
          <a:prstGeom prst="rect">
            <a:avLst/>
          </a:prstGeom>
        </p:spPr>
        <p:txBody>
          <a:bodyPr wrap="square">
            <a:spAutoFit/>
          </a:bodyPr>
          <a:lstStyle/>
          <a:p>
            <a:pPr lvl="0" algn="just">
              <a:lnSpc>
                <a:spcPct val="115000"/>
              </a:lnSpc>
              <a:spcAft>
                <a:spcPts val="0"/>
              </a:spcAft>
            </a:pP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Wingdings" panose="05000000000000000000" pitchFamily="2" charset="2"/>
              <a:buChar char=""/>
            </a:pPr>
            <a:r>
              <a:rPr lang="en-US" sz="4000" b="1" dirty="0" smtClean="0">
                <a:effectLst/>
                <a:latin typeface="Calibri" panose="020F0502020204030204" pitchFamily="34" charset="0"/>
                <a:ea typeface="Calibri" panose="020F0502020204030204" pitchFamily="34" charset="0"/>
                <a:cs typeface="Times New Roman" panose="02020603050405020304" pitchFamily="18" charset="0"/>
              </a:rPr>
              <a:t>Physical:</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it keeps the message from being heard </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e.g. </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sound of passing cars while teaching; someone dancing outside the classroom, someone standing too close to you</a:t>
            </a:r>
          </a:p>
          <a:p>
            <a:pPr marL="342900" lvl="0" indent="-342900" algn="just">
              <a:lnSpc>
                <a:spcPct val="115000"/>
              </a:lnSpc>
              <a:spcAft>
                <a:spcPts val="1000"/>
              </a:spcAft>
              <a:buFont typeface="Wingdings" panose="05000000000000000000" pitchFamily="2" charset="2"/>
              <a:buChar char=""/>
            </a:pPr>
            <a:r>
              <a:rPr lang="en-US" sz="4000" b="1" dirty="0" smtClean="0">
                <a:effectLst/>
                <a:latin typeface="Calibri" panose="020F0502020204030204" pitchFamily="34" charset="0"/>
                <a:ea typeface="Calibri" panose="020F0502020204030204" pitchFamily="34" charset="0"/>
                <a:cs typeface="Times New Roman" panose="02020603050405020304" pitchFamily="18" charset="0"/>
              </a:rPr>
              <a:t>Psychological:</a:t>
            </a: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 this is mental noise. It occurs when the sender or receiver is distracted by something in the mind e.g. mind wandering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5440" y="731520"/>
            <a:ext cx="7233920" cy="2923877"/>
          </a:xfrm>
          <a:prstGeom prst="rect">
            <a:avLst/>
          </a:prstGeom>
        </p:spPr>
        <p:txBody>
          <a:bodyPr wrap="square">
            <a:spAutoFit/>
          </a:bodyPr>
          <a:lstStyle/>
          <a:p>
            <a:pPr marL="571500" lvl="0" indent="-571500" algn="just">
              <a:lnSpc>
                <a:spcPct val="115000"/>
              </a:lnSpc>
              <a:spcAft>
                <a:spcPts val="1000"/>
              </a:spcAft>
              <a:buFont typeface="Wingdings" panose="05000000000000000000" pitchFamily="2" charset="2"/>
              <a:buChar char="ü"/>
            </a:pPr>
            <a:r>
              <a:rPr lang="en-US" sz="4000" b="1" dirty="0">
                <a:latin typeface="Calibri" panose="020F0502020204030204" pitchFamily="34" charset="0"/>
                <a:ea typeface="Calibri" panose="020F0502020204030204" pitchFamily="34" charset="0"/>
                <a:cs typeface="Times New Roman" panose="02020603050405020304" pitchFamily="18" charset="0"/>
              </a:rPr>
              <a:t> Linguistic or Semantic : </a:t>
            </a:r>
            <a:r>
              <a:rPr lang="en-US" sz="4000" dirty="0">
                <a:latin typeface="Calibri" panose="020F0502020204030204" pitchFamily="34" charset="0"/>
                <a:ea typeface="Calibri" panose="020F0502020204030204" pitchFamily="34" charset="0"/>
                <a:cs typeface="Times New Roman" panose="02020603050405020304" pitchFamily="18" charset="0"/>
              </a:rPr>
              <a:t>Where communication is blocked by language or semantic misunderstanding. </a:t>
            </a:r>
            <a:endParaRPr lang="en-US" sz="4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2487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238539" y="581921"/>
            <a:ext cx="6897757" cy="9381543"/>
          </a:xfrm>
          <a:prstGeom prst="rect">
            <a:avLst/>
          </a:prstGeom>
        </p:spPr>
        <p:txBody>
          <a:bodyPr wrap="square">
            <a:spAutoFit/>
          </a:bodyPr>
          <a:lstStyle/>
          <a:p>
            <a:pPr algn="just">
              <a:lnSpc>
                <a:spcPct val="115000"/>
              </a:lnSpc>
              <a:spcAft>
                <a:spcPts val="1000"/>
              </a:spcAft>
            </a:pPr>
            <a:r>
              <a:rPr lang="en-US" sz="4000" b="1" dirty="0" smtClean="0">
                <a:effectLst/>
                <a:latin typeface="Calibri" panose="020F0502020204030204" pitchFamily="34" charset="0"/>
                <a:ea typeface="Calibri" panose="020F0502020204030204" pitchFamily="34" charset="0"/>
                <a:cs typeface="Times New Roman" panose="02020603050405020304" pitchFamily="18" charset="0"/>
              </a:rPr>
              <a:t>Basic Communication Theories</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alibri" panose="020F0502020204030204" pitchFamily="34" charset="0"/>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A theory is a set of ideas that are meant to explain why things happen the way they do</a:t>
            </a:r>
          </a:p>
          <a:p>
            <a:pPr marL="342900" lvl="0" indent="-342900" algn="just">
              <a:lnSpc>
                <a:spcPct val="115000"/>
              </a:lnSpc>
              <a:spcAft>
                <a:spcPts val="0"/>
              </a:spcAft>
              <a:buFont typeface="Calibri" panose="020F0502020204030204" pitchFamily="34" charset="0"/>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Theories give us insights into what happens in the process of exchanging information or messages from one end to the other. </a:t>
            </a:r>
          </a:p>
          <a:p>
            <a:pPr marL="342900" lvl="0" indent="-342900" algn="just">
              <a:lnSpc>
                <a:spcPct val="115000"/>
              </a:lnSpc>
              <a:spcAft>
                <a:spcPts val="1000"/>
              </a:spcAft>
              <a:buFont typeface="Calibri" panose="020F0502020204030204" pitchFamily="34" charset="0"/>
              <a:buChar char="-"/>
            </a:pPr>
            <a:r>
              <a:rPr lang="en-US" sz="4000" dirty="0" smtClean="0">
                <a:effectLst/>
                <a:latin typeface="Calibri" panose="020F0502020204030204" pitchFamily="34" charset="0"/>
                <a:ea typeface="Calibri" panose="020F0502020204030204" pitchFamily="34" charset="0"/>
                <a:cs typeface="Times New Roman" panose="02020603050405020304" pitchFamily="18" charset="0"/>
              </a:rPr>
              <a:t>There are many theories that attempt to explain communication behavior. We look at three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174" y="485580"/>
            <a:ext cx="7036904" cy="8612038"/>
          </a:xfrm>
          <a:prstGeom prst="rect">
            <a:avLst/>
          </a:prstGeom>
        </p:spPr>
        <p:txBody>
          <a:bodyPr wrap="square">
            <a:spAutoFit/>
          </a:bodyPr>
          <a:lstStyle/>
          <a:p>
            <a:pPr marL="342900" lvl="0" indent="-342900" algn="just">
              <a:lnSpc>
                <a:spcPct val="115000"/>
              </a:lnSpc>
              <a:spcAft>
                <a:spcPts val="0"/>
              </a:spcAft>
              <a:buFont typeface="+mj-lt"/>
              <a:buAutoNum type="alphaLcPeriod"/>
            </a:pPr>
            <a:r>
              <a:rPr lang="en-US" sz="4400" b="1" dirty="0" smtClean="0">
                <a:effectLst/>
                <a:latin typeface="Calibri" panose="020F0502020204030204" pitchFamily="34" charset="0"/>
                <a:ea typeface="Calibri" panose="020F0502020204030204" pitchFamily="34" charset="0"/>
                <a:cs typeface="Times New Roman" panose="02020603050405020304" pitchFamily="18" charset="0"/>
              </a:rPr>
              <a:t>The Mathematical Theory of Communication </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Was developed by Claude Shannon and Warren Weaver in 1949</a:t>
            </a:r>
          </a:p>
          <a:p>
            <a:pPr marL="342900" lvl="0" indent="-342900" algn="just">
              <a:lnSpc>
                <a:spcPct val="115000"/>
              </a:lnSpc>
              <a:spcAft>
                <a:spcPts val="0"/>
              </a:spcAft>
              <a:buFont typeface="Calibri" panose="020F0502020204030204" pitchFamily="34" charset="0"/>
              <a:buChar char="-"/>
            </a:pP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It asserts that communication is a linear and sequential phenomenon i.e. the a transmitter sends a signal through a </a:t>
            </a:r>
            <a:r>
              <a:rPr lang="en-US" sz="4400" dirty="0" smtClean="0">
                <a:effectLst/>
                <a:latin typeface="Calibri" panose="020F0502020204030204" pitchFamily="34" charset="0"/>
                <a:ea typeface="Calibri" panose="020F0502020204030204" pitchFamily="34" charset="0"/>
                <a:cs typeface="Times New Roman" panose="02020603050405020304" pitchFamily="18" charset="0"/>
              </a:rPr>
              <a:t>channel</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5469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240" y="345440"/>
            <a:ext cx="7437120" cy="8545416"/>
          </a:xfrm>
          <a:prstGeom prst="rect">
            <a:avLst/>
          </a:prstGeom>
        </p:spPr>
        <p:txBody>
          <a:bodyPr wrap="square">
            <a:spAutoFit/>
          </a:bodyPr>
          <a:lstStyle/>
          <a:p>
            <a:pPr marL="342900" lvl="0" indent="-342900" algn="just">
              <a:lnSpc>
                <a:spcPct val="115000"/>
              </a:lnSpc>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The most important component in this theory is the noise source, which may introduce noise into the channel</a:t>
            </a:r>
          </a:p>
          <a:p>
            <a:pPr marL="342900" lvl="0" indent="-342900" algn="just">
              <a:lnSpc>
                <a:spcPct val="115000"/>
              </a:lnSpc>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The receiver picks up or collects the received signals and conducts it to its destination </a:t>
            </a:r>
          </a:p>
          <a:p>
            <a:pPr marL="342900" lvl="0" indent="-342900" algn="just">
              <a:lnSpc>
                <a:spcPct val="115000"/>
              </a:lnSpc>
              <a:spcAft>
                <a:spcPts val="100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This theory encourages us to ask questions about how messages are sent from one end to another and if there are ways of dealing with noise or its effects </a:t>
            </a:r>
            <a:endParaRPr lang="en-US" sz="4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0579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0227"/>
            <a:ext cx="7772400" cy="9253302"/>
          </a:xfrm>
          <a:prstGeom prst="rect">
            <a:avLst/>
          </a:prstGeom>
        </p:spPr>
        <p:txBody>
          <a:bodyPr wrap="square">
            <a:spAutoFit/>
          </a:bodyPr>
          <a:lstStyle/>
          <a:p>
            <a:pPr marR="0" lvl="0" algn="just">
              <a:lnSpc>
                <a:spcPct val="115000"/>
              </a:lnSpc>
              <a:spcBef>
                <a:spcPts val="0"/>
              </a:spcBef>
              <a:spcAft>
                <a:spcPts val="0"/>
              </a:spcAft>
            </a:pPr>
            <a:r>
              <a:rPr lang="en-US" sz="4000" b="1" dirty="0" smtClean="0">
                <a:latin typeface="Calibri" panose="020F0502020204030204" pitchFamily="34" charset="0"/>
                <a:ea typeface="Calibri" panose="020F0502020204030204" pitchFamily="34" charset="0"/>
                <a:cs typeface="Times New Roman" panose="02020603050405020304" pitchFamily="18" charset="0"/>
              </a:rPr>
              <a:t>b. The </a:t>
            </a:r>
            <a:r>
              <a:rPr lang="en-US" sz="4000" b="1" dirty="0">
                <a:latin typeface="Calibri" panose="020F0502020204030204" pitchFamily="34" charset="0"/>
                <a:ea typeface="Calibri" panose="020F0502020204030204" pitchFamily="34" charset="0"/>
                <a:cs typeface="Times New Roman" panose="02020603050405020304" pitchFamily="18" charset="0"/>
              </a:rPr>
              <a:t>Interaction Model</a:t>
            </a:r>
            <a:endParaRPr lang="en-US" sz="40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In this theory, one person sends a message to a second person who receives it and responds with another message. </a:t>
            </a: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Communication here is a conversation between two people who are interacting and taking turns in sending and receiving the messages. </a:t>
            </a:r>
          </a:p>
          <a:p>
            <a:pPr marL="342900" marR="0" lvl="0" indent="-342900" algn="just">
              <a:lnSpc>
                <a:spcPct val="115000"/>
              </a:lnSpc>
              <a:spcBef>
                <a:spcPts val="0"/>
              </a:spcBef>
              <a:spcAft>
                <a:spcPts val="100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The receiver cannot return a message until the speaker’s messages is received. </a:t>
            </a:r>
          </a:p>
        </p:txBody>
      </p:sp>
    </p:spTree>
    <p:extLst>
      <p:ext uri="{BB962C8B-B14F-4D97-AF65-F5344CB8AC3E}">
        <p14:creationId xmlns:p14="http://schemas.microsoft.com/office/powerpoint/2010/main" val="1474497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5440" y="0"/>
            <a:ext cx="6969760" cy="9253302"/>
          </a:xfrm>
          <a:prstGeom prst="rect">
            <a:avLst/>
          </a:prstGeom>
        </p:spPr>
        <p:txBody>
          <a:bodyPr wrap="square">
            <a:spAutoFit/>
          </a:bodyPr>
          <a:lstStyle/>
          <a:p>
            <a:pPr marR="0" lvl="0" algn="just">
              <a:lnSpc>
                <a:spcPct val="115000"/>
              </a:lnSpc>
              <a:spcBef>
                <a:spcPts val="0"/>
              </a:spcBef>
              <a:spcAft>
                <a:spcPts val="0"/>
              </a:spcAft>
            </a:pPr>
            <a:r>
              <a:rPr lang="en-US" sz="4000" b="1" dirty="0" smtClean="0">
                <a:latin typeface="Calibri" panose="020F0502020204030204" pitchFamily="34" charset="0"/>
                <a:ea typeface="Calibri" panose="020F0502020204030204" pitchFamily="34" charset="0"/>
                <a:cs typeface="Times New Roman" panose="02020603050405020304" pitchFamily="18" charset="0"/>
              </a:rPr>
              <a:t>c. The </a:t>
            </a:r>
            <a:r>
              <a:rPr lang="en-US" sz="4000" b="1" dirty="0">
                <a:latin typeface="Calibri" panose="020F0502020204030204" pitchFamily="34" charset="0"/>
                <a:ea typeface="Calibri" panose="020F0502020204030204" pitchFamily="34" charset="0"/>
                <a:cs typeface="Times New Roman" panose="02020603050405020304" pitchFamily="18" charset="0"/>
              </a:rPr>
              <a:t>Transaction Model</a:t>
            </a:r>
            <a:endParaRPr lang="en-US" sz="40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This model asserts that communication processes simultaneously send and receive messages. </a:t>
            </a: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Sending and receiving are no longer separate activities, and they do not occur in isolation </a:t>
            </a:r>
          </a:p>
          <a:p>
            <a:pPr marL="342900" marR="0" lvl="0" indent="-342900" algn="just">
              <a:lnSpc>
                <a:spcPct val="115000"/>
              </a:lnSpc>
              <a:spcBef>
                <a:spcPts val="0"/>
              </a:spcBef>
              <a:spcAft>
                <a:spcPts val="100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In this model, people are continually sending and receiving messages; they cannot avoid communication; there is no need to take turns. </a:t>
            </a:r>
          </a:p>
        </p:txBody>
      </p:sp>
    </p:spTree>
    <p:extLst>
      <p:ext uri="{BB962C8B-B14F-4D97-AF65-F5344CB8AC3E}">
        <p14:creationId xmlns:p14="http://schemas.microsoft.com/office/powerpoint/2010/main" val="3332274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498080" cy="9102556"/>
          </a:xfrm>
          <a:prstGeom prst="rect">
            <a:avLst/>
          </a:prstGeom>
        </p:spPr>
        <p:txBody>
          <a:bodyPr wrap="square">
            <a:spAutoFit/>
          </a:bodyPr>
          <a:lstStyle/>
          <a:p>
            <a:pPr algn="just">
              <a:lnSpc>
                <a:spcPct val="115000"/>
              </a:lnSpc>
              <a:spcAft>
                <a:spcPts val="1000"/>
              </a:spcAft>
            </a:pPr>
            <a:r>
              <a:rPr lang="en-US" sz="3600" b="1" dirty="0">
                <a:latin typeface="Calibri" panose="020F0502020204030204" pitchFamily="34" charset="0"/>
                <a:ea typeface="Calibri" panose="020F0502020204030204" pitchFamily="34" charset="0"/>
                <a:cs typeface="Times New Roman" panose="02020603050405020304" pitchFamily="18" charset="0"/>
              </a:rPr>
              <a:t>Characteristics of Human Communication</a:t>
            </a:r>
            <a:endParaRPr lang="en-US" sz="3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lphaLcPeriod"/>
            </a:pPr>
            <a:r>
              <a:rPr lang="en-US" sz="3600" dirty="0">
                <a:latin typeface="Calibri" panose="020F0502020204030204" pitchFamily="34" charset="0"/>
                <a:ea typeface="Calibri" panose="020F0502020204030204" pitchFamily="34" charset="0"/>
                <a:cs typeface="Times New Roman" panose="02020603050405020304" pitchFamily="18" charset="0"/>
              </a:rPr>
              <a:t>Whenever communication takes place, there a speaker and a listener or a writer and a reader who must interact </a:t>
            </a:r>
          </a:p>
          <a:p>
            <a:pPr marL="342900" marR="0" lvl="0" indent="-342900" algn="just">
              <a:lnSpc>
                <a:spcPct val="115000"/>
              </a:lnSpc>
              <a:spcBef>
                <a:spcPts val="0"/>
              </a:spcBef>
              <a:spcAft>
                <a:spcPts val="0"/>
              </a:spcAft>
              <a:buFont typeface="+mj-lt"/>
              <a:buAutoNum type="alphaLcPeriod"/>
            </a:pPr>
            <a:r>
              <a:rPr lang="en-US" sz="3600" dirty="0">
                <a:latin typeface="Calibri" panose="020F0502020204030204" pitchFamily="34" charset="0"/>
                <a:ea typeface="Calibri" panose="020F0502020204030204" pitchFamily="34" charset="0"/>
                <a:cs typeface="Times New Roman" panose="02020603050405020304" pitchFamily="18" charset="0"/>
              </a:rPr>
              <a:t>The speaker has a purpose for speaking while the listener is interested in discovering the purpose </a:t>
            </a:r>
          </a:p>
          <a:p>
            <a:pPr marL="342900" marR="0" lvl="0" indent="-342900" algn="just">
              <a:lnSpc>
                <a:spcPct val="115000"/>
              </a:lnSpc>
              <a:spcBef>
                <a:spcPts val="0"/>
              </a:spcBef>
              <a:spcAft>
                <a:spcPts val="0"/>
              </a:spcAft>
              <a:buFont typeface="+mj-lt"/>
              <a:buAutoNum type="alphaLcPeriod"/>
            </a:pPr>
            <a:r>
              <a:rPr lang="en-US" sz="3600" dirty="0">
                <a:latin typeface="Calibri" panose="020F0502020204030204" pitchFamily="34" charset="0"/>
                <a:ea typeface="Calibri" panose="020F0502020204030204" pitchFamily="34" charset="0"/>
                <a:cs typeface="Times New Roman" panose="02020603050405020304" pitchFamily="18" charset="0"/>
              </a:rPr>
              <a:t>It is possible for communication to have both intentional and unintentional results and effects (joke or insult? Love proposal or sexual harassment</a:t>
            </a:r>
            <a:r>
              <a:rPr lang="en-US" sz="3600" dirty="0" smtClean="0">
                <a:latin typeface="Calibri" panose="020F0502020204030204" pitchFamily="34" charset="0"/>
                <a:ea typeface="Calibri" panose="020F0502020204030204" pitchFamily="34" charset="0"/>
                <a:cs typeface="Times New Roman" panose="02020603050405020304" pitchFamily="18" charset="0"/>
              </a:rPr>
              <a:t>?)</a:t>
            </a:r>
            <a:endParaRPr lang="en-US" sz="3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69863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560" y="223520"/>
            <a:ext cx="7376160" cy="8657755"/>
          </a:xfrm>
          <a:prstGeom prst="rect">
            <a:avLst/>
          </a:prstGeom>
        </p:spPr>
        <p:txBody>
          <a:bodyPr wrap="square">
            <a:spAutoFit/>
          </a:bodyPr>
          <a:lstStyle/>
          <a:p>
            <a:pPr marR="0" lvl="0" algn="just">
              <a:lnSpc>
                <a:spcPct val="115000"/>
              </a:lnSpc>
              <a:spcBef>
                <a:spcPts val="0"/>
              </a:spcBef>
              <a:spcAft>
                <a:spcPts val="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d. Giving </a:t>
            </a:r>
            <a:r>
              <a:rPr lang="en-US" sz="4400" dirty="0">
                <a:latin typeface="Calibri" panose="020F0502020204030204" pitchFamily="34" charset="0"/>
                <a:ea typeface="Calibri" panose="020F0502020204030204" pitchFamily="34" charset="0"/>
                <a:cs typeface="Times New Roman" panose="02020603050405020304" pitchFamily="18" charset="0"/>
              </a:rPr>
              <a:t>each other turns. Communication involves both the source and the receiver</a:t>
            </a:r>
            <a:r>
              <a:rPr lang="en-US" sz="4400" dirty="0" smtClean="0">
                <a:latin typeface="Calibri" panose="020F0502020204030204" pitchFamily="34" charset="0"/>
                <a:ea typeface="Calibri" panose="020F0502020204030204" pitchFamily="34" charset="0"/>
                <a:cs typeface="Times New Roman" panose="02020603050405020304" pitchFamily="18" charset="0"/>
              </a:rPr>
              <a:t>.</a:t>
            </a:r>
            <a:endParaRPr lang="en-US" sz="4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100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e. Communication </a:t>
            </a:r>
            <a:r>
              <a:rPr lang="en-US" sz="4400" dirty="0">
                <a:latin typeface="Calibri" panose="020F0502020204030204" pitchFamily="34" charset="0"/>
                <a:ea typeface="Calibri" panose="020F0502020204030204" pitchFamily="34" charset="0"/>
                <a:cs typeface="Times New Roman" panose="02020603050405020304" pitchFamily="18" charset="0"/>
              </a:rPr>
              <a:t>involves the use of symbols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movement, gestures, </a:t>
            </a:r>
            <a:r>
              <a:rPr lang="en-US" sz="4400" dirty="0" smtClean="0">
                <a:latin typeface="Calibri" panose="020F0502020204030204" pitchFamily="34" charset="0"/>
                <a:ea typeface="Calibri" panose="020F0502020204030204" pitchFamily="34" charset="0"/>
                <a:cs typeface="Times New Roman" panose="02020603050405020304" pitchFamily="18" charset="0"/>
              </a:rPr>
              <a:t>etc. </a:t>
            </a:r>
            <a:r>
              <a:rPr lang="en-US" sz="4400" dirty="0">
                <a:latin typeface="Calibri" panose="020F0502020204030204" pitchFamily="34" charset="0"/>
                <a:ea typeface="Calibri" panose="020F0502020204030204" pitchFamily="34" charset="0"/>
                <a:cs typeface="Times New Roman" panose="02020603050405020304" pitchFamily="18" charset="0"/>
              </a:rPr>
              <a:t>which represent the thoughts and feelings of the speaker. To some extent, both the source and the receiver understand the meanings of these symbols</a:t>
            </a:r>
          </a:p>
        </p:txBody>
      </p:sp>
    </p:spTree>
    <p:extLst>
      <p:ext uri="{BB962C8B-B14F-4D97-AF65-F5344CB8AC3E}">
        <p14:creationId xmlns:p14="http://schemas.microsoft.com/office/powerpoint/2010/main" val="24574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20" y="284481"/>
            <a:ext cx="6888480" cy="5625579"/>
          </a:xfrm>
          <a:prstGeom prst="rect">
            <a:avLst/>
          </a:prstGeom>
        </p:spPr>
        <p:txBody>
          <a:bodyPr wrap="square">
            <a:spAutoFit/>
          </a:bodyPr>
          <a:lstStyle/>
          <a:p>
            <a:pPr algn="just">
              <a:lnSpc>
                <a:spcPct val="115000"/>
              </a:lnSpc>
              <a:spcAft>
                <a:spcPts val="1000"/>
              </a:spcAft>
            </a:pPr>
            <a:r>
              <a:rPr lang="en-US" sz="4400" b="1" dirty="0">
                <a:latin typeface="Calibri" panose="020F0502020204030204" pitchFamily="34" charset="0"/>
                <a:ea typeface="Calibri" panose="020F0502020204030204" pitchFamily="34" charset="0"/>
                <a:cs typeface="Times New Roman" panose="02020603050405020304" pitchFamily="18" charset="0"/>
              </a:rPr>
              <a:t>TYPES OF HUMAN COMMUNICATION </a:t>
            </a:r>
            <a:endParaRPr lang="en-US" sz="4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r>
              <a:rPr lang="en-US" sz="4400" b="1" dirty="0" smtClean="0">
                <a:latin typeface="Calibri" panose="020F0502020204030204" pitchFamily="34" charset="0"/>
                <a:ea typeface="Calibri" panose="020F0502020204030204" pitchFamily="34" charset="0"/>
                <a:cs typeface="Times New Roman" panose="02020603050405020304" pitchFamily="18" charset="0"/>
              </a:rPr>
              <a:t>1 . Verbal </a:t>
            </a:r>
            <a:r>
              <a:rPr lang="en-US" sz="4400" b="1" dirty="0">
                <a:latin typeface="Calibri" panose="020F0502020204030204" pitchFamily="34" charset="0"/>
                <a:ea typeface="Calibri" panose="020F0502020204030204" pitchFamily="34" charset="0"/>
                <a:cs typeface="Times New Roman" panose="02020603050405020304" pitchFamily="18" charset="0"/>
              </a:rPr>
              <a:t>Communication</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This is communication that uses words</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It can either be oral or </a:t>
            </a:r>
            <a:r>
              <a:rPr lang="en-US" sz="4400" dirty="0" smtClean="0">
                <a:latin typeface="Calibri" panose="020F0502020204030204" pitchFamily="34" charset="0"/>
                <a:ea typeface="Calibri" panose="020F0502020204030204" pitchFamily="34" charset="0"/>
                <a:cs typeface="Times New Roman" panose="02020603050405020304" pitchFamily="18" charset="0"/>
              </a:rPr>
              <a:t>written</a:t>
            </a:r>
            <a:endParaRPr lang="en-US" sz="4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2837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1076961"/>
            <a:ext cx="7528560" cy="5543056"/>
          </a:xfrm>
          <a:prstGeom prst="rect">
            <a:avLst/>
          </a:prstGeom>
        </p:spPr>
        <p:txBody>
          <a:bodyPr wrap="square">
            <a:spAutoFit/>
          </a:bodyPr>
          <a:lstStyle/>
          <a:p>
            <a:pPr marR="0" lvl="0" algn="just">
              <a:lnSpc>
                <a:spcPct val="115000"/>
              </a:lnSpc>
              <a:spcBef>
                <a:spcPts val="0"/>
              </a:spcBef>
              <a:spcAft>
                <a:spcPts val="0"/>
              </a:spcAft>
            </a:pPr>
            <a:r>
              <a:rPr lang="en-US" sz="4400" b="1" dirty="0" smtClean="0">
                <a:latin typeface="Calibri" panose="020F0502020204030204" pitchFamily="34" charset="0"/>
                <a:ea typeface="Calibri" panose="020F0502020204030204" pitchFamily="34" charset="0"/>
                <a:cs typeface="Times New Roman" panose="02020603050405020304" pitchFamily="18" charset="0"/>
              </a:rPr>
              <a:t>a. Oral</a:t>
            </a:r>
            <a:endParaRPr lang="en-US" sz="4400" b="1"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Is communication by word of mouth through language </a:t>
            </a:r>
          </a:p>
          <a:p>
            <a:pPr marL="342900" marR="0" lvl="0" indent="-342900" algn="just">
              <a:lnSpc>
                <a:spcPct val="115000"/>
              </a:lnSpc>
              <a:spcBef>
                <a:spcPts val="0"/>
              </a:spcBef>
              <a:spcAft>
                <a:spcPts val="100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It largely used in face to face interactions, on the phone, radio, </a:t>
            </a:r>
            <a:r>
              <a:rPr lang="en-US" sz="4400" dirty="0">
                <a:latin typeface="Calibri" panose="020F0502020204030204" pitchFamily="34" charset="0"/>
                <a:ea typeface="Calibri" panose="020F0502020204030204" pitchFamily="34" charset="0"/>
                <a:cs typeface="Times New Roman" panose="02020603050405020304" pitchFamily="18" charset="0"/>
              </a:rPr>
              <a:t>tv</a:t>
            </a:r>
            <a:r>
              <a:rPr lang="en-US" sz="4400" dirty="0">
                <a:latin typeface="Calibri" panose="020F0502020204030204" pitchFamily="34" charset="0"/>
                <a:ea typeface="Calibri" panose="020F0502020204030204" pitchFamily="34" charset="0"/>
                <a:cs typeface="Times New Roman" panose="02020603050405020304" pitchFamily="18" charset="0"/>
              </a:rPr>
              <a:t>, at meetings, assemblies or public rallies</a:t>
            </a:r>
          </a:p>
        </p:txBody>
      </p:sp>
    </p:spTree>
    <p:extLst>
      <p:ext uri="{BB962C8B-B14F-4D97-AF65-F5344CB8AC3E}">
        <p14:creationId xmlns:p14="http://schemas.microsoft.com/office/powerpoint/2010/main" val="2509474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48640"/>
            <a:ext cx="7599680" cy="7257884"/>
          </a:xfrm>
          <a:prstGeom prst="rect">
            <a:avLst/>
          </a:prstGeom>
        </p:spPr>
        <p:txBody>
          <a:bodyPr wrap="square">
            <a:spAutoFit/>
          </a:bodyPr>
          <a:lstStyle/>
          <a:p>
            <a:pPr algn="just">
              <a:lnSpc>
                <a:spcPct val="115000"/>
              </a:lnSpc>
              <a:spcAft>
                <a:spcPts val="1000"/>
              </a:spcAft>
            </a:pPr>
            <a:r>
              <a:rPr lang="en-US" sz="4000" dirty="0">
                <a:latin typeface="Calibri" panose="020F0502020204030204" pitchFamily="34" charset="0"/>
                <a:ea typeface="Calibri" panose="020F0502020204030204" pitchFamily="34" charset="0"/>
                <a:cs typeface="Times New Roman" panose="02020603050405020304" pitchFamily="18" charset="0"/>
              </a:rPr>
              <a:t>Advantages of Oral Communication </a:t>
            </a: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Feedback is immediate hence you can deal with misunderstandings and mistakes on spot.</a:t>
            </a: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The setting contributes to the way the message will be understood (oral messages have an aura of the informal – consider an oral reprimand; the setting is part of the message </a:t>
            </a:r>
            <a:r>
              <a:rPr lang="en-US" sz="4000" dirty="0" smtClean="0">
                <a:latin typeface="Calibri" panose="020F0502020204030204" pitchFamily="34" charset="0"/>
                <a:ea typeface="Calibri" panose="020F0502020204030204" pitchFamily="34" charset="0"/>
                <a:cs typeface="Times New Roman" panose="02020603050405020304" pitchFamily="18" charset="0"/>
              </a:rPr>
              <a:t>e.g. </a:t>
            </a:r>
            <a:r>
              <a:rPr lang="en-US" sz="4000" dirty="0">
                <a:latin typeface="Calibri" panose="020F0502020204030204" pitchFamily="34" charset="0"/>
                <a:ea typeface="Calibri" panose="020F0502020204030204" pitchFamily="34" charset="0"/>
                <a:cs typeface="Times New Roman" panose="02020603050405020304" pitchFamily="18" charset="0"/>
              </a:rPr>
              <a:t>bar, </a:t>
            </a:r>
            <a:r>
              <a:rPr lang="en-US" sz="4000" dirty="0" smtClean="0">
                <a:latin typeface="Calibri" panose="020F0502020204030204" pitchFamily="34" charset="0"/>
                <a:ea typeface="Calibri" panose="020F0502020204030204" pitchFamily="34" charset="0"/>
                <a:cs typeface="Times New Roman" panose="02020603050405020304" pitchFamily="18" charset="0"/>
              </a:rPr>
              <a:t>office</a:t>
            </a:r>
            <a:endParaRPr lang="en-US" sz="4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0847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670561"/>
            <a:ext cx="7233920" cy="7879080"/>
          </a:xfrm>
          <a:prstGeom prst="rect">
            <a:avLst/>
          </a:prstGeom>
        </p:spPr>
        <p:txBody>
          <a:bodyPr wrap="square">
            <a:spAutoFit/>
          </a:bodyPr>
          <a:lstStyle/>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The paralanguage helps to make the message clearer. Paralanguage includes such things as body movement, tone of voice </a:t>
            </a:r>
            <a:r>
              <a:rPr lang="en-US" sz="4400" dirty="0" smtClean="0">
                <a:latin typeface="Calibri" panose="020F0502020204030204" pitchFamily="34" charset="0"/>
                <a:ea typeface="Calibri" panose="020F0502020204030204" pitchFamily="34" charset="0"/>
                <a:cs typeface="Times New Roman" panose="02020603050405020304" pitchFamily="18" charset="0"/>
              </a:rPr>
              <a:t>etc.</a:t>
            </a:r>
            <a:endParaRPr lang="en-US" sz="4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It is effective in problem solving and establishing interpersonal relationships </a:t>
            </a:r>
          </a:p>
          <a:p>
            <a:pPr marL="342900" marR="0" lvl="0" indent="-342900" algn="just">
              <a:lnSpc>
                <a:spcPct val="115000"/>
              </a:lnSpc>
              <a:spcBef>
                <a:spcPts val="0"/>
              </a:spcBef>
              <a:spcAft>
                <a:spcPts val="100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Does not require high literacy skills</a:t>
            </a:r>
          </a:p>
        </p:txBody>
      </p:sp>
    </p:spTree>
    <p:extLst>
      <p:ext uri="{BB962C8B-B14F-4D97-AF65-F5344CB8AC3E}">
        <p14:creationId xmlns:p14="http://schemas.microsoft.com/office/powerpoint/2010/main" val="4238625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1076960"/>
            <a:ext cx="7294880" cy="6449971"/>
          </a:xfrm>
          <a:prstGeom prst="rect">
            <a:avLst/>
          </a:prstGeom>
        </p:spPr>
        <p:txBody>
          <a:bodyPr wrap="square">
            <a:spAutoFit/>
          </a:bodyPr>
          <a:lstStyle/>
          <a:p>
            <a:pPr algn="just">
              <a:lnSpc>
                <a:spcPct val="115000"/>
              </a:lnSpc>
              <a:spcAft>
                <a:spcPts val="1000"/>
              </a:spcAft>
            </a:pPr>
            <a:r>
              <a:rPr lang="en-US" sz="4400" dirty="0">
                <a:latin typeface="Calibri" panose="020F0502020204030204" pitchFamily="34" charset="0"/>
                <a:ea typeface="Calibri" panose="020F0502020204030204" pitchFamily="34" charset="0"/>
                <a:cs typeface="Times New Roman" panose="02020603050405020304" pitchFamily="18" charset="0"/>
              </a:rPr>
              <a:t>Disadvantages</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Is transitory in nature </a:t>
            </a:r>
            <a:r>
              <a:rPr lang="en-US" sz="4400" dirty="0" smtClean="0">
                <a:latin typeface="Calibri" panose="020F0502020204030204" pitchFamily="34" charset="0"/>
                <a:ea typeface="Calibri" panose="020F0502020204030204" pitchFamily="34" charset="0"/>
                <a:cs typeface="Times New Roman" panose="02020603050405020304" pitchFamily="18" charset="0"/>
              </a:rPr>
              <a:t>i.e. </a:t>
            </a:r>
            <a:r>
              <a:rPr lang="en-US" sz="4400" dirty="0">
                <a:latin typeface="Calibri" panose="020F0502020204030204" pitchFamily="34" charset="0"/>
                <a:ea typeface="Calibri" panose="020F0502020204030204" pitchFamily="34" charset="0"/>
                <a:cs typeface="Times New Roman" panose="02020603050405020304" pitchFamily="18" charset="0"/>
              </a:rPr>
              <a:t>there is no permanent record that one can refer to in the future </a:t>
            </a:r>
          </a:p>
          <a:p>
            <a:pPr marL="342900" marR="0" lvl="0" indent="-342900" algn="just">
              <a:lnSpc>
                <a:spcPct val="115000"/>
              </a:lnSpc>
              <a:spcBef>
                <a:spcPts val="0"/>
              </a:spcBef>
              <a:spcAft>
                <a:spcPts val="100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Its effectiveness depends on the mood of the listener at that time. </a:t>
            </a:r>
          </a:p>
        </p:txBody>
      </p:sp>
    </p:spTree>
    <p:extLst>
      <p:ext uri="{BB962C8B-B14F-4D97-AF65-F5344CB8AC3E}">
        <p14:creationId xmlns:p14="http://schemas.microsoft.com/office/powerpoint/2010/main" val="3435083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360" y="975360"/>
            <a:ext cx="6949440" cy="5543056"/>
          </a:xfrm>
          <a:prstGeom prst="rect">
            <a:avLst/>
          </a:prstGeom>
        </p:spPr>
        <p:txBody>
          <a:bodyPr wrap="square">
            <a:spAutoFit/>
          </a:bodyPr>
          <a:lstStyle/>
          <a:p>
            <a:pPr marR="0" lvl="0" algn="just">
              <a:lnSpc>
                <a:spcPct val="115000"/>
              </a:lnSpc>
              <a:spcBef>
                <a:spcPts val="0"/>
              </a:spcBef>
              <a:spcAft>
                <a:spcPts val="0"/>
              </a:spcAft>
            </a:pPr>
            <a:r>
              <a:rPr lang="en-US" sz="4400" b="1" dirty="0" smtClean="0">
                <a:latin typeface="Calibri" panose="020F0502020204030204" pitchFamily="34" charset="0"/>
                <a:ea typeface="Calibri" panose="020F0502020204030204" pitchFamily="34" charset="0"/>
                <a:cs typeface="Times New Roman" panose="02020603050405020304" pitchFamily="18" charset="0"/>
              </a:rPr>
              <a:t>b. Written </a:t>
            </a:r>
            <a:r>
              <a:rPr lang="en-US" sz="4400" b="1" dirty="0">
                <a:latin typeface="Calibri" panose="020F0502020204030204" pitchFamily="34" charset="0"/>
                <a:ea typeface="Calibri" panose="020F0502020204030204" pitchFamily="34" charset="0"/>
                <a:cs typeface="Times New Roman" panose="02020603050405020304" pitchFamily="18" charset="0"/>
              </a:rPr>
              <a:t>Communication </a:t>
            </a:r>
          </a:p>
          <a:p>
            <a:pPr marL="342900" marR="0" lvl="0" indent="-342900" algn="just">
              <a:lnSpc>
                <a:spcPct val="115000"/>
              </a:lnSpc>
              <a:spcBef>
                <a:spcPts val="0"/>
              </a:spcBef>
              <a:spcAft>
                <a:spcPts val="100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Is the type of communication that uses written material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memos, notes, letters, reports, minutes, circulars, newsletters, leaflets</a:t>
            </a:r>
          </a:p>
        </p:txBody>
      </p:sp>
    </p:spTree>
    <p:extLst>
      <p:ext uri="{BB962C8B-B14F-4D97-AF65-F5344CB8AC3E}">
        <p14:creationId xmlns:p14="http://schemas.microsoft.com/office/powerpoint/2010/main" val="411924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243840"/>
            <a:ext cx="6502400" cy="9777035"/>
          </a:xfrm>
          <a:prstGeom prst="rect">
            <a:avLst/>
          </a:prstGeom>
        </p:spPr>
        <p:txBody>
          <a:bodyPr wrap="square">
            <a:spAutoFit/>
          </a:bodyPr>
          <a:lstStyle/>
          <a:p>
            <a:pPr algn="just">
              <a:lnSpc>
                <a:spcPct val="115000"/>
              </a:lnSpc>
              <a:spcAft>
                <a:spcPts val="1000"/>
              </a:spcAft>
            </a:pPr>
            <a:r>
              <a:rPr lang="en-US" sz="3600" dirty="0">
                <a:latin typeface="Calibri" panose="020F0502020204030204" pitchFamily="34" charset="0"/>
                <a:ea typeface="Calibri" panose="020F0502020204030204" pitchFamily="34" charset="0"/>
                <a:cs typeface="Times New Roman" panose="02020603050405020304" pitchFamily="18" charset="0"/>
              </a:rPr>
              <a:t>Advantages of Written communication</a:t>
            </a:r>
          </a:p>
          <a:p>
            <a:pPr marL="342900" marR="0" lvl="0" indent="-342900" algn="just">
              <a:lnSpc>
                <a:spcPct val="115000"/>
              </a:lnSpc>
              <a:spcBef>
                <a:spcPts val="0"/>
              </a:spcBef>
              <a:spcAft>
                <a:spcPts val="0"/>
              </a:spcAft>
              <a:buFont typeface="Calibri" panose="020F0502020204030204" pitchFamily="34" charset="0"/>
              <a:buChar char="-"/>
            </a:pPr>
            <a:r>
              <a:rPr lang="en-US" sz="3600" dirty="0">
                <a:latin typeface="Calibri" panose="020F0502020204030204" pitchFamily="34" charset="0"/>
                <a:ea typeface="Calibri" panose="020F0502020204030204" pitchFamily="34" charset="0"/>
                <a:cs typeface="Times New Roman" panose="02020603050405020304" pitchFamily="18" charset="0"/>
              </a:rPr>
              <a:t>It provides a permanent record. This makes it possible to verify essential information such as dates, time, figures, names. It is for this reason that people insist on having written information to confirm oral messages for authenticity, authority and validity </a:t>
            </a:r>
          </a:p>
          <a:p>
            <a:pPr marL="342900" marR="0" lvl="0" indent="-342900" algn="just">
              <a:lnSpc>
                <a:spcPct val="115000"/>
              </a:lnSpc>
              <a:spcBef>
                <a:spcPts val="0"/>
              </a:spcBef>
              <a:spcAft>
                <a:spcPts val="0"/>
              </a:spcAft>
              <a:buFont typeface="Calibri" panose="020F0502020204030204" pitchFamily="34" charset="0"/>
              <a:buChar char="-"/>
            </a:pPr>
            <a:r>
              <a:rPr lang="en-US" sz="3600" dirty="0">
                <a:latin typeface="Calibri" panose="020F0502020204030204" pitchFamily="34" charset="0"/>
                <a:ea typeface="Calibri" panose="020F0502020204030204" pitchFamily="34" charset="0"/>
                <a:cs typeface="Times New Roman" panose="02020603050405020304" pitchFamily="18" charset="0"/>
              </a:rPr>
              <a:t>It can reach distant places where people cannot be reached through oral </a:t>
            </a:r>
            <a:r>
              <a:rPr lang="en-US" sz="3600" dirty="0" smtClean="0">
                <a:latin typeface="Calibri" panose="020F0502020204030204" pitchFamily="34" charset="0"/>
                <a:ea typeface="Calibri" panose="020F0502020204030204" pitchFamily="34" charset="0"/>
                <a:cs typeface="Times New Roman" panose="02020603050405020304" pitchFamily="18" charset="0"/>
              </a:rPr>
              <a:t>communication</a:t>
            </a:r>
            <a:endParaRPr lang="en-US" sz="3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2273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0"/>
            <a:ext cx="7772400" cy="8586966"/>
          </a:xfrm>
          <a:prstGeom prst="rect">
            <a:avLst/>
          </a:prstGeom>
        </p:spPr>
        <p:txBody>
          <a:bodyPr wrap="square">
            <a:spAutoFit/>
          </a:bodyPr>
          <a:lstStyle/>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It can be read at the convenience of the recipient </a:t>
            </a:r>
            <a:r>
              <a:rPr lang="en-US" sz="4000" dirty="0" smtClean="0">
                <a:latin typeface="Calibri" panose="020F0502020204030204" pitchFamily="34" charset="0"/>
                <a:ea typeface="Calibri" panose="020F0502020204030204" pitchFamily="34" charset="0"/>
                <a:cs typeface="Times New Roman" panose="02020603050405020304" pitchFamily="18" charset="0"/>
              </a:rPr>
              <a:t>i.e. </a:t>
            </a:r>
            <a:r>
              <a:rPr lang="en-US" sz="4000" dirty="0">
                <a:latin typeface="Calibri" panose="020F0502020204030204" pitchFamily="34" charset="0"/>
                <a:ea typeface="Calibri" panose="020F0502020204030204" pitchFamily="34" charset="0"/>
                <a:cs typeface="Times New Roman" panose="02020603050405020304" pitchFamily="18" charset="0"/>
              </a:rPr>
              <a:t>when one is at a more receptive mood and the message can be read over and over again. </a:t>
            </a:r>
          </a:p>
          <a:p>
            <a:pPr marL="342900" marR="0" lvl="0" indent="-342900" algn="just">
              <a:lnSpc>
                <a:spcPct val="115000"/>
              </a:lnSpc>
              <a:spcBef>
                <a:spcPts val="0"/>
              </a:spcBef>
              <a:spcAft>
                <a:spcPts val="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People tend to remember better what they see in print </a:t>
            </a:r>
          </a:p>
          <a:p>
            <a:pPr marL="342900" marR="0" lvl="0" indent="-342900" algn="just">
              <a:lnSpc>
                <a:spcPct val="115000"/>
              </a:lnSpc>
              <a:spcBef>
                <a:spcPts val="0"/>
              </a:spcBef>
              <a:spcAft>
                <a:spcPts val="1000"/>
              </a:spcAft>
              <a:buFont typeface="Calibri" panose="020F0502020204030204" pitchFamily="34" charset="0"/>
              <a:buChar char="-"/>
            </a:pPr>
            <a:r>
              <a:rPr lang="en-US" sz="4000" dirty="0">
                <a:latin typeface="Calibri" panose="020F0502020204030204" pitchFamily="34" charset="0"/>
                <a:ea typeface="Calibri" panose="020F0502020204030204" pitchFamily="34" charset="0"/>
                <a:cs typeface="Times New Roman" panose="02020603050405020304" pitchFamily="18" charset="0"/>
              </a:rPr>
              <a:t>Written messages are better structured by composers </a:t>
            </a:r>
            <a:r>
              <a:rPr lang="en-US" sz="4000" dirty="0" smtClean="0">
                <a:latin typeface="Calibri" panose="020F0502020204030204" pitchFamily="34" charset="0"/>
                <a:ea typeface="Calibri" panose="020F0502020204030204" pitchFamily="34" charset="0"/>
                <a:cs typeface="Times New Roman" panose="02020603050405020304" pitchFamily="18" charset="0"/>
              </a:rPr>
              <a:t>i.e. </a:t>
            </a:r>
            <a:r>
              <a:rPr lang="en-US" sz="4000" dirty="0">
                <a:latin typeface="Calibri" panose="020F0502020204030204" pitchFamily="34" charset="0"/>
                <a:ea typeface="Calibri" panose="020F0502020204030204" pitchFamily="34" charset="0"/>
                <a:cs typeface="Times New Roman" panose="02020603050405020304" pitchFamily="18" charset="0"/>
              </a:rPr>
              <a:t>words and phrases are carefully chosen </a:t>
            </a:r>
            <a:r>
              <a:rPr lang="en-US" sz="4000" dirty="0" smtClean="0">
                <a:latin typeface="Calibri" panose="020F0502020204030204" pitchFamily="34" charset="0"/>
                <a:ea typeface="Calibri" panose="020F0502020204030204" pitchFamily="34" charset="0"/>
                <a:cs typeface="Times New Roman" panose="02020603050405020304" pitchFamily="18" charset="0"/>
              </a:rPr>
              <a:t>then edited </a:t>
            </a:r>
            <a:r>
              <a:rPr lang="en-US" sz="4000" dirty="0">
                <a:latin typeface="Calibri" panose="020F0502020204030204" pitchFamily="34" charset="0"/>
                <a:ea typeface="Calibri" panose="020F0502020204030204" pitchFamily="34" charset="0"/>
                <a:cs typeface="Times New Roman" panose="02020603050405020304" pitchFamily="18" charset="0"/>
              </a:rPr>
              <a:t>and proofread </a:t>
            </a:r>
            <a:r>
              <a:rPr lang="en-US" sz="4000" dirty="0" smtClean="0">
                <a:latin typeface="Calibri" panose="020F0502020204030204" pitchFamily="34" charset="0"/>
                <a:ea typeface="Calibri" panose="020F0502020204030204" pitchFamily="34" charset="0"/>
                <a:cs typeface="Times New Roman" panose="02020603050405020304" pitchFamily="18" charset="0"/>
              </a:rPr>
              <a:t>unlike with oral  </a:t>
            </a:r>
            <a:r>
              <a:rPr lang="en-US" sz="4000" dirty="0">
                <a:latin typeface="Calibri" panose="020F0502020204030204" pitchFamily="34" charset="0"/>
                <a:ea typeface="Calibri" panose="020F0502020204030204" pitchFamily="34" charset="0"/>
                <a:cs typeface="Times New Roman" panose="02020603050405020304" pitchFamily="18" charset="0"/>
              </a:rPr>
              <a:t>communication</a:t>
            </a:r>
            <a:r>
              <a:rPr lang="en-US" sz="4000" dirty="0" smtClean="0">
                <a:latin typeface="Calibri" panose="020F0502020204030204" pitchFamily="34" charset="0"/>
                <a:ea typeface="Calibri" panose="020F0502020204030204" pitchFamily="34" charset="0"/>
                <a:cs typeface="Times New Roman" panose="02020603050405020304" pitchFamily="18" charset="0"/>
              </a:rPr>
              <a:t>. </a:t>
            </a:r>
            <a:endParaRPr lang="en-US" sz="4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5242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162560"/>
            <a:ext cx="7335520" cy="8007320"/>
          </a:xfrm>
          <a:prstGeom prst="rect">
            <a:avLst/>
          </a:prstGeom>
        </p:spPr>
        <p:txBody>
          <a:bodyPr wrap="square">
            <a:spAutoFit/>
          </a:bodyPr>
          <a:lstStyle/>
          <a:p>
            <a:pPr algn="just">
              <a:lnSpc>
                <a:spcPct val="115000"/>
              </a:lnSpc>
              <a:spcAft>
                <a:spcPts val="1000"/>
              </a:spcAft>
            </a:pPr>
            <a:r>
              <a:rPr lang="en-US" sz="4400" dirty="0">
                <a:latin typeface="Calibri" panose="020F0502020204030204" pitchFamily="34" charset="0"/>
                <a:ea typeface="Calibri" panose="020F0502020204030204" pitchFamily="34" charset="0"/>
                <a:cs typeface="Times New Roman" panose="02020603050405020304" pitchFamily="18" charset="0"/>
              </a:rPr>
              <a:t>Disadvantages</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The message might not get the deserved attention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when sent to busy executives </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Feedback is slow hence it is not good for solving problems </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There are no paralinguistic features to aid understanding (the message may thus not be understood as intended</a:t>
            </a:r>
            <a:r>
              <a:rPr lang="en-US" sz="4400" dirty="0" smtClean="0">
                <a:latin typeface="Calibri" panose="020F0502020204030204" pitchFamily="34" charset="0"/>
                <a:ea typeface="Calibri" panose="020F0502020204030204" pitchFamily="34" charset="0"/>
                <a:cs typeface="Times New Roman" panose="02020603050405020304" pitchFamily="18" charset="0"/>
              </a:rPr>
              <a:t>)</a:t>
            </a:r>
            <a:endParaRPr lang="en-US" sz="4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3211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90880"/>
            <a:ext cx="7772400" cy="8657755"/>
          </a:xfrm>
          <a:prstGeom prst="rect">
            <a:avLst/>
          </a:prstGeom>
        </p:spPr>
        <p:txBody>
          <a:bodyPr wrap="square">
            <a:spAutoFit/>
          </a:bodyPr>
          <a:lstStyle/>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Language errors may make the message vague or make communication impossible. Errors could be such things as bad grammar, spellings, poor punctuation </a:t>
            </a:r>
            <a:r>
              <a:rPr lang="en-US" sz="4400" dirty="0" smtClean="0">
                <a:latin typeface="Calibri" panose="020F0502020204030204" pitchFamily="34" charset="0"/>
                <a:ea typeface="Calibri" panose="020F0502020204030204" pitchFamily="34" charset="0"/>
                <a:cs typeface="Times New Roman" panose="02020603050405020304" pitchFamily="18" charset="0"/>
              </a:rPr>
              <a:t>etc.)  </a:t>
            </a:r>
            <a:endParaRPr lang="en-US" sz="4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There is a risk of confidential information falling into wrong hands or received at the wrong time.</a:t>
            </a:r>
          </a:p>
          <a:p>
            <a:pPr marL="342900" marR="0" lvl="0" indent="-342900" algn="just">
              <a:lnSpc>
                <a:spcPct val="115000"/>
              </a:lnSpc>
              <a:spcBef>
                <a:spcPts val="0"/>
              </a:spcBef>
              <a:spcAft>
                <a:spcPts val="100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Requires high literacy skills</a:t>
            </a:r>
          </a:p>
        </p:txBody>
      </p:sp>
    </p:spTree>
    <p:extLst>
      <p:ext uri="{BB962C8B-B14F-4D97-AF65-F5344CB8AC3E}">
        <p14:creationId xmlns:p14="http://schemas.microsoft.com/office/powerpoint/2010/main" val="877305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560" y="304800"/>
            <a:ext cx="7335520" cy="8976303"/>
          </a:xfrm>
          <a:prstGeom prst="rect">
            <a:avLst/>
          </a:prstGeom>
        </p:spPr>
        <p:txBody>
          <a:bodyPr wrap="square">
            <a:spAutoFit/>
          </a:bodyPr>
          <a:lstStyle/>
          <a:p>
            <a:pPr marL="6858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gn="just">
              <a:lnSpc>
                <a:spcPct val="115000"/>
              </a:lnSpc>
              <a:spcBef>
                <a:spcPts val="0"/>
              </a:spcBef>
              <a:spcAft>
                <a:spcPts val="0"/>
              </a:spcAft>
              <a:buFont typeface="+mj-lt"/>
              <a:buAutoNum type="alphaLcPeriod"/>
            </a:pPr>
            <a:r>
              <a:rPr lang="en-US" sz="4400" dirty="0">
                <a:latin typeface="Calibri" panose="020F0502020204030204" pitchFamily="34" charset="0"/>
                <a:ea typeface="Calibri" panose="020F0502020204030204" pitchFamily="34" charset="0"/>
                <a:cs typeface="Times New Roman" panose="02020603050405020304" pitchFamily="18" charset="0"/>
              </a:rPr>
              <a:t>Nonverbal Communication</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It refers to interpersonal communication that takes place without use of spoken words or a language. </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It looks at </a:t>
            </a:r>
            <a:r>
              <a:rPr lang="en-US" sz="4400" dirty="0" smtClean="0">
                <a:latin typeface="Calibri" panose="020F0502020204030204" pitchFamily="34" charset="0"/>
                <a:ea typeface="Calibri" panose="020F0502020204030204" pitchFamily="34" charset="0"/>
                <a:cs typeface="Times New Roman" panose="02020603050405020304" pitchFamily="18" charset="0"/>
              </a:rPr>
              <a:t>behaviors </a:t>
            </a:r>
            <a:r>
              <a:rPr lang="en-US" sz="4400" dirty="0">
                <a:latin typeface="Calibri" panose="020F0502020204030204" pitchFamily="34" charset="0"/>
                <a:ea typeface="Calibri" panose="020F0502020204030204" pitchFamily="34" charset="0"/>
                <a:cs typeface="Times New Roman" panose="02020603050405020304" pitchFamily="18" charset="0"/>
              </a:rPr>
              <a:t>of people other than the use of words</a:t>
            </a:r>
          </a:p>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The behaviors have socially shared meaning and have potential to elicit </a:t>
            </a:r>
            <a:r>
              <a:rPr lang="en-US" sz="4400" dirty="0" smtClean="0">
                <a:latin typeface="Calibri" panose="020F0502020204030204" pitchFamily="34" charset="0"/>
                <a:ea typeface="Calibri" panose="020F0502020204030204" pitchFamily="34" charset="0"/>
                <a:cs typeface="Times New Roman" panose="02020603050405020304" pitchFamily="18" charset="0"/>
              </a:rPr>
              <a:t>feedback</a:t>
            </a:r>
            <a:endParaRPr lang="en-US" sz="4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20499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4480"/>
            <a:ext cx="7772400" cy="8657755"/>
          </a:xfrm>
          <a:prstGeom prst="rect">
            <a:avLst/>
          </a:prstGeom>
        </p:spPr>
        <p:txBody>
          <a:bodyPr wrap="square">
            <a:spAutoFit/>
          </a:bodyPr>
          <a:lstStyle/>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Nonverbal communication can be used independently or together with verbal communication to complement the words </a:t>
            </a:r>
            <a:r>
              <a:rPr lang="en-GB" sz="4400" dirty="0" smtClean="0">
                <a:latin typeface="Calibri" panose="020F0502020204030204" pitchFamily="34" charset="0"/>
                <a:ea typeface="Calibri" panose="020F0502020204030204" pitchFamily="34" charset="0"/>
                <a:cs typeface="Times New Roman" panose="02020603050405020304" pitchFamily="18" charset="0"/>
              </a:rPr>
              <a:t>e.g.</a:t>
            </a:r>
            <a:r>
              <a:rPr lang="en-US" sz="4400" dirty="0" smtClean="0">
                <a:latin typeface="Calibri" panose="020F0502020204030204" pitchFamily="34" charset="0"/>
                <a:ea typeface="Calibri" panose="020F0502020204030204" pitchFamily="34" charset="0"/>
                <a:cs typeface="Times New Roman" panose="02020603050405020304" pitchFamily="18" charset="0"/>
              </a:rPr>
              <a:t> </a:t>
            </a:r>
            <a:r>
              <a:rPr lang="en-US" sz="4400" dirty="0">
                <a:latin typeface="Calibri" panose="020F0502020204030204" pitchFamily="34" charset="0"/>
                <a:ea typeface="Calibri" panose="020F0502020204030204" pitchFamily="34" charset="0"/>
                <a:cs typeface="Times New Roman" panose="02020603050405020304" pitchFamily="18" charset="0"/>
              </a:rPr>
              <a:t>saying “no” while shaking your head</a:t>
            </a:r>
          </a:p>
          <a:p>
            <a:pPr marL="342900" marR="0" lvl="0" indent="-342900" algn="just">
              <a:lnSpc>
                <a:spcPct val="115000"/>
              </a:lnSpc>
              <a:spcBef>
                <a:spcPts val="0"/>
              </a:spcBef>
              <a:spcAft>
                <a:spcPts val="100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When in a conversation, there is need for evidence that those involved in communication are attending and responding to each other. </a:t>
            </a:r>
          </a:p>
        </p:txBody>
      </p:sp>
    </p:spTree>
    <p:extLst>
      <p:ext uri="{BB962C8B-B14F-4D97-AF65-F5344CB8AC3E}">
        <p14:creationId xmlns:p14="http://schemas.microsoft.com/office/powerpoint/2010/main" val="2420341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3840"/>
            <a:ext cx="7772400" cy="9436429"/>
          </a:xfrm>
          <a:prstGeom prst="rect">
            <a:avLst/>
          </a:prstGeom>
        </p:spPr>
        <p:txBody>
          <a:bodyPr wrap="square">
            <a:spAutoFit/>
          </a:bodyPr>
          <a:lstStyle/>
          <a:p>
            <a:pPr marL="342900" marR="0" lvl="0" indent="-342900" algn="just">
              <a:lnSpc>
                <a:spcPct val="115000"/>
              </a:lnSpc>
              <a:spcBef>
                <a:spcPts val="0"/>
              </a:spcBef>
              <a:spcAft>
                <a:spcPts val="0"/>
              </a:spcAft>
              <a:buFont typeface="Calibri" panose="020F0502020204030204" pitchFamily="34" charset="0"/>
              <a:buChar char="-"/>
            </a:pPr>
            <a:r>
              <a:rPr lang="en-US" sz="4400" dirty="0">
                <a:latin typeface="Calibri" panose="020F0502020204030204" pitchFamily="34" charset="0"/>
                <a:ea typeface="Calibri" panose="020F0502020204030204" pitchFamily="34" charset="0"/>
                <a:cs typeface="Times New Roman" panose="02020603050405020304" pitchFamily="18" charset="0"/>
              </a:rPr>
              <a:t>This evidence include </a:t>
            </a:r>
            <a:r>
              <a:rPr lang="en-US" sz="4400" dirty="0">
                <a:latin typeface="Calibri" panose="020F0502020204030204" pitchFamily="34" charset="0"/>
                <a:ea typeface="Calibri" panose="020F0502020204030204" pitchFamily="34" charset="0"/>
                <a:cs typeface="Times New Roman" panose="02020603050405020304" pitchFamily="18" charset="0"/>
              </a:rPr>
              <a:t>:</a:t>
            </a:r>
            <a:endParaRPr lang="en-US" sz="4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romanLcPeriod"/>
            </a:pPr>
            <a:r>
              <a:rPr lang="en-US" sz="4400" dirty="0">
                <a:latin typeface="Calibri" panose="020F0502020204030204" pitchFamily="34" charset="0"/>
                <a:ea typeface="Calibri" panose="020F0502020204030204" pitchFamily="34" charset="0"/>
                <a:cs typeface="Times New Roman" panose="02020603050405020304" pitchFamily="18" charset="0"/>
              </a:rPr>
              <a:t>Gestures: refer to body movements that express an emotion or an idea.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nodding, shaking your head to show </a:t>
            </a:r>
            <a:r>
              <a:rPr lang="en-US" sz="4400" dirty="0" smtClean="0">
                <a:latin typeface="Calibri" panose="020F0502020204030204" pitchFamily="34" charset="0"/>
                <a:ea typeface="Calibri" panose="020F0502020204030204" pitchFamily="34" charset="0"/>
                <a:cs typeface="Times New Roman" panose="02020603050405020304" pitchFamily="18" charset="0"/>
              </a:rPr>
              <a:t>approval </a:t>
            </a:r>
            <a:r>
              <a:rPr lang="en-US" sz="4400" dirty="0">
                <a:latin typeface="Calibri" panose="020F0502020204030204" pitchFamily="34" charset="0"/>
                <a:ea typeface="Calibri" panose="020F0502020204030204" pitchFamily="34" charset="0"/>
                <a:cs typeface="Times New Roman" panose="02020603050405020304" pitchFamily="18" charset="0"/>
              </a:rPr>
              <a:t>or disagreement; touching your ear to show </a:t>
            </a:r>
            <a:r>
              <a:rPr lang="en-US" sz="4400" dirty="0" smtClean="0">
                <a:latin typeface="Calibri" panose="020F0502020204030204" pitchFamily="34" charset="0"/>
                <a:ea typeface="Calibri" panose="020F0502020204030204" pitchFamily="34" charset="0"/>
                <a:cs typeface="Times New Roman" panose="02020603050405020304" pitchFamily="18" charset="0"/>
              </a:rPr>
              <a:t>you </a:t>
            </a:r>
            <a:r>
              <a:rPr lang="en-US" sz="4400" dirty="0">
                <a:latin typeface="Calibri" panose="020F0502020204030204" pitchFamily="34" charset="0"/>
                <a:ea typeface="Calibri" panose="020F0502020204030204" pitchFamily="34" charset="0"/>
                <a:cs typeface="Times New Roman" panose="02020603050405020304" pitchFamily="18" charset="0"/>
              </a:rPr>
              <a:t>haven’t heard; putting a finger across the mouth to stop noise; raising a hand in class/football pitch; dropping a hand to offer a seat </a:t>
            </a:r>
          </a:p>
        </p:txBody>
      </p:sp>
    </p:spTree>
    <p:extLst>
      <p:ext uri="{BB962C8B-B14F-4D97-AF65-F5344CB8AC3E}">
        <p14:creationId xmlns:p14="http://schemas.microsoft.com/office/powerpoint/2010/main" val="2525305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365761"/>
            <a:ext cx="6868160" cy="8657755"/>
          </a:xfrm>
          <a:prstGeom prst="rect">
            <a:avLst/>
          </a:prstGeom>
        </p:spPr>
        <p:txBody>
          <a:bodyPr wrap="square">
            <a:spAutoFit/>
          </a:bodyPr>
          <a:lstStyle/>
          <a:p>
            <a:pPr marR="0" lvl="0" algn="just">
              <a:lnSpc>
                <a:spcPct val="115000"/>
              </a:lnSpc>
              <a:spcBef>
                <a:spcPts val="0"/>
              </a:spcBef>
              <a:spcAft>
                <a:spcPts val="100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ii. Eye </a:t>
            </a:r>
            <a:r>
              <a:rPr lang="en-US" sz="4400" dirty="0">
                <a:latin typeface="Calibri" panose="020F0502020204030204" pitchFamily="34" charset="0"/>
                <a:ea typeface="Calibri" panose="020F0502020204030204" pitchFamily="34" charset="0"/>
                <a:cs typeface="Times New Roman" panose="02020603050405020304" pitchFamily="18" charset="0"/>
              </a:rPr>
              <a:t>contact: the eyes are one of the most reliable indicators of emotions. People can read messages from your eyes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can tell when one is honest or lying. Lack of eye contact can also show that one is disinterested; it can also reveal confusion in the audience</a:t>
            </a:r>
          </a:p>
        </p:txBody>
      </p:sp>
    </p:spTree>
    <p:extLst>
      <p:ext uri="{BB962C8B-B14F-4D97-AF65-F5344CB8AC3E}">
        <p14:creationId xmlns:p14="http://schemas.microsoft.com/office/powerpoint/2010/main" val="15461677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1097281"/>
            <a:ext cx="7274560" cy="7879080"/>
          </a:xfrm>
          <a:prstGeom prst="rect">
            <a:avLst/>
          </a:prstGeom>
        </p:spPr>
        <p:txBody>
          <a:bodyPr wrap="square">
            <a:spAutoFit/>
          </a:bodyPr>
          <a:lstStyle/>
          <a:p>
            <a:pPr marR="0" lvl="0" algn="just">
              <a:lnSpc>
                <a:spcPct val="115000"/>
              </a:lnSpc>
              <a:spcBef>
                <a:spcPts val="0"/>
              </a:spcBef>
              <a:spcAft>
                <a:spcPts val="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iii. Posture</a:t>
            </a:r>
            <a:r>
              <a:rPr lang="en-US" sz="4400" dirty="0">
                <a:latin typeface="Calibri" panose="020F0502020204030204" pitchFamily="34" charset="0"/>
                <a:ea typeface="Calibri" panose="020F0502020204030204" pitchFamily="34" charset="0"/>
                <a:cs typeface="Times New Roman" panose="02020603050405020304" pitchFamily="18" charset="0"/>
              </a:rPr>
              <a:t>: this is how we carry our bodies </a:t>
            </a:r>
            <a:r>
              <a:rPr lang="en-US" sz="4400" dirty="0" smtClean="0">
                <a:latin typeface="Calibri" panose="020F0502020204030204" pitchFamily="34" charset="0"/>
                <a:ea typeface="Calibri" panose="020F0502020204030204" pitchFamily="34" charset="0"/>
                <a:cs typeface="Times New Roman" panose="02020603050405020304" pitchFamily="18" charset="0"/>
              </a:rPr>
              <a:t>i.e. </a:t>
            </a:r>
            <a:r>
              <a:rPr lang="en-US" sz="4400" dirty="0">
                <a:latin typeface="Calibri" panose="020F0502020204030204" pitchFamily="34" charset="0"/>
                <a:ea typeface="Calibri" panose="020F0502020204030204" pitchFamily="34" charset="0"/>
                <a:cs typeface="Times New Roman" panose="02020603050405020304" pitchFamily="18" charset="0"/>
              </a:rPr>
              <a:t>how we walk, sit and stand.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dragging your feet could indicate that you are tired, depressed, lazy or sick</a:t>
            </a:r>
          </a:p>
          <a:p>
            <a:pPr marR="0" lvl="0" algn="just">
              <a:lnSpc>
                <a:spcPct val="115000"/>
              </a:lnSpc>
              <a:spcBef>
                <a:spcPts val="0"/>
              </a:spcBef>
              <a:spcAft>
                <a:spcPts val="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iv. Dressing </a:t>
            </a:r>
            <a:r>
              <a:rPr lang="en-US" sz="4400" dirty="0">
                <a:latin typeface="Calibri" panose="020F0502020204030204" pitchFamily="34" charset="0"/>
                <a:ea typeface="Calibri" panose="020F0502020204030204" pitchFamily="34" charset="0"/>
                <a:cs typeface="Times New Roman" panose="02020603050405020304" pitchFamily="18" charset="0"/>
              </a:rPr>
              <a:t>and grooming: the way one dresses tells a story. It is important to dress to suit the occasion</a:t>
            </a:r>
            <a:r>
              <a:rPr lang="en-US" sz="4400" dirty="0" smtClean="0">
                <a:latin typeface="Calibri" panose="020F0502020204030204" pitchFamily="34" charset="0"/>
                <a:ea typeface="Calibri" panose="020F0502020204030204" pitchFamily="34" charset="0"/>
                <a:cs typeface="Times New Roman" panose="02020603050405020304" pitchFamily="18" charset="0"/>
              </a:rPr>
              <a:t>.</a:t>
            </a:r>
            <a:endParaRPr lang="en-US" sz="4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62211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20" y="447040"/>
            <a:ext cx="7447280" cy="9232784"/>
          </a:xfrm>
          <a:prstGeom prst="rect">
            <a:avLst/>
          </a:prstGeom>
        </p:spPr>
        <p:txBody>
          <a:bodyPr wrap="square">
            <a:spAutoFit/>
          </a:bodyPr>
          <a:lstStyle/>
          <a:p>
            <a:pPr marR="0" lvl="0" algn="just">
              <a:lnSpc>
                <a:spcPct val="115000"/>
              </a:lnSpc>
              <a:spcBef>
                <a:spcPts val="0"/>
              </a:spcBef>
              <a:spcAft>
                <a:spcPts val="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v. Use </a:t>
            </a:r>
            <a:r>
              <a:rPr lang="en-US" sz="4400" dirty="0">
                <a:latin typeface="Calibri" panose="020F0502020204030204" pitchFamily="34" charset="0"/>
                <a:ea typeface="Calibri" panose="020F0502020204030204" pitchFamily="34" charset="0"/>
                <a:cs typeface="Times New Roman" panose="02020603050405020304" pitchFamily="18" charset="0"/>
              </a:rPr>
              <a:t>of </a:t>
            </a:r>
            <a:r>
              <a:rPr lang="en-US" sz="4400" dirty="0" smtClean="0">
                <a:latin typeface="Calibri" panose="020F0502020204030204" pitchFamily="34" charset="0"/>
                <a:ea typeface="Calibri" panose="020F0502020204030204" pitchFamily="34" charset="0"/>
                <a:cs typeface="Times New Roman" panose="02020603050405020304" pitchFamily="18" charset="0"/>
              </a:rPr>
              <a:t>space</a:t>
            </a:r>
            <a:endParaRPr lang="en-US" sz="4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100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vi. Facial </a:t>
            </a:r>
            <a:r>
              <a:rPr lang="en-US" sz="4400" dirty="0">
                <a:latin typeface="Calibri" panose="020F0502020204030204" pitchFamily="34" charset="0"/>
                <a:ea typeface="Calibri" panose="020F0502020204030204" pitchFamily="34" charset="0"/>
                <a:cs typeface="Times New Roman" panose="02020603050405020304" pitchFamily="18" charset="0"/>
              </a:rPr>
              <a:t>expressions: these are nonverbal cues on the speaker’s face </a:t>
            </a:r>
            <a:r>
              <a:rPr lang="en-US" sz="4400" dirty="0" smtClean="0">
                <a:latin typeface="Calibri" panose="020F0502020204030204" pitchFamily="34" charset="0"/>
                <a:ea typeface="Calibri" panose="020F0502020204030204" pitchFamily="34" charset="0"/>
                <a:cs typeface="Times New Roman" panose="02020603050405020304" pitchFamily="18" charset="0"/>
              </a:rPr>
              <a:t>e.g.: </a:t>
            </a:r>
            <a:r>
              <a:rPr lang="en-US" sz="4400" dirty="0">
                <a:latin typeface="Calibri" panose="020F0502020204030204" pitchFamily="34" charset="0"/>
                <a:ea typeface="Calibri" panose="020F0502020204030204" pitchFamily="34" charset="0"/>
                <a:cs typeface="Times New Roman" panose="02020603050405020304" pitchFamily="18" charset="0"/>
              </a:rPr>
              <a:t>smile to show happiness; frown to show </a:t>
            </a:r>
            <a:r>
              <a:rPr lang="en-US" sz="4400" dirty="0" smtClean="0">
                <a:latin typeface="Calibri" panose="020F0502020204030204" pitchFamily="34" charset="0"/>
                <a:ea typeface="Calibri" panose="020F0502020204030204" pitchFamily="34" charset="0"/>
                <a:cs typeface="Times New Roman" panose="02020603050405020304" pitchFamily="18" charset="0"/>
              </a:rPr>
              <a:t>sadness/anger</a:t>
            </a:r>
          </a:p>
          <a:p>
            <a:pPr marR="0" lvl="0" algn="just">
              <a:lnSpc>
                <a:spcPct val="115000"/>
              </a:lnSpc>
              <a:spcBef>
                <a:spcPts val="0"/>
              </a:spcBef>
              <a:spcAft>
                <a:spcPts val="1000"/>
              </a:spcAft>
            </a:pPr>
            <a:r>
              <a:rPr lang="en-US" sz="4400" dirty="0" smtClean="0">
                <a:latin typeface="Calibri" panose="020F0502020204030204" pitchFamily="34" charset="0"/>
                <a:ea typeface="Calibri" panose="020F0502020204030204" pitchFamily="34" charset="0"/>
                <a:cs typeface="Times New Roman" panose="02020603050405020304" pitchFamily="18" charset="0"/>
              </a:rPr>
              <a:t>vii. </a:t>
            </a:r>
            <a:r>
              <a:rPr lang="en-US" sz="4400" dirty="0"/>
              <a:t>Pictures: Are attractive to the eye; they communicate in an instant and comprehensive manner to the illiterate </a:t>
            </a:r>
            <a:r>
              <a:rPr lang="en-US" sz="4400" dirty="0" smtClean="0"/>
              <a:t>e.g. </a:t>
            </a:r>
            <a:r>
              <a:rPr lang="en-US" sz="4400" dirty="0"/>
              <a:t>toilet symbols</a:t>
            </a:r>
          </a:p>
          <a:p>
            <a:pPr marR="0" lvl="0" algn="just">
              <a:lnSpc>
                <a:spcPct val="115000"/>
              </a:lnSpc>
              <a:spcBef>
                <a:spcPts val="0"/>
              </a:spcBef>
              <a:spcAft>
                <a:spcPts val="10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81585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426721"/>
            <a:ext cx="7315200" cy="6321731"/>
          </a:xfrm>
          <a:prstGeom prst="rect">
            <a:avLst/>
          </a:prstGeom>
        </p:spPr>
        <p:txBody>
          <a:bodyPr wrap="square">
            <a:spAutoFit/>
          </a:bodyPr>
          <a:lstStyle/>
          <a:p>
            <a:pPr marL="914400" marR="0" algn="just">
              <a:lnSpc>
                <a:spcPct val="115000"/>
              </a:lnSpc>
              <a:spcBef>
                <a:spcPts val="0"/>
              </a:spcBef>
              <a:spcAft>
                <a:spcPts val="0"/>
              </a:spcAft>
            </a:pPr>
            <a:r>
              <a:rPr lang="en-US" sz="4400" dirty="0">
                <a:latin typeface="Calibri" panose="020F0502020204030204" pitchFamily="34" charset="0"/>
                <a:ea typeface="Calibri" panose="020F0502020204030204" pitchFamily="34" charset="0"/>
                <a:cs typeface="Times New Roman" panose="02020603050405020304" pitchFamily="18" charset="0"/>
              </a:rPr>
              <a:t>Advantages of Pictorial Communication</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Pictures are international</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Pictures are instantaneous in their impact</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Are comprehensible to the illiterate </a:t>
            </a:r>
          </a:p>
          <a:p>
            <a:pPr marL="342900" marR="0" lvl="0" indent="-342900" algn="just">
              <a:lnSpc>
                <a:spcPct val="115000"/>
              </a:lnSpc>
              <a:spcBef>
                <a:spcPts val="0"/>
              </a:spcBef>
              <a:spcAft>
                <a:spcPts val="100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Easily remembered </a:t>
            </a:r>
          </a:p>
        </p:txBody>
      </p:sp>
    </p:spTree>
    <p:extLst>
      <p:ext uri="{BB962C8B-B14F-4D97-AF65-F5344CB8AC3E}">
        <p14:creationId xmlns:p14="http://schemas.microsoft.com/office/powerpoint/2010/main" val="3288980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568960"/>
            <a:ext cx="7071360" cy="7228646"/>
          </a:xfrm>
          <a:prstGeom prst="rect">
            <a:avLst/>
          </a:prstGeom>
        </p:spPr>
        <p:txBody>
          <a:bodyPr wrap="square">
            <a:spAutoFit/>
          </a:bodyPr>
          <a:lstStyle/>
          <a:p>
            <a:pPr algn="just">
              <a:lnSpc>
                <a:spcPct val="115000"/>
              </a:lnSpc>
              <a:spcAft>
                <a:spcPts val="1000"/>
              </a:spcAft>
            </a:pPr>
            <a:r>
              <a:rPr lang="en-US" sz="4400" dirty="0">
                <a:latin typeface="Calibri" panose="020F0502020204030204" pitchFamily="34" charset="0"/>
                <a:ea typeface="Calibri" panose="020F0502020204030204" pitchFamily="34" charset="0"/>
                <a:cs typeface="Times New Roman" panose="02020603050405020304" pitchFamily="18" charset="0"/>
              </a:rPr>
              <a:t>Disadvantages: They cannot be used in the following instances</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Reasoned arguments</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Detailed instructions </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Exact information</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Definition</a:t>
            </a:r>
          </a:p>
          <a:p>
            <a:pPr marL="342900" marR="0" lvl="0" indent="-342900" algn="just">
              <a:lnSpc>
                <a:spcPct val="115000"/>
              </a:lnSpc>
              <a:spcBef>
                <a:spcPts val="0"/>
              </a:spcBef>
              <a:spcAft>
                <a:spcPts val="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Records of discussions </a:t>
            </a:r>
          </a:p>
          <a:p>
            <a:pPr marL="342900" marR="0" lvl="0" indent="-342900" algn="just">
              <a:lnSpc>
                <a:spcPct val="115000"/>
              </a:lnSpc>
              <a:spcBef>
                <a:spcPts val="0"/>
              </a:spcBef>
              <a:spcAft>
                <a:spcPts val="1000"/>
              </a:spcAft>
              <a:buFont typeface="Wingdings" panose="05000000000000000000" pitchFamily="2" charset="2"/>
              <a:buChar char=""/>
            </a:pPr>
            <a:r>
              <a:rPr lang="en-US" sz="4400" dirty="0">
                <a:latin typeface="Calibri" panose="020F0502020204030204" pitchFamily="34" charset="0"/>
                <a:ea typeface="Calibri" panose="020F0502020204030204" pitchFamily="34" charset="0"/>
                <a:cs typeface="Times New Roman" panose="02020603050405020304" pitchFamily="18" charset="0"/>
              </a:rPr>
              <a:t>Legal matters </a:t>
            </a:r>
            <a:r>
              <a:rPr lang="en-US" sz="4400" dirty="0" smtClean="0">
                <a:latin typeface="Calibri" panose="020F0502020204030204" pitchFamily="34" charset="0"/>
                <a:ea typeface="Calibri" panose="020F0502020204030204" pitchFamily="34" charset="0"/>
                <a:cs typeface="Times New Roman" panose="02020603050405020304" pitchFamily="18" charset="0"/>
              </a:rPr>
              <a:t>etc.</a:t>
            </a:r>
            <a:endParaRPr lang="en-US" sz="4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2630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502</TotalTime>
  <Words>1573</Words>
  <Application>Microsoft Office PowerPoint</Application>
  <PresentationFormat>Custom</PresentationFormat>
  <Paragraphs>114</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WANANGWA TEMBO</dc:creator>
  <cp:keywords/>
  <cp:lastModifiedBy>ADMIN</cp:lastModifiedBy>
  <cp:revision>32</cp:revision>
  <dcterms:modified xsi:type="dcterms:W3CDTF">2022-05-19T20:45:49Z</dcterms:modified>
</cp:coreProperties>
</file>