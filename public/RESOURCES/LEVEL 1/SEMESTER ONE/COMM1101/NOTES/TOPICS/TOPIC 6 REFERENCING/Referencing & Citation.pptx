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8"/>
  </p:notesMasterIdLst>
  <p:sldIdLst>
    <p:sldId id="257" r:id="rId2"/>
    <p:sldId id="258" r:id="rId3"/>
    <p:sldId id="259" r:id="rId4"/>
    <p:sldId id="273" r:id="rId5"/>
    <p:sldId id="260" r:id="rId6"/>
    <p:sldId id="261" r:id="rId7"/>
    <p:sldId id="262" r:id="rId8"/>
    <p:sldId id="263" r:id="rId9"/>
    <p:sldId id="264" r:id="rId10"/>
    <p:sldId id="265" r:id="rId11"/>
    <p:sldId id="266" r:id="rId12"/>
    <p:sldId id="267" r:id="rId13"/>
    <p:sldId id="268" r:id="rId14"/>
    <p:sldId id="269" r:id="rId15"/>
    <p:sldId id="321" r:id="rId16"/>
    <p:sldId id="313" r:id="rId17"/>
    <p:sldId id="315" r:id="rId18"/>
    <p:sldId id="314" r:id="rId19"/>
    <p:sldId id="270" r:id="rId20"/>
    <p:sldId id="316" r:id="rId21"/>
    <p:sldId id="317" r:id="rId22"/>
    <p:sldId id="318" r:id="rId23"/>
    <p:sldId id="319" r:id="rId24"/>
    <p:sldId id="320" r:id="rId25"/>
    <p:sldId id="271" r:id="rId26"/>
    <p:sldId id="272" r:id="rId27"/>
    <p:sldId id="274" r:id="rId28"/>
    <p:sldId id="275" r:id="rId29"/>
    <p:sldId id="276" r:id="rId30"/>
    <p:sldId id="278" r:id="rId31"/>
    <p:sldId id="279" r:id="rId32"/>
    <p:sldId id="280" r:id="rId33"/>
    <p:sldId id="281" r:id="rId34"/>
    <p:sldId id="282" r:id="rId35"/>
    <p:sldId id="283" r:id="rId36"/>
    <p:sldId id="284" r:id="rId37"/>
    <p:sldId id="277" r:id="rId38"/>
    <p:sldId id="285" r:id="rId39"/>
    <p:sldId id="286" r:id="rId40"/>
    <p:sldId id="287" r:id="rId41"/>
    <p:sldId id="288" r:id="rId42"/>
    <p:sldId id="326" r:id="rId43"/>
    <p:sldId id="327" r:id="rId44"/>
    <p:sldId id="328" r:id="rId45"/>
    <p:sldId id="329" r:id="rId46"/>
    <p:sldId id="330" r:id="rId47"/>
    <p:sldId id="331" r:id="rId48"/>
    <p:sldId id="332" r:id="rId49"/>
    <p:sldId id="323" r:id="rId50"/>
    <p:sldId id="324" r:id="rId51"/>
    <p:sldId id="325" r:id="rId52"/>
    <p:sldId id="289" r:id="rId53"/>
    <p:sldId id="290" r:id="rId54"/>
    <p:sldId id="291" r:id="rId55"/>
    <p:sldId id="292" r:id="rId56"/>
    <p:sldId id="293" r:id="rId57"/>
    <p:sldId id="294" r:id="rId58"/>
    <p:sldId id="295" r:id="rId59"/>
    <p:sldId id="296" r:id="rId60"/>
    <p:sldId id="297" r:id="rId61"/>
    <p:sldId id="298" r:id="rId62"/>
    <p:sldId id="322" r:id="rId63"/>
    <p:sldId id="299" r:id="rId64"/>
    <p:sldId id="300" r:id="rId65"/>
    <p:sldId id="301" r:id="rId66"/>
    <p:sldId id="302" r:id="rId67"/>
    <p:sldId id="303" r:id="rId68"/>
    <p:sldId id="304" r:id="rId69"/>
    <p:sldId id="305" r:id="rId70"/>
    <p:sldId id="306" r:id="rId71"/>
    <p:sldId id="307" r:id="rId72"/>
    <p:sldId id="308" r:id="rId73"/>
    <p:sldId id="309" r:id="rId74"/>
    <p:sldId id="310" r:id="rId75"/>
    <p:sldId id="311" r:id="rId76"/>
    <p:sldId id="312" r:id="rId7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9" d="100"/>
          <a:sy n="79" d="100"/>
        </p:scale>
        <p:origin x="114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0CF0A0-297E-4FCF-9C60-D8C80E78CF85}" type="datetimeFigureOut">
              <a:rPr lang="en-US" smtClean="0"/>
              <a:t>12/17/2019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98A2C8-BD13-456F-8F4D-942CB31082B0}" type="slidenum">
              <a:rPr lang="en-US" smtClean="0"/>
              <a:t>‹#›</a:t>
            </a:fld>
            <a:endParaRPr lang="en-US"/>
          </a:p>
        </p:txBody>
      </p:sp>
    </p:spTree>
    <p:extLst>
      <p:ext uri="{BB962C8B-B14F-4D97-AF65-F5344CB8AC3E}">
        <p14:creationId xmlns:p14="http://schemas.microsoft.com/office/powerpoint/2010/main" val="327874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198A2C8-BD13-456F-8F4D-942CB31082B0}" type="slidenum">
              <a:rPr lang="en-US" smtClean="0"/>
              <a:t>63</a:t>
            </a:fld>
            <a:endParaRPr lang="en-US"/>
          </a:p>
        </p:txBody>
      </p:sp>
    </p:spTree>
    <p:extLst>
      <p:ext uri="{BB962C8B-B14F-4D97-AF65-F5344CB8AC3E}">
        <p14:creationId xmlns:p14="http://schemas.microsoft.com/office/powerpoint/2010/main" val="5395654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AD3BF39-F072-4EEC-8F85-B7D29F6059CB}" type="datetimeFigureOut">
              <a:rPr lang="en-US" smtClean="0"/>
              <a:t>12/17/2019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7A26E3-4987-44CC-B898-72AF52EDD899}" type="slidenum">
              <a:rPr lang="en-US" smtClean="0"/>
              <a:t>‹#›</a:t>
            </a:fld>
            <a:endParaRPr lang="en-US"/>
          </a:p>
        </p:txBody>
      </p:sp>
    </p:spTree>
    <p:extLst>
      <p:ext uri="{BB962C8B-B14F-4D97-AF65-F5344CB8AC3E}">
        <p14:creationId xmlns:p14="http://schemas.microsoft.com/office/powerpoint/2010/main" val="33345500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D3BF39-F072-4EEC-8F85-B7D29F6059CB}" type="datetimeFigureOut">
              <a:rPr lang="en-US" smtClean="0"/>
              <a:t>12/17/2019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7A26E3-4987-44CC-B898-72AF52EDD899}" type="slidenum">
              <a:rPr lang="en-US" smtClean="0"/>
              <a:t>‹#›</a:t>
            </a:fld>
            <a:endParaRPr lang="en-US"/>
          </a:p>
        </p:txBody>
      </p:sp>
    </p:spTree>
    <p:extLst>
      <p:ext uri="{BB962C8B-B14F-4D97-AF65-F5344CB8AC3E}">
        <p14:creationId xmlns:p14="http://schemas.microsoft.com/office/powerpoint/2010/main" val="4268856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AD3BF39-F072-4EEC-8F85-B7D29F6059CB}" type="datetimeFigureOut">
              <a:rPr lang="en-US" smtClean="0"/>
              <a:t>12/17/2019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7A26E3-4987-44CC-B898-72AF52EDD899}" type="slidenum">
              <a:rPr lang="en-US" smtClean="0"/>
              <a:t>‹#›</a:t>
            </a:fld>
            <a:endParaRPr lang="en-US"/>
          </a:p>
        </p:txBody>
      </p:sp>
    </p:spTree>
    <p:extLst>
      <p:ext uri="{BB962C8B-B14F-4D97-AF65-F5344CB8AC3E}">
        <p14:creationId xmlns:p14="http://schemas.microsoft.com/office/powerpoint/2010/main" val="7428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AD3BF39-F072-4EEC-8F85-B7D29F6059CB}" type="datetimeFigureOut">
              <a:rPr lang="en-US" smtClean="0"/>
              <a:t>12/17/2019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7A26E3-4987-44CC-B898-72AF52EDD899}" type="slidenum">
              <a:rPr lang="en-US" smtClean="0"/>
              <a:t>‹#›</a:t>
            </a:fld>
            <a:endParaRPr lang="en-US"/>
          </a:p>
        </p:txBody>
      </p:sp>
    </p:spTree>
    <p:extLst>
      <p:ext uri="{BB962C8B-B14F-4D97-AF65-F5344CB8AC3E}">
        <p14:creationId xmlns:p14="http://schemas.microsoft.com/office/powerpoint/2010/main" val="151252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AD3BF39-F072-4EEC-8F85-B7D29F6059CB}" type="datetimeFigureOut">
              <a:rPr lang="en-US" smtClean="0"/>
              <a:t>12/17/2019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87A26E3-4987-44CC-B898-72AF52EDD899}" type="slidenum">
              <a:rPr lang="en-US" smtClean="0"/>
              <a:t>‹#›</a:t>
            </a:fld>
            <a:endParaRPr lang="en-US"/>
          </a:p>
        </p:txBody>
      </p:sp>
    </p:spTree>
    <p:extLst>
      <p:ext uri="{BB962C8B-B14F-4D97-AF65-F5344CB8AC3E}">
        <p14:creationId xmlns:p14="http://schemas.microsoft.com/office/powerpoint/2010/main" val="1792883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AD3BF39-F072-4EEC-8F85-B7D29F6059CB}" type="datetimeFigureOut">
              <a:rPr lang="en-US" smtClean="0"/>
              <a:t>12/17/2019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87A26E3-4987-44CC-B898-72AF52EDD899}" type="slidenum">
              <a:rPr lang="en-US" smtClean="0"/>
              <a:t>‹#›</a:t>
            </a:fld>
            <a:endParaRPr lang="en-US"/>
          </a:p>
        </p:txBody>
      </p:sp>
    </p:spTree>
    <p:extLst>
      <p:ext uri="{BB962C8B-B14F-4D97-AF65-F5344CB8AC3E}">
        <p14:creationId xmlns:p14="http://schemas.microsoft.com/office/powerpoint/2010/main" val="233176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D3BF39-F072-4EEC-8F85-B7D29F6059CB}" type="datetimeFigureOut">
              <a:rPr lang="en-US" smtClean="0"/>
              <a:t>12/17/2019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87A26E3-4987-44CC-B898-72AF52EDD899}" type="slidenum">
              <a:rPr lang="en-US" smtClean="0"/>
              <a:t>‹#›</a:t>
            </a:fld>
            <a:endParaRPr lang="en-US"/>
          </a:p>
        </p:txBody>
      </p:sp>
    </p:spTree>
    <p:extLst>
      <p:ext uri="{BB962C8B-B14F-4D97-AF65-F5344CB8AC3E}">
        <p14:creationId xmlns:p14="http://schemas.microsoft.com/office/powerpoint/2010/main" val="203233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AD3BF39-F072-4EEC-8F85-B7D29F6059CB}" type="datetimeFigureOut">
              <a:rPr lang="en-US" smtClean="0"/>
              <a:t>12/17/2019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7A26E3-4987-44CC-B898-72AF52EDD899}" type="slidenum">
              <a:rPr lang="en-US" smtClean="0"/>
              <a:t>‹#›</a:t>
            </a:fld>
            <a:endParaRPr lang="en-US"/>
          </a:p>
        </p:txBody>
      </p:sp>
    </p:spTree>
    <p:extLst>
      <p:ext uri="{BB962C8B-B14F-4D97-AF65-F5344CB8AC3E}">
        <p14:creationId xmlns:p14="http://schemas.microsoft.com/office/powerpoint/2010/main" val="35666009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AD3BF39-F072-4EEC-8F85-B7D29F6059CB}" type="datetimeFigureOut">
              <a:rPr lang="en-US" smtClean="0"/>
              <a:t>12/17/2019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87A26E3-4987-44CC-B898-72AF52EDD899}" type="slidenum">
              <a:rPr lang="en-US" smtClean="0"/>
              <a:t>‹#›</a:t>
            </a:fld>
            <a:endParaRPr lang="en-US"/>
          </a:p>
        </p:txBody>
      </p:sp>
    </p:spTree>
    <p:extLst>
      <p:ext uri="{BB962C8B-B14F-4D97-AF65-F5344CB8AC3E}">
        <p14:creationId xmlns:p14="http://schemas.microsoft.com/office/powerpoint/2010/main" val="20391460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D3BF39-F072-4EEC-8F85-B7D29F6059CB}" type="datetimeFigureOut">
              <a:rPr lang="en-US" smtClean="0"/>
              <a:t>12/17/2019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7A26E3-4987-44CC-B898-72AF52EDD899}" type="slidenum">
              <a:rPr lang="en-US" smtClean="0"/>
              <a:t>‹#›</a:t>
            </a:fld>
            <a:endParaRPr lang="en-US"/>
          </a:p>
        </p:txBody>
      </p:sp>
    </p:spTree>
    <p:extLst>
      <p:ext uri="{BB962C8B-B14F-4D97-AF65-F5344CB8AC3E}">
        <p14:creationId xmlns:p14="http://schemas.microsoft.com/office/powerpoint/2010/main" val="3371313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AD3BF39-F072-4EEC-8F85-B7D29F6059CB}" type="datetimeFigureOut">
              <a:rPr lang="en-US" smtClean="0"/>
              <a:t>12/17/2019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87A26E3-4987-44CC-B898-72AF52EDD899}" type="slidenum">
              <a:rPr lang="en-US" smtClean="0"/>
              <a:t>‹#›</a:t>
            </a:fld>
            <a:endParaRPr lang="en-US"/>
          </a:p>
        </p:txBody>
      </p:sp>
    </p:spTree>
    <p:extLst>
      <p:ext uri="{BB962C8B-B14F-4D97-AF65-F5344CB8AC3E}">
        <p14:creationId xmlns:p14="http://schemas.microsoft.com/office/powerpoint/2010/main" val="1595981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D3BF39-F072-4EEC-8F85-B7D29F6059CB}" type="datetimeFigureOut">
              <a:rPr lang="en-US" smtClean="0"/>
              <a:t>12/17/2019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7A26E3-4987-44CC-B898-72AF52EDD899}" type="slidenum">
              <a:rPr lang="en-US" smtClean="0"/>
              <a:t>‹#›</a:t>
            </a:fld>
            <a:endParaRPr lang="en-US"/>
          </a:p>
        </p:txBody>
      </p:sp>
    </p:spTree>
    <p:extLst>
      <p:ext uri="{BB962C8B-B14F-4D97-AF65-F5344CB8AC3E}">
        <p14:creationId xmlns:p14="http://schemas.microsoft.com/office/powerpoint/2010/main" val="39529171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en.wikipedia.org/wiki/Adverb" TargetMode="External"/><Relationship Id="rId2" Type="http://schemas.openxmlformats.org/officeDocument/2006/relationships/hyperlink" Target="http://en.wikipedia.org/wiki/Latin"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Referencing</a:t>
            </a:r>
            <a:endParaRPr lang="en-US" b="1" dirty="0">
              <a:solidFill>
                <a:srgbClr val="FF0000"/>
              </a:solidFill>
            </a:endParaRPr>
          </a:p>
        </p:txBody>
      </p:sp>
      <p:sp>
        <p:nvSpPr>
          <p:cNvPr id="3" name="Content Placeholder 2"/>
          <p:cNvSpPr>
            <a:spLocks noGrp="1"/>
          </p:cNvSpPr>
          <p:nvPr>
            <p:ph idx="1"/>
          </p:nvPr>
        </p:nvSpPr>
        <p:spPr/>
        <p:txBody>
          <a:bodyPr>
            <a:normAutofit lnSpcReduction="10000"/>
          </a:bodyPr>
          <a:lstStyle/>
          <a:p>
            <a:pPr>
              <a:buFont typeface="Wingdings" pitchFamily="2" charset="2"/>
              <a:buChar char="Ø"/>
            </a:pPr>
            <a:r>
              <a:rPr lang="en-US" dirty="0" smtClean="0"/>
              <a:t>Also known as documenting</a:t>
            </a:r>
          </a:p>
          <a:p>
            <a:pPr algn="just">
              <a:buFont typeface="Wingdings" pitchFamily="2" charset="2"/>
              <a:buChar char="Ø"/>
            </a:pPr>
            <a:r>
              <a:rPr lang="en-GB" dirty="0"/>
              <a:t>is citing, acknowledging or giving credit to sources of the information or views on which you are expressing your own opinion in your </a:t>
            </a:r>
            <a:r>
              <a:rPr lang="en-GB" dirty="0" smtClean="0"/>
              <a:t>essay</a:t>
            </a:r>
          </a:p>
          <a:p>
            <a:pPr algn="just">
              <a:buFont typeface="Wingdings" pitchFamily="2" charset="2"/>
              <a:buChar char="Ø"/>
            </a:pPr>
            <a:r>
              <a:rPr lang="en-GB" dirty="0"/>
              <a:t>In academic writing you must always </a:t>
            </a:r>
            <a:r>
              <a:rPr lang="en-GB" dirty="0" smtClean="0"/>
              <a:t>cite (list/show) </a:t>
            </a:r>
            <a:r>
              <a:rPr lang="en-GB" dirty="0"/>
              <a:t>your sources of information, in other words you should always give credit where it is due.</a:t>
            </a:r>
            <a:endParaRPr lang="en-US" dirty="0"/>
          </a:p>
        </p:txBody>
      </p:sp>
    </p:spTree>
    <p:extLst>
      <p:ext uri="{BB962C8B-B14F-4D97-AF65-F5344CB8AC3E}">
        <p14:creationId xmlns:p14="http://schemas.microsoft.com/office/powerpoint/2010/main" val="37595927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Why referencing?</a:t>
            </a:r>
            <a:endParaRPr lang="en-US" b="1" dirty="0">
              <a:solidFill>
                <a:srgbClr val="FF0000"/>
              </a:solidFill>
            </a:endParaRPr>
          </a:p>
        </p:txBody>
      </p:sp>
      <p:sp>
        <p:nvSpPr>
          <p:cNvPr id="3" name="Content Placeholder 2"/>
          <p:cNvSpPr>
            <a:spLocks noGrp="1"/>
          </p:cNvSpPr>
          <p:nvPr>
            <p:ph idx="1"/>
          </p:nvPr>
        </p:nvSpPr>
        <p:spPr/>
        <p:txBody>
          <a:bodyPr/>
          <a:lstStyle/>
          <a:p>
            <a:pPr algn="just">
              <a:buFont typeface="Wingdings" pitchFamily="2" charset="2"/>
              <a:buChar char="Ø"/>
            </a:pPr>
            <a:r>
              <a:rPr lang="en-GB" dirty="0"/>
              <a:t>T</a:t>
            </a:r>
            <a:r>
              <a:rPr lang="en-GB" dirty="0" smtClean="0"/>
              <a:t>o </a:t>
            </a:r>
            <a:r>
              <a:rPr lang="en-GB" dirty="0"/>
              <a:t>avoid plagiarism, i.e. using someone else’s words or ideas as if they are your own. In other words, plagiarism is stealing some one’s ideas or words</a:t>
            </a:r>
            <a:r>
              <a:rPr lang="en-GB" dirty="0" smtClean="0"/>
              <a:t>. Plagiarism is unacceptable and a serious academic offence.</a:t>
            </a:r>
          </a:p>
          <a:p>
            <a:pPr algn="just"/>
            <a:r>
              <a:rPr lang="en-GB" dirty="0" smtClean="0"/>
              <a:t>The copying of another person’s ideas, text, or other creative work and presenting it one’s own, especially without permission.</a:t>
            </a:r>
          </a:p>
        </p:txBody>
      </p:sp>
    </p:spTree>
    <p:extLst>
      <p:ext uri="{BB962C8B-B14F-4D97-AF65-F5344CB8AC3E}">
        <p14:creationId xmlns:p14="http://schemas.microsoft.com/office/powerpoint/2010/main" val="24260892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Reasons for referencing </a:t>
            </a:r>
            <a:r>
              <a:rPr lang="en-US" b="1" dirty="0" err="1" smtClean="0">
                <a:solidFill>
                  <a:srgbClr val="FF0000"/>
                </a:solidFill>
              </a:rPr>
              <a:t>cont</a:t>
            </a:r>
            <a:r>
              <a:rPr lang="en-US" b="1" dirty="0" smtClean="0">
                <a:solidFill>
                  <a:srgbClr val="FF0000"/>
                </a:solidFill>
              </a:rPr>
              <a:t>…</a:t>
            </a:r>
            <a:endParaRPr lang="en-US" b="1" dirty="0">
              <a:solidFill>
                <a:srgbClr val="FF0000"/>
              </a:solidFill>
            </a:endParaRPr>
          </a:p>
        </p:txBody>
      </p:sp>
      <p:sp>
        <p:nvSpPr>
          <p:cNvPr id="3" name="Content Placeholder 2"/>
          <p:cNvSpPr>
            <a:spLocks noGrp="1"/>
          </p:cNvSpPr>
          <p:nvPr>
            <p:ph idx="1"/>
          </p:nvPr>
        </p:nvSpPr>
        <p:spPr/>
        <p:txBody>
          <a:bodyPr>
            <a:normAutofit/>
          </a:bodyPr>
          <a:lstStyle/>
          <a:p>
            <a:pPr lvl="0" algn="just">
              <a:buFont typeface="Wingdings" pitchFamily="2" charset="2"/>
              <a:buChar char="Ø"/>
            </a:pPr>
            <a:r>
              <a:rPr lang="en-GB" dirty="0"/>
              <a:t>T</a:t>
            </a:r>
            <a:r>
              <a:rPr lang="en-GB" dirty="0" smtClean="0"/>
              <a:t>o </a:t>
            </a:r>
            <a:r>
              <a:rPr lang="en-GB" dirty="0"/>
              <a:t>make your material authentic, reliable, believable or </a:t>
            </a:r>
            <a:r>
              <a:rPr lang="en-GB" dirty="0" smtClean="0"/>
              <a:t>respectable. It supports and strengthens your argument.</a:t>
            </a:r>
            <a:r>
              <a:rPr lang="en-US" dirty="0"/>
              <a:t> Every academic paper is in essence an argument, not in the everyday use of this word, but an argument in the sense that you take a position on an issue and support it with evidence gathered from the sources you have read.</a:t>
            </a:r>
            <a:endParaRPr lang="en-GB" dirty="0" smtClean="0"/>
          </a:p>
          <a:p>
            <a:pPr marL="0" indent="0" algn="just">
              <a:buNone/>
            </a:pPr>
            <a:endParaRPr lang="en-US" dirty="0"/>
          </a:p>
        </p:txBody>
      </p:sp>
    </p:spTree>
    <p:extLst>
      <p:ext uri="{BB962C8B-B14F-4D97-AF65-F5344CB8AC3E}">
        <p14:creationId xmlns:p14="http://schemas.microsoft.com/office/powerpoint/2010/main" val="25345753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Reasons for referencing </a:t>
            </a:r>
            <a:r>
              <a:rPr lang="en-US" b="1" dirty="0" err="1" smtClean="0">
                <a:solidFill>
                  <a:srgbClr val="FF0000"/>
                </a:solidFill>
              </a:rPr>
              <a:t>cont</a:t>
            </a:r>
            <a:r>
              <a:rPr lang="en-US" b="1" dirty="0" smtClean="0">
                <a:solidFill>
                  <a:srgbClr val="FF0000"/>
                </a:solidFill>
              </a:rPr>
              <a:t>…</a:t>
            </a:r>
            <a:endParaRPr lang="en-US" b="1" dirty="0">
              <a:solidFill>
                <a:srgbClr val="FF0000"/>
              </a:solidFill>
            </a:endParaRPr>
          </a:p>
        </p:txBody>
      </p:sp>
      <p:sp>
        <p:nvSpPr>
          <p:cNvPr id="3" name="Content Placeholder 2"/>
          <p:cNvSpPr>
            <a:spLocks noGrp="1"/>
          </p:cNvSpPr>
          <p:nvPr>
            <p:ph idx="1"/>
          </p:nvPr>
        </p:nvSpPr>
        <p:spPr/>
        <p:txBody>
          <a:bodyPr/>
          <a:lstStyle/>
          <a:p>
            <a:pPr lvl="0" algn="just">
              <a:buFont typeface="Wingdings" pitchFamily="2" charset="2"/>
              <a:buChar char="Ø"/>
            </a:pPr>
            <a:r>
              <a:rPr lang="en-GB" dirty="0"/>
              <a:t>T</a:t>
            </a:r>
            <a:r>
              <a:rPr lang="en-GB" dirty="0" smtClean="0"/>
              <a:t>o </a:t>
            </a:r>
            <a:r>
              <a:rPr lang="en-GB" dirty="0"/>
              <a:t>give the </a:t>
            </a:r>
            <a:r>
              <a:rPr lang="en-GB" dirty="0" smtClean="0"/>
              <a:t>readers </a:t>
            </a:r>
            <a:r>
              <a:rPr lang="en-GB" dirty="0"/>
              <a:t>a chance to read more on the subject, or to inspect your source for </a:t>
            </a:r>
            <a:r>
              <a:rPr lang="en-GB" dirty="0" smtClean="0"/>
              <a:t>themselves. Referencing demonstrates that you have read.</a:t>
            </a:r>
            <a:r>
              <a:rPr lang="en-US" dirty="0"/>
              <a:t> As a student writer your purpose is to show your reader (your marker) that you have read, thought about and come to a point of view on the assigned topic. </a:t>
            </a:r>
            <a:r>
              <a:rPr lang="en-US" dirty="0" smtClean="0"/>
              <a:t>This provides </a:t>
            </a:r>
            <a:r>
              <a:rPr lang="en-US" dirty="0"/>
              <a:t>details of </a:t>
            </a:r>
            <a:r>
              <a:rPr lang="en-US" dirty="0" smtClean="0"/>
              <a:t>sources referred to in your paper </a:t>
            </a:r>
            <a:r>
              <a:rPr lang="en-US" dirty="0"/>
              <a:t>so that readers can access them.</a:t>
            </a:r>
          </a:p>
          <a:p>
            <a:endParaRPr lang="en-US" dirty="0"/>
          </a:p>
        </p:txBody>
      </p:sp>
    </p:spTree>
    <p:extLst>
      <p:ext uri="{BB962C8B-B14F-4D97-AF65-F5344CB8AC3E}">
        <p14:creationId xmlns:p14="http://schemas.microsoft.com/office/powerpoint/2010/main" val="202124128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Which materials require referencing?</a:t>
            </a:r>
            <a:endParaRPr lang="en-US" b="1" dirty="0">
              <a:solidFill>
                <a:srgbClr val="FF0000"/>
              </a:solidFill>
            </a:endParaRPr>
          </a:p>
        </p:txBody>
      </p:sp>
      <p:sp>
        <p:nvSpPr>
          <p:cNvPr id="3" name="Content Placeholder 2"/>
          <p:cNvSpPr>
            <a:spLocks noGrp="1"/>
          </p:cNvSpPr>
          <p:nvPr>
            <p:ph idx="1"/>
          </p:nvPr>
        </p:nvSpPr>
        <p:spPr/>
        <p:txBody>
          <a:bodyPr/>
          <a:lstStyle/>
          <a:p>
            <a:pPr>
              <a:buFont typeface="Wingdings" pitchFamily="2" charset="2"/>
              <a:buChar char="Ø"/>
            </a:pPr>
            <a:r>
              <a:rPr lang="en-US" dirty="0" smtClean="0"/>
              <a:t>Not all materials require referencing.</a:t>
            </a:r>
          </a:p>
          <a:p>
            <a:pPr algn="just">
              <a:buFont typeface="Wingdings" pitchFamily="2" charset="2"/>
              <a:buChar char="Ø"/>
            </a:pPr>
            <a:r>
              <a:rPr lang="en-GB" dirty="0" smtClean="0"/>
              <a:t>When </a:t>
            </a:r>
            <a:r>
              <a:rPr lang="en-GB" dirty="0"/>
              <a:t>you are writing about issues of </a:t>
            </a:r>
            <a:r>
              <a:rPr lang="en-GB" b="1" i="1" dirty="0">
                <a:solidFill>
                  <a:srgbClr val="FF0000"/>
                </a:solidFill>
              </a:rPr>
              <a:t>common knowledge</a:t>
            </a:r>
            <a:r>
              <a:rPr lang="en-GB" b="1" dirty="0"/>
              <a:t> </a:t>
            </a:r>
            <a:r>
              <a:rPr lang="en-GB" dirty="0"/>
              <a:t>you are not supposed to cite the </a:t>
            </a:r>
            <a:r>
              <a:rPr lang="en-GB" dirty="0" smtClean="0"/>
              <a:t>source.</a:t>
            </a:r>
          </a:p>
          <a:p>
            <a:pPr algn="just">
              <a:buFont typeface="Wingdings" pitchFamily="2" charset="2"/>
              <a:buChar char="Ø"/>
            </a:pPr>
            <a:r>
              <a:rPr lang="en-GB" dirty="0" smtClean="0"/>
              <a:t>When </a:t>
            </a:r>
            <a:r>
              <a:rPr lang="en-GB" dirty="0"/>
              <a:t>you are writing about issues of </a:t>
            </a:r>
            <a:r>
              <a:rPr lang="en-GB" i="1" dirty="0"/>
              <a:t>common knowledge</a:t>
            </a:r>
            <a:r>
              <a:rPr lang="en-GB" b="1" dirty="0"/>
              <a:t> </a:t>
            </a:r>
            <a:r>
              <a:rPr lang="en-GB" dirty="0"/>
              <a:t>you are not supposed to cite the source</a:t>
            </a:r>
            <a:endParaRPr lang="en-US" dirty="0"/>
          </a:p>
        </p:txBody>
      </p:sp>
    </p:spTree>
    <p:extLst>
      <p:ext uri="{BB962C8B-B14F-4D97-AF65-F5344CB8AC3E}">
        <p14:creationId xmlns:p14="http://schemas.microsoft.com/office/powerpoint/2010/main" val="32090768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Materials that require referencing</a:t>
            </a:r>
            <a:endParaRPr lang="en-US" b="1" dirty="0">
              <a:solidFill>
                <a:srgbClr val="FF0000"/>
              </a:solidFill>
            </a:endParaRPr>
          </a:p>
        </p:txBody>
      </p:sp>
      <p:sp>
        <p:nvSpPr>
          <p:cNvPr id="3" name="Content Placeholder 2"/>
          <p:cNvSpPr>
            <a:spLocks noGrp="1"/>
          </p:cNvSpPr>
          <p:nvPr>
            <p:ph idx="1"/>
          </p:nvPr>
        </p:nvSpPr>
        <p:spPr/>
        <p:txBody>
          <a:bodyPr/>
          <a:lstStyle/>
          <a:p>
            <a:pPr lvl="0" algn="just">
              <a:buFont typeface="Wingdings" pitchFamily="2" charset="2"/>
              <a:buChar char="Ø"/>
            </a:pPr>
            <a:r>
              <a:rPr lang="en-GB" dirty="0"/>
              <a:t>Direct quotations: whenever you use someone’s words, even if it </a:t>
            </a:r>
            <a:r>
              <a:rPr lang="en-GB" dirty="0" smtClean="0"/>
              <a:t>is </a:t>
            </a:r>
            <a:r>
              <a:rPr lang="en-GB" dirty="0"/>
              <a:t>just a phrase, put quotation marks around it and acknowledge the source</a:t>
            </a:r>
            <a:r>
              <a:rPr lang="en-GB" dirty="0" smtClean="0"/>
              <a:t>.</a:t>
            </a:r>
          </a:p>
          <a:p>
            <a:pPr algn="just">
              <a:buFont typeface="Wingdings" pitchFamily="2" charset="2"/>
              <a:buChar char="Ø"/>
            </a:pPr>
            <a:r>
              <a:rPr lang="en-GB" dirty="0"/>
              <a:t>Facts that are not widely known and can be questioned by other people such as statistics.</a:t>
            </a:r>
            <a:endParaRPr lang="en-US" dirty="0"/>
          </a:p>
          <a:p>
            <a:pPr marL="0" lvl="0" indent="0" algn="just">
              <a:buNone/>
            </a:pPr>
            <a:endParaRPr lang="en-US" dirty="0"/>
          </a:p>
          <a:p>
            <a:pPr algn="just">
              <a:buFont typeface="Wingdings" pitchFamily="2" charset="2"/>
              <a:buChar char="Ø"/>
            </a:pPr>
            <a:endParaRPr lang="en-US" dirty="0"/>
          </a:p>
        </p:txBody>
      </p:sp>
    </p:spTree>
    <p:extLst>
      <p:ext uri="{BB962C8B-B14F-4D97-AF65-F5344CB8AC3E}">
        <p14:creationId xmlns:p14="http://schemas.microsoft.com/office/powerpoint/2010/main" val="36076240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Materials requiring referencing </a:t>
            </a:r>
            <a:r>
              <a:rPr lang="en-US" b="1" dirty="0" err="1" smtClean="0">
                <a:solidFill>
                  <a:srgbClr val="FF0000"/>
                </a:solidFill>
              </a:rPr>
              <a:t>cont</a:t>
            </a:r>
            <a:r>
              <a:rPr lang="en-US" b="1" dirty="0" smtClean="0">
                <a:solidFill>
                  <a:srgbClr val="FF0000"/>
                </a:solidFill>
              </a:rPr>
              <a:t>…</a:t>
            </a:r>
            <a:endParaRPr lang="en-US" b="1" dirty="0">
              <a:solidFill>
                <a:srgbClr val="FF0000"/>
              </a:solidFill>
            </a:endParaRPr>
          </a:p>
        </p:txBody>
      </p:sp>
      <p:sp>
        <p:nvSpPr>
          <p:cNvPr id="3" name="Content Placeholder 2"/>
          <p:cNvSpPr>
            <a:spLocks noGrp="1"/>
          </p:cNvSpPr>
          <p:nvPr>
            <p:ph idx="1"/>
          </p:nvPr>
        </p:nvSpPr>
        <p:spPr/>
        <p:txBody>
          <a:bodyPr>
            <a:normAutofit fontScale="92500" lnSpcReduction="10000"/>
          </a:bodyPr>
          <a:lstStyle/>
          <a:p>
            <a:pPr lvl="0" algn="just">
              <a:buFont typeface="Wingdings" pitchFamily="2" charset="2"/>
              <a:buChar char="Ø"/>
            </a:pPr>
            <a:r>
              <a:rPr lang="en-GB" dirty="0"/>
              <a:t>Judgements or opinions of others; whenever you present another person’s opinion, even if you present it in your own words (in a phrase or summary) you must cite the source of the opinion</a:t>
            </a:r>
            <a:r>
              <a:rPr lang="en-GB" dirty="0" smtClean="0"/>
              <a:t>.</a:t>
            </a:r>
          </a:p>
          <a:p>
            <a:pPr lvl="0" algn="just">
              <a:buFont typeface="Wingdings" pitchFamily="2" charset="2"/>
              <a:buChar char="Ø"/>
            </a:pPr>
            <a:r>
              <a:rPr lang="en-GB" dirty="0"/>
              <a:t>Statistics, charts, tables, diagrams and graphs must all be acknowledged if they do not originate from your own field research. Even if the chart or graph is your own it is the information whose source you need to </a:t>
            </a:r>
            <a:r>
              <a:rPr lang="en-GB" dirty="0" smtClean="0"/>
              <a:t>acknowledge.</a:t>
            </a:r>
            <a:endParaRPr lang="en-US" dirty="0"/>
          </a:p>
          <a:p>
            <a:endParaRPr lang="en-US" dirty="0"/>
          </a:p>
        </p:txBody>
      </p:sp>
    </p:spTree>
    <p:extLst>
      <p:ext uri="{BB962C8B-B14F-4D97-AF65-F5344CB8AC3E}">
        <p14:creationId xmlns:p14="http://schemas.microsoft.com/office/powerpoint/2010/main" val="30953258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Presenting source material in your text</a:t>
            </a:r>
            <a:endParaRPr lang="en-US" b="1" dirty="0">
              <a:solidFill>
                <a:srgbClr val="FF0000"/>
              </a:solidFill>
            </a:endParaRPr>
          </a:p>
        </p:txBody>
      </p:sp>
      <p:sp>
        <p:nvSpPr>
          <p:cNvPr id="3" name="Content Placeholder 2"/>
          <p:cNvSpPr>
            <a:spLocks noGrp="1"/>
          </p:cNvSpPr>
          <p:nvPr>
            <p:ph idx="1"/>
          </p:nvPr>
        </p:nvSpPr>
        <p:spPr>
          <a:xfrm>
            <a:off x="228600" y="1600200"/>
            <a:ext cx="8610600" cy="4876800"/>
          </a:xfrm>
        </p:spPr>
        <p:txBody>
          <a:bodyPr>
            <a:normAutofit fontScale="92500" lnSpcReduction="10000"/>
          </a:bodyPr>
          <a:lstStyle/>
          <a:p>
            <a:pPr algn="just">
              <a:buFont typeface="Wingdings" pitchFamily="2" charset="2"/>
              <a:buChar char="Ø"/>
            </a:pPr>
            <a:r>
              <a:rPr lang="en-GB" dirty="0" smtClean="0"/>
              <a:t>There </a:t>
            </a:r>
            <a:r>
              <a:rPr lang="en-GB" dirty="0"/>
              <a:t>are two ways of presenting your source material- within the text or at the end of the text. </a:t>
            </a:r>
            <a:endParaRPr lang="en-GB" dirty="0" smtClean="0"/>
          </a:p>
          <a:p>
            <a:pPr algn="just">
              <a:buFont typeface="Wingdings" pitchFamily="2" charset="2"/>
              <a:buChar char="Ø"/>
            </a:pPr>
            <a:r>
              <a:rPr lang="en-GB" dirty="0"/>
              <a:t>Whatever method you employ, always remember that weaving other people’s words, facts or ideas into your writing can be very challenging. The challenge is to use the sources and yet remain the author of your essay. It is imperative to see to it that while incorporating other voices, your voice still remains the single, dominant voice in your essay. Be prominent in your work and avoid filling your work with other people’s voices. </a:t>
            </a:r>
            <a:endParaRPr lang="en-US" dirty="0"/>
          </a:p>
          <a:p>
            <a:pPr algn="just">
              <a:buFont typeface="Wingdings" pitchFamily="2" charset="2"/>
              <a:buChar char="Ø"/>
            </a:pPr>
            <a:endParaRPr lang="en-US" dirty="0"/>
          </a:p>
        </p:txBody>
      </p:sp>
    </p:spTree>
    <p:extLst>
      <p:ext uri="{BB962C8B-B14F-4D97-AF65-F5344CB8AC3E}">
        <p14:creationId xmlns:p14="http://schemas.microsoft.com/office/powerpoint/2010/main" val="307916120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Methods to use when presenting source material in your text</a:t>
            </a:r>
            <a:endParaRPr lang="en-US" b="1" dirty="0">
              <a:solidFill>
                <a:srgbClr val="FF0000"/>
              </a:solidFill>
            </a:endParaRPr>
          </a:p>
        </p:txBody>
      </p:sp>
      <p:sp>
        <p:nvSpPr>
          <p:cNvPr id="3" name="Content Placeholder 2"/>
          <p:cNvSpPr>
            <a:spLocks noGrp="1"/>
          </p:cNvSpPr>
          <p:nvPr>
            <p:ph idx="1"/>
          </p:nvPr>
        </p:nvSpPr>
        <p:spPr/>
        <p:txBody>
          <a:bodyPr/>
          <a:lstStyle/>
          <a:p>
            <a:pPr marL="514350" indent="-514350">
              <a:buAutoNum type="arabicPeriod"/>
            </a:pPr>
            <a:r>
              <a:rPr lang="en-US" b="1" dirty="0" smtClean="0">
                <a:solidFill>
                  <a:srgbClr val="FF0000"/>
                </a:solidFill>
              </a:rPr>
              <a:t>Using paraphrases</a:t>
            </a:r>
          </a:p>
          <a:p>
            <a:pPr marL="0" indent="0">
              <a:buNone/>
            </a:pPr>
            <a:endParaRPr lang="en-US" b="1" dirty="0" smtClean="0">
              <a:solidFill>
                <a:srgbClr val="FF0000"/>
              </a:solidFill>
            </a:endParaRPr>
          </a:p>
          <a:p>
            <a:pPr algn="just">
              <a:buFont typeface="Wingdings" pitchFamily="2" charset="2"/>
              <a:buChar char="Ø"/>
            </a:pPr>
            <a:r>
              <a:rPr lang="en-GB" dirty="0" smtClean="0"/>
              <a:t>Here </a:t>
            </a:r>
            <a:r>
              <a:rPr lang="en-GB" dirty="0"/>
              <a:t>you restate the material in your </a:t>
            </a:r>
            <a:r>
              <a:rPr lang="en-GB" dirty="0" smtClean="0"/>
              <a:t>own words (</a:t>
            </a:r>
            <a:r>
              <a:rPr lang="en-GB" dirty="0"/>
              <a:t>to express what somebody has said or written in different words, especially in order to make it easier to </a:t>
            </a:r>
            <a:r>
              <a:rPr lang="en-GB" dirty="0" smtClean="0"/>
              <a:t>understand)</a:t>
            </a:r>
            <a:endParaRPr lang="en-US" dirty="0"/>
          </a:p>
        </p:txBody>
      </p:sp>
    </p:spTree>
    <p:extLst>
      <p:ext uri="{BB962C8B-B14F-4D97-AF65-F5344CB8AC3E}">
        <p14:creationId xmlns:p14="http://schemas.microsoft.com/office/powerpoint/2010/main" val="40676740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Paraphrasing </a:t>
            </a:r>
            <a:r>
              <a:rPr lang="en-US" b="1" dirty="0" err="1" smtClean="0">
                <a:solidFill>
                  <a:srgbClr val="FF0000"/>
                </a:solidFill>
              </a:rPr>
              <a:t>cont</a:t>
            </a:r>
            <a:r>
              <a:rPr lang="en-US" b="1" dirty="0" smtClean="0">
                <a:solidFill>
                  <a:srgbClr val="FF0000"/>
                </a:solidFill>
              </a:rPr>
              <a:t>…</a:t>
            </a:r>
            <a:endParaRPr lang="en-US" b="1" dirty="0">
              <a:solidFill>
                <a:srgbClr val="FF0000"/>
              </a:solidFill>
            </a:endParaRPr>
          </a:p>
        </p:txBody>
      </p:sp>
      <p:sp>
        <p:nvSpPr>
          <p:cNvPr id="3" name="Content Placeholder 2"/>
          <p:cNvSpPr>
            <a:spLocks noGrp="1"/>
          </p:cNvSpPr>
          <p:nvPr>
            <p:ph idx="1"/>
          </p:nvPr>
        </p:nvSpPr>
        <p:spPr/>
        <p:txBody>
          <a:bodyPr>
            <a:normAutofit lnSpcReduction="10000"/>
          </a:bodyPr>
          <a:lstStyle/>
          <a:p>
            <a:pPr algn="just">
              <a:buFont typeface="Wingdings" pitchFamily="2" charset="2"/>
              <a:buChar char="Ø"/>
            </a:pPr>
            <a:r>
              <a:rPr lang="en-GB" dirty="0"/>
              <a:t>Paraphrasing is used when you want to use other people’s ideas or information in detail but you feel there is no need for you to quote them verbatim (word for word). It is ideal when you want to present other people’s background information or other facts your readers may not already know. Besides, you paraphrase when you want to present other people’s ordinary views (i.e. not impressive and not striking views).</a:t>
            </a:r>
            <a:endParaRPr lang="en-US" dirty="0"/>
          </a:p>
          <a:p>
            <a:endParaRPr lang="en-US" dirty="0"/>
          </a:p>
        </p:txBody>
      </p:sp>
    </p:spTree>
    <p:extLst>
      <p:ext uri="{BB962C8B-B14F-4D97-AF65-F5344CB8AC3E}">
        <p14:creationId xmlns:p14="http://schemas.microsoft.com/office/powerpoint/2010/main" val="39749648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2.	Using summaries</a:t>
            </a:r>
            <a:endParaRPr lang="en-US" b="1" dirty="0">
              <a:solidFill>
                <a:srgbClr val="FF0000"/>
              </a:solidFill>
            </a:endParaRPr>
          </a:p>
        </p:txBody>
      </p:sp>
      <p:sp>
        <p:nvSpPr>
          <p:cNvPr id="3" name="Content Placeholder 2"/>
          <p:cNvSpPr>
            <a:spLocks noGrp="1"/>
          </p:cNvSpPr>
          <p:nvPr>
            <p:ph idx="1"/>
          </p:nvPr>
        </p:nvSpPr>
        <p:spPr/>
        <p:txBody>
          <a:bodyPr/>
          <a:lstStyle/>
          <a:p>
            <a:pPr algn="just">
              <a:buFont typeface="Wingdings" pitchFamily="2" charset="2"/>
              <a:buChar char="Ø"/>
            </a:pPr>
            <a:r>
              <a:rPr lang="en-GB" dirty="0" smtClean="0"/>
              <a:t>These are short </a:t>
            </a:r>
            <a:r>
              <a:rPr lang="en-GB" dirty="0"/>
              <a:t>statements that give only the main points of something, not details. </a:t>
            </a:r>
            <a:endParaRPr lang="en-GB" dirty="0" smtClean="0"/>
          </a:p>
          <a:p>
            <a:pPr algn="just">
              <a:buFont typeface="Wingdings" pitchFamily="2" charset="2"/>
              <a:buChar char="Ø"/>
            </a:pPr>
            <a:r>
              <a:rPr lang="en-GB" dirty="0" smtClean="0"/>
              <a:t>In </a:t>
            </a:r>
            <a:r>
              <a:rPr lang="en-GB" dirty="0"/>
              <a:t>your citation, summaries are used when you want to present in brief only the general idea of large amounts of information from other people.</a:t>
            </a:r>
            <a:endParaRPr lang="en-US" dirty="0"/>
          </a:p>
          <a:p>
            <a:pPr marL="0" indent="0">
              <a:buNone/>
            </a:pPr>
            <a:endParaRPr lang="en-US" dirty="0"/>
          </a:p>
        </p:txBody>
      </p:sp>
    </p:spTree>
    <p:extLst>
      <p:ext uri="{BB962C8B-B14F-4D97-AF65-F5344CB8AC3E}">
        <p14:creationId xmlns:p14="http://schemas.microsoft.com/office/powerpoint/2010/main" val="13021873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3.	Using direct quotations</a:t>
            </a:r>
            <a:endParaRPr lang="en-US" b="1" dirty="0">
              <a:solidFill>
                <a:srgbClr val="FF0000"/>
              </a:solidFill>
            </a:endParaRPr>
          </a:p>
        </p:txBody>
      </p:sp>
      <p:sp>
        <p:nvSpPr>
          <p:cNvPr id="3" name="Content Placeholder 2"/>
          <p:cNvSpPr>
            <a:spLocks noGrp="1"/>
          </p:cNvSpPr>
          <p:nvPr>
            <p:ph idx="1"/>
          </p:nvPr>
        </p:nvSpPr>
        <p:spPr/>
        <p:txBody>
          <a:bodyPr>
            <a:normAutofit fontScale="92500"/>
          </a:bodyPr>
          <a:lstStyle/>
          <a:p>
            <a:pPr algn="just">
              <a:buFont typeface="Wingdings" pitchFamily="2" charset="2"/>
              <a:buChar char="Ø"/>
            </a:pPr>
            <a:r>
              <a:rPr lang="en-GB" dirty="0"/>
              <a:t>A quotation refers to a group of words or short piece of writing taken from a book, play, speech, etc. and repeated because it is interesting or useful. </a:t>
            </a:r>
            <a:endParaRPr lang="en-GB" dirty="0" smtClean="0"/>
          </a:p>
          <a:p>
            <a:pPr algn="just">
              <a:buFont typeface="Wingdings" pitchFamily="2" charset="2"/>
              <a:buChar char="Ø"/>
            </a:pPr>
            <a:r>
              <a:rPr lang="en-GB" dirty="0"/>
              <a:t>When you are writing essays you are supposed to use quotations but always remember that your essay must be in your own words. Depend on other people’s words as little as possible. Avoid over-quoting in your essay.</a:t>
            </a:r>
            <a:endParaRPr lang="en-US" dirty="0"/>
          </a:p>
        </p:txBody>
      </p:sp>
    </p:spTree>
    <p:extLst>
      <p:ext uri="{BB962C8B-B14F-4D97-AF65-F5344CB8AC3E}">
        <p14:creationId xmlns:p14="http://schemas.microsoft.com/office/powerpoint/2010/main" val="29711457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Using quotations </a:t>
            </a:r>
            <a:r>
              <a:rPr lang="en-US" b="1" dirty="0" err="1" smtClean="0">
                <a:solidFill>
                  <a:srgbClr val="FF0000"/>
                </a:solidFill>
              </a:rPr>
              <a:t>cont</a:t>
            </a:r>
            <a:r>
              <a:rPr lang="en-US" b="1" dirty="0" smtClean="0">
                <a:solidFill>
                  <a:srgbClr val="FF0000"/>
                </a:solidFill>
              </a:rPr>
              <a:t>…</a:t>
            </a:r>
            <a:endParaRPr lang="en-US" b="1" dirty="0">
              <a:solidFill>
                <a:srgbClr val="FF0000"/>
              </a:solidFill>
            </a:endParaRPr>
          </a:p>
        </p:txBody>
      </p:sp>
      <p:sp>
        <p:nvSpPr>
          <p:cNvPr id="3" name="Content Placeholder 2"/>
          <p:cNvSpPr>
            <a:spLocks noGrp="1"/>
          </p:cNvSpPr>
          <p:nvPr>
            <p:ph idx="1"/>
          </p:nvPr>
        </p:nvSpPr>
        <p:spPr/>
        <p:txBody>
          <a:bodyPr/>
          <a:lstStyle/>
          <a:p>
            <a:pPr marL="0" indent="0">
              <a:buNone/>
            </a:pPr>
            <a:r>
              <a:rPr lang="en-GB" dirty="0" smtClean="0"/>
              <a:t>Only </a:t>
            </a:r>
            <a:r>
              <a:rPr lang="en-GB" dirty="0"/>
              <a:t>quote:</a:t>
            </a:r>
            <a:endParaRPr lang="en-US" dirty="0"/>
          </a:p>
          <a:p>
            <a:pPr lvl="0">
              <a:buFont typeface="Wingdings" pitchFamily="2" charset="2"/>
              <a:buChar char="Ø"/>
            </a:pPr>
            <a:r>
              <a:rPr lang="en-GB" dirty="0"/>
              <a:t>A statement expressed so effectively by the author that it cannot be paraphrased without altering its meaning.</a:t>
            </a:r>
            <a:endParaRPr lang="en-US" dirty="0"/>
          </a:p>
          <a:p>
            <a:pPr lvl="0">
              <a:buFont typeface="Wingdings" pitchFamily="2" charset="2"/>
              <a:buChar char="Ø"/>
            </a:pPr>
            <a:r>
              <a:rPr lang="en-GB" dirty="0"/>
              <a:t>To allow words of an author (expert) to strengthen your argument</a:t>
            </a:r>
            <a:r>
              <a:rPr lang="en-GB" dirty="0" smtClean="0"/>
              <a:t>.</a:t>
            </a:r>
            <a:r>
              <a:rPr lang="en-GB" dirty="0"/>
              <a:t> </a:t>
            </a:r>
            <a:endParaRPr lang="en-GB" dirty="0" smtClean="0"/>
          </a:p>
          <a:p>
            <a:pPr marL="0" lvl="0" indent="0">
              <a:buNone/>
            </a:pPr>
            <a:endParaRPr lang="en-US" dirty="0"/>
          </a:p>
          <a:p>
            <a:endParaRPr lang="en-US" dirty="0"/>
          </a:p>
        </p:txBody>
      </p:sp>
    </p:spTree>
    <p:extLst>
      <p:ext uri="{BB962C8B-B14F-4D97-AF65-F5344CB8AC3E}">
        <p14:creationId xmlns:p14="http://schemas.microsoft.com/office/powerpoint/2010/main" val="345956181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Using quotations </a:t>
            </a:r>
            <a:r>
              <a:rPr lang="en-US" b="1" dirty="0" err="1" smtClean="0">
                <a:solidFill>
                  <a:srgbClr val="FF0000"/>
                </a:solidFill>
              </a:rPr>
              <a:t>cont</a:t>
            </a:r>
            <a:r>
              <a:rPr lang="en-US" b="1" dirty="0" smtClean="0">
                <a:solidFill>
                  <a:srgbClr val="FF0000"/>
                </a:solidFill>
              </a:rPr>
              <a:t>…</a:t>
            </a:r>
            <a:endParaRPr lang="en-US" b="1" dirty="0">
              <a:solidFill>
                <a:srgbClr val="FF0000"/>
              </a:solidFill>
            </a:endParaRPr>
          </a:p>
        </p:txBody>
      </p:sp>
      <p:sp>
        <p:nvSpPr>
          <p:cNvPr id="3" name="Content Placeholder 2"/>
          <p:cNvSpPr>
            <a:spLocks noGrp="1"/>
          </p:cNvSpPr>
          <p:nvPr>
            <p:ph idx="1"/>
          </p:nvPr>
        </p:nvSpPr>
        <p:spPr>
          <a:xfrm>
            <a:off x="457200" y="1600200"/>
            <a:ext cx="8458200" cy="4800600"/>
          </a:xfrm>
        </p:spPr>
        <p:txBody>
          <a:bodyPr>
            <a:normAutofit fontScale="85000" lnSpcReduction="10000"/>
          </a:bodyPr>
          <a:lstStyle/>
          <a:p>
            <a:pPr algn="just">
              <a:buFont typeface="Wingdings" pitchFamily="2" charset="2"/>
              <a:buChar char="Ø"/>
            </a:pPr>
            <a:r>
              <a:rPr lang="en-GB" dirty="0"/>
              <a:t>In your text, the quoted sentence of fewer than 40 words should always appear in double quotation marks. </a:t>
            </a:r>
            <a:endParaRPr lang="en-GB" dirty="0" smtClean="0"/>
          </a:p>
          <a:p>
            <a:pPr marL="0" indent="0" algn="just">
              <a:buNone/>
            </a:pPr>
            <a:endParaRPr lang="en-GB" dirty="0" smtClean="0"/>
          </a:p>
          <a:p>
            <a:pPr marL="0" indent="0" algn="just">
              <a:buNone/>
            </a:pPr>
            <a:r>
              <a:rPr lang="en-GB" dirty="0" smtClean="0"/>
              <a:t>	However</a:t>
            </a:r>
            <a:r>
              <a:rPr lang="en-GB" dirty="0"/>
              <a:t>, display a quotation of more than 40 </a:t>
            </a:r>
            <a:r>
              <a:rPr lang="en-GB" dirty="0" smtClean="0"/>
              <a:t>	words </a:t>
            </a:r>
            <a:r>
              <a:rPr lang="en-GB" dirty="0"/>
              <a:t>in a free-standing block and omit </a:t>
            </a:r>
            <a:r>
              <a:rPr lang="en-GB" dirty="0" smtClean="0"/>
              <a:t>	quotation </a:t>
            </a:r>
            <a:r>
              <a:rPr lang="en-GB" dirty="0"/>
              <a:t>marks. Start such a </a:t>
            </a:r>
            <a:r>
              <a:rPr lang="en-GB" i="1" dirty="0"/>
              <a:t>block quotation </a:t>
            </a:r>
            <a:r>
              <a:rPr lang="en-GB" i="1" dirty="0" smtClean="0"/>
              <a:t>	</a:t>
            </a:r>
            <a:r>
              <a:rPr lang="en-GB" dirty="0" smtClean="0"/>
              <a:t>on </a:t>
            </a:r>
            <a:r>
              <a:rPr lang="en-GB" dirty="0"/>
              <a:t>a </a:t>
            </a:r>
            <a:r>
              <a:rPr lang="en-GB" dirty="0" smtClean="0"/>
              <a:t>	new </a:t>
            </a:r>
            <a:r>
              <a:rPr lang="en-GB" dirty="0"/>
              <a:t>line, indented five spaces from the </a:t>
            </a:r>
            <a:r>
              <a:rPr lang="en-GB" dirty="0" smtClean="0"/>
              <a:t>	left 	margin</a:t>
            </a:r>
            <a:r>
              <a:rPr lang="en-GB" dirty="0"/>
              <a:t>. Type the </a:t>
            </a:r>
            <a:r>
              <a:rPr lang="en-GB" dirty="0" smtClean="0"/>
              <a:t>entire quotation double-	spaced </a:t>
            </a:r>
            <a:r>
              <a:rPr lang="en-GB" dirty="0"/>
              <a:t>on the new margin and indent the first line of </a:t>
            </a:r>
            <a:r>
              <a:rPr lang="en-GB" dirty="0" smtClean="0"/>
              <a:t>	any </a:t>
            </a:r>
            <a:r>
              <a:rPr lang="en-GB" dirty="0"/>
              <a:t>subsequent paragraphs within the quotation five </a:t>
            </a:r>
            <a:r>
              <a:rPr lang="en-GB" dirty="0" smtClean="0"/>
              <a:t>	spaces </a:t>
            </a:r>
            <a:r>
              <a:rPr lang="en-GB" dirty="0"/>
              <a:t>from the new </a:t>
            </a:r>
            <a:r>
              <a:rPr lang="en-GB" dirty="0" smtClean="0"/>
              <a:t>paragraph (</a:t>
            </a:r>
            <a:r>
              <a:rPr lang="en-GB" dirty="0" err="1" smtClean="0"/>
              <a:t>Bakali</a:t>
            </a:r>
            <a:r>
              <a:rPr lang="en-GB" dirty="0" smtClean="0"/>
              <a:t>, 2014, 	p.100).</a:t>
            </a:r>
            <a:endParaRPr lang="en-US" dirty="0"/>
          </a:p>
          <a:p>
            <a:endParaRPr lang="en-US" dirty="0"/>
          </a:p>
        </p:txBody>
      </p:sp>
    </p:spTree>
    <p:extLst>
      <p:ext uri="{BB962C8B-B14F-4D97-AF65-F5344CB8AC3E}">
        <p14:creationId xmlns:p14="http://schemas.microsoft.com/office/powerpoint/2010/main" val="74716879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marL="0" indent="0" algn="just">
              <a:buNone/>
            </a:pPr>
            <a:r>
              <a:rPr lang="en-GB" dirty="0" smtClean="0"/>
              <a:t>Banda (2014) says that “most students that participate in drama have high proficiency of English compared to those who do not participate in drama” (p.15).</a:t>
            </a:r>
            <a:endParaRPr lang="en-GB" dirty="0"/>
          </a:p>
        </p:txBody>
      </p:sp>
    </p:spTree>
    <p:extLst>
      <p:ext uri="{BB962C8B-B14F-4D97-AF65-F5344CB8AC3E}">
        <p14:creationId xmlns:p14="http://schemas.microsoft.com/office/powerpoint/2010/main" val="35722524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FF0000"/>
                </a:solidFill>
              </a:rPr>
              <a:t>Presenting quotations…</a:t>
            </a:r>
            <a:endParaRPr lang="en-GB" b="1" dirty="0">
              <a:solidFill>
                <a:srgbClr val="FF0000"/>
              </a:solidFill>
            </a:endParaRPr>
          </a:p>
        </p:txBody>
      </p:sp>
      <p:sp>
        <p:nvSpPr>
          <p:cNvPr id="3" name="Content Placeholder 2"/>
          <p:cNvSpPr>
            <a:spLocks noGrp="1"/>
          </p:cNvSpPr>
          <p:nvPr>
            <p:ph idx="1"/>
          </p:nvPr>
        </p:nvSpPr>
        <p:spPr/>
        <p:txBody>
          <a:bodyPr>
            <a:normAutofit fontScale="85000" lnSpcReduction="10000"/>
          </a:bodyPr>
          <a:lstStyle/>
          <a:p>
            <a:r>
              <a:rPr lang="en-GB" i="1" dirty="0"/>
              <a:t>Correct:</a:t>
            </a:r>
          </a:p>
          <a:p>
            <a:pPr marL="0" indent="0">
              <a:buNone/>
            </a:pPr>
            <a:r>
              <a:rPr lang="en-US" dirty="0"/>
              <a:t> </a:t>
            </a:r>
            <a:r>
              <a:rPr lang="en-US" dirty="0" smtClean="0"/>
              <a:t>   </a:t>
            </a:r>
            <a:r>
              <a:rPr lang="en-US" dirty="0" err="1" smtClean="0"/>
              <a:t>Miele</a:t>
            </a:r>
            <a:r>
              <a:rPr lang="en-US" dirty="0" smtClean="0"/>
              <a:t> </a:t>
            </a:r>
            <a:r>
              <a:rPr lang="en-US" dirty="0"/>
              <a:t>(1993) found the following:</a:t>
            </a:r>
          </a:p>
          <a:p>
            <a:pPr marL="0" indent="0" algn="just">
              <a:buNone/>
            </a:pPr>
            <a:r>
              <a:rPr lang="en-US" dirty="0" smtClean="0"/>
              <a:t>	The </a:t>
            </a:r>
            <a:r>
              <a:rPr lang="en-US" dirty="0"/>
              <a:t>"placebo effect," which had been verified </a:t>
            </a:r>
            <a:r>
              <a:rPr lang="en-US" dirty="0" smtClean="0"/>
              <a:t>	in previous studies, disappeared </a:t>
            </a:r>
            <a:r>
              <a:rPr lang="en-US" dirty="0"/>
              <a:t>when </a:t>
            </a:r>
            <a:r>
              <a:rPr lang="en-US" dirty="0" smtClean="0"/>
              <a:t>	behaviors 	were 	studied in </a:t>
            </a:r>
            <a:r>
              <a:rPr lang="en-US" dirty="0"/>
              <a:t>this </a:t>
            </a:r>
            <a:r>
              <a:rPr lang="en-US" dirty="0" smtClean="0"/>
              <a:t>manner. 	Furthermore, the 	behaviors </a:t>
            </a:r>
            <a:r>
              <a:rPr lang="en-US" i="1" dirty="0" smtClean="0"/>
              <a:t>were </a:t>
            </a:r>
            <a:r>
              <a:rPr lang="en-US" i="1" dirty="0"/>
              <a:t>never </a:t>
            </a:r>
            <a:r>
              <a:rPr lang="en-US" i="1" dirty="0" smtClean="0"/>
              <a:t>	exhibited </a:t>
            </a:r>
            <a:r>
              <a:rPr lang="en-US" i="1" dirty="0"/>
              <a:t>again </a:t>
            </a:r>
            <a:r>
              <a:rPr lang="en-US" i="1" dirty="0" smtClean="0"/>
              <a:t>	</a:t>
            </a:r>
            <a:r>
              <a:rPr lang="en-US" dirty="0" smtClean="0"/>
              <a:t>[emphasis added], even 	when reel 	</a:t>
            </a:r>
            <a:r>
              <a:rPr lang="en-US" i="1" dirty="0" smtClean="0"/>
              <a:t>[sic] </a:t>
            </a:r>
            <a:r>
              <a:rPr lang="en-US" dirty="0" smtClean="0"/>
              <a:t>drugs 	were 	administered. 	Earlier studies(e.g., 	Abdullah, 1984; Fox, 	1979) were clearly 	premature in 	attributing the </a:t>
            </a:r>
            <a:r>
              <a:rPr lang="en-US" dirty="0"/>
              <a:t>results to a </a:t>
            </a:r>
            <a:r>
              <a:rPr lang="en-US" dirty="0" smtClean="0"/>
              <a:t>	placebo 	effect</a:t>
            </a:r>
            <a:r>
              <a:rPr lang="en-US" dirty="0"/>
              <a:t>. (p. 276)</a:t>
            </a:r>
            <a:endParaRPr lang="en-GB" dirty="0"/>
          </a:p>
        </p:txBody>
      </p:sp>
    </p:spTree>
    <p:extLst>
      <p:ext uri="{BB962C8B-B14F-4D97-AF65-F5344CB8AC3E}">
        <p14:creationId xmlns:p14="http://schemas.microsoft.com/office/powerpoint/2010/main" val="200797992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FF0000"/>
                </a:solidFill>
              </a:rPr>
              <a:t>Presenting quotations…</a:t>
            </a:r>
            <a:endParaRPr lang="en-GB" b="1" dirty="0">
              <a:solidFill>
                <a:srgbClr val="FF0000"/>
              </a:solidFill>
            </a:endParaRPr>
          </a:p>
        </p:txBody>
      </p:sp>
      <p:sp>
        <p:nvSpPr>
          <p:cNvPr id="3" name="Content Placeholder 2"/>
          <p:cNvSpPr>
            <a:spLocks noGrp="1"/>
          </p:cNvSpPr>
          <p:nvPr>
            <p:ph idx="1"/>
          </p:nvPr>
        </p:nvSpPr>
        <p:spPr/>
        <p:txBody>
          <a:bodyPr>
            <a:normAutofit fontScale="85000" lnSpcReduction="10000"/>
          </a:bodyPr>
          <a:lstStyle/>
          <a:p>
            <a:pPr marL="0" indent="0">
              <a:buNone/>
            </a:pPr>
            <a:r>
              <a:rPr lang="en-GB" i="1" dirty="0" smtClean="0"/>
              <a:t>Incorrect</a:t>
            </a:r>
            <a:r>
              <a:rPr lang="en-GB" i="1" dirty="0"/>
              <a:t>:</a:t>
            </a:r>
          </a:p>
          <a:p>
            <a:pPr marL="0" indent="0">
              <a:buNone/>
            </a:pPr>
            <a:r>
              <a:rPr lang="en-US" dirty="0" err="1" smtClean="0"/>
              <a:t>Miele</a:t>
            </a:r>
            <a:r>
              <a:rPr lang="en-US" dirty="0" smtClean="0"/>
              <a:t> </a:t>
            </a:r>
            <a:r>
              <a:rPr lang="en-US" dirty="0"/>
              <a:t>(1993) found the following:</a:t>
            </a:r>
          </a:p>
          <a:p>
            <a:pPr marL="0" indent="0" algn="just">
              <a:buNone/>
            </a:pPr>
            <a:r>
              <a:rPr lang="en-US" dirty="0" smtClean="0"/>
              <a:t>	"</a:t>
            </a:r>
            <a:r>
              <a:rPr lang="en-US" dirty="0"/>
              <a:t>The 'placebo effect: which had been verified in </a:t>
            </a:r>
            <a:r>
              <a:rPr lang="en-US" dirty="0" smtClean="0"/>
              <a:t>	previous studies, disappeared </a:t>
            </a:r>
            <a:r>
              <a:rPr lang="en-US" dirty="0"/>
              <a:t>when behaviors </a:t>
            </a:r>
            <a:r>
              <a:rPr lang="en-US" dirty="0" smtClean="0"/>
              <a:t>	were </a:t>
            </a:r>
            <a:r>
              <a:rPr lang="en-US" dirty="0"/>
              <a:t>studied in this </a:t>
            </a:r>
            <a:r>
              <a:rPr lang="en-US" dirty="0" smtClean="0"/>
              <a:t>manner. Furthermore</a:t>
            </a:r>
            <a:r>
              <a:rPr lang="en-US" dirty="0"/>
              <a:t>, the </a:t>
            </a:r>
            <a:r>
              <a:rPr lang="en-US" dirty="0" smtClean="0"/>
              <a:t>	behaviors </a:t>
            </a:r>
            <a:r>
              <a:rPr lang="en-US" i="1" dirty="0"/>
              <a:t>were never exhibited again </a:t>
            </a:r>
            <a:r>
              <a:rPr lang="en-US" dirty="0"/>
              <a:t>[emphasis</a:t>
            </a:r>
          </a:p>
          <a:p>
            <a:pPr marL="0" indent="0" algn="just">
              <a:buNone/>
            </a:pPr>
            <a:r>
              <a:rPr lang="en-US" dirty="0" smtClean="0"/>
              <a:t>	added], </a:t>
            </a:r>
            <a:r>
              <a:rPr lang="en-US" dirty="0"/>
              <a:t>even when reel </a:t>
            </a:r>
            <a:r>
              <a:rPr lang="en-US" i="1" dirty="0"/>
              <a:t>[</a:t>
            </a:r>
            <a:r>
              <a:rPr lang="en-US" i="1" dirty="0" smtClean="0"/>
              <a:t>sic] </a:t>
            </a:r>
            <a:r>
              <a:rPr lang="en-US" dirty="0"/>
              <a:t>drugs were </a:t>
            </a:r>
            <a:r>
              <a:rPr lang="en-US" dirty="0" smtClean="0"/>
              <a:t>	administered</a:t>
            </a:r>
            <a:r>
              <a:rPr lang="en-US" dirty="0"/>
              <a:t>. Earlier </a:t>
            </a:r>
            <a:r>
              <a:rPr lang="en-US" dirty="0" smtClean="0"/>
              <a:t>studies (e.g</a:t>
            </a:r>
            <a:r>
              <a:rPr lang="en-US" dirty="0"/>
              <a:t>., Abdullah, 1984; </a:t>
            </a:r>
            <a:r>
              <a:rPr lang="en-US" dirty="0" smtClean="0"/>
              <a:t>	Fox</a:t>
            </a:r>
            <a:r>
              <a:rPr lang="en-US" dirty="0"/>
              <a:t>, 1979) were clearly premature in attributing</a:t>
            </a:r>
          </a:p>
          <a:p>
            <a:pPr marL="0" indent="0" algn="just">
              <a:buNone/>
            </a:pPr>
            <a:r>
              <a:rPr lang="en-US" dirty="0" smtClean="0"/>
              <a:t>	the </a:t>
            </a:r>
            <a:r>
              <a:rPr lang="en-US" dirty="0"/>
              <a:t>results to a placebo effect (p. 276)."</a:t>
            </a:r>
            <a:endParaRPr lang="en-GB" dirty="0"/>
          </a:p>
        </p:txBody>
      </p:sp>
    </p:spTree>
    <p:extLst>
      <p:ext uri="{BB962C8B-B14F-4D97-AF65-F5344CB8AC3E}">
        <p14:creationId xmlns:p14="http://schemas.microsoft.com/office/powerpoint/2010/main" val="6744987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FF0000"/>
                </a:solidFill>
              </a:rPr>
              <a:t>What does the word “Sic” mean?</a:t>
            </a:r>
            <a:endParaRPr lang="en-GB" b="1" dirty="0">
              <a:solidFill>
                <a:srgbClr val="FF0000"/>
              </a:solidFill>
            </a:endParaRPr>
          </a:p>
        </p:txBody>
      </p:sp>
      <p:sp>
        <p:nvSpPr>
          <p:cNvPr id="3" name="Content Placeholder 2"/>
          <p:cNvSpPr>
            <a:spLocks noGrp="1"/>
          </p:cNvSpPr>
          <p:nvPr>
            <p:ph idx="1"/>
          </p:nvPr>
        </p:nvSpPr>
        <p:spPr>
          <a:xfrm>
            <a:off x="304800" y="1600200"/>
            <a:ext cx="8610600" cy="5029200"/>
          </a:xfrm>
        </p:spPr>
        <p:txBody>
          <a:bodyPr>
            <a:normAutofit fontScale="92500" lnSpcReduction="20000"/>
          </a:bodyPr>
          <a:lstStyle/>
          <a:p>
            <a:pPr algn="just">
              <a:buFont typeface="Wingdings" pitchFamily="2" charset="2"/>
              <a:buChar char="Ø"/>
            </a:pPr>
            <a:r>
              <a:rPr lang="en-US" dirty="0" smtClean="0"/>
              <a:t>The </a:t>
            </a:r>
            <a:r>
              <a:rPr lang="en-US" dirty="0">
                <a:hlinkClick r:id="rId2" tooltip="Latin"/>
              </a:rPr>
              <a:t>Latin</a:t>
            </a:r>
            <a:r>
              <a:rPr lang="en-US" dirty="0"/>
              <a:t> </a:t>
            </a:r>
            <a:r>
              <a:rPr lang="en-US" dirty="0">
                <a:hlinkClick r:id="rId3" tooltip="Adverb"/>
              </a:rPr>
              <a:t>adverb</a:t>
            </a:r>
            <a:r>
              <a:rPr lang="en-US" dirty="0"/>
              <a:t> </a:t>
            </a:r>
            <a:r>
              <a:rPr lang="en-US" b="1" i="1" dirty="0"/>
              <a:t>sic</a:t>
            </a:r>
            <a:r>
              <a:rPr lang="en-US" dirty="0"/>
              <a:t> ("thus"; in full: </a:t>
            </a:r>
            <a:r>
              <a:rPr lang="en-US" i="1" dirty="0"/>
              <a:t>sic </a:t>
            </a:r>
            <a:r>
              <a:rPr lang="en-US" i="1" dirty="0" err="1"/>
              <a:t>erat</a:t>
            </a:r>
            <a:r>
              <a:rPr lang="en-US" i="1" dirty="0"/>
              <a:t> scriptum</a:t>
            </a:r>
            <a:r>
              <a:rPr lang="en-US" dirty="0"/>
              <a:t>, "thus was it written</a:t>
            </a:r>
            <a:r>
              <a:rPr lang="en-US" dirty="0" smtClean="0"/>
              <a:t>")</a:t>
            </a:r>
            <a:r>
              <a:rPr lang="en-US" baseline="30000" dirty="0"/>
              <a:t> </a:t>
            </a:r>
            <a:r>
              <a:rPr lang="en-US" dirty="0" smtClean="0"/>
              <a:t>inserted </a:t>
            </a:r>
            <a:r>
              <a:rPr lang="en-US" dirty="0"/>
              <a:t>immediately after a quoted word or passage, indicates that the quoted matter has been transcribed exactly as found in the source text, complete with any erroneous or archaic spelling, surprising assertion, faulty reasoning, or other matter that might otherwise be taken as an error of transcription. It means “that’s really how it appears in the original.”</a:t>
            </a:r>
          </a:p>
          <a:p>
            <a:pPr algn="just">
              <a:buFont typeface="Wingdings" pitchFamily="2" charset="2"/>
              <a:buChar char="Ø"/>
            </a:pPr>
            <a:r>
              <a:rPr lang="en-US" dirty="0"/>
              <a:t>It is used to point out a grammatical error, misspelling, misstatement of fact, or, as above, the unconventional spelling of a name.</a:t>
            </a:r>
          </a:p>
          <a:p>
            <a:pPr marL="0" indent="0" algn="just">
              <a:buNone/>
            </a:pPr>
            <a:endParaRPr lang="en-GB" dirty="0"/>
          </a:p>
        </p:txBody>
      </p:sp>
    </p:spTree>
    <p:extLst>
      <p:ext uri="{BB962C8B-B14F-4D97-AF65-F5344CB8AC3E}">
        <p14:creationId xmlns:p14="http://schemas.microsoft.com/office/powerpoint/2010/main" val="135816550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458200" cy="1828800"/>
          </a:xfrm>
        </p:spPr>
        <p:txBody>
          <a:bodyPr>
            <a:normAutofit fontScale="90000"/>
          </a:bodyPr>
          <a:lstStyle/>
          <a:p>
            <a:r>
              <a:rPr lang="en-US" b="1" dirty="0" smtClean="0">
                <a:solidFill>
                  <a:srgbClr val="FF0000"/>
                </a:solidFill>
              </a:rPr>
              <a:t>The American Psychological Association (APA) Style of Documentation</a:t>
            </a:r>
            <a:endParaRPr lang="en-US" b="1" dirty="0">
              <a:solidFill>
                <a:srgbClr val="FF0000"/>
              </a:solidFill>
            </a:endParaRPr>
          </a:p>
        </p:txBody>
      </p:sp>
      <p:sp>
        <p:nvSpPr>
          <p:cNvPr id="3" name="Content Placeholder 2"/>
          <p:cNvSpPr>
            <a:spLocks noGrp="1"/>
          </p:cNvSpPr>
          <p:nvPr>
            <p:ph idx="1"/>
          </p:nvPr>
        </p:nvSpPr>
        <p:spPr>
          <a:xfrm>
            <a:off x="304800" y="2133600"/>
            <a:ext cx="8610600" cy="4343400"/>
          </a:xfrm>
        </p:spPr>
        <p:txBody>
          <a:bodyPr>
            <a:normAutofit fontScale="85000" lnSpcReduction="10000"/>
          </a:bodyPr>
          <a:lstStyle/>
          <a:p>
            <a:pPr algn="just">
              <a:buFont typeface="Wingdings" pitchFamily="2" charset="2"/>
              <a:buChar char="Ø"/>
            </a:pPr>
            <a:r>
              <a:rPr lang="en-GB" dirty="0" smtClean="0"/>
              <a:t>Resembles </a:t>
            </a:r>
            <a:r>
              <a:rPr lang="en-GB" dirty="0"/>
              <a:t>the Harvard System of referencing save for a few distinctive features. </a:t>
            </a:r>
            <a:endParaRPr lang="en-GB" dirty="0" smtClean="0"/>
          </a:p>
          <a:p>
            <a:pPr algn="just">
              <a:buFont typeface="Wingdings" pitchFamily="2" charset="2"/>
              <a:buChar char="Ø"/>
            </a:pPr>
            <a:r>
              <a:rPr lang="en-GB" dirty="0" smtClean="0"/>
              <a:t>The </a:t>
            </a:r>
            <a:r>
              <a:rPr lang="en-GB" dirty="0"/>
              <a:t>APA style presents sources in parentheses. As a result, in most cases it is commonly known as The APA style for parenthetical citation. </a:t>
            </a:r>
            <a:endParaRPr lang="en-GB" dirty="0" smtClean="0"/>
          </a:p>
          <a:p>
            <a:pPr algn="just">
              <a:buFont typeface="Wingdings" pitchFamily="2" charset="2"/>
              <a:buChar char="Ø"/>
            </a:pPr>
            <a:r>
              <a:rPr lang="en-GB" dirty="0" smtClean="0"/>
              <a:t>All </a:t>
            </a:r>
            <a:r>
              <a:rPr lang="en-GB" dirty="0"/>
              <a:t>quotations, paraphrases, summaries and other material from other sources are documented within the text of your paper. Generally, the APA format does not use </a:t>
            </a:r>
            <a:r>
              <a:rPr lang="en-GB" dirty="0" smtClean="0"/>
              <a:t>footnotes </a:t>
            </a:r>
            <a:r>
              <a:rPr lang="en-GB" dirty="0"/>
              <a:t>and is often favoured by people because of its simplicity. There is no need to re-order and re-number references as it happens with other styles</a:t>
            </a:r>
            <a:endParaRPr lang="en-US" dirty="0"/>
          </a:p>
        </p:txBody>
      </p:sp>
    </p:spTree>
    <p:extLst>
      <p:ext uri="{BB962C8B-B14F-4D97-AF65-F5344CB8AC3E}">
        <p14:creationId xmlns:p14="http://schemas.microsoft.com/office/powerpoint/2010/main" val="315822985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FF0000"/>
                </a:solidFill>
              </a:rPr>
              <a:t>Footnotes</a:t>
            </a:r>
            <a:endParaRPr lang="en-GB" b="1" dirty="0">
              <a:solidFill>
                <a:srgbClr val="FF0000"/>
              </a:solidFill>
            </a:endParaRPr>
          </a:p>
        </p:txBody>
      </p:sp>
      <p:sp>
        <p:nvSpPr>
          <p:cNvPr id="3" name="Content Placeholder 2"/>
          <p:cNvSpPr>
            <a:spLocks noGrp="1"/>
          </p:cNvSpPr>
          <p:nvPr>
            <p:ph idx="1"/>
          </p:nvPr>
        </p:nvSpPr>
        <p:spPr/>
        <p:txBody>
          <a:bodyPr>
            <a:normAutofit fontScale="92500" lnSpcReduction="10000"/>
          </a:bodyPr>
          <a:lstStyle/>
          <a:p>
            <a:pPr algn="just">
              <a:buFont typeface="Wingdings" pitchFamily="2" charset="2"/>
              <a:buChar char="Ø"/>
            </a:pPr>
            <a:r>
              <a:rPr lang="en-US" dirty="0"/>
              <a:t>Footnotes are used to provide additional content or to acknowledge copyright </a:t>
            </a:r>
            <a:r>
              <a:rPr lang="en-US" dirty="0" smtClean="0"/>
              <a:t>permission </a:t>
            </a:r>
            <a:r>
              <a:rPr lang="en-GB" dirty="0" smtClean="0"/>
              <a:t>status.</a:t>
            </a:r>
          </a:p>
          <a:p>
            <a:pPr marL="0" indent="0">
              <a:buNone/>
            </a:pPr>
            <a:r>
              <a:rPr lang="en-GB" b="1" dirty="0" smtClean="0">
                <a:solidFill>
                  <a:srgbClr val="FF0000"/>
                </a:solidFill>
              </a:rPr>
              <a:t>Content </a:t>
            </a:r>
            <a:r>
              <a:rPr lang="en-GB" b="1" dirty="0">
                <a:solidFill>
                  <a:srgbClr val="FF0000"/>
                </a:solidFill>
              </a:rPr>
              <a:t>footnotes. </a:t>
            </a:r>
            <a:endParaRPr lang="en-GB" b="1" dirty="0" smtClean="0">
              <a:solidFill>
                <a:srgbClr val="FF0000"/>
              </a:solidFill>
            </a:endParaRPr>
          </a:p>
          <a:p>
            <a:pPr algn="just">
              <a:buFont typeface="Wingdings" pitchFamily="2" charset="2"/>
              <a:buChar char="Ø"/>
            </a:pPr>
            <a:r>
              <a:rPr lang="en-GB" dirty="0" smtClean="0"/>
              <a:t>Content </a:t>
            </a:r>
            <a:r>
              <a:rPr lang="en-GB" dirty="0"/>
              <a:t>footnotes supplement or amplify substantive information </a:t>
            </a:r>
            <a:r>
              <a:rPr lang="en-GB" dirty="0" smtClean="0"/>
              <a:t>in </a:t>
            </a:r>
            <a:r>
              <a:rPr lang="en-US" dirty="0" smtClean="0"/>
              <a:t>the </a:t>
            </a:r>
            <a:r>
              <a:rPr lang="en-US" dirty="0"/>
              <a:t>text; they should not include complicated, irrelevant, </a:t>
            </a:r>
            <a:r>
              <a:rPr lang="en-US" dirty="0" smtClean="0"/>
              <a:t>or nonessential </a:t>
            </a:r>
            <a:r>
              <a:rPr lang="en-US" dirty="0"/>
              <a:t>information.</a:t>
            </a:r>
          </a:p>
          <a:p>
            <a:pPr algn="just">
              <a:buFont typeface="Wingdings" pitchFamily="2" charset="2"/>
              <a:buChar char="Ø"/>
            </a:pPr>
            <a:r>
              <a:rPr lang="en-US" dirty="0"/>
              <a:t>Because they can be distracting to readers, such footnotes should be included only </a:t>
            </a:r>
            <a:r>
              <a:rPr lang="en-US" dirty="0" smtClean="0"/>
              <a:t>if </a:t>
            </a:r>
            <a:r>
              <a:rPr lang="en-GB" dirty="0" smtClean="0"/>
              <a:t>they </a:t>
            </a:r>
            <a:r>
              <a:rPr lang="en-GB" dirty="0"/>
              <a:t>strengthen the discussion.</a:t>
            </a:r>
          </a:p>
        </p:txBody>
      </p:sp>
    </p:spTree>
    <p:extLst>
      <p:ext uri="{BB962C8B-B14F-4D97-AF65-F5344CB8AC3E}">
        <p14:creationId xmlns:p14="http://schemas.microsoft.com/office/powerpoint/2010/main" val="26365954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FF0000"/>
                </a:solidFill>
              </a:rPr>
              <a:t>Content footnotes </a:t>
            </a:r>
            <a:r>
              <a:rPr lang="en-GB" b="1" dirty="0" err="1" smtClean="0">
                <a:solidFill>
                  <a:srgbClr val="FF0000"/>
                </a:solidFill>
              </a:rPr>
              <a:t>cont</a:t>
            </a:r>
            <a:r>
              <a:rPr lang="en-GB" b="1" dirty="0" smtClean="0">
                <a:solidFill>
                  <a:srgbClr val="FF0000"/>
                </a:solidFill>
              </a:rPr>
              <a:t>…</a:t>
            </a:r>
            <a:endParaRPr lang="en-GB" b="1" dirty="0">
              <a:solidFill>
                <a:srgbClr val="FF0000"/>
              </a:solidFill>
            </a:endParaRPr>
          </a:p>
        </p:txBody>
      </p:sp>
      <p:sp>
        <p:nvSpPr>
          <p:cNvPr id="3" name="Content Placeholder 2"/>
          <p:cNvSpPr>
            <a:spLocks noGrp="1"/>
          </p:cNvSpPr>
          <p:nvPr>
            <p:ph idx="1"/>
          </p:nvPr>
        </p:nvSpPr>
        <p:spPr>
          <a:xfrm>
            <a:off x="457200" y="1600200"/>
            <a:ext cx="8229600" cy="4800600"/>
          </a:xfrm>
        </p:spPr>
        <p:txBody>
          <a:bodyPr>
            <a:normAutofit fontScale="92500" lnSpcReduction="10000"/>
          </a:bodyPr>
          <a:lstStyle/>
          <a:p>
            <a:pPr algn="just">
              <a:buFont typeface="Wingdings" pitchFamily="2" charset="2"/>
              <a:buChar char="Ø"/>
            </a:pPr>
            <a:r>
              <a:rPr lang="en-US" dirty="0"/>
              <a:t>A content footnote should convey just one idea; if </a:t>
            </a:r>
            <a:r>
              <a:rPr lang="en-US" dirty="0" smtClean="0"/>
              <a:t>you find </a:t>
            </a:r>
            <a:r>
              <a:rPr lang="en-US" dirty="0"/>
              <a:t>yourself creating paragraphs or displaying equations as you are writing a footnote</a:t>
            </a:r>
            <a:r>
              <a:rPr lang="en-US" dirty="0" smtClean="0"/>
              <a:t>,</a:t>
            </a:r>
            <a:r>
              <a:rPr lang="en-US" dirty="0"/>
              <a:t> then the main text or an appendix probably would be a more suitable place to </a:t>
            </a:r>
            <a:r>
              <a:rPr lang="en-US" dirty="0" smtClean="0"/>
              <a:t>present your </a:t>
            </a:r>
            <a:r>
              <a:rPr lang="en-US" dirty="0"/>
              <a:t>information. Another alternative is to indicate in a short footnote that the </a:t>
            </a:r>
            <a:r>
              <a:rPr lang="en-US" dirty="0" smtClean="0"/>
              <a:t>material is </a:t>
            </a:r>
            <a:r>
              <a:rPr lang="en-US" dirty="0"/>
              <a:t>available online as supplemental material. In most cases, an author integrates </a:t>
            </a:r>
            <a:r>
              <a:rPr lang="en-US" dirty="0" smtClean="0"/>
              <a:t>an article </a:t>
            </a:r>
            <a:r>
              <a:rPr lang="en-US" dirty="0"/>
              <a:t>best by presenting important information in the text, not in a footnote.</a:t>
            </a:r>
            <a:endParaRPr lang="en-GB" dirty="0"/>
          </a:p>
        </p:txBody>
      </p:sp>
    </p:spTree>
    <p:extLst>
      <p:ext uri="{BB962C8B-B14F-4D97-AF65-F5344CB8AC3E}">
        <p14:creationId xmlns:p14="http://schemas.microsoft.com/office/powerpoint/2010/main" val="140619707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FF0000"/>
                </a:solidFill>
              </a:rPr>
              <a:t>Footnotes </a:t>
            </a:r>
            <a:r>
              <a:rPr lang="en-GB" b="1" dirty="0" err="1" smtClean="0">
                <a:solidFill>
                  <a:srgbClr val="FF0000"/>
                </a:solidFill>
              </a:rPr>
              <a:t>cont</a:t>
            </a:r>
            <a:r>
              <a:rPr lang="en-GB" b="1" dirty="0" smtClean="0">
                <a:solidFill>
                  <a:srgbClr val="FF0000"/>
                </a:solidFill>
              </a:rPr>
              <a:t>…</a:t>
            </a:r>
            <a:endParaRPr lang="en-GB" b="1" dirty="0">
              <a:solidFill>
                <a:srgbClr val="FF0000"/>
              </a:solidFill>
            </a:endParaRPr>
          </a:p>
        </p:txBody>
      </p:sp>
      <p:sp>
        <p:nvSpPr>
          <p:cNvPr id="3" name="Content Placeholder 2"/>
          <p:cNvSpPr>
            <a:spLocks noGrp="1"/>
          </p:cNvSpPr>
          <p:nvPr>
            <p:ph idx="1"/>
          </p:nvPr>
        </p:nvSpPr>
        <p:spPr/>
        <p:txBody>
          <a:bodyPr>
            <a:normAutofit fontScale="92500" lnSpcReduction="10000"/>
          </a:bodyPr>
          <a:lstStyle/>
          <a:p>
            <a:pPr algn="just">
              <a:buFont typeface="Wingdings" pitchFamily="2" charset="2"/>
              <a:buChar char="Ø"/>
            </a:pPr>
            <a:r>
              <a:rPr lang="en-US" dirty="0"/>
              <a:t>Number all footnotes consecutively in the order in which they appear in the </a:t>
            </a:r>
            <a:r>
              <a:rPr lang="en-US" dirty="0" smtClean="0"/>
              <a:t>essay with </a:t>
            </a:r>
            <a:r>
              <a:rPr lang="en-US" dirty="0"/>
              <a:t>superscript Arabic numerals. </a:t>
            </a:r>
            <a:r>
              <a:rPr lang="en-US" dirty="0" smtClean="0"/>
              <a:t>Footnote numbers </a:t>
            </a:r>
            <a:r>
              <a:rPr lang="en-US" dirty="0"/>
              <a:t>should be </a:t>
            </a:r>
            <a:r>
              <a:rPr lang="en-US" dirty="0" smtClean="0"/>
              <a:t>superscripted, like </a:t>
            </a:r>
            <a:r>
              <a:rPr lang="en-US" dirty="0"/>
              <a:t>this,' following any punctuation mark except a </a:t>
            </a:r>
            <a:r>
              <a:rPr lang="en-US" dirty="0" smtClean="0"/>
              <a:t>dash.</a:t>
            </a:r>
          </a:p>
          <a:p>
            <a:pPr algn="just">
              <a:buFont typeface="Wingdings" pitchFamily="2" charset="2"/>
              <a:buChar char="Ø"/>
            </a:pPr>
            <a:r>
              <a:rPr lang="en-GB" dirty="0"/>
              <a:t>A footnote number </a:t>
            </a:r>
            <a:r>
              <a:rPr lang="en-GB" dirty="0" smtClean="0"/>
              <a:t>that </a:t>
            </a:r>
            <a:r>
              <a:rPr lang="en-US" dirty="0" smtClean="0"/>
              <a:t>appears </a:t>
            </a:r>
            <a:r>
              <a:rPr lang="en-US" dirty="0"/>
              <a:t>with a dash-like </a:t>
            </a:r>
            <a:r>
              <a:rPr lang="en-US" dirty="0" smtClean="0"/>
              <a:t>this 2-always </a:t>
            </a:r>
            <a:r>
              <a:rPr lang="en-US" dirty="0"/>
              <a:t>precedes the dash. (The number falls inside </a:t>
            </a:r>
            <a:r>
              <a:rPr lang="en-US" dirty="0" smtClean="0"/>
              <a:t>a closing </a:t>
            </a:r>
            <a:r>
              <a:rPr lang="en-US" dirty="0"/>
              <a:t>parenthesis if it applies only to matter within the parentheses, like this.') </a:t>
            </a:r>
            <a:r>
              <a:rPr lang="en-US" dirty="0" smtClean="0"/>
              <a:t>Do not </a:t>
            </a:r>
            <a:r>
              <a:rPr lang="en-US" dirty="0"/>
              <a:t>place footnote numbers in text headings,</a:t>
            </a:r>
            <a:endParaRPr lang="en-GB" dirty="0"/>
          </a:p>
        </p:txBody>
      </p:sp>
    </p:spTree>
    <p:extLst>
      <p:ext uri="{BB962C8B-B14F-4D97-AF65-F5344CB8AC3E}">
        <p14:creationId xmlns:p14="http://schemas.microsoft.com/office/powerpoint/2010/main" val="367301002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FF0000"/>
                </a:solidFill>
              </a:rPr>
              <a:t>Footnotes </a:t>
            </a:r>
            <a:r>
              <a:rPr lang="en-GB" b="1" dirty="0" err="1" smtClean="0">
                <a:solidFill>
                  <a:srgbClr val="FF0000"/>
                </a:solidFill>
              </a:rPr>
              <a:t>cont</a:t>
            </a:r>
            <a:r>
              <a:rPr lang="en-GB" b="1" dirty="0" smtClean="0">
                <a:solidFill>
                  <a:srgbClr val="FF0000"/>
                </a:solidFill>
              </a:rPr>
              <a:t>…</a:t>
            </a:r>
            <a:endParaRPr lang="en-GB" b="1" dirty="0">
              <a:solidFill>
                <a:srgbClr val="FF0000"/>
              </a:solidFill>
            </a:endParaRPr>
          </a:p>
        </p:txBody>
      </p:sp>
      <p:sp>
        <p:nvSpPr>
          <p:cNvPr id="3" name="Content Placeholder 2"/>
          <p:cNvSpPr>
            <a:spLocks noGrp="1"/>
          </p:cNvSpPr>
          <p:nvPr>
            <p:ph idx="1"/>
          </p:nvPr>
        </p:nvSpPr>
        <p:spPr/>
        <p:txBody>
          <a:bodyPr/>
          <a:lstStyle/>
          <a:p>
            <a:pPr>
              <a:buFont typeface="Wingdings" pitchFamily="2" charset="2"/>
              <a:buChar char="Ø"/>
            </a:pPr>
            <a:r>
              <a:rPr lang="en-US" dirty="0"/>
              <a:t>Subsequent references to a footnote </a:t>
            </a:r>
            <a:r>
              <a:rPr lang="en-US" dirty="0" smtClean="0"/>
              <a:t>are </a:t>
            </a:r>
            <a:r>
              <a:rPr lang="en-GB" dirty="0" smtClean="0"/>
              <a:t>by </a:t>
            </a:r>
            <a:r>
              <a:rPr lang="en-GB" dirty="0"/>
              <a:t>parenthetical note:</a:t>
            </a:r>
          </a:p>
          <a:p>
            <a:pPr marL="0" indent="0">
              <a:buNone/>
            </a:pPr>
            <a:r>
              <a:rPr lang="en-US" dirty="0"/>
              <a:t> </a:t>
            </a:r>
            <a:r>
              <a:rPr lang="en-US" dirty="0" smtClean="0"/>
              <a:t>   the </a:t>
            </a:r>
            <a:r>
              <a:rPr lang="en-US" dirty="0"/>
              <a:t>same results (see Footnote 3</a:t>
            </a:r>
            <a:r>
              <a:rPr lang="en-US" dirty="0" smtClean="0"/>
              <a:t>), do not use           </a:t>
            </a:r>
            <a:r>
              <a:rPr lang="en-US" b="1" dirty="0">
                <a:solidFill>
                  <a:srgbClr val="FF0000"/>
                </a:solidFill>
              </a:rPr>
              <a:t>I</a:t>
            </a:r>
            <a:r>
              <a:rPr lang="en-US" b="1" dirty="0" smtClean="0">
                <a:solidFill>
                  <a:srgbClr val="FF0000"/>
                </a:solidFill>
              </a:rPr>
              <a:t>bid.</a:t>
            </a:r>
            <a:endParaRPr lang="en-GB" dirty="0"/>
          </a:p>
        </p:txBody>
      </p:sp>
    </p:spTree>
    <p:extLst>
      <p:ext uri="{BB962C8B-B14F-4D97-AF65-F5344CB8AC3E}">
        <p14:creationId xmlns:p14="http://schemas.microsoft.com/office/powerpoint/2010/main" val="414999244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solidFill>
                  <a:srgbClr val="FF0000"/>
                </a:solidFill>
              </a:rPr>
              <a:t>What does Ibid mean?</a:t>
            </a:r>
            <a:endParaRPr lang="en-GB" b="1" dirty="0">
              <a:solidFill>
                <a:srgbClr val="FF0000"/>
              </a:solidFill>
            </a:endParaRPr>
          </a:p>
        </p:txBody>
      </p:sp>
      <p:sp>
        <p:nvSpPr>
          <p:cNvPr id="3" name="Content Placeholder 2"/>
          <p:cNvSpPr>
            <a:spLocks noGrp="1"/>
          </p:cNvSpPr>
          <p:nvPr>
            <p:ph idx="1"/>
          </p:nvPr>
        </p:nvSpPr>
        <p:spPr>
          <a:xfrm>
            <a:off x="457200" y="1600200"/>
            <a:ext cx="8229600" cy="4648200"/>
          </a:xfrm>
        </p:spPr>
        <p:txBody>
          <a:bodyPr>
            <a:normAutofit lnSpcReduction="10000"/>
          </a:bodyPr>
          <a:lstStyle/>
          <a:p>
            <a:pPr algn="just">
              <a:buFont typeface="Wingdings" pitchFamily="2" charset="2"/>
              <a:buChar char="Ø"/>
            </a:pPr>
            <a:r>
              <a:rPr lang="en-US" i="1" dirty="0"/>
              <a:t>Ibid</a:t>
            </a:r>
            <a:r>
              <a:rPr lang="en-US" dirty="0"/>
              <a:t> is an abbreviation of the Latin word “</a:t>
            </a:r>
            <a:r>
              <a:rPr lang="en-US" dirty="0" err="1"/>
              <a:t>ibidem</a:t>
            </a:r>
            <a:r>
              <a:rPr lang="en-US" dirty="0"/>
              <a:t>,” which means “in the same place</a:t>
            </a:r>
            <a:r>
              <a:rPr lang="en-US" dirty="0" smtClean="0"/>
              <a:t>.”</a:t>
            </a:r>
          </a:p>
          <a:p>
            <a:pPr algn="just">
              <a:buFont typeface="Wingdings" pitchFamily="2" charset="2"/>
              <a:buChar char="Ø"/>
            </a:pPr>
            <a:r>
              <a:rPr lang="en-US" dirty="0" smtClean="0"/>
              <a:t>It is used </a:t>
            </a:r>
            <a:r>
              <a:rPr lang="en-US" dirty="0"/>
              <a:t>in formal writing to indicate that </a:t>
            </a:r>
            <a:r>
              <a:rPr lang="en-US" dirty="0" smtClean="0"/>
              <a:t>a reference </a:t>
            </a:r>
            <a:r>
              <a:rPr lang="en-US" dirty="0"/>
              <a:t>is from the same source as a previous </a:t>
            </a:r>
            <a:r>
              <a:rPr lang="en-US" dirty="0" smtClean="0"/>
              <a:t>reference in other words </a:t>
            </a:r>
            <a:r>
              <a:rPr lang="en-GB" dirty="0" smtClean="0"/>
              <a:t>it is</a:t>
            </a:r>
            <a:r>
              <a:rPr lang="en-US" dirty="0" smtClean="0"/>
              <a:t> </a:t>
            </a:r>
            <a:r>
              <a:rPr lang="en-US" dirty="0"/>
              <a:t>used in citations to refer again to the last source previously </a:t>
            </a:r>
            <a:r>
              <a:rPr lang="en-US" dirty="0" smtClean="0"/>
              <a:t>referenced. </a:t>
            </a:r>
            <a:endParaRPr lang="en-GB" dirty="0"/>
          </a:p>
          <a:p>
            <a:pPr algn="just">
              <a:buFont typeface="Wingdings" pitchFamily="2" charset="2"/>
              <a:buChar char="Ø"/>
            </a:pPr>
            <a:r>
              <a:rPr lang="en-US" dirty="0"/>
              <a:t> </a:t>
            </a:r>
            <a:r>
              <a:rPr lang="en-US" dirty="0" smtClean="0"/>
              <a:t>It is not </a:t>
            </a:r>
            <a:r>
              <a:rPr lang="en-US" dirty="0"/>
              <a:t>used in APA Style; instead give each citation using author names as usual. 	</a:t>
            </a:r>
          </a:p>
          <a:p>
            <a:pPr marL="0" indent="0">
              <a:buNone/>
            </a:pPr>
            <a:endParaRPr lang="en-US" dirty="0" smtClean="0"/>
          </a:p>
        </p:txBody>
      </p:sp>
    </p:spTree>
    <p:extLst>
      <p:ext uri="{BB962C8B-B14F-4D97-AF65-F5344CB8AC3E}">
        <p14:creationId xmlns:p14="http://schemas.microsoft.com/office/powerpoint/2010/main" val="339905700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2" algn="ctr" rtl="0">
              <a:spcBef>
                <a:spcPct val="0"/>
              </a:spcBef>
            </a:pPr>
            <a:r>
              <a:rPr lang="en-GB" sz="3200" b="1" dirty="0">
                <a:solidFill>
                  <a:srgbClr val="FF0000"/>
                </a:solidFill>
              </a:rPr>
              <a:t>How to use the APA format for parenthetical citations</a:t>
            </a:r>
            <a:r>
              <a:rPr lang="en-US" dirty="0"/>
              <a:t/>
            </a:r>
            <a:br>
              <a:rPr lang="en-US" dirty="0"/>
            </a:br>
            <a:endParaRPr lang="en-US" dirty="0"/>
          </a:p>
        </p:txBody>
      </p:sp>
      <p:sp>
        <p:nvSpPr>
          <p:cNvPr id="3" name="Content Placeholder 2"/>
          <p:cNvSpPr>
            <a:spLocks noGrp="1"/>
          </p:cNvSpPr>
          <p:nvPr>
            <p:ph idx="1"/>
          </p:nvPr>
        </p:nvSpPr>
        <p:spPr/>
        <p:txBody>
          <a:bodyPr>
            <a:normAutofit fontScale="85000" lnSpcReduction="10000"/>
          </a:bodyPr>
          <a:lstStyle/>
          <a:p>
            <a:pPr algn="just">
              <a:buFont typeface="Wingdings" pitchFamily="2" charset="2"/>
              <a:buChar char="Ø"/>
            </a:pPr>
            <a:r>
              <a:rPr lang="en-GB" dirty="0"/>
              <a:t>When using APA parenthetical citation observe the following features:</a:t>
            </a:r>
            <a:endParaRPr lang="en-US" dirty="0"/>
          </a:p>
          <a:p>
            <a:pPr lvl="0" algn="just"/>
            <a:r>
              <a:rPr lang="en-GB" dirty="0"/>
              <a:t>Parenthetical citations correspond to full bibliographic entries in a list of references at the end of the text. </a:t>
            </a:r>
            <a:endParaRPr lang="en-US" dirty="0"/>
          </a:p>
          <a:p>
            <a:pPr lvl="0" algn="just"/>
            <a:r>
              <a:rPr lang="en-GB" dirty="0"/>
              <a:t>Generally, the author’s name is used in a signal phrase to introduce the cited material, and the date, in parentheses, immediately follows the author’s name. </a:t>
            </a:r>
            <a:endParaRPr lang="en-US" dirty="0"/>
          </a:p>
          <a:p>
            <a:pPr algn="just"/>
            <a:r>
              <a:rPr lang="en-GB" dirty="0"/>
              <a:t>For a quotation, the page number, preceded by </a:t>
            </a:r>
            <a:r>
              <a:rPr lang="en-GB" b="1" i="1" dirty="0"/>
              <a:t>p</a:t>
            </a:r>
            <a:r>
              <a:rPr lang="en-GB" b="1" i="1" dirty="0" smtClean="0"/>
              <a:t>.</a:t>
            </a:r>
            <a:r>
              <a:rPr lang="en-GB" dirty="0" smtClean="0"/>
              <a:t>, </a:t>
            </a:r>
            <a:r>
              <a:rPr lang="en-GB" b="1" i="1" dirty="0" smtClean="0"/>
              <a:t>pp</a:t>
            </a:r>
            <a:r>
              <a:rPr lang="en-GB" b="1" i="1" dirty="0"/>
              <a:t>.</a:t>
            </a:r>
            <a:r>
              <a:rPr lang="en-GB" dirty="0" smtClean="0"/>
              <a:t> </a:t>
            </a:r>
            <a:r>
              <a:rPr lang="en-GB" dirty="0"/>
              <a:t>appears in parentheses after the </a:t>
            </a:r>
            <a:r>
              <a:rPr lang="en-GB" dirty="0" smtClean="0"/>
              <a:t>quotation.</a:t>
            </a:r>
          </a:p>
          <a:p>
            <a:pPr algn="just"/>
            <a:r>
              <a:rPr lang="en-GB" dirty="0" smtClean="0"/>
              <a:t>According to Banda (2013)…</a:t>
            </a:r>
            <a:endParaRPr lang="en-US" dirty="0"/>
          </a:p>
        </p:txBody>
      </p:sp>
    </p:spTree>
    <p:extLst>
      <p:ext uri="{BB962C8B-B14F-4D97-AF65-F5344CB8AC3E}">
        <p14:creationId xmlns:p14="http://schemas.microsoft.com/office/powerpoint/2010/main" val="389523716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4000" b="1" dirty="0">
                <a:solidFill>
                  <a:srgbClr val="FF0000"/>
                </a:solidFill>
              </a:rPr>
              <a:t>some examples of citations for various kinds of sources</a:t>
            </a:r>
            <a:r>
              <a:rPr lang="en-US" dirty="0"/>
              <a:t/>
            </a:r>
            <a:br>
              <a:rPr lang="en-US" dirty="0"/>
            </a:br>
            <a:endParaRPr lang="en-US" dirty="0"/>
          </a:p>
        </p:txBody>
      </p:sp>
      <p:sp>
        <p:nvSpPr>
          <p:cNvPr id="3" name="Content Placeholder 2"/>
          <p:cNvSpPr>
            <a:spLocks noGrp="1"/>
          </p:cNvSpPr>
          <p:nvPr>
            <p:ph idx="1"/>
          </p:nvPr>
        </p:nvSpPr>
        <p:spPr/>
        <p:txBody>
          <a:bodyPr>
            <a:normAutofit fontScale="92500"/>
          </a:bodyPr>
          <a:lstStyle/>
          <a:p>
            <a:pPr marL="0" indent="0">
              <a:buNone/>
            </a:pPr>
            <a:r>
              <a:rPr lang="en-US" b="1" dirty="0" smtClean="0"/>
              <a:t>Author </a:t>
            </a:r>
            <a:r>
              <a:rPr lang="en-US" b="1" dirty="0"/>
              <a:t>named in signal phrase</a:t>
            </a:r>
            <a:endParaRPr lang="en-US" dirty="0"/>
          </a:p>
          <a:p>
            <a:pPr algn="just">
              <a:buFont typeface="Wingdings" pitchFamily="2" charset="2"/>
              <a:buChar char="Ø"/>
            </a:pPr>
            <a:r>
              <a:rPr lang="en-GB" dirty="0"/>
              <a:t>David (2003) argues that many women are unfairly discriminated against contesting in parliamentary seats.</a:t>
            </a:r>
            <a:endParaRPr lang="en-US" dirty="0"/>
          </a:p>
          <a:p>
            <a:pPr marL="0" indent="0" algn="just">
              <a:buNone/>
            </a:pPr>
            <a:r>
              <a:rPr lang="en-GB" dirty="0"/>
              <a:t> </a:t>
            </a:r>
            <a:endParaRPr lang="en-US" dirty="0"/>
          </a:p>
          <a:p>
            <a:pPr algn="just">
              <a:buFont typeface="Wingdings" pitchFamily="2" charset="2"/>
              <a:buChar char="Ø"/>
            </a:pPr>
            <a:r>
              <a:rPr lang="en-GB" dirty="0"/>
              <a:t>As Briggs (1970) observes, parents play an important role in building their children’s self-esteem because “children value themselves to the degree that they have been valued” (p. 14).</a:t>
            </a:r>
            <a:endParaRPr lang="en-US" dirty="0"/>
          </a:p>
          <a:p>
            <a:pPr algn="just"/>
            <a:endParaRPr lang="en-US" dirty="0"/>
          </a:p>
        </p:txBody>
      </p:sp>
    </p:spTree>
    <p:extLst>
      <p:ext uri="{BB962C8B-B14F-4D97-AF65-F5344CB8AC3E}">
        <p14:creationId xmlns:p14="http://schemas.microsoft.com/office/powerpoint/2010/main" val="56274637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marL="0" indent="0">
              <a:buNone/>
            </a:pPr>
            <a:r>
              <a:rPr lang="en-GB" b="1" dirty="0"/>
              <a:t>Author named in parenthetical citation</a:t>
            </a:r>
            <a:endParaRPr lang="en-US" dirty="0"/>
          </a:p>
          <a:p>
            <a:pPr>
              <a:buFont typeface="Wingdings" pitchFamily="2" charset="2"/>
              <a:buChar char="Ø"/>
            </a:pPr>
            <a:r>
              <a:rPr lang="en-GB" dirty="0"/>
              <a:t>When you do not name the author in your text, give the name and the date, separated by a comma, in parentheses at the end of the cited material.</a:t>
            </a:r>
            <a:endParaRPr lang="en-US" dirty="0"/>
          </a:p>
          <a:p>
            <a:pPr marL="0" indent="0">
              <a:buNone/>
            </a:pPr>
            <a:r>
              <a:rPr lang="en-GB" dirty="0"/>
              <a:t>	</a:t>
            </a:r>
            <a:endParaRPr lang="en-US" dirty="0"/>
          </a:p>
          <a:p>
            <a:pPr>
              <a:buFont typeface="Wingdings" pitchFamily="2" charset="2"/>
              <a:buChar char="Ø"/>
            </a:pPr>
            <a:r>
              <a:rPr lang="en-GB" dirty="0" smtClean="0"/>
              <a:t>One </a:t>
            </a:r>
            <a:r>
              <a:rPr lang="en-GB" dirty="0"/>
              <a:t>study has found that 68 % of people working as sex workers in the Northern Region of Malawi are HIV </a:t>
            </a:r>
            <a:r>
              <a:rPr lang="en-GB" dirty="0" smtClean="0"/>
              <a:t>positive </a:t>
            </a:r>
            <a:r>
              <a:rPr lang="en-GB" dirty="0"/>
              <a:t>(</a:t>
            </a:r>
            <a:r>
              <a:rPr lang="en-GB" dirty="0" err="1"/>
              <a:t>Phiri</a:t>
            </a:r>
            <a:r>
              <a:rPr lang="en-GB" dirty="0"/>
              <a:t>, </a:t>
            </a:r>
            <a:r>
              <a:rPr lang="en-GB" dirty="0" smtClean="0"/>
              <a:t>2000).</a:t>
            </a:r>
            <a:endParaRPr lang="en-US" dirty="0"/>
          </a:p>
          <a:p>
            <a:pPr marL="0" indent="0">
              <a:buNone/>
            </a:pPr>
            <a:r>
              <a:rPr lang="en-GB" dirty="0"/>
              <a:t> </a:t>
            </a:r>
            <a:endParaRPr lang="en-US" dirty="0"/>
          </a:p>
          <a:p>
            <a:endParaRPr lang="en-US" dirty="0"/>
          </a:p>
        </p:txBody>
      </p:sp>
    </p:spTree>
    <p:extLst>
      <p:ext uri="{BB962C8B-B14F-4D97-AF65-F5344CB8AC3E}">
        <p14:creationId xmlns:p14="http://schemas.microsoft.com/office/powerpoint/2010/main" val="47161824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3" name="Content Placeholder 2"/>
          <p:cNvSpPr>
            <a:spLocks noGrp="1"/>
          </p:cNvSpPr>
          <p:nvPr>
            <p:ph idx="1"/>
          </p:nvPr>
        </p:nvSpPr>
        <p:spPr>
          <a:xfrm>
            <a:off x="457200" y="1371600"/>
            <a:ext cx="8382000" cy="5257800"/>
          </a:xfrm>
        </p:spPr>
        <p:txBody>
          <a:bodyPr>
            <a:normAutofit fontScale="85000" lnSpcReduction="20000"/>
          </a:bodyPr>
          <a:lstStyle/>
          <a:p>
            <a:pPr marL="0" indent="0">
              <a:buNone/>
            </a:pPr>
            <a:r>
              <a:rPr lang="en-GB" b="1" dirty="0"/>
              <a:t>Two authors</a:t>
            </a:r>
            <a:endParaRPr lang="en-US" dirty="0"/>
          </a:p>
          <a:p>
            <a:pPr algn="just">
              <a:buFont typeface="Wingdings" pitchFamily="2" charset="2"/>
              <a:buChar char="Ø"/>
            </a:pPr>
            <a:r>
              <a:rPr lang="en-GB" dirty="0"/>
              <a:t>Use both names in all citations. Join the names with </a:t>
            </a:r>
            <a:r>
              <a:rPr lang="en-GB" i="1" dirty="0"/>
              <a:t>and </a:t>
            </a:r>
            <a:r>
              <a:rPr lang="en-GB" dirty="0"/>
              <a:t>in a signal phrase, but use the abbreviated and (&amp;) instead in a parenthetical reference</a:t>
            </a:r>
            <a:r>
              <a:rPr lang="en-GB" dirty="0" smtClean="0"/>
              <a:t>.</a:t>
            </a:r>
            <a:endParaRPr lang="en-US" dirty="0"/>
          </a:p>
          <a:p>
            <a:pPr marL="0" indent="0" algn="just">
              <a:buNone/>
            </a:pPr>
            <a:r>
              <a:rPr lang="en-GB" dirty="0"/>
              <a:t>	</a:t>
            </a:r>
            <a:endParaRPr lang="en-US" dirty="0"/>
          </a:p>
          <a:p>
            <a:pPr algn="just">
              <a:buFont typeface="Wingdings" pitchFamily="2" charset="2"/>
              <a:buChar char="Ø"/>
            </a:pPr>
            <a:r>
              <a:rPr lang="en-GB" dirty="0"/>
              <a:t>Murphy and </a:t>
            </a:r>
            <a:r>
              <a:rPr lang="en-GB" dirty="0" err="1"/>
              <a:t>Orkow</a:t>
            </a:r>
            <a:r>
              <a:rPr lang="en-GB" dirty="0"/>
              <a:t> (1985) reached somewhat different conclusions by designing a study that was less dependent on subjective judgement than were previous studies.</a:t>
            </a:r>
            <a:endParaRPr lang="en-US" dirty="0"/>
          </a:p>
          <a:p>
            <a:pPr marL="0" indent="0" algn="just">
              <a:buNone/>
            </a:pPr>
            <a:r>
              <a:rPr lang="en-GB" dirty="0"/>
              <a:t>	</a:t>
            </a:r>
            <a:endParaRPr lang="en-US" dirty="0"/>
          </a:p>
          <a:p>
            <a:pPr algn="just">
              <a:buFont typeface="Wingdings" pitchFamily="2" charset="2"/>
              <a:buChar char="Ø"/>
            </a:pPr>
            <a:r>
              <a:rPr lang="en-GB" dirty="0"/>
              <a:t>A recent study that was less dependent on subjective judgement resulted in conclusions somewhat different from those of previous studies (Murphy &amp; </a:t>
            </a:r>
            <a:r>
              <a:rPr lang="en-GB" dirty="0" err="1"/>
              <a:t>Orkow</a:t>
            </a:r>
            <a:r>
              <a:rPr lang="en-GB" dirty="0"/>
              <a:t>, 1985).</a:t>
            </a:r>
            <a:endParaRPr lang="en-US" dirty="0"/>
          </a:p>
          <a:p>
            <a:endParaRPr lang="en-US" dirty="0"/>
          </a:p>
        </p:txBody>
      </p:sp>
    </p:spTree>
    <p:extLst>
      <p:ext uri="{BB962C8B-B14F-4D97-AF65-F5344CB8AC3E}">
        <p14:creationId xmlns:p14="http://schemas.microsoft.com/office/powerpoint/2010/main" val="372445127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52400" y="1219200"/>
            <a:ext cx="8839200" cy="5638800"/>
          </a:xfrm>
        </p:spPr>
        <p:txBody>
          <a:bodyPr>
            <a:normAutofit fontScale="77500" lnSpcReduction="20000"/>
          </a:bodyPr>
          <a:lstStyle/>
          <a:p>
            <a:pPr marL="0" indent="0">
              <a:buNone/>
            </a:pPr>
            <a:r>
              <a:rPr lang="en-GB" b="1" dirty="0"/>
              <a:t>Three to five authors</a:t>
            </a:r>
            <a:endParaRPr lang="en-US" dirty="0"/>
          </a:p>
          <a:p>
            <a:pPr algn="just">
              <a:buFont typeface="Wingdings" pitchFamily="2" charset="2"/>
              <a:buChar char="Ø"/>
            </a:pPr>
            <a:r>
              <a:rPr lang="en-GB" dirty="0"/>
              <a:t>List all the authors’ names in a signal phrase or parenthetical citation for the first reference.</a:t>
            </a:r>
            <a:endParaRPr lang="en-US" dirty="0"/>
          </a:p>
          <a:p>
            <a:pPr marL="0" indent="0" algn="just">
              <a:buNone/>
            </a:pPr>
            <a:r>
              <a:rPr lang="en-GB" dirty="0"/>
              <a:t> </a:t>
            </a:r>
            <a:endParaRPr lang="en-US" dirty="0"/>
          </a:p>
          <a:p>
            <a:pPr algn="just">
              <a:buFont typeface="Wingdings" pitchFamily="2" charset="2"/>
              <a:buChar char="Ø"/>
            </a:pPr>
            <a:r>
              <a:rPr lang="en-GB" dirty="0"/>
              <a:t>Banda, </a:t>
            </a:r>
            <a:r>
              <a:rPr lang="en-GB" dirty="0" err="1"/>
              <a:t>Chirwa</a:t>
            </a:r>
            <a:r>
              <a:rPr lang="en-GB" dirty="0"/>
              <a:t>, </a:t>
            </a:r>
            <a:r>
              <a:rPr lang="en-GB" dirty="0" err="1"/>
              <a:t>Gondwe</a:t>
            </a:r>
            <a:r>
              <a:rPr lang="en-GB" dirty="0"/>
              <a:t>, </a:t>
            </a:r>
            <a:r>
              <a:rPr lang="en-GB" dirty="0" err="1"/>
              <a:t>Phiri</a:t>
            </a:r>
            <a:r>
              <a:rPr lang="en-GB" dirty="0"/>
              <a:t>, and </a:t>
            </a:r>
            <a:r>
              <a:rPr lang="en-GB" dirty="0" err="1"/>
              <a:t>Zgambo</a:t>
            </a:r>
            <a:r>
              <a:rPr lang="en-GB" dirty="0"/>
              <a:t> (2000) suggest that many women rely on observing and listening to others as ways of learning about themselves.</a:t>
            </a:r>
            <a:endParaRPr lang="en-US" dirty="0"/>
          </a:p>
          <a:p>
            <a:pPr marL="0" indent="0" algn="just">
              <a:buNone/>
            </a:pPr>
            <a:r>
              <a:rPr lang="en-GB" dirty="0"/>
              <a:t> </a:t>
            </a:r>
            <a:endParaRPr lang="en-US" dirty="0"/>
          </a:p>
          <a:p>
            <a:pPr algn="just">
              <a:buFont typeface="Wingdings" pitchFamily="2" charset="2"/>
              <a:buChar char="Ø"/>
            </a:pPr>
            <a:r>
              <a:rPr lang="en-GB" dirty="0"/>
              <a:t>In any subsequent references, use just the first author’s name (if we consider our example then use Banda) plus </a:t>
            </a:r>
            <a:r>
              <a:rPr lang="en-GB" i="1" dirty="0"/>
              <a:t>et </a:t>
            </a:r>
            <a:r>
              <a:rPr lang="en-GB" i="1" dirty="0" smtClean="0"/>
              <a:t>al. </a:t>
            </a:r>
            <a:r>
              <a:rPr lang="en-GB" dirty="0"/>
              <a:t>which means and others. Note that all the author’s names should appear in the entry list of references.</a:t>
            </a:r>
            <a:endParaRPr lang="en-US" dirty="0"/>
          </a:p>
          <a:p>
            <a:pPr marL="0" indent="0" algn="just">
              <a:buNone/>
            </a:pPr>
            <a:r>
              <a:rPr lang="en-GB" dirty="0"/>
              <a:t>	</a:t>
            </a:r>
            <a:endParaRPr lang="en-US" dirty="0"/>
          </a:p>
          <a:p>
            <a:pPr algn="just">
              <a:buFont typeface="Wingdings" pitchFamily="2" charset="2"/>
              <a:buChar char="Ø"/>
            </a:pPr>
            <a:r>
              <a:rPr lang="en-GB" dirty="0"/>
              <a:t>As a result of this, observe </a:t>
            </a:r>
            <a:r>
              <a:rPr lang="en-GB" dirty="0" err="1"/>
              <a:t>Chirwa</a:t>
            </a:r>
            <a:r>
              <a:rPr lang="en-GB" dirty="0"/>
              <a:t> et al.  (2000), women learn to listen to themselves then take a step toward self expression.</a:t>
            </a:r>
            <a:endParaRPr lang="en-US" dirty="0"/>
          </a:p>
          <a:p>
            <a:endParaRPr lang="en-US" dirty="0"/>
          </a:p>
        </p:txBody>
      </p:sp>
    </p:spTree>
    <p:extLst>
      <p:ext uri="{BB962C8B-B14F-4D97-AF65-F5344CB8AC3E}">
        <p14:creationId xmlns:p14="http://schemas.microsoft.com/office/powerpoint/2010/main" val="59482563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a:bodyPr>
          <a:lstStyle/>
          <a:p>
            <a:pPr marL="0" indent="0">
              <a:buNone/>
            </a:pPr>
            <a:r>
              <a:rPr lang="en-GB" b="1" dirty="0"/>
              <a:t>Six or more authors</a:t>
            </a:r>
            <a:endParaRPr lang="en-US" dirty="0"/>
          </a:p>
          <a:p>
            <a:pPr algn="just">
              <a:buFont typeface="Wingdings" pitchFamily="2" charset="2"/>
              <a:buChar char="Ø"/>
            </a:pPr>
            <a:r>
              <a:rPr lang="en-GB" dirty="0"/>
              <a:t>If a book has been written by six or more authors, use only the first author’s name and </a:t>
            </a:r>
            <a:r>
              <a:rPr lang="en-GB" i="1" dirty="0"/>
              <a:t>et al.</a:t>
            </a:r>
            <a:r>
              <a:rPr lang="en-GB" dirty="0"/>
              <a:t> (‘’ and others”) in every citation, including the first. Note that all the authors’ names should appear in the entry in the list of references. For example</a:t>
            </a:r>
            <a:r>
              <a:rPr lang="en-GB" dirty="0" smtClean="0"/>
              <a:t>:</a:t>
            </a:r>
            <a:r>
              <a:rPr lang="en-GB" dirty="0"/>
              <a:t>	</a:t>
            </a:r>
            <a:endParaRPr lang="en-US" dirty="0"/>
          </a:p>
          <a:p>
            <a:pPr algn="just">
              <a:buFont typeface="Wingdings" pitchFamily="2" charset="2"/>
              <a:buChar char="Ø"/>
            </a:pPr>
            <a:r>
              <a:rPr lang="en-GB" dirty="0"/>
              <a:t>As Muller et al. (1980) demonstrated, television holds the potential for distorting and manipulating people as free-willed viewers. </a:t>
            </a:r>
            <a:endParaRPr lang="en-US" dirty="0"/>
          </a:p>
          <a:p>
            <a:endParaRPr lang="en-US" dirty="0"/>
          </a:p>
        </p:txBody>
      </p:sp>
    </p:spTree>
    <p:extLst>
      <p:ext uri="{BB962C8B-B14F-4D97-AF65-F5344CB8AC3E}">
        <p14:creationId xmlns:p14="http://schemas.microsoft.com/office/powerpoint/2010/main" val="155565609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953000"/>
          </a:xfrm>
        </p:spPr>
        <p:txBody>
          <a:bodyPr>
            <a:normAutofit fontScale="85000" lnSpcReduction="20000"/>
          </a:bodyPr>
          <a:lstStyle/>
          <a:p>
            <a:pPr marL="0" indent="0">
              <a:buNone/>
            </a:pPr>
            <a:r>
              <a:rPr lang="en-GB" b="1" dirty="0"/>
              <a:t>Corporate or </a:t>
            </a:r>
            <a:r>
              <a:rPr lang="en-GB" b="1"/>
              <a:t>group </a:t>
            </a:r>
            <a:r>
              <a:rPr lang="en-GB" b="1" smtClean="0"/>
              <a:t>author</a:t>
            </a:r>
            <a:endParaRPr lang="en-GB" dirty="0" smtClean="0"/>
          </a:p>
          <a:p>
            <a:pPr>
              <a:buFont typeface="Wingdings" pitchFamily="2" charset="2"/>
              <a:buChar char="Ø"/>
            </a:pPr>
            <a:r>
              <a:rPr lang="en-GB" dirty="0" smtClean="0"/>
              <a:t>When </a:t>
            </a:r>
            <a:r>
              <a:rPr lang="en-GB" dirty="0"/>
              <a:t>you are using a book authored by a group of authors, spell out the name each time you cite it</a:t>
            </a:r>
            <a:r>
              <a:rPr lang="en-GB" dirty="0" smtClean="0"/>
              <a:t>.</a:t>
            </a:r>
          </a:p>
          <a:p>
            <a:r>
              <a:rPr lang="en-GB" dirty="0"/>
              <a:t> If the name is long, spell it out the first time you use it, followed by an abbreviation in brackets. In later citations, use the abbreviation only. For example:</a:t>
            </a:r>
            <a:endParaRPr lang="en-US" dirty="0"/>
          </a:p>
          <a:p>
            <a:pPr marL="0" indent="0">
              <a:buNone/>
            </a:pPr>
            <a:r>
              <a:rPr lang="en-GB" dirty="0"/>
              <a:t> </a:t>
            </a:r>
            <a:endParaRPr lang="en-US" dirty="0"/>
          </a:p>
          <a:p>
            <a:pPr>
              <a:buFont typeface="Wingdings" pitchFamily="2" charset="2"/>
              <a:buChar char="Ø"/>
            </a:pPr>
            <a:r>
              <a:rPr lang="en-GB" b="1" dirty="0" smtClean="0"/>
              <a:t>First </a:t>
            </a:r>
            <a:r>
              <a:rPr lang="en-GB" b="1" dirty="0"/>
              <a:t>citation</a:t>
            </a:r>
            <a:endParaRPr lang="en-US" dirty="0"/>
          </a:p>
          <a:p>
            <a:r>
              <a:rPr lang="en-GB" dirty="0" smtClean="0"/>
              <a:t>(</a:t>
            </a:r>
            <a:r>
              <a:rPr lang="en-GB" dirty="0"/>
              <a:t>The Malawi Broadcasting Corporation [MBC], 1990)</a:t>
            </a:r>
            <a:endParaRPr lang="en-US" dirty="0"/>
          </a:p>
          <a:p>
            <a:pPr marL="0" indent="0">
              <a:buNone/>
            </a:pPr>
            <a:endParaRPr lang="en-US" dirty="0"/>
          </a:p>
          <a:p>
            <a:pPr>
              <a:buFont typeface="Wingdings" pitchFamily="2" charset="2"/>
              <a:buChar char="Ø"/>
            </a:pPr>
            <a:r>
              <a:rPr lang="en-GB" b="1" dirty="0" smtClean="0"/>
              <a:t>Later </a:t>
            </a:r>
            <a:r>
              <a:rPr lang="en-GB" b="1" dirty="0"/>
              <a:t>citation</a:t>
            </a:r>
            <a:endParaRPr lang="en-US" dirty="0"/>
          </a:p>
          <a:p>
            <a:r>
              <a:rPr lang="en-GB" dirty="0" smtClean="0"/>
              <a:t>(</a:t>
            </a:r>
            <a:r>
              <a:rPr lang="en-GB" dirty="0"/>
              <a:t>MBC, 1990</a:t>
            </a:r>
            <a:r>
              <a:rPr lang="en-GB" dirty="0" smtClean="0"/>
              <a:t>)</a:t>
            </a:r>
            <a:r>
              <a:rPr lang="en-GB" dirty="0"/>
              <a:t> </a:t>
            </a:r>
            <a:endParaRPr lang="en-US" dirty="0"/>
          </a:p>
          <a:p>
            <a:pPr>
              <a:buFont typeface="Wingdings" pitchFamily="2" charset="2"/>
              <a:buChar char="Ø"/>
            </a:pPr>
            <a:endParaRPr lang="en-US" dirty="0"/>
          </a:p>
          <a:p>
            <a:endParaRPr lang="en-US" dirty="0"/>
          </a:p>
        </p:txBody>
      </p:sp>
    </p:spTree>
    <p:extLst>
      <p:ext uri="{BB962C8B-B14F-4D97-AF65-F5344CB8AC3E}">
        <p14:creationId xmlns:p14="http://schemas.microsoft.com/office/powerpoint/2010/main" val="16361306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0" indent="0">
              <a:buNone/>
            </a:pPr>
            <a:r>
              <a:rPr lang="en-GB" b="1" dirty="0" smtClean="0"/>
              <a:t>Unknown </a:t>
            </a:r>
            <a:r>
              <a:rPr lang="en-GB" b="1" dirty="0"/>
              <a:t>author</a:t>
            </a:r>
            <a:endParaRPr lang="en-US" dirty="0"/>
          </a:p>
          <a:p>
            <a:pPr>
              <a:buFont typeface="Wingdings" pitchFamily="2" charset="2"/>
              <a:buChar char="Ø"/>
            </a:pPr>
            <a:r>
              <a:rPr lang="en-GB" dirty="0"/>
              <a:t>Sometimes it is possible to retrieve information from a source whose author is anonymous. In this case, use the title or its first few words in a signal phrase or parenthetical citation. For example:</a:t>
            </a:r>
            <a:endParaRPr lang="en-US" dirty="0"/>
          </a:p>
          <a:p>
            <a:pPr marL="0" indent="0">
              <a:buNone/>
            </a:pPr>
            <a:r>
              <a:rPr lang="en-GB" dirty="0"/>
              <a:t> </a:t>
            </a:r>
            <a:endParaRPr lang="en-US" dirty="0"/>
          </a:p>
          <a:p>
            <a:pPr>
              <a:buFont typeface="Wingdings" pitchFamily="2" charset="2"/>
              <a:buChar char="Ø"/>
            </a:pPr>
            <a:r>
              <a:rPr lang="en-GB" dirty="0"/>
              <a:t>The school profiles for the Division substantiates this trend (Guide to Secondary </a:t>
            </a:r>
            <a:r>
              <a:rPr lang="en-GB" dirty="0" smtClean="0"/>
              <a:t>Schools, </a:t>
            </a:r>
            <a:r>
              <a:rPr lang="en-GB" dirty="0"/>
              <a:t>1983)</a:t>
            </a:r>
            <a:endParaRPr lang="en-US" dirty="0"/>
          </a:p>
          <a:p>
            <a:pPr marL="0" indent="0">
              <a:buNone/>
            </a:pPr>
            <a:r>
              <a:rPr lang="en-GB" b="1" dirty="0"/>
              <a:t> </a:t>
            </a:r>
            <a:endParaRPr lang="en-US" dirty="0"/>
          </a:p>
          <a:p>
            <a:endParaRPr lang="en-US" dirty="0"/>
          </a:p>
        </p:txBody>
      </p:sp>
    </p:spTree>
    <p:extLst>
      <p:ext uri="{BB962C8B-B14F-4D97-AF65-F5344CB8AC3E}">
        <p14:creationId xmlns:p14="http://schemas.microsoft.com/office/powerpoint/2010/main" val="93572726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indent="0">
              <a:buNone/>
            </a:pPr>
            <a:r>
              <a:rPr lang="en-GB" b="1" dirty="0"/>
              <a:t>Specific parts of a source</a:t>
            </a:r>
            <a:endParaRPr lang="en-US" dirty="0"/>
          </a:p>
          <a:p>
            <a:pPr>
              <a:buFont typeface="Wingdings" pitchFamily="2" charset="2"/>
              <a:buChar char="Ø"/>
            </a:pPr>
            <a:r>
              <a:rPr lang="en-GB" dirty="0"/>
              <a:t>If you want to cite specific parts of a source such as a chapter or section, use abbreviations (</a:t>
            </a:r>
            <a:r>
              <a:rPr lang="en-GB" i="1" dirty="0"/>
              <a:t>chap., p., </a:t>
            </a:r>
            <a:r>
              <a:rPr lang="en-GB" dirty="0"/>
              <a:t>and so on) in parenthetical citation to name the part you are citing.</a:t>
            </a:r>
            <a:endParaRPr lang="en-US" dirty="0"/>
          </a:p>
          <a:p>
            <a:pPr marL="0" indent="0">
              <a:buNone/>
            </a:pPr>
            <a:r>
              <a:rPr lang="en-GB" dirty="0"/>
              <a:t> </a:t>
            </a:r>
            <a:endParaRPr lang="en-US" dirty="0"/>
          </a:p>
          <a:p>
            <a:pPr>
              <a:buFont typeface="Wingdings" pitchFamily="2" charset="2"/>
              <a:buChar char="Ø"/>
            </a:pPr>
            <a:r>
              <a:rPr lang="en-GB" dirty="0"/>
              <a:t>Montgomery (1988, chap. 9) argues that his research yielded the opposite results.</a:t>
            </a:r>
            <a:endParaRPr lang="en-US" dirty="0"/>
          </a:p>
          <a:p>
            <a:pPr marL="0" indent="0">
              <a:buNone/>
            </a:pPr>
            <a:r>
              <a:rPr lang="en-GB" b="1" dirty="0"/>
              <a:t> </a:t>
            </a:r>
            <a:endParaRPr lang="en-US" dirty="0"/>
          </a:p>
          <a:p>
            <a:endParaRPr lang="en-US" dirty="0"/>
          </a:p>
        </p:txBody>
      </p:sp>
    </p:spTree>
    <p:extLst>
      <p:ext uri="{BB962C8B-B14F-4D97-AF65-F5344CB8AC3E}">
        <p14:creationId xmlns:p14="http://schemas.microsoft.com/office/powerpoint/2010/main" val="4409703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1600200"/>
            <a:ext cx="8229600" cy="4876800"/>
          </a:xfrm>
        </p:spPr>
        <p:txBody>
          <a:bodyPr>
            <a:normAutofit fontScale="85000" lnSpcReduction="10000"/>
          </a:bodyPr>
          <a:lstStyle/>
          <a:p>
            <a:pPr marL="0" indent="0">
              <a:buNone/>
            </a:pPr>
            <a:r>
              <a:rPr lang="en-GB" b="1" dirty="0"/>
              <a:t>Personal communication</a:t>
            </a:r>
            <a:endParaRPr lang="en-US" dirty="0"/>
          </a:p>
          <a:p>
            <a:pPr algn="just">
              <a:buFont typeface="Wingdings" pitchFamily="2" charset="2"/>
              <a:buChar char="Ø"/>
            </a:pPr>
            <a:r>
              <a:rPr lang="en-GB" dirty="0"/>
              <a:t>Cite any personal letters, memos, e-mail, telephone conversations, interviews and </a:t>
            </a:r>
            <a:r>
              <a:rPr lang="en-GB" dirty="0" err="1"/>
              <a:t>etc</a:t>
            </a:r>
            <a:r>
              <a:rPr lang="en-GB" dirty="0"/>
              <a:t>, with person’s initial(s) and last name, the identification personal communication, and the date. Because your readers would probably not be able to locate these sources, you need not include them in your list of references.  Look at the example below:</a:t>
            </a:r>
            <a:endParaRPr lang="en-US" dirty="0"/>
          </a:p>
          <a:p>
            <a:pPr marL="0" indent="0" algn="just">
              <a:buNone/>
            </a:pPr>
            <a:r>
              <a:rPr lang="en-GB" dirty="0"/>
              <a:t> </a:t>
            </a:r>
            <a:endParaRPr lang="en-US" dirty="0"/>
          </a:p>
          <a:p>
            <a:pPr algn="just">
              <a:buFont typeface="Wingdings" pitchFamily="2" charset="2"/>
              <a:buChar char="Ø"/>
            </a:pPr>
            <a:r>
              <a:rPr lang="en-GB" dirty="0"/>
              <a:t>J. L.  Morin (personal communication, October 14, 1990) supported the claims made in her recent article with new evidence</a:t>
            </a:r>
            <a:endParaRPr lang="en-US" dirty="0"/>
          </a:p>
        </p:txBody>
      </p:sp>
    </p:spTree>
    <p:extLst>
      <p:ext uri="{BB962C8B-B14F-4D97-AF65-F5344CB8AC3E}">
        <p14:creationId xmlns:p14="http://schemas.microsoft.com/office/powerpoint/2010/main" val="111515198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FF0000"/>
                </a:solidFill>
              </a:rPr>
              <a:t>APA format for a list of references</a:t>
            </a:r>
            <a:endParaRPr lang="en-US" dirty="0">
              <a:solidFill>
                <a:srgbClr val="FF0000"/>
              </a:solidFill>
            </a:endParaRPr>
          </a:p>
        </p:txBody>
      </p:sp>
      <p:sp>
        <p:nvSpPr>
          <p:cNvPr id="3" name="Content Placeholder 2"/>
          <p:cNvSpPr>
            <a:spLocks noGrp="1"/>
          </p:cNvSpPr>
          <p:nvPr>
            <p:ph idx="1"/>
          </p:nvPr>
        </p:nvSpPr>
        <p:spPr>
          <a:xfrm>
            <a:off x="457200" y="1600200"/>
            <a:ext cx="8229600" cy="4724400"/>
          </a:xfrm>
        </p:spPr>
        <p:txBody>
          <a:bodyPr>
            <a:normAutofit fontScale="92500"/>
          </a:bodyPr>
          <a:lstStyle/>
          <a:p>
            <a:pPr algn="just">
              <a:buFont typeface="Wingdings" pitchFamily="2" charset="2"/>
              <a:buChar char="Ø"/>
            </a:pPr>
            <a:r>
              <a:rPr lang="en-GB" i="1" dirty="0"/>
              <a:t>References </a:t>
            </a:r>
            <a:r>
              <a:rPr lang="en-GB" dirty="0"/>
              <a:t>refer to the alphabetical list of the sources cited in your essay. On the other hand, </a:t>
            </a:r>
            <a:r>
              <a:rPr lang="en-GB" i="1" dirty="0"/>
              <a:t>bibliography </a:t>
            </a:r>
            <a:r>
              <a:rPr lang="en-GB" dirty="0"/>
              <a:t>is a list of everything you have read as background for your essay. References should capture only those materials actually cited in your paper where as a bibliography will contain both cited and </a:t>
            </a:r>
            <a:r>
              <a:rPr lang="en-GB" dirty="0" err="1"/>
              <a:t>uncited</a:t>
            </a:r>
            <a:r>
              <a:rPr lang="en-GB" dirty="0"/>
              <a:t> material. The terms bibliography and reference may be used the other way round when you are dealing with other styles of citation. </a:t>
            </a:r>
            <a:endParaRPr lang="en-US" dirty="0"/>
          </a:p>
          <a:p>
            <a:pPr algn="just">
              <a:buFont typeface="Wingdings" pitchFamily="2" charset="2"/>
              <a:buChar char="Ø"/>
            </a:pPr>
            <a:endParaRPr lang="en-US" dirty="0"/>
          </a:p>
        </p:txBody>
      </p:sp>
    </p:spTree>
    <p:extLst>
      <p:ext uri="{BB962C8B-B14F-4D97-AF65-F5344CB8AC3E}">
        <p14:creationId xmlns:p14="http://schemas.microsoft.com/office/powerpoint/2010/main" val="268663006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Points to remember when writing references and bibliography</a:t>
            </a:r>
            <a:endParaRPr lang="en-US" b="1" dirty="0">
              <a:solidFill>
                <a:srgbClr val="FF0000"/>
              </a:solidFill>
            </a:endParaRPr>
          </a:p>
        </p:txBody>
      </p:sp>
      <p:sp>
        <p:nvSpPr>
          <p:cNvPr id="3" name="Content Placeholder 2"/>
          <p:cNvSpPr>
            <a:spLocks noGrp="1"/>
          </p:cNvSpPr>
          <p:nvPr>
            <p:ph idx="1"/>
          </p:nvPr>
        </p:nvSpPr>
        <p:spPr>
          <a:xfrm>
            <a:off x="457200" y="1600200"/>
            <a:ext cx="8458200" cy="4953000"/>
          </a:xfrm>
        </p:spPr>
        <p:txBody>
          <a:bodyPr>
            <a:normAutofit fontScale="77500" lnSpcReduction="20000"/>
          </a:bodyPr>
          <a:lstStyle/>
          <a:p>
            <a:pPr lvl="0" algn="just"/>
            <a:r>
              <a:rPr lang="en-GB" dirty="0"/>
              <a:t>Start your list on a separate page after the text of your essay but before any appendices that explain your research procedures or results and any notes. </a:t>
            </a:r>
            <a:endParaRPr lang="en-US" dirty="0"/>
          </a:p>
          <a:p>
            <a:pPr lvl="0" algn="just"/>
            <a:r>
              <a:rPr lang="en-GB" dirty="0"/>
              <a:t>Continue the consecutive numbering of pages. </a:t>
            </a:r>
            <a:endParaRPr lang="en-US" dirty="0"/>
          </a:p>
          <a:p>
            <a:pPr lvl="0" algn="just"/>
            <a:r>
              <a:rPr lang="en-GB" dirty="0"/>
              <a:t>Type the heading ‘References,’</a:t>
            </a:r>
            <a:r>
              <a:rPr lang="en-GB" i="1" dirty="0"/>
              <a:t> </a:t>
            </a:r>
            <a:r>
              <a:rPr lang="en-GB" dirty="0"/>
              <a:t>neither underlined nor in quotation marks, centred on top of the page.</a:t>
            </a:r>
            <a:endParaRPr lang="en-US" dirty="0"/>
          </a:p>
          <a:p>
            <a:pPr lvl="0" algn="just"/>
            <a:r>
              <a:rPr lang="en-GB" dirty="0"/>
              <a:t>Double-space and begin your first entry. </a:t>
            </a:r>
            <a:endParaRPr lang="en-US" dirty="0"/>
          </a:p>
          <a:p>
            <a:pPr lvl="0" algn="just"/>
            <a:r>
              <a:rPr lang="en-GB" dirty="0"/>
              <a:t>Do not indent the first line of each entry, but indent any subsequent lines of the entry five spaces. </a:t>
            </a:r>
            <a:endParaRPr lang="en-US" dirty="0"/>
          </a:p>
          <a:p>
            <a:pPr lvl="0" algn="just"/>
            <a:r>
              <a:rPr lang="en-GB" dirty="0"/>
              <a:t>Double-space the entire list.</a:t>
            </a:r>
            <a:endParaRPr lang="en-US" dirty="0"/>
          </a:p>
          <a:p>
            <a:pPr lvl="0" algn="just"/>
            <a:r>
              <a:rPr lang="en-GB" dirty="0"/>
              <a:t>List your sources alphabetically (i.e. from A to Z) by author’s last names. </a:t>
            </a:r>
            <a:endParaRPr lang="en-US" dirty="0"/>
          </a:p>
          <a:p>
            <a:pPr lvl="0" algn="just"/>
            <a:r>
              <a:rPr lang="en-GB" dirty="0"/>
              <a:t>If the source is anonymous author, alphabetise it by the first major word of the title. </a:t>
            </a:r>
            <a:endParaRPr lang="en-US" dirty="0"/>
          </a:p>
          <a:p>
            <a:endParaRPr lang="en-US" dirty="0"/>
          </a:p>
        </p:txBody>
      </p:sp>
    </p:spTree>
    <p:extLst>
      <p:ext uri="{BB962C8B-B14F-4D97-AF65-F5344CB8AC3E}">
        <p14:creationId xmlns:p14="http://schemas.microsoft.com/office/powerpoint/2010/main" val="428963691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buFont typeface="Wingdings" pitchFamily="2" charset="2"/>
              <a:buChar char="Ø"/>
            </a:pPr>
            <a:r>
              <a:rPr lang="en-GB" dirty="0"/>
              <a:t>The APA style specifies treatment and placement of four basic elements - author, publication date, title, and publisher information. These are integral parts and every time you are writing academic papers ensure that you have used them appropriately. Let us now look at these four basic elements in detail:</a:t>
            </a:r>
            <a:endParaRPr lang="en-US" dirty="0"/>
          </a:p>
          <a:p>
            <a:pPr marL="0" indent="0">
              <a:buNone/>
            </a:pPr>
            <a:r>
              <a:rPr lang="en-GB" dirty="0"/>
              <a:t> </a:t>
            </a:r>
            <a:endParaRPr lang="en-US" dirty="0"/>
          </a:p>
          <a:p>
            <a:endParaRPr lang="en-US" dirty="0"/>
          </a:p>
        </p:txBody>
      </p:sp>
    </p:spTree>
    <p:extLst>
      <p:ext uri="{BB962C8B-B14F-4D97-AF65-F5344CB8AC3E}">
        <p14:creationId xmlns:p14="http://schemas.microsoft.com/office/powerpoint/2010/main" val="245716858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GB" b="1" dirty="0"/>
              <a:t>Author</a:t>
            </a:r>
            <a:endParaRPr lang="en-US" dirty="0"/>
          </a:p>
          <a:p>
            <a:pPr>
              <a:buFont typeface="Wingdings" pitchFamily="2" charset="2"/>
              <a:buChar char="Ø"/>
            </a:pPr>
            <a:r>
              <a:rPr lang="en-GB" dirty="0"/>
              <a:t>List all authors last name first, and use only initials for first and middle names. Separate the names of multiple authors with commas and use an ampersand (abbreviated ‘and’) before the last author’s name. For example, Banda, L., &amp; </a:t>
            </a:r>
            <a:r>
              <a:rPr lang="en-GB" dirty="0" err="1"/>
              <a:t>Phiri</a:t>
            </a:r>
            <a:r>
              <a:rPr lang="en-GB" dirty="0"/>
              <a:t>, K.</a:t>
            </a:r>
            <a:endParaRPr lang="en-US" dirty="0"/>
          </a:p>
          <a:p>
            <a:pPr marL="0" indent="0">
              <a:buNone/>
            </a:pPr>
            <a:r>
              <a:rPr lang="en-GB" dirty="0"/>
              <a:t> </a:t>
            </a:r>
            <a:endParaRPr lang="en-US" dirty="0"/>
          </a:p>
          <a:p>
            <a:r>
              <a:rPr lang="en-GB" b="1" dirty="0"/>
              <a:t>Publication date</a:t>
            </a:r>
            <a:endParaRPr lang="en-US" dirty="0"/>
          </a:p>
          <a:p>
            <a:pPr>
              <a:buFont typeface="Wingdings" pitchFamily="2" charset="2"/>
              <a:buChar char="Ø"/>
            </a:pPr>
            <a:r>
              <a:rPr lang="en-GB" dirty="0"/>
              <a:t>Enclose the date in parentheses (brackets). Use only the year for books and journals, use the year, a comma, and the month or month and day for magazines. Do not abbreviate the month. </a:t>
            </a:r>
            <a:endParaRPr lang="en-US" dirty="0"/>
          </a:p>
          <a:p>
            <a:endParaRPr lang="en-US" dirty="0"/>
          </a:p>
        </p:txBody>
      </p:sp>
    </p:spTree>
    <p:extLst>
      <p:ext uri="{BB962C8B-B14F-4D97-AF65-F5344CB8AC3E}">
        <p14:creationId xmlns:p14="http://schemas.microsoft.com/office/powerpoint/2010/main" val="234972040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GB" b="1" dirty="0"/>
              <a:t>Title</a:t>
            </a:r>
            <a:endParaRPr lang="en-US" dirty="0"/>
          </a:p>
          <a:p>
            <a:pPr>
              <a:buFont typeface="Wingdings" pitchFamily="2" charset="2"/>
              <a:buChar char="Ø"/>
            </a:pPr>
            <a:r>
              <a:rPr lang="en-GB" dirty="0"/>
              <a:t>Underline titles (or italicise titles) and subtitles of books and periodicals. 	Do not enclose titles of articles in quotation marks. For books and articles capitalise only the first word of the title and subtitle and any proper nouns or proper adjectives. </a:t>
            </a:r>
            <a:endParaRPr lang="en-US" dirty="0"/>
          </a:p>
          <a:p>
            <a:endParaRPr lang="en-US" dirty="0"/>
          </a:p>
        </p:txBody>
      </p:sp>
    </p:spTree>
    <p:extLst>
      <p:ext uri="{BB962C8B-B14F-4D97-AF65-F5344CB8AC3E}">
        <p14:creationId xmlns:p14="http://schemas.microsoft.com/office/powerpoint/2010/main" val="99175535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GB" b="1" dirty="0"/>
              <a:t>Publication information</a:t>
            </a:r>
            <a:endParaRPr lang="en-US" dirty="0"/>
          </a:p>
          <a:p>
            <a:pPr algn="just"/>
            <a:r>
              <a:rPr lang="en-GB" dirty="0"/>
              <a:t>For a book, list the city of publication (and the country or postal abbreviation for the state if the city is unfamiliar), a colon, and the publisher’s name, dropping any </a:t>
            </a:r>
            <a:r>
              <a:rPr lang="en-GB" i="1" dirty="0"/>
              <a:t>Inc., Co., or Publishers.</a:t>
            </a:r>
            <a:r>
              <a:rPr lang="en-GB" dirty="0"/>
              <a:t> For a periodical, follow the periodical title with a comma, the volume number, the issue number (if appropriate) in parentheses, a comma and the inclusive page numbers of the article. For newspapers, include the abbreviations </a:t>
            </a:r>
            <a:r>
              <a:rPr lang="en-GB" i="1" dirty="0"/>
              <a:t>p. </a:t>
            </a:r>
            <a:r>
              <a:rPr lang="en-GB" dirty="0"/>
              <a:t>(‘’page”) or </a:t>
            </a:r>
            <a:r>
              <a:rPr lang="en-GB" i="1" dirty="0"/>
              <a:t>pp.</a:t>
            </a:r>
            <a:r>
              <a:rPr lang="en-GB" dirty="0"/>
              <a:t> (“pages”).</a:t>
            </a:r>
            <a:endParaRPr lang="en-US" dirty="0"/>
          </a:p>
          <a:p>
            <a:endParaRPr lang="en-US" dirty="0"/>
          </a:p>
        </p:txBody>
      </p:sp>
    </p:spTree>
    <p:extLst>
      <p:ext uri="{BB962C8B-B14F-4D97-AF65-F5344CB8AC3E}">
        <p14:creationId xmlns:p14="http://schemas.microsoft.com/office/powerpoint/2010/main" val="102008372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Presentation of materials using APA format</a:t>
            </a:r>
            <a:endParaRPr lang="en-US" b="1" dirty="0">
              <a:solidFill>
                <a:srgbClr val="FF0000"/>
              </a:solidFill>
            </a:endParaRPr>
          </a:p>
        </p:txBody>
      </p:sp>
      <p:sp>
        <p:nvSpPr>
          <p:cNvPr id="3" name="Content Placeholder 2"/>
          <p:cNvSpPr>
            <a:spLocks noGrp="1"/>
          </p:cNvSpPr>
          <p:nvPr>
            <p:ph idx="1"/>
          </p:nvPr>
        </p:nvSpPr>
        <p:spPr/>
        <p:txBody>
          <a:bodyPr/>
          <a:lstStyle/>
          <a:p>
            <a:pPr marL="0" indent="0">
              <a:buNone/>
            </a:pPr>
            <a:r>
              <a:rPr lang="en-GB" b="1" dirty="0" smtClean="0">
                <a:solidFill>
                  <a:srgbClr val="FF0000"/>
                </a:solidFill>
              </a:rPr>
              <a:t>A	Books</a:t>
            </a:r>
            <a:endParaRPr lang="en-US" dirty="0">
              <a:solidFill>
                <a:srgbClr val="FF0000"/>
              </a:solidFill>
            </a:endParaRPr>
          </a:p>
          <a:p>
            <a:r>
              <a:rPr lang="en-GB" b="1" dirty="0"/>
              <a:t>Book by one author</a:t>
            </a:r>
            <a:endParaRPr lang="en-US" dirty="0"/>
          </a:p>
          <a:p>
            <a:pPr algn="just">
              <a:buFont typeface="Wingdings" pitchFamily="2" charset="2"/>
              <a:buChar char="Ø"/>
            </a:pPr>
            <a:r>
              <a:rPr lang="en-GB" dirty="0" err="1"/>
              <a:t>Wakuda</a:t>
            </a:r>
            <a:r>
              <a:rPr lang="en-GB" dirty="0"/>
              <a:t>, M. (1993</a:t>
            </a:r>
            <a:r>
              <a:rPr lang="en-GB" dirty="0" smtClean="0"/>
              <a:t>). </a:t>
            </a:r>
            <a:r>
              <a:rPr lang="en-GB" i="1" dirty="0"/>
              <a:t>Politics in Malawi. </a:t>
            </a:r>
            <a:r>
              <a:rPr lang="en-GB" dirty="0"/>
              <a:t> </a:t>
            </a:r>
            <a:r>
              <a:rPr lang="en-GB" dirty="0" smtClean="0"/>
              <a:t>	Blantyre</a:t>
            </a:r>
            <a:r>
              <a:rPr lang="en-GB"/>
              <a:t>: </a:t>
            </a:r>
            <a:r>
              <a:rPr lang="en-GB" smtClean="0"/>
              <a:t>Longman.</a:t>
            </a:r>
            <a:endParaRPr lang="en-US" dirty="0"/>
          </a:p>
          <a:p>
            <a:endParaRPr lang="en-US" dirty="0"/>
          </a:p>
        </p:txBody>
      </p:sp>
    </p:spTree>
    <p:extLst>
      <p:ext uri="{BB962C8B-B14F-4D97-AF65-F5344CB8AC3E}">
        <p14:creationId xmlns:p14="http://schemas.microsoft.com/office/powerpoint/2010/main" val="578454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solidFill>
                  <a:srgbClr val="FF0000"/>
                </a:solidFill>
              </a:rPr>
              <a:t>Order of several works by the same author</a:t>
            </a:r>
            <a:endParaRPr lang="en-GB" b="1" dirty="0">
              <a:solidFill>
                <a:srgbClr val="FF0000"/>
              </a:solidFill>
            </a:endParaRPr>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dirty="0"/>
              <a:t>When ordering several works by </a:t>
            </a:r>
            <a:r>
              <a:rPr lang="en-US" dirty="0" smtClean="0"/>
              <a:t>the</a:t>
            </a:r>
            <a:r>
              <a:rPr lang="en-GB" b="1" dirty="0"/>
              <a:t> </a:t>
            </a:r>
            <a:r>
              <a:rPr lang="en-US" dirty="0" smtClean="0"/>
              <a:t>same </a:t>
            </a:r>
            <a:r>
              <a:rPr lang="en-US" dirty="0"/>
              <a:t>first author, </a:t>
            </a:r>
            <a:r>
              <a:rPr lang="en-US" dirty="0" smtClean="0"/>
              <a:t>give the author’s name in the first and all subsequent references, and use the following rules to arrange the entries:</a:t>
            </a:r>
            <a:endParaRPr lang="en-GB" dirty="0"/>
          </a:p>
        </p:txBody>
      </p:sp>
    </p:spTree>
    <p:extLst>
      <p:ext uri="{BB962C8B-B14F-4D97-AF65-F5344CB8AC3E}">
        <p14:creationId xmlns:p14="http://schemas.microsoft.com/office/powerpoint/2010/main" val="288893454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solidFill>
                  <a:srgbClr val="FF0000"/>
                </a:solidFill>
              </a:rPr>
              <a:t>Order of several works by the same </a:t>
            </a:r>
            <a:r>
              <a:rPr lang="en-GB" b="1" dirty="0" smtClean="0">
                <a:solidFill>
                  <a:srgbClr val="FF0000"/>
                </a:solidFill>
              </a:rPr>
              <a:t>author </a:t>
            </a:r>
            <a:r>
              <a:rPr lang="en-GB" b="1" dirty="0" err="1" smtClean="0">
                <a:solidFill>
                  <a:srgbClr val="FF0000"/>
                </a:solidFill>
              </a:rPr>
              <a:t>cont</a:t>
            </a:r>
            <a:r>
              <a:rPr lang="en-GB" b="1" dirty="0" smtClean="0">
                <a:solidFill>
                  <a:srgbClr val="FF0000"/>
                </a:solidFill>
              </a:rPr>
              <a:t>…</a:t>
            </a:r>
            <a:endParaRPr lang="en-GB" dirty="0"/>
          </a:p>
        </p:txBody>
      </p:sp>
      <p:sp>
        <p:nvSpPr>
          <p:cNvPr id="3" name="Content Placeholder 2"/>
          <p:cNvSpPr>
            <a:spLocks noGrp="1"/>
          </p:cNvSpPr>
          <p:nvPr>
            <p:ph idx="1"/>
          </p:nvPr>
        </p:nvSpPr>
        <p:spPr>
          <a:xfrm>
            <a:off x="228600" y="1600200"/>
            <a:ext cx="8915400" cy="4525963"/>
          </a:xfrm>
        </p:spPr>
        <p:txBody>
          <a:bodyPr>
            <a:normAutofit/>
          </a:bodyPr>
          <a:lstStyle/>
          <a:p>
            <a:pPr>
              <a:buFont typeface="Wingdings" pitchFamily="2" charset="2"/>
              <a:buChar char="Ø"/>
            </a:pPr>
            <a:r>
              <a:rPr lang="en-US" sz="3600" dirty="0"/>
              <a:t>One-author entries by the same author are arranged by year of publication, the </a:t>
            </a:r>
            <a:r>
              <a:rPr lang="en-US" sz="3600" dirty="0" smtClean="0"/>
              <a:t>earliest </a:t>
            </a:r>
            <a:r>
              <a:rPr lang="en-GB" sz="3600" dirty="0" smtClean="0"/>
              <a:t>first</a:t>
            </a:r>
            <a:r>
              <a:rPr lang="en-GB" sz="3600" dirty="0"/>
              <a:t>:</a:t>
            </a:r>
          </a:p>
          <a:p>
            <a:pPr marL="0" indent="0">
              <a:buNone/>
            </a:pPr>
            <a:r>
              <a:rPr lang="en-GB" sz="3600" dirty="0" smtClean="0"/>
              <a:t>		</a:t>
            </a:r>
            <a:r>
              <a:rPr lang="en-GB" sz="3600" dirty="0" err="1" smtClean="0"/>
              <a:t>Upenieks</a:t>
            </a:r>
            <a:r>
              <a:rPr lang="en-GB" sz="3600" dirty="0"/>
              <a:t>, V. (2003).</a:t>
            </a:r>
          </a:p>
          <a:p>
            <a:pPr marL="0" indent="0">
              <a:buNone/>
            </a:pPr>
            <a:r>
              <a:rPr lang="en-GB" sz="3600" dirty="0" smtClean="0"/>
              <a:t>		</a:t>
            </a:r>
            <a:r>
              <a:rPr lang="en-GB" sz="3600" dirty="0" err="1" smtClean="0"/>
              <a:t>Upenieks</a:t>
            </a:r>
            <a:r>
              <a:rPr lang="en-GB" sz="3600" dirty="0"/>
              <a:t>, V. (2005).</a:t>
            </a:r>
          </a:p>
        </p:txBody>
      </p:sp>
    </p:spTree>
    <p:extLst>
      <p:ext uri="{BB962C8B-B14F-4D97-AF65-F5344CB8AC3E}">
        <p14:creationId xmlns:p14="http://schemas.microsoft.com/office/powerpoint/2010/main" val="57134046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solidFill>
                  <a:srgbClr val="FF0000"/>
                </a:solidFill>
              </a:rPr>
              <a:t>Order of several works by the same author</a:t>
            </a:r>
            <a:endParaRPr lang="en-GB" dirty="0"/>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GB" sz="3600" dirty="0"/>
              <a:t>One-author entries precede multiple-author </a:t>
            </a:r>
            <a:r>
              <a:rPr lang="en-GB" sz="3600" dirty="0" smtClean="0"/>
              <a:t>entries beginning  with </a:t>
            </a:r>
            <a:r>
              <a:rPr lang="en-GB" sz="3600" dirty="0"/>
              <a:t>the same </a:t>
            </a:r>
            <a:r>
              <a:rPr lang="en-GB" sz="3600" dirty="0" smtClean="0"/>
              <a:t>surname </a:t>
            </a:r>
            <a:r>
              <a:rPr lang="en-US" sz="3600" dirty="0" smtClean="0"/>
              <a:t>(even </a:t>
            </a:r>
            <a:r>
              <a:rPr lang="en-US" sz="3600" dirty="0"/>
              <a:t>if the multiple-author work </a:t>
            </a:r>
            <a:r>
              <a:rPr lang="en-US" sz="3600" dirty="0" smtClean="0"/>
              <a:t>was </a:t>
            </a:r>
            <a:r>
              <a:rPr lang="en-US" sz="3600" dirty="0" err="1" smtClean="0"/>
              <a:t>pubIished</a:t>
            </a:r>
            <a:r>
              <a:rPr lang="en-US" sz="3600" dirty="0" smtClean="0"/>
              <a:t> earlier </a:t>
            </a:r>
            <a:r>
              <a:rPr lang="en-US" sz="3600" dirty="0"/>
              <a:t>:</a:t>
            </a:r>
          </a:p>
          <a:p>
            <a:pPr marL="0" indent="0" algn="just">
              <a:buNone/>
            </a:pPr>
            <a:r>
              <a:rPr lang="en-GB" sz="3600" dirty="0" smtClean="0"/>
              <a:t>	</a:t>
            </a:r>
            <a:r>
              <a:rPr lang="en-GB" sz="3600" dirty="0" err="1" smtClean="0"/>
              <a:t>Alleyne</a:t>
            </a:r>
            <a:r>
              <a:rPr lang="en-GB" sz="3600" dirty="0"/>
              <a:t>, R. L. (2001).</a:t>
            </a:r>
          </a:p>
          <a:p>
            <a:pPr marL="0" indent="0" algn="just">
              <a:buNone/>
            </a:pPr>
            <a:r>
              <a:rPr lang="en-GB" sz="3600" dirty="0" smtClean="0"/>
              <a:t>	</a:t>
            </a:r>
            <a:r>
              <a:rPr lang="en-GB" sz="3600" dirty="0" err="1" smtClean="0"/>
              <a:t>Alleyne</a:t>
            </a:r>
            <a:r>
              <a:rPr lang="en-GB" sz="3600" dirty="0"/>
              <a:t>, R. L., &amp; Evans, A. J. (1999).</a:t>
            </a:r>
          </a:p>
        </p:txBody>
      </p:sp>
    </p:spTree>
    <p:extLst>
      <p:ext uri="{BB962C8B-B14F-4D97-AF65-F5344CB8AC3E}">
        <p14:creationId xmlns:p14="http://schemas.microsoft.com/office/powerpoint/2010/main" val="134622111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solidFill>
                  <a:srgbClr val="FF0000"/>
                </a:solidFill>
              </a:rPr>
              <a:t>Order of several works by the same author</a:t>
            </a:r>
            <a:endParaRPr lang="en-GB" dirty="0"/>
          </a:p>
        </p:txBody>
      </p:sp>
      <p:sp>
        <p:nvSpPr>
          <p:cNvPr id="3" name="Content Placeholder 2"/>
          <p:cNvSpPr>
            <a:spLocks noGrp="1"/>
          </p:cNvSpPr>
          <p:nvPr>
            <p:ph idx="1"/>
          </p:nvPr>
        </p:nvSpPr>
        <p:spPr>
          <a:xfrm>
            <a:off x="228600" y="1600200"/>
            <a:ext cx="8686800" cy="4525963"/>
          </a:xfrm>
        </p:spPr>
        <p:txBody>
          <a:bodyPr>
            <a:normAutofit fontScale="92500" lnSpcReduction="20000"/>
          </a:bodyPr>
          <a:lstStyle/>
          <a:p>
            <a:pPr algn="just">
              <a:buFont typeface="Wingdings" pitchFamily="2" charset="2"/>
              <a:buChar char="Ø"/>
            </a:pPr>
            <a:r>
              <a:rPr lang="en-GB" dirty="0" smtClean="0"/>
              <a:t>References with the same first author and different second or third authors are arranged alphabetically by the surname of the second author, or if the second author is the same, the surname of the third author, and so on:</a:t>
            </a:r>
          </a:p>
          <a:p>
            <a:pPr marL="0" indent="0">
              <a:buNone/>
            </a:pPr>
            <a:r>
              <a:rPr lang="en-US" dirty="0" smtClean="0"/>
              <a:t>	</a:t>
            </a:r>
            <a:r>
              <a:rPr lang="en-US" dirty="0" err="1" smtClean="0"/>
              <a:t>Boockvar</a:t>
            </a:r>
            <a:r>
              <a:rPr lang="en-US" dirty="0"/>
              <a:t>, K. S., &amp; </a:t>
            </a:r>
            <a:r>
              <a:rPr lang="en-US" dirty="0" err="1"/>
              <a:t>Burack</a:t>
            </a:r>
            <a:r>
              <a:rPr lang="en-US" dirty="0"/>
              <a:t>, O. R. (2007). . . A</a:t>
            </a:r>
          </a:p>
          <a:p>
            <a:pPr marL="0" indent="0">
              <a:buNone/>
            </a:pPr>
            <a:r>
              <a:rPr lang="en-GB" dirty="0" smtClean="0"/>
              <a:t>	</a:t>
            </a:r>
            <a:r>
              <a:rPr lang="en-GB" dirty="0" err="1" smtClean="0"/>
              <a:t>Boockvar</a:t>
            </a:r>
            <a:r>
              <a:rPr lang="en-GB" dirty="0"/>
              <a:t>, K. S., Carlson </a:t>
            </a:r>
            <a:r>
              <a:rPr lang="en-GB" dirty="0" err="1"/>
              <a:t>LaCorte</a:t>
            </a:r>
            <a:r>
              <a:rPr lang="en-GB" dirty="0"/>
              <a:t>, H., </a:t>
            </a:r>
            <a:r>
              <a:rPr lang="en-GB" dirty="0" err="1"/>
              <a:t>Giambanco</a:t>
            </a:r>
            <a:r>
              <a:rPr lang="en-GB" dirty="0"/>
              <a:t>, </a:t>
            </a:r>
            <a:r>
              <a:rPr lang="en-GB" dirty="0" smtClean="0"/>
              <a:t>		</a:t>
            </a:r>
            <a:r>
              <a:rPr lang="en-GB" dirty="0" err="1" smtClean="0"/>
              <a:t>Fnedman</a:t>
            </a:r>
            <a:r>
              <a:rPr lang="en-GB" dirty="0"/>
              <a:t>, B., &amp; </a:t>
            </a:r>
            <a:r>
              <a:rPr lang="en-GB" dirty="0" err="1" smtClean="0"/>
              <a:t>Siu</a:t>
            </a:r>
            <a:r>
              <a:rPr lang="en-GB" dirty="0" smtClean="0"/>
              <a:t>, V .(</a:t>
            </a:r>
            <a:r>
              <a:rPr lang="en-GB" dirty="0"/>
              <a:t>2006).</a:t>
            </a:r>
          </a:p>
          <a:p>
            <a:pPr marL="0" indent="0">
              <a:buNone/>
            </a:pPr>
            <a:r>
              <a:rPr lang="en-US" dirty="0" smtClean="0"/>
              <a:t>	Hayward</a:t>
            </a:r>
            <a:r>
              <a:rPr lang="en-US" dirty="0"/>
              <a:t>, D., </a:t>
            </a:r>
            <a:r>
              <a:rPr lang="en-US" dirty="0" err="1"/>
              <a:t>Firsching</a:t>
            </a:r>
            <a:r>
              <a:rPr lang="en-US" dirty="0"/>
              <a:t>, A., &amp; Brown, J. (1999).</a:t>
            </a:r>
          </a:p>
          <a:p>
            <a:pPr marL="0" indent="0">
              <a:buNone/>
            </a:pPr>
            <a:r>
              <a:rPr lang="en-US" dirty="0" smtClean="0"/>
              <a:t>	Hayward</a:t>
            </a:r>
            <a:r>
              <a:rPr lang="en-US" dirty="0"/>
              <a:t>, D., </a:t>
            </a:r>
            <a:r>
              <a:rPr lang="en-US" dirty="0" err="1"/>
              <a:t>Firsching</a:t>
            </a:r>
            <a:r>
              <a:rPr lang="en-US" dirty="0"/>
              <a:t>, A., &amp; </a:t>
            </a:r>
            <a:r>
              <a:rPr lang="en-US" dirty="0" err="1"/>
              <a:t>Smigel</a:t>
            </a:r>
            <a:r>
              <a:rPr lang="en-US" dirty="0"/>
              <a:t>, J. (1999).</a:t>
            </a:r>
            <a:endParaRPr lang="en-GB" dirty="0"/>
          </a:p>
        </p:txBody>
      </p:sp>
    </p:spTree>
    <p:extLst>
      <p:ext uri="{BB962C8B-B14F-4D97-AF65-F5344CB8AC3E}">
        <p14:creationId xmlns:p14="http://schemas.microsoft.com/office/powerpoint/2010/main" val="303501300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solidFill>
                  <a:srgbClr val="FF0000"/>
                </a:solidFill>
              </a:rPr>
              <a:t>Order of several works by the same author</a:t>
            </a:r>
            <a:endParaRPr lang="en-GB" dirty="0"/>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sz="3600" dirty="0"/>
              <a:t>References with the same authors in the same order are arranged by year of </a:t>
            </a:r>
            <a:r>
              <a:rPr lang="en-US" sz="3600" dirty="0" smtClean="0"/>
              <a:t>publication, </a:t>
            </a:r>
            <a:r>
              <a:rPr lang="en-GB" sz="3600" dirty="0" smtClean="0"/>
              <a:t>the </a:t>
            </a:r>
            <a:r>
              <a:rPr lang="en-GB" sz="3600" dirty="0"/>
              <a:t>earliest first:</a:t>
            </a:r>
          </a:p>
          <a:p>
            <a:pPr marL="0" indent="0" algn="just">
              <a:buNone/>
            </a:pPr>
            <a:r>
              <a:rPr lang="en-US" sz="3600" dirty="0" smtClean="0"/>
              <a:t>	</a:t>
            </a:r>
            <a:r>
              <a:rPr lang="en-US" sz="3600" dirty="0" err="1" smtClean="0"/>
              <a:t>Cabading</a:t>
            </a:r>
            <a:r>
              <a:rPr lang="en-US" sz="3600" dirty="0"/>
              <a:t>, J. R., &amp; Wright, K. (2000).</a:t>
            </a:r>
          </a:p>
          <a:p>
            <a:pPr marL="0" indent="0" algn="just">
              <a:buNone/>
            </a:pPr>
            <a:r>
              <a:rPr lang="en-US" sz="3600" dirty="0" smtClean="0"/>
              <a:t>	</a:t>
            </a:r>
            <a:r>
              <a:rPr lang="en-US" sz="3600" dirty="0" err="1" smtClean="0"/>
              <a:t>Cabading</a:t>
            </a:r>
            <a:r>
              <a:rPr lang="en-US" sz="3600" dirty="0"/>
              <a:t>, J. R., &amp; Wright, K. (2001).</a:t>
            </a:r>
            <a:endParaRPr lang="en-GB" sz="3600" dirty="0"/>
          </a:p>
        </p:txBody>
      </p:sp>
    </p:spTree>
    <p:extLst>
      <p:ext uri="{BB962C8B-B14F-4D97-AF65-F5344CB8AC3E}">
        <p14:creationId xmlns:p14="http://schemas.microsoft.com/office/powerpoint/2010/main" val="1087544332"/>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solidFill>
                  <a:srgbClr val="FF0000"/>
                </a:solidFill>
              </a:rPr>
              <a:t>Order of several works by the same author</a:t>
            </a:r>
            <a:endParaRPr lang="en-GB" dirty="0"/>
          </a:p>
        </p:txBody>
      </p:sp>
      <p:sp>
        <p:nvSpPr>
          <p:cNvPr id="3" name="Content Placeholder 2"/>
          <p:cNvSpPr>
            <a:spLocks noGrp="1"/>
          </p:cNvSpPr>
          <p:nvPr>
            <p:ph idx="1"/>
          </p:nvPr>
        </p:nvSpPr>
        <p:spPr/>
        <p:txBody>
          <a:bodyPr/>
          <a:lstStyle/>
          <a:p>
            <a:pPr>
              <a:buFont typeface="Wingdings" pitchFamily="2" charset="2"/>
              <a:buChar char="Ø"/>
            </a:pPr>
            <a:r>
              <a:rPr lang="en-GB" dirty="0" smtClean="0"/>
              <a:t>References by the same author (or by the same two or more authors in the same order) with the same publication date are arranged alphabetically by title (excluding </a:t>
            </a:r>
            <a:r>
              <a:rPr lang="en-GB" i="1" dirty="0" smtClean="0"/>
              <a:t>A </a:t>
            </a:r>
            <a:r>
              <a:rPr lang="en-GB" dirty="0" smtClean="0"/>
              <a:t>or </a:t>
            </a:r>
            <a:r>
              <a:rPr lang="en-GB" i="1" dirty="0" smtClean="0"/>
              <a:t>The).</a:t>
            </a:r>
          </a:p>
          <a:p>
            <a:pPr marL="0" indent="0">
              <a:buNone/>
            </a:pPr>
            <a:r>
              <a:rPr lang="it-IT" dirty="0" smtClean="0"/>
              <a:t>	Baheti</a:t>
            </a:r>
            <a:r>
              <a:rPr lang="it-IT" dirty="0"/>
              <a:t>, J. R. (2001a). Control .. .</a:t>
            </a:r>
          </a:p>
          <a:p>
            <a:pPr marL="0" indent="0">
              <a:buNone/>
            </a:pPr>
            <a:r>
              <a:rPr lang="en-US" dirty="0" smtClean="0"/>
              <a:t>	</a:t>
            </a:r>
            <a:r>
              <a:rPr lang="en-US" dirty="0" err="1" smtClean="0"/>
              <a:t>Baheti</a:t>
            </a:r>
            <a:r>
              <a:rPr lang="en-US" dirty="0"/>
              <a:t>, J. R. (2001 b). Roles of .. .</a:t>
            </a:r>
            <a:endParaRPr lang="en-GB" dirty="0"/>
          </a:p>
        </p:txBody>
      </p:sp>
    </p:spTree>
    <p:extLst>
      <p:ext uri="{BB962C8B-B14F-4D97-AF65-F5344CB8AC3E}">
        <p14:creationId xmlns:p14="http://schemas.microsoft.com/office/powerpoint/2010/main" val="249091278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solidFill>
                  <a:srgbClr val="FF0000"/>
                </a:solidFill>
              </a:rPr>
              <a:t>Order of several works by different first authors with the same surname</a:t>
            </a:r>
            <a:endParaRPr lang="en-GB" b="1" dirty="0">
              <a:solidFill>
                <a:srgbClr val="FF0000"/>
              </a:solidFill>
            </a:endParaRPr>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GB" sz="3600" dirty="0" smtClean="0"/>
              <a:t>Arrange works by different authors with the same surname alphabetically by first initials.</a:t>
            </a:r>
          </a:p>
          <a:p>
            <a:pPr marL="0" indent="0">
              <a:buNone/>
            </a:pPr>
            <a:r>
              <a:rPr lang="en-US" sz="3600" dirty="0" smtClean="0"/>
              <a:t>	</a:t>
            </a:r>
            <a:r>
              <a:rPr lang="en-US" sz="3600" dirty="0" err="1" smtClean="0"/>
              <a:t>Mathur</a:t>
            </a:r>
            <a:r>
              <a:rPr lang="en-US" sz="3600" dirty="0"/>
              <a:t>, A. L., &amp; </a:t>
            </a:r>
            <a:r>
              <a:rPr lang="en-US" sz="3600" dirty="0" err="1"/>
              <a:t>Wallston</a:t>
            </a:r>
            <a:r>
              <a:rPr lang="en-US" sz="3600" dirty="0"/>
              <a:t>, J. (1999).</a:t>
            </a:r>
          </a:p>
          <a:p>
            <a:pPr marL="0" indent="0">
              <a:buNone/>
            </a:pPr>
            <a:r>
              <a:rPr lang="de-DE" sz="3600" dirty="0" smtClean="0"/>
              <a:t>	Mathur</a:t>
            </a:r>
            <a:r>
              <a:rPr lang="de-DE" sz="3600" dirty="0"/>
              <a:t>, S. E., &amp; Ahlers, R. J. (1998).</a:t>
            </a:r>
            <a:endParaRPr lang="en-GB" sz="3600" dirty="0"/>
          </a:p>
        </p:txBody>
      </p:sp>
    </p:spTree>
    <p:extLst>
      <p:ext uri="{BB962C8B-B14F-4D97-AF65-F5344CB8AC3E}">
        <p14:creationId xmlns:p14="http://schemas.microsoft.com/office/powerpoint/2010/main" val="413809509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Authors With the Same Surname</a:t>
            </a:r>
            <a:endParaRPr lang="en-GB" dirty="0">
              <a:solidFill>
                <a:srgbClr val="FF0000"/>
              </a:solidFill>
            </a:endParaRPr>
          </a:p>
        </p:txBody>
      </p:sp>
      <p:sp>
        <p:nvSpPr>
          <p:cNvPr id="3" name="Content Placeholder 2"/>
          <p:cNvSpPr>
            <a:spLocks noGrp="1"/>
          </p:cNvSpPr>
          <p:nvPr>
            <p:ph idx="1"/>
          </p:nvPr>
        </p:nvSpPr>
        <p:spPr>
          <a:xfrm>
            <a:off x="457200" y="1600200"/>
            <a:ext cx="8458200" cy="5029200"/>
          </a:xfrm>
        </p:spPr>
        <p:txBody>
          <a:bodyPr>
            <a:normAutofit/>
          </a:bodyPr>
          <a:lstStyle/>
          <a:p>
            <a:pPr algn="just">
              <a:buFont typeface="Wingdings" pitchFamily="2" charset="2"/>
              <a:buChar char="Ø"/>
            </a:pPr>
            <a:r>
              <a:rPr lang="en-US" sz="3600" dirty="0"/>
              <a:t>If a reference list includes publications by two or more primary authors with the </a:t>
            </a:r>
            <a:r>
              <a:rPr lang="en-US" sz="3600" dirty="0" smtClean="0"/>
              <a:t>same surname</a:t>
            </a:r>
            <a:r>
              <a:rPr lang="en-US" sz="3600" dirty="0"/>
              <a:t>, include the first author's initials in all text citations, even if the year of </a:t>
            </a:r>
            <a:r>
              <a:rPr lang="en-US" sz="3600" dirty="0" smtClean="0"/>
              <a:t>publication differs</a:t>
            </a:r>
            <a:r>
              <a:rPr lang="en-US" sz="3600" dirty="0"/>
              <a:t>. Initials help the reader to avoid confusion within the text and to </a:t>
            </a:r>
            <a:r>
              <a:rPr lang="en-US" sz="3600" dirty="0" smtClean="0"/>
              <a:t>locate the </a:t>
            </a:r>
            <a:r>
              <a:rPr lang="en-US" sz="3600" dirty="0"/>
              <a:t>entry in the list of </a:t>
            </a:r>
            <a:r>
              <a:rPr lang="en-US" sz="3600" dirty="0" smtClean="0"/>
              <a:t>references. </a:t>
            </a:r>
            <a:endParaRPr lang="en-GB" sz="3600" dirty="0"/>
          </a:p>
        </p:txBody>
      </p:sp>
    </p:spTree>
    <p:extLst>
      <p:ext uri="{BB962C8B-B14F-4D97-AF65-F5344CB8AC3E}">
        <p14:creationId xmlns:p14="http://schemas.microsoft.com/office/powerpoint/2010/main" val="682553358"/>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solidFill>
                  <a:srgbClr val="FF0000"/>
                </a:solidFill>
              </a:rPr>
              <a:t>Authors with the same surname </a:t>
            </a:r>
            <a:r>
              <a:rPr lang="en-GB" b="1" dirty="0" err="1" smtClean="0">
                <a:solidFill>
                  <a:srgbClr val="FF0000"/>
                </a:solidFill>
              </a:rPr>
              <a:t>cont</a:t>
            </a:r>
            <a:r>
              <a:rPr lang="en-GB" b="1" dirty="0" smtClean="0">
                <a:solidFill>
                  <a:srgbClr val="FF0000"/>
                </a:solidFill>
              </a:rPr>
              <a:t>…</a:t>
            </a:r>
            <a:endParaRPr lang="en-GB" b="1" dirty="0">
              <a:solidFill>
                <a:srgbClr val="FF0000"/>
              </a:solidFill>
            </a:endParaRPr>
          </a:p>
        </p:txBody>
      </p:sp>
      <p:sp>
        <p:nvSpPr>
          <p:cNvPr id="3" name="Content Placeholder 2"/>
          <p:cNvSpPr>
            <a:spLocks noGrp="1"/>
          </p:cNvSpPr>
          <p:nvPr>
            <p:ph idx="1"/>
          </p:nvPr>
        </p:nvSpPr>
        <p:spPr>
          <a:xfrm>
            <a:off x="0" y="1600200"/>
            <a:ext cx="9144000" cy="4525963"/>
          </a:xfrm>
        </p:spPr>
        <p:txBody>
          <a:bodyPr>
            <a:normAutofit lnSpcReduction="10000"/>
          </a:bodyPr>
          <a:lstStyle/>
          <a:p>
            <a:r>
              <a:rPr lang="en-GB" b="1" i="1" dirty="0">
                <a:solidFill>
                  <a:srgbClr val="FF0000"/>
                </a:solidFill>
              </a:rPr>
              <a:t>References:</a:t>
            </a:r>
          </a:p>
          <a:p>
            <a:pPr>
              <a:buFont typeface="Wingdings" pitchFamily="2" charset="2"/>
              <a:buChar char="Ø"/>
            </a:pPr>
            <a:r>
              <a:rPr lang="en-US" dirty="0"/>
              <a:t>Light, I. (2006). </a:t>
            </a:r>
            <a:r>
              <a:rPr lang="en-US" i="1" dirty="0"/>
              <a:t>Deflecting </a:t>
            </a:r>
            <a:r>
              <a:rPr lang="en-US" i="1" dirty="0" smtClean="0"/>
              <a:t>immigration: Networks</a:t>
            </a:r>
            <a:r>
              <a:rPr lang="en-US" i="1" dirty="0"/>
              <a:t>, </a:t>
            </a:r>
            <a:r>
              <a:rPr lang="en-US" i="1" dirty="0" smtClean="0"/>
              <a:t>	markets</a:t>
            </a:r>
            <a:r>
              <a:rPr lang="en-US" i="1" dirty="0"/>
              <a:t>, and regulation in </a:t>
            </a:r>
            <a:r>
              <a:rPr lang="en-US" i="1" dirty="0" smtClean="0"/>
              <a:t>Los Angeles</a:t>
            </a:r>
            <a:r>
              <a:rPr lang="en-US" i="1" dirty="0"/>
              <a:t>. </a:t>
            </a:r>
            <a:r>
              <a:rPr lang="en-US" dirty="0"/>
              <a:t>New </a:t>
            </a:r>
            <a:r>
              <a:rPr lang="en-US" dirty="0" smtClean="0"/>
              <a:t>	York</a:t>
            </a:r>
            <a:r>
              <a:rPr lang="en-US" dirty="0"/>
              <a:t>, NY: Russell Sage Foundation.</a:t>
            </a:r>
          </a:p>
          <a:p>
            <a:pPr>
              <a:buFont typeface="Wingdings" pitchFamily="2" charset="2"/>
              <a:buChar char="Ø"/>
            </a:pPr>
            <a:r>
              <a:rPr lang="en-US" dirty="0"/>
              <a:t>Light, M. A., &amp; Light, I. H, (2008). The geographic </a:t>
            </a:r>
            <a:r>
              <a:rPr lang="en-US" dirty="0" smtClean="0"/>
              <a:t>	expansion </a:t>
            </a:r>
            <a:r>
              <a:rPr lang="en-US" dirty="0"/>
              <a:t>of Mexican </a:t>
            </a:r>
            <a:r>
              <a:rPr lang="en-US" dirty="0" smtClean="0"/>
              <a:t>immigration in </a:t>
            </a:r>
            <a:r>
              <a:rPr lang="en-US" dirty="0"/>
              <a:t>the United </a:t>
            </a:r>
            <a:r>
              <a:rPr lang="en-US" dirty="0" smtClean="0"/>
              <a:t>	States </a:t>
            </a:r>
            <a:r>
              <a:rPr lang="en-US" dirty="0"/>
              <a:t>and its implications for local </a:t>
            </a:r>
            <a:r>
              <a:rPr lang="en-US" dirty="0" smtClean="0"/>
              <a:t>law 	enforcement</a:t>
            </a:r>
            <a:r>
              <a:rPr lang="en-US" dirty="0"/>
              <a:t>. </a:t>
            </a:r>
            <a:r>
              <a:rPr lang="en-US" i="1" dirty="0" smtClean="0"/>
              <a:t>Law </a:t>
            </a:r>
            <a:r>
              <a:rPr lang="en-GB" i="1" dirty="0" smtClean="0"/>
              <a:t>Enforcement </a:t>
            </a:r>
            <a:r>
              <a:rPr lang="en-GB" i="1" dirty="0"/>
              <a:t>Executive Forum </a:t>
            </a:r>
            <a:r>
              <a:rPr lang="en-GB" i="1" dirty="0" smtClean="0"/>
              <a:t>	Journal</a:t>
            </a:r>
            <a:r>
              <a:rPr lang="en-GB" i="1" dirty="0"/>
              <a:t>, </a:t>
            </a:r>
            <a:r>
              <a:rPr lang="en-GB" dirty="0"/>
              <a:t>8, 73-82.</a:t>
            </a:r>
          </a:p>
        </p:txBody>
      </p:sp>
    </p:spTree>
    <p:extLst>
      <p:ext uri="{BB962C8B-B14F-4D97-AF65-F5344CB8AC3E}">
        <p14:creationId xmlns:p14="http://schemas.microsoft.com/office/powerpoint/2010/main" val="3200376500"/>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solidFill>
                  <a:srgbClr val="FF0000"/>
                </a:solidFill>
              </a:rPr>
              <a:t>Authors with the same surname </a:t>
            </a:r>
            <a:r>
              <a:rPr lang="en-GB" b="1" dirty="0" err="1">
                <a:solidFill>
                  <a:srgbClr val="FF0000"/>
                </a:solidFill>
              </a:rPr>
              <a:t>cont</a:t>
            </a:r>
            <a:r>
              <a:rPr lang="en-GB" b="1" dirty="0">
                <a:solidFill>
                  <a:srgbClr val="FF0000"/>
                </a:solidFill>
              </a:rPr>
              <a:t>…</a:t>
            </a:r>
            <a:endParaRPr lang="en-GB" dirty="0"/>
          </a:p>
        </p:txBody>
      </p:sp>
      <p:sp>
        <p:nvSpPr>
          <p:cNvPr id="3" name="Content Placeholder 2"/>
          <p:cNvSpPr>
            <a:spLocks noGrp="1"/>
          </p:cNvSpPr>
          <p:nvPr>
            <p:ph idx="1"/>
          </p:nvPr>
        </p:nvSpPr>
        <p:spPr/>
        <p:txBody>
          <a:bodyPr/>
          <a:lstStyle/>
          <a:p>
            <a:r>
              <a:rPr lang="en-GB" b="1" i="1" dirty="0">
                <a:solidFill>
                  <a:srgbClr val="FF0000"/>
                </a:solidFill>
              </a:rPr>
              <a:t>Text Cites:</a:t>
            </a:r>
          </a:p>
          <a:p>
            <a:pPr algn="just">
              <a:buFont typeface="Wingdings" pitchFamily="2" charset="2"/>
              <a:buChar char="Ø"/>
            </a:pPr>
            <a:r>
              <a:rPr lang="en-US" dirty="0"/>
              <a:t>Among studies, we review M. A. Light and </a:t>
            </a:r>
            <a:r>
              <a:rPr lang="en-US" dirty="0" smtClean="0"/>
              <a:t>	Light </a:t>
            </a:r>
            <a:r>
              <a:rPr lang="en-US" dirty="0"/>
              <a:t>(2008) and I. Light (2006).</a:t>
            </a:r>
            <a:endParaRPr lang="en-GB" dirty="0"/>
          </a:p>
        </p:txBody>
      </p:sp>
    </p:spTree>
    <p:extLst>
      <p:ext uri="{BB962C8B-B14F-4D97-AF65-F5344CB8AC3E}">
        <p14:creationId xmlns:p14="http://schemas.microsoft.com/office/powerpoint/2010/main" val="188836503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Presentation of materials </a:t>
            </a:r>
            <a:r>
              <a:rPr lang="en-US" b="1" dirty="0" err="1" smtClean="0">
                <a:solidFill>
                  <a:srgbClr val="FF0000"/>
                </a:solidFill>
              </a:rPr>
              <a:t>cont</a:t>
            </a:r>
            <a:r>
              <a:rPr lang="en-US" b="1" dirty="0" smtClean="0">
                <a:solidFill>
                  <a:srgbClr val="FF0000"/>
                </a:solidFill>
              </a:rPr>
              <a:t>…</a:t>
            </a:r>
            <a:endParaRPr lang="en-US" b="1" dirty="0">
              <a:solidFill>
                <a:srgbClr val="FF0000"/>
              </a:solidFill>
            </a:endParaRPr>
          </a:p>
        </p:txBody>
      </p:sp>
      <p:sp>
        <p:nvSpPr>
          <p:cNvPr id="3" name="Content Placeholder 2"/>
          <p:cNvSpPr>
            <a:spLocks noGrp="1"/>
          </p:cNvSpPr>
          <p:nvPr>
            <p:ph idx="1"/>
          </p:nvPr>
        </p:nvSpPr>
        <p:spPr/>
        <p:txBody>
          <a:bodyPr/>
          <a:lstStyle/>
          <a:p>
            <a:r>
              <a:rPr lang="en-GB" b="1" dirty="0"/>
              <a:t>Book by two or more authors</a:t>
            </a:r>
            <a:endParaRPr lang="en-US" dirty="0"/>
          </a:p>
          <a:p>
            <a:pPr algn="just">
              <a:buFont typeface="Wingdings" pitchFamily="2" charset="2"/>
              <a:buChar char="Ø"/>
            </a:pPr>
            <a:r>
              <a:rPr lang="en-GB" dirty="0"/>
              <a:t>Banda, M., &amp; </a:t>
            </a:r>
            <a:r>
              <a:rPr lang="en-GB" dirty="0" err="1"/>
              <a:t>Maulidi</a:t>
            </a:r>
            <a:r>
              <a:rPr lang="en-GB" dirty="0"/>
              <a:t>, W. (2008</a:t>
            </a:r>
            <a:r>
              <a:rPr lang="en-GB" dirty="0" smtClean="0"/>
              <a:t>). </a:t>
            </a:r>
            <a:r>
              <a:rPr lang="en-GB" i="1" dirty="0"/>
              <a:t>Piracy in </a:t>
            </a:r>
            <a:r>
              <a:rPr lang="en-GB" i="1" dirty="0" smtClean="0"/>
              <a:t>	Malawi</a:t>
            </a:r>
            <a:r>
              <a:rPr lang="en-GB" i="1" dirty="0"/>
              <a:t>. </a:t>
            </a:r>
            <a:r>
              <a:rPr lang="en-GB" dirty="0"/>
              <a:t>Harare: </a:t>
            </a:r>
            <a:r>
              <a:rPr lang="en-GB" dirty="0" smtClean="0"/>
              <a:t>Longman.</a:t>
            </a:r>
            <a:endParaRPr lang="en-US" dirty="0"/>
          </a:p>
          <a:p>
            <a:pPr marL="0" indent="0">
              <a:buNone/>
            </a:pPr>
            <a:endParaRPr lang="en-US" dirty="0"/>
          </a:p>
        </p:txBody>
      </p:sp>
    </p:spTree>
    <p:extLst>
      <p:ext uri="{BB962C8B-B14F-4D97-AF65-F5344CB8AC3E}">
        <p14:creationId xmlns:p14="http://schemas.microsoft.com/office/powerpoint/2010/main" val="393995539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Presentation of materials </a:t>
            </a:r>
            <a:r>
              <a:rPr lang="en-US" b="1" dirty="0" err="1">
                <a:solidFill>
                  <a:srgbClr val="FF0000"/>
                </a:solidFill>
              </a:rPr>
              <a:t>cont</a:t>
            </a:r>
            <a:r>
              <a:rPr lang="en-US" b="1" dirty="0">
                <a:solidFill>
                  <a:srgbClr val="FF0000"/>
                </a:solidFill>
              </a:rPr>
              <a:t>…</a:t>
            </a:r>
            <a:endParaRPr lang="en-US" dirty="0"/>
          </a:p>
        </p:txBody>
      </p:sp>
      <p:sp>
        <p:nvSpPr>
          <p:cNvPr id="3" name="Content Placeholder 2"/>
          <p:cNvSpPr>
            <a:spLocks noGrp="1"/>
          </p:cNvSpPr>
          <p:nvPr>
            <p:ph idx="1"/>
          </p:nvPr>
        </p:nvSpPr>
        <p:spPr/>
        <p:txBody>
          <a:bodyPr/>
          <a:lstStyle/>
          <a:p>
            <a:r>
              <a:rPr lang="en-GB" b="1" dirty="0"/>
              <a:t>Book by a corporate or group author</a:t>
            </a:r>
            <a:endParaRPr lang="en-US" dirty="0"/>
          </a:p>
          <a:p>
            <a:pPr algn="just">
              <a:buFont typeface="Wingdings" pitchFamily="2" charset="2"/>
              <a:buChar char="Ø"/>
            </a:pPr>
            <a:r>
              <a:rPr lang="en-GB" dirty="0"/>
              <a:t>Institute of Financial Education. (2001</a:t>
            </a:r>
            <a:r>
              <a:rPr lang="en-GB" smtClean="0"/>
              <a:t>). 	</a:t>
            </a:r>
            <a:r>
              <a:rPr lang="en-GB" i="1" smtClean="0"/>
              <a:t>Income </a:t>
            </a:r>
            <a:r>
              <a:rPr lang="en-GB" i="1" dirty="0" smtClean="0"/>
              <a:t>	property </a:t>
            </a:r>
            <a:r>
              <a:rPr lang="en-GB" i="1" dirty="0"/>
              <a:t>l</a:t>
            </a:r>
            <a:r>
              <a:rPr lang="en-GB" i="1" dirty="0" smtClean="0"/>
              <a:t>ending </a:t>
            </a:r>
            <a:r>
              <a:rPr lang="en-GB" i="1" dirty="0"/>
              <a:t>in Malawi. 	</a:t>
            </a:r>
            <a:r>
              <a:rPr lang="en-GB" dirty="0" err="1"/>
              <a:t>Zomba</a:t>
            </a:r>
            <a:r>
              <a:rPr lang="en-GB" dirty="0"/>
              <a:t>: </a:t>
            </a:r>
            <a:r>
              <a:rPr lang="en-GB" dirty="0" smtClean="0"/>
              <a:t>	</a:t>
            </a:r>
            <a:r>
              <a:rPr lang="en-GB" dirty="0" err="1" smtClean="0"/>
              <a:t>Kachere</a:t>
            </a:r>
            <a:r>
              <a:rPr lang="en-GB" dirty="0" smtClean="0"/>
              <a:t> </a:t>
            </a:r>
            <a:r>
              <a:rPr lang="en-GB" dirty="0"/>
              <a:t>Series.</a:t>
            </a:r>
            <a:endParaRPr lang="en-US" dirty="0"/>
          </a:p>
          <a:p>
            <a:endParaRPr lang="en-US" dirty="0"/>
          </a:p>
        </p:txBody>
      </p:sp>
    </p:spTree>
    <p:extLst>
      <p:ext uri="{BB962C8B-B14F-4D97-AF65-F5344CB8AC3E}">
        <p14:creationId xmlns:p14="http://schemas.microsoft.com/office/powerpoint/2010/main" val="165649236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Presentation of materials </a:t>
            </a:r>
            <a:r>
              <a:rPr lang="en-US" b="1" dirty="0" err="1">
                <a:solidFill>
                  <a:srgbClr val="FF0000"/>
                </a:solidFill>
              </a:rPr>
              <a:t>cont</a:t>
            </a:r>
            <a:r>
              <a:rPr lang="en-US" b="1" dirty="0">
                <a:solidFill>
                  <a:srgbClr val="FF0000"/>
                </a:solidFill>
              </a:rPr>
              <a:t>…</a:t>
            </a:r>
            <a:endParaRPr lang="en-US" dirty="0"/>
          </a:p>
        </p:txBody>
      </p:sp>
      <p:sp>
        <p:nvSpPr>
          <p:cNvPr id="3" name="Content Placeholder 2"/>
          <p:cNvSpPr>
            <a:spLocks noGrp="1"/>
          </p:cNvSpPr>
          <p:nvPr>
            <p:ph idx="1"/>
          </p:nvPr>
        </p:nvSpPr>
        <p:spPr/>
        <p:txBody>
          <a:bodyPr/>
          <a:lstStyle/>
          <a:p>
            <a:r>
              <a:rPr lang="en-GB" b="1" dirty="0"/>
              <a:t>Book by an unknown author</a:t>
            </a:r>
            <a:endParaRPr lang="en-US" dirty="0"/>
          </a:p>
          <a:p>
            <a:pPr algn="just">
              <a:buFont typeface="Wingdings" pitchFamily="2" charset="2"/>
              <a:buChar char="Ø"/>
            </a:pPr>
            <a:r>
              <a:rPr lang="en-GB" i="1" dirty="0"/>
              <a:t>National Geographic Atlas of the World. </a:t>
            </a:r>
            <a:r>
              <a:rPr lang="en-GB" i="1" dirty="0" smtClean="0"/>
              <a:t>	</a:t>
            </a:r>
            <a:r>
              <a:rPr lang="en-GB" dirty="0" smtClean="0"/>
              <a:t>(</a:t>
            </a:r>
            <a:r>
              <a:rPr lang="en-GB" dirty="0"/>
              <a:t>1988). Washington, DC: National </a:t>
            </a:r>
            <a:r>
              <a:rPr lang="en-GB" dirty="0" smtClean="0"/>
              <a:t>	Geographic </a:t>
            </a:r>
            <a:r>
              <a:rPr lang="en-GB" dirty="0"/>
              <a:t>Society.</a:t>
            </a:r>
            <a:endParaRPr lang="en-US" dirty="0"/>
          </a:p>
          <a:p>
            <a:endParaRPr lang="en-US" dirty="0"/>
          </a:p>
        </p:txBody>
      </p:sp>
    </p:spTree>
    <p:extLst>
      <p:ext uri="{BB962C8B-B14F-4D97-AF65-F5344CB8AC3E}">
        <p14:creationId xmlns:p14="http://schemas.microsoft.com/office/powerpoint/2010/main" val="40036865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Presentation of materials </a:t>
            </a:r>
            <a:r>
              <a:rPr lang="en-US" b="1" dirty="0" err="1">
                <a:solidFill>
                  <a:srgbClr val="FF0000"/>
                </a:solidFill>
              </a:rPr>
              <a:t>cont</a:t>
            </a:r>
            <a:r>
              <a:rPr lang="en-US" b="1" dirty="0">
                <a:solidFill>
                  <a:srgbClr val="FF0000"/>
                </a:solidFill>
              </a:rPr>
              <a:t>…</a:t>
            </a:r>
            <a:endParaRPr lang="en-US" dirty="0"/>
          </a:p>
        </p:txBody>
      </p:sp>
      <p:sp>
        <p:nvSpPr>
          <p:cNvPr id="3" name="Content Placeholder 2"/>
          <p:cNvSpPr>
            <a:spLocks noGrp="1"/>
          </p:cNvSpPr>
          <p:nvPr>
            <p:ph idx="1"/>
          </p:nvPr>
        </p:nvSpPr>
        <p:spPr/>
        <p:txBody>
          <a:bodyPr/>
          <a:lstStyle/>
          <a:p>
            <a:r>
              <a:rPr lang="en-GB" b="1" dirty="0"/>
              <a:t>Books prepared by an editor</a:t>
            </a:r>
            <a:endParaRPr lang="en-US" dirty="0"/>
          </a:p>
          <a:p>
            <a:pPr algn="just">
              <a:buFont typeface="Wingdings" pitchFamily="2" charset="2"/>
              <a:buChar char="Ø"/>
            </a:pPr>
            <a:r>
              <a:rPr lang="en-GB" dirty="0" err="1"/>
              <a:t>Soja</a:t>
            </a:r>
            <a:r>
              <a:rPr lang="en-GB" dirty="0"/>
              <a:t>, A.P. (Ed.). (2006</a:t>
            </a:r>
            <a:r>
              <a:rPr lang="en-GB" dirty="0" smtClean="0"/>
              <a:t>). </a:t>
            </a:r>
            <a:r>
              <a:rPr lang="en-GB" i="1" dirty="0"/>
              <a:t>The </a:t>
            </a:r>
            <a:r>
              <a:rPr lang="en-GB" i="1" dirty="0" smtClean="0"/>
              <a:t>famous </a:t>
            </a:r>
            <a:r>
              <a:rPr lang="en-GB" i="1" dirty="0"/>
              <a:t>c</a:t>
            </a:r>
            <a:r>
              <a:rPr lang="en-GB" i="1" dirty="0" smtClean="0"/>
              <a:t>ity</a:t>
            </a:r>
            <a:r>
              <a:rPr lang="en-GB" i="1" dirty="0"/>
              <a:t>. </a:t>
            </a:r>
            <a:r>
              <a:rPr lang="en-GB" i="1" dirty="0" smtClean="0"/>
              <a:t>	</a:t>
            </a:r>
            <a:r>
              <a:rPr lang="en-GB" dirty="0" smtClean="0"/>
              <a:t>Cambridge</a:t>
            </a:r>
            <a:r>
              <a:rPr lang="en-GB" dirty="0"/>
              <a:t>: MIT Press.</a:t>
            </a:r>
            <a:endParaRPr lang="en-US" dirty="0"/>
          </a:p>
          <a:p>
            <a:pPr marL="0" indent="0">
              <a:buNone/>
            </a:pPr>
            <a:r>
              <a:rPr lang="en-GB" b="1" dirty="0"/>
              <a:t> </a:t>
            </a:r>
            <a:endParaRPr lang="en-US" dirty="0"/>
          </a:p>
          <a:p>
            <a:endParaRPr lang="en-US" dirty="0"/>
          </a:p>
        </p:txBody>
      </p:sp>
    </p:spTree>
    <p:extLst>
      <p:ext uri="{BB962C8B-B14F-4D97-AF65-F5344CB8AC3E}">
        <p14:creationId xmlns:p14="http://schemas.microsoft.com/office/powerpoint/2010/main" val="333701566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Presentation of materials </a:t>
            </a:r>
            <a:r>
              <a:rPr lang="en-US" b="1" dirty="0" err="1">
                <a:solidFill>
                  <a:srgbClr val="FF0000"/>
                </a:solidFill>
              </a:rPr>
              <a:t>cont</a:t>
            </a:r>
            <a:r>
              <a:rPr lang="en-US" b="1" dirty="0">
                <a:solidFill>
                  <a:srgbClr val="FF0000"/>
                </a:solidFill>
              </a:rPr>
              <a:t>…</a:t>
            </a:r>
            <a:endParaRPr lang="en-US" dirty="0"/>
          </a:p>
        </p:txBody>
      </p:sp>
      <p:sp>
        <p:nvSpPr>
          <p:cNvPr id="3" name="Content Placeholder 2"/>
          <p:cNvSpPr>
            <a:spLocks noGrp="1"/>
          </p:cNvSpPr>
          <p:nvPr>
            <p:ph idx="1"/>
          </p:nvPr>
        </p:nvSpPr>
        <p:spPr/>
        <p:txBody>
          <a:bodyPr/>
          <a:lstStyle/>
          <a:p>
            <a:r>
              <a:rPr lang="en-GB" b="1" dirty="0"/>
              <a:t>Selection in a book</a:t>
            </a:r>
            <a:endParaRPr lang="en-US" dirty="0"/>
          </a:p>
          <a:p>
            <a:pPr algn="just">
              <a:buFont typeface="Wingdings" pitchFamily="2" charset="2"/>
              <a:buChar char="Ø"/>
            </a:pPr>
            <a:r>
              <a:rPr lang="en-GB" dirty="0"/>
              <a:t>West, C. (1992) The post-modern crisis of the </a:t>
            </a:r>
            <a:r>
              <a:rPr lang="en-GB" dirty="0" smtClean="0"/>
              <a:t>	black </a:t>
            </a:r>
            <a:r>
              <a:rPr lang="en-GB" dirty="0"/>
              <a:t>intellectuals. In L. </a:t>
            </a:r>
            <a:r>
              <a:rPr lang="en-GB" dirty="0" err="1"/>
              <a:t>Grossberg</a:t>
            </a:r>
            <a:r>
              <a:rPr lang="en-GB" dirty="0"/>
              <a:t>, C. </a:t>
            </a:r>
            <a:r>
              <a:rPr lang="en-GB" dirty="0" smtClean="0"/>
              <a:t>	Nelson</a:t>
            </a:r>
            <a:r>
              <a:rPr lang="en-GB" dirty="0"/>
              <a:t>, &amp; P. </a:t>
            </a:r>
            <a:r>
              <a:rPr lang="en-GB" dirty="0" err="1"/>
              <a:t>Treichler</a:t>
            </a:r>
            <a:r>
              <a:rPr lang="en-GB" dirty="0"/>
              <a:t> (Eds.), </a:t>
            </a:r>
            <a:r>
              <a:rPr lang="en-GB" i="1" dirty="0"/>
              <a:t>Cultural </a:t>
            </a:r>
            <a:r>
              <a:rPr lang="en-GB" i="1" dirty="0" smtClean="0"/>
              <a:t>	Studies </a:t>
            </a:r>
            <a:r>
              <a:rPr lang="en-GB" dirty="0"/>
              <a:t>(pp.589-705). New York: </a:t>
            </a:r>
            <a:r>
              <a:rPr lang="en-GB" dirty="0" smtClean="0"/>
              <a:t>	</a:t>
            </a:r>
            <a:r>
              <a:rPr lang="en-GB" dirty="0" err="1" smtClean="0"/>
              <a:t>Routledge</a:t>
            </a:r>
            <a:r>
              <a:rPr lang="en-GB" dirty="0"/>
              <a:t>.</a:t>
            </a:r>
            <a:endParaRPr lang="en-US" dirty="0"/>
          </a:p>
          <a:p>
            <a:pPr algn="just"/>
            <a:endParaRPr lang="en-US" dirty="0"/>
          </a:p>
        </p:txBody>
      </p:sp>
    </p:spTree>
    <p:extLst>
      <p:ext uri="{BB962C8B-B14F-4D97-AF65-F5344CB8AC3E}">
        <p14:creationId xmlns:p14="http://schemas.microsoft.com/office/powerpoint/2010/main" val="175453158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Presentation of materials </a:t>
            </a:r>
            <a:r>
              <a:rPr lang="en-US" b="1" dirty="0" err="1">
                <a:solidFill>
                  <a:srgbClr val="FF0000"/>
                </a:solidFill>
              </a:rPr>
              <a:t>cont</a:t>
            </a:r>
            <a:r>
              <a:rPr lang="en-US" b="1" dirty="0">
                <a:solidFill>
                  <a:srgbClr val="FF0000"/>
                </a:solidFill>
              </a:rPr>
              <a:t>…</a:t>
            </a:r>
            <a:endParaRPr lang="en-US" dirty="0"/>
          </a:p>
        </p:txBody>
      </p:sp>
      <p:sp>
        <p:nvSpPr>
          <p:cNvPr id="3" name="Content Placeholder 2"/>
          <p:cNvSpPr>
            <a:spLocks noGrp="1"/>
          </p:cNvSpPr>
          <p:nvPr>
            <p:ph idx="1"/>
          </p:nvPr>
        </p:nvSpPr>
        <p:spPr/>
        <p:txBody>
          <a:bodyPr/>
          <a:lstStyle/>
          <a:p>
            <a:r>
              <a:rPr lang="en-GB" b="1" dirty="0"/>
              <a:t>Translation</a:t>
            </a:r>
            <a:endParaRPr lang="en-US" dirty="0"/>
          </a:p>
          <a:p>
            <a:pPr algn="just">
              <a:buFont typeface="Wingdings" pitchFamily="2" charset="2"/>
              <a:buChar char="Ø"/>
            </a:pPr>
            <a:r>
              <a:rPr lang="en-GB" dirty="0" err="1"/>
              <a:t>Durkeim</a:t>
            </a:r>
            <a:r>
              <a:rPr lang="en-GB" dirty="0"/>
              <a:t>, E. (1957). </a:t>
            </a:r>
            <a:r>
              <a:rPr lang="en-GB" i="1" dirty="0"/>
              <a:t>Suicide</a:t>
            </a:r>
            <a:r>
              <a:rPr lang="en-GB" dirty="0"/>
              <a:t> (J.A. Spaulding &amp; G </a:t>
            </a:r>
            <a:r>
              <a:rPr lang="en-GB" dirty="0" smtClean="0"/>
              <a:t>	Simpson</a:t>
            </a:r>
            <a:r>
              <a:rPr lang="en-GB" dirty="0"/>
              <a:t>, Trans.). Glencoe, IL: Free Press of </a:t>
            </a:r>
            <a:r>
              <a:rPr lang="en-GB" dirty="0" smtClean="0"/>
              <a:t>	Glencoe</a:t>
            </a:r>
            <a:r>
              <a:rPr lang="en-GB" dirty="0"/>
              <a:t>.</a:t>
            </a:r>
            <a:endParaRPr lang="en-US" dirty="0"/>
          </a:p>
          <a:p>
            <a:pPr marL="0" indent="0">
              <a:buNone/>
            </a:pPr>
            <a:endParaRPr lang="en-US" dirty="0"/>
          </a:p>
        </p:txBody>
      </p:sp>
    </p:spTree>
    <p:extLst>
      <p:ext uri="{BB962C8B-B14F-4D97-AF65-F5344CB8AC3E}">
        <p14:creationId xmlns:p14="http://schemas.microsoft.com/office/powerpoint/2010/main" val="155712363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Presentation of materials </a:t>
            </a:r>
            <a:r>
              <a:rPr lang="en-US" b="1" dirty="0" err="1">
                <a:solidFill>
                  <a:srgbClr val="FF0000"/>
                </a:solidFill>
              </a:rPr>
              <a:t>cont</a:t>
            </a:r>
            <a:r>
              <a:rPr lang="en-US" b="1" dirty="0">
                <a:solidFill>
                  <a:srgbClr val="FF0000"/>
                </a:solidFill>
              </a:rPr>
              <a:t>…</a:t>
            </a:r>
            <a:endParaRPr lang="en-US" dirty="0"/>
          </a:p>
        </p:txBody>
      </p:sp>
      <p:sp>
        <p:nvSpPr>
          <p:cNvPr id="3" name="Content Placeholder 2"/>
          <p:cNvSpPr>
            <a:spLocks noGrp="1"/>
          </p:cNvSpPr>
          <p:nvPr>
            <p:ph idx="1"/>
          </p:nvPr>
        </p:nvSpPr>
        <p:spPr/>
        <p:txBody>
          <a:bodyPr/>
          <a:lstStyle/>
          <a:p>
            <a:r>
              <a:rPr lang="en-GB" b="1" dirty="0"/>
              <a:t>One volume of a multi-volume work</a:t>
            </a:r>
            <a:endParaRPr lang="en-US" dirty="0"/>
          </a:p>
          <a:p>
            <a:pPr algn="just">
              <a:buFont typeface="Wingdings" pitchFamily="2" charset="2"/>
              <a:buChar char="Ø"/>
            </a:pPr>
            <a:r>
              <a:rPr lang="en-GB" dirty="0" err="1"/>
              <a:t>Baltes</a:t>
            </a:r>
            <a:r>
              <a:rPr lang="en-GB" dirty="0"/>
              <a:t>, P., &amp; Brim, O.G. (Eds.). (1980) </a:t>
            </a:r>
            <a:r>
              <a:rPr lang="en-GB" i="1" dirty="0"/>
              <a:t>Life-span </a:t>
            </a:r>
            <a:r>
              <a:rPr lang="en-GB" i="1" dirty="0" smtClean="0"/>
              <a:t>	development </a:t>
            </a:r>
            <a:r>
              <a:rPr lang="en-GB" i="1" dirty="0"/>
              <a:t>and b</a:t>
            </a:r>
            <a:r>
              <a:rPr lang="en-GB" i="1" dirty="0" smtClean="0"/>
              <a:t>ehaviour </a:t>
            </a:r>
            <a:r>
              <a:rPr lang="en-GB" i="1" dirty="0"/>
              <a:t>	</a:t>
            </a:r>
            <a:r>
              <a:rPr lang="en-GB" dirty="0"/>
              <a:t>(Vol.3). </a:t>
            </a:r>
            <a:r>
              <a:rPr lang="en-GB" dirty="0" smtClean="0"/>
              <a:t>	New </a:t>
            </a:r>
            <a:r>
              <a:rPr lang="en-GB" dirty="0"/>
              <a:t>York: Basic Books.</a:t>
            </a:r>
            <a:endParaRPr lang="en-US" dirty="0"/>
          </a:p>
          <a:p>
            <a:pPr marL="0" indent="0">
              <a:buNone/>
            </a:pPr>
            <a:endParaRPr lang="en-US" dirty="0"/>
          </a:p>
        </p:txBody>
      </p:sp>
    </p:spTree>
    <p:extLst>
      <p:ext uri="{BB962C8B-B14F-4D97-AF65-F5344CB8AC3E}">
        <p14:creationId xmlns:p14="http://schemas.microsoft.com/office/powerpoint/2010/main" val="72935882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Presentation of materials </a:t>
            </a:r>
            <a:r>
              <a:rPr lang="en-US" b="1" dirty="0" err="1">
                <a:solidFill>
                  <a:srgbClr val="FF0000"/>
                </a:solidFill>
              </a:rPr>
              <a:t>cont</a:t>
            </a:r>
            <a:r>
              <a:rPr lang="en-US" b="1" dirty="0">
                <a:solidFill>
                  <a:srgbClr val="FF0000"/>
                </a:solidFill>
              </a:rPr>
              <a:t>…</a:t>
            </a:r>
            <a:endParaRPr lang="en-US" dirty="0"/>
          </a:p>
        </p:txBody>
      </p:sp>
      <p:sp>
        <p:nvSpPr>
          <p:cNvPr id="3" name="Content Placeholder 2"/>
          <p:cNvSpPr>
            <a:spLocks noGrp="1"/>
          </p:cNvSpPr>
          <p:nvPr>
            <p:ph idx="1"/>
          </p:nvPr>
        </p:nvSpPr>
        <p:spPr/>
        <p:txBody>
          <a:bodyPr/>
          <a:lstStyle/>
          <a:p>
            <a:r>
              <a:rPr lang="en-GB" b="1" dirty="0"/>
              <a:t>Republication</a:t>
            </a:r>
            <a:endParaRPr lang="en-US" dirty="0"/>
          </a:p>
          <a:p>
            <a:pPr algn="just">
              <a:buFont typeface="Wingdings" pitchFamily="2" charset="2"/>
              <a:buChar char="Ø"/>
            </a:pPr>
            <a:r>
              <a:rPr lang="en-GB" dirty="0"/>
              <a:t>Piaget, J. (1952) </a:t>
            </a:r>
            <a:r>
              <a:rPr lang="en-GB" i="1" dirty="0"/>
              <a:t>The Language and </a:t>
            </a:r>
            <a:r>
              <a:rPr lang="en-GB" i="1" dirty="0" smtClean="0"/>
              <a:t>thought </a:t>
            </a:r>
            <a:r>
              <a:rPr lang="en-GB" i="1" dirty="0"/>
              <a:t>of </a:t>
            </a:r>
            <a:r>
              <a:rPr lang="en-GB" i="1" dirty="0" smtClean="0"/>
              <a:t>	the </a:t>
            </a:r>
            <a:r>
              <a:rPr lang="en-GB" i="1" dirty="0"/>
              <a:t>c</a:t>
            </a:r>
            <a:r>
              <a:rPr lang="en-GB" i="1" dirty="0" smtClean="0"/>
              <a:t>hild</a:t>
            </a:r>
            <a:r>
              <a:rPr lang="en-GB" i="1" dirty="0"/>
              <a:t>. </a:t>
            </a:r>
            <a:r>
              <a:rPr lang="en-GB" dirty="0"/>
              <a:t>London: </a:t>
            </a:r>
            <a:r>
              <a:rPr lang="en-GB" dirty="0" err="1"/>
              <a:t>Routledge</a:t>
            </a:r>
            <a:r>
              <a:rPr lang="en-GB" dirty="0"/>
              <a:t> &amp; </a:t>
            </a:r>
            <a:r>
              <a:rPr lang="en-GB" dirty="0" err="1"/>
              <a:t>Kegan</a:t>
            </a:r>
            <a:r>
              <a:rPr lang="en-GB" dirty="0"/>
              <a:t> Paul. </a:t>
            </a:r>
            <a:r>
              <a:rPr lang="en-GB" dirty="0" smtClean="0"/>
              <a:t>	(</a:t>
            </a:r>
            <a:r>
              <a:rPr lang="en-GB" dirty="0"/>
              <a:t>Original work published in 1932</a:t>
            </a:r>
            <a:r>
              <a:rPr lang="en-GB" dirty="0" smtClean="0"/>
              <a:t>).</a:t>
            </a:r>
            <a:endParaRPr lang="en-US" dirty="0"/>
          </a:p>
        </p:txBody>
      </p:sp>
    </p:spTree>
    <p:extLst>
      <p:ext uri="{BB962C8B-B14F-4D97-AF65-F5344CB8AC3E}">
        <p14:creationId xmlns:p14="http://schemas.microsoft.com/office/powerpoint/2010/main" val="236173512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Presentation of materials </a:t>
            </a:r>
            <a:r>
              <a:rPr lang="en-US" b="1" dirty="0" err="1">
                <a:solidFill>
                  <a:srgbClr val="FF0000"/>
                </a:solidFill>
              </a:rPr>
              <a:t>cont</a:t>
            </a:r>
            <a:r>
              <a:rPr lang="en-US" b="1" dirty="0">
                <a:solidFill>
                  <a:srgbClr val="FF0000"/>
                </a:solidFill>
              </a:rPr>
              <a:t>…</a:t>
            </a:r>
            <a:endParaRPr lang="en-US" dirty="0"/>
          </a:p>
        </p:txBody>
      </p:sp>
      <p:sp>
        <p:nvSpPr>
          <p:cNvPr id="3" name="Content Placeholder 2"/>
          <p:cNvSpPr>
            <a:spLocks noGrp="1"/>
          </p:cNvSpPr>
          <p:nvPr>
            <p:ph idx="1"/>
          </p:nvPr>
        </p:nvSpPr>
        <p:spPr/>
        <p:txBody>
          <a:bodyPr/>
          <a:lstStyle/>
          <a:p>
            <a:r>
              <a:rPr lang="en-GB" b="1" dirty="0"/>
              <a:t>Government publication</a:t>
            </a:r>
            <a:endParaRPr lang="en-US" dirty="0"/>
          </a:p>
          <a:p>
            <a:pPr algn="just">
              <a:buFont typeface="Wingdings" pitchFamily="2" charset="2"/>
              <a:buChar char="Ø"/>
            </a:pPr>
            <a:r>
              <a:rPr lang="en-GB" dirty="0"/>
              <a:t>U.S Bureau of the Census. (1975</a:t>
            </a:r>
            <a:r>
              <a:rPr lang="en-GB" dirty="0" smtClean="0"/>
              <a:t>). </a:t>
            </a:r>
            <a:r>
              <a:rPr lang="en-GB" i="1" dirty="0"/>
              <a:t>Historical </a:t>
            </a:r>
            <a:r>
              <a:rPr lang="en-GB" i="1" dirty="0" smtClean="0"/>
              <a:t>	statistics </a:t>
            </a:r>
            <a:r>
              <a:rPr lang="en-GB" i="1" dirty="0"/>
              <a:t>of the United States, colonial </a:t>
            </a:r>
            <a:r>
              <a:rPr lang="en-GB" i="1" dirty="0" smtClean="0"/>
              <a:t>	times </a:t>
            </a:r>
            <a:r>
              <a:rPr lang="en-GB" i="1" dirty="0"/>
              <a:t>to 1870. </a:t>
            </a:r>
            <a:r>
              <a:rPr lang="en-GB" dirty="0"/>
              <a:t>Washington, DC: U.S. </a:t>
            </a:r>
            <a:r>
              <a:rPr lang="en-GB" dirty="0" smtClean="0"/>
              <a:t>	Government </a:t>
            </a:r>
            <a:r>
              <a:rPr lang="en-GB" dirty="0"/>
              <a:t>Printing Office.</a:t>
            </a:r>
            <a:endParaRPr lang="en-US" dirty="0"/>
          </a:p>
          <a:p>
            <a:pPr marL="0" indent="0">
              <a:buNone/>
            </a:pPr>
            <a:endParaRPr lang="en-US" dirty="0"/>
          </a:p>
        </p:txBody>
      </p:sp>
    </p:spTree>
    <p:extLst>
      <p:ext uri="{BB962C8B-B14F-4D97-AF65-F5344CB8AC3E}">
        <p14:creationId xmlns:p14="http://schemas.microsoft.com/office/powerpoint/2010/main" val="361478908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Presentation of materials </a:t>
            </a:r>
            <a:r>
              <a:rPr lang="en-US" b="1" dirty="0" err="1">
                <a:solidFill>
                  <a:srgbClr val="FF0000"/>
                </a:solidFill>
              </a:rPr>
              <a:t>cont</a:t>
            </a:r>
            <a:r>
              <a:rPr lang="en-US" b="1" dirty="0">
                <a:solidFill>
                  <a:srgbClr val="FF0000"/>
                </a:solidFill>
              </a:rPr>
              <a:t>…</a:t>
            </a:r>
            <a:endParaRPr lang="en-US" dirty="0"/>
          </a:p>
        </p:txBody>
      </p:sp>
      <p:sp>
        <p:nvSpPr>
          <p:cNvPr id="3" name="Content Placeholder 2"/>
          <p:cNvSpPr>
            <a:spLocks noGrp="1"/>
          </p:cNvSpPr>
          <p:nvPr>
            <p:ph idx="1"/>
          </p:nvPr>
        </p:nvSpPr>
        <p:spPr>
          <a:xfrm>
            <a:off x="152400" y="1524000"/>
            <a:ext cx="8763000" cy="4876800"/>
          </a:xfrm>
        </p:spPr>
        <p:txBody>
          <a:bodyPr>
            <a:normAutofit fontScale="85000" lnSpcReduction="10000"/>
          </a:bodyPr>
          <a:lstStyle/>
          <a:p>
            <a:pPr marL="0" indent="0">
              <a:buNone/>
            </a:pPr>
            <a:r>
              <a:rPr lang="en-GB" b="1" dirty="0" smtClean="0">
                <a:solidFill>
                  <a:srgbClr val="FF0000"/>
                </a:solidFill>
              </a:rPr>
              <a:t>B	Periodicals (Without Digital Object Identifier [DOI])</a:t>
            </a:r>
            <a:endParaRPr lang="en-US" dirty="0">
              <a:solidFill>
                <a:srgbClr val="FF0000"/>
              </a:solidFill>
            </a:endParaRPr>
          </a:p>
          <a:p>
            <a:r>
              <a:rPr lang="en-GB" b="1" dirty="0"/>
              <a:t>Article in a journal paginated by volume</a:t>
            </a:r>
            <a:endParaRPr lang="en-US" dirty="0"/>
          </a:p>
          <a:p>
            <a:pPr algn="just">
              <a:buFont typeface="Wingdings" pitchFamily="2" charset="2"/>
              <a:buChar char="Ø"/>
            </a:pPr>
            <a:r>
              <a:rPr lang="en-GB" dirty="0"/>
              <a:t>Banda, R. (1981</a:t>
            </a:r>
            <a:r>
              <a:rPr lang="en-GB" dirty="0" smtClean="0"/>
              <a:t>). </a:t>
            </a:r>
            <a:r>
              <a:rPr lang="en-GB" dirty="0"/>
              <a:t>A holistic view of language. </a:t>
            </a:r>
            <a:r>
              <a:rPr lang="en-GB" dirty="0" smtClean="0"/>
              <a:t>	</a:t>
            </a:r>
            <a:r>
              <a:rPr lang="en-GB" i="1" dirty="0" smtClean="0"/>
              <a:t>Research 	in </a:t>
            </a:r>
            <a:r>
              <a:rPr lang="en-GB" i="1" dirty="0"/>
              <a:t>the Teaching of English</a:t>
            </a:r>
            <a:r>
              <a:rPr lang="en-GB" dirty="0"/>
              <a:t>, </a:t>
            </a:r>
            <a:r>
              <a:rPr lang="en-GB" i="1" dirty="0"/>
              <a:t>15</a:t>
            </a:r>
            <a:r>
              <a:rPr lang="en-GB" dirty="0"/>
              <a:t>, </a:t>
            </a:r>
            <a:r>
              <a:rPr lang="en-GB" dirty="0" smtClean="0"/>
              <a:t>	101-	111.</a:t>
            </a:r>
          </a:p>
          <a:p>
            <a:pPr marL="0" indent="0" algn="just">
              <a:buNone/>
            </a:pPr>
            <a:endParaRPr lang="en-GB" dirty="0"/>
          </a:p>
          <a:p>
            <a:pPr marL="0" indent="0" algn="just">
              <a:buNone/>
            </a:pPr>
            <a:r>
              <a:rPr lang="en-GB" b="1" dirty="0" smtClean="0">
                <a:solidFill>
                  <a:srgbClr val="FF0000"/>
                </a:solidFill>
              </a:rPr>
              <a:t>If retrieved from the internet</a:t>
            </a:r>
          </a:p>
          <a:p>
            <a:pPr algn="just">
              <a:buFont typeface="Wingdings" pitchFamily="2" charset="2"/>
              <a:buChar char="Ø"/>
            </a:pPr>
            <a:r>
              <a:rPr lang="en-GB" dirty="0" smtClean="0"/>
              <a:t>Banda, R. (1981). A holistic view of language. </a:t>
            </a:r>
            <a:r>
              <a:rPr lang="en-GB" i="1" dirty="0" smtClean="0"/>
              <a:t>E-	Journal 	of 	Research in the Teaching of English, 	15, </a:t>
            </a:r>
            <a:r>
              <a:rPr lang="en-GB" dirty="0" smtClean="0"/>
              <a:t>101-	111. 	Retrieved from  	http://www.rte/index.php/rte.</a:t>
            </a:r>
          </a:p>
          <a:p>
            <a:pPr marL="0" indent="0">
              <a:buNone/>
            </a:pPr>
            <a:endParaRPr lang="en-US" dirty="0"/>
          </a:p>
        </p:txBody>
      </p:sp>
    </p:spTree>
    <p:extLst>
      <p:ext uri="{BB962C8B-B14F-4D97-AF65-F5344CB8AC3E}">
        <p14:creationId xmlns:p14="http://schemas.microsoft.com/office/powerpoint/2010/main" val="1220281211"/>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b="1" dirty="0">
                <a:solidFill>
                  <a:srgbClr val="FF0000"/>
                </a:solidFill>
              </a:rPr>
              <a:t>Journal article </a:t>
            </a:r>
            <a:r>
              <a:rPr lang="en-GB" b="1">
                <a:solidFill>
                  <a:srgbClr val="FF0000"/>
                </a:solidFill>
              </a:rPr>
              <a:t>with </a:t>
            </a:r>
            <a:r>
              <a:rPr lang="en-GB" b="1" smtClean="0">
                <a:solidFill>
                  <a:srgbClr val="FF0000"/>
                </a:solidFill>
              </a:rPr>
              <a:t>DOI</a:t>
            </a:r>
            <a:endParaRPr lang="en-GB" b="1" dirty="0">
              <a:solidFill>
                <a:srgbClr val="FF0000"/>
              </a:solidFill>
            </a:endParaRPr>
          </a:p>
          <a:p>
            <a:pPr algn="just">
              <a:buFont typeface="Wingdings" pitchFamily="2" charset="2"/>
              <a:buChar char="Ø"/>
            </a:pPr>
            <a:r>
              <a:rPr lang="en-US" dirty="0" err="1"/>
              <a:t>Herbst-Damm</a:t>
            </a:r>
            <a:r>
              <a:rPr lang="en-US" dirty="0"/>
              <a:t>, K. L., &amp; </a:t>
            </a:r>
            <a:r>
              <a:rPr lang="en-US" dirty="0" err="1"/>
              <a:t>Kulik</a:t>
            </a:r>
            <a:r>
              <a:rPr lang="en-US" dirty="0"/>
              <a:t>, J. A (2005). </a:t>
            </a:r>
            <a:r>
              <a:rPr lang="en-US" dirty="0" smtClean="0"/>
              <a:t>	Volunteer </a:t>
            </a:r>
            <a:r>
              <a:rPr lang="en-US" dirty="0"/>
              <a:t>support, marital status, </a:t>
            </a:r>
            <a:r>
              <a:rPr lang="en-US" dirty="0" smtClean="0"/>
              <a:t>and the 	survival </a:t>
            </a:r>
            <a:r>
              <a:rPr lang="en-US" dirty="0"/>
              <a:t>times of terminally ill patients. </a:t>
            </a:r>
            <a:r>
              <a:rPr lang="en-US" dirty="0" smtClean="0"/>
              <a:t>	</a:t>
            </a:r>
            <a:r>
              <a:rPr lang="en-US" i="1" dirty="0" smtClean="0"/>
              <a:t>Health </a:t>
            </a:r>
            <a:r>
              <a:rPr lang="en-US" i="1" dirty="0"/>
              <a:t>Psychology, </a:t>
            </a:r>
            <a:r>
              <a:rPr lang="en-US" dirty="0"/>
              <a:t>24, </a:t>
            </a:r>
            <a:r>
              <a:rPr lang="en-US" dirty="0" smtClean="0"/>
              <a:t>225-229. 	</a:t>
            </a:r>
            <a:r>
              <a:rPr lang="en-GB" dirty="0" smtClean="0"/>
              <a:t>doi:10.1037/0278-6133.24.2.225</a:t>
            </a:r>
            <a:endParaRPr lang="en-GB" dirty="0"/>
          </a:p>
        </p:txBody>
      </p:sp>
    </p:spTree>
    <p:extLst>
      <p:ext uri="{BB962C8B-B14F-4D97-AF65-F5344CB8AC3E}">
        <p14:creationId xmlns:p14="http://schemas.microsoft.com/office/powerpoint/2010/main" val="287266169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Presentation of materials </a:t>
            </a:r>
            <a:r>
              <a:rPr lang="en-US" b="1" dirty="0" err="1">
                <a:solidFill>
                  <a:srgbClr val="FF0000"/>
                </a:solidFill>
              </a:rPr>
              <a:t>cont</a:t>
            </a:r>
            <a:r>
              <a:rPr lang="en-US" b="1" dirty="0">
                <a:solidFill>
                  <a:srgbClr val="FF0000"/>
                </a:solidFill>
              </a:rPr>
              <a:t>…</a:t>
            </a:r>
            <a:endParaRPr lang="en-US" dirty="0"/>
          </a:p>
        </p:txBody>
      </p:sp>
      <p:sp>
        <p:nvSpPr>
          <p:cNvPr id="3" name="Content Placeholder 2"/>
          <p:cNvSpPr>
            <a:spLocks noGrp="1"/>
          </p:cNvSpPr>
          <p:nvPr>
            <p:ph idx="1"/>
          </p:nvPr>
        </p:nvSpPr>
        <p:spPr>
          <a:xfrm>
            <a:off x="152400" y="1600200"/>
            <a:ext cx="8686800" cy="4525963"/>
          </a:xfrm>
        </p:spPr>
        <p:txBody>
          <a:bodyPr/>
          <a:lstStyle/>
          <a:p>
            <a:r>
              <a:rPr lang="en-GB" b="1" dirty="0"/>
              <a:t>Article in a journal paginated by issue</a:t>
            </a:r>
            <a:endParaRPr lang="en-US" dirty="0"/>
          </a:p>
          <a:p>
            <a:pPr algn="just">
              <a:buFont typeface="Wingdings" pitchFamily="2" charset="2"/>
              <a:buChar char="Ø"/>
            </a:pPr>
            <a:r>
              <a:rPr lang="en-GB" dirty="0" err="1"/>
              <a:t>Malenza</a:t>
            </a:r>
            <a:r>
              <a:rPr lang="en-GB" dirty="0"/>
              <a:t>, J.G. (1986</a:t>
            </a:r>
            <a:r>
              <a:rPr lang="en-GB" dirty="0" smtClean="0"/>
              <a:t>). </a:t>
            </a:r>
            <a:r>
              <a:rPr lang="en-GB" dirty="0"/>
              <a:t>The </a:t>
            </a:r>
            <a:r>
              <a:rPr lang="en-GB" dirty="0" smtClean="0"/>
              <a:t>superintendence</a:t>
            </a:r>
            <a:r>
              <a:rPr lang="en-GB" dirty="0"/>
              <a:t>: </a:t>
            </a:r>
            <a:r>
              <a:rPr lang="en-GB" dirty="0" smtClean="0"/>
              <a:t>	characteristics </a:t>
            </a:r>
            <a:r>
              <a:rPr lang="en-GB" dirty="0"/>
              <a:t>for </a:t>
            </a:r>
            <a:r>
              <a:rPr lang="en-GB" dirty="0" smtClean="0"/>
              <a:t>men </a:t>
            </a:r>
            <a:r>
              <a:rPr lang="en-GB" dirty="0"/>
              <a:t>and </a:t>
            </a:r>
            <a:r>
              <a:rPr lang="en-GB" dirty="0" smtClean="0"/>
              <a:t>women</a:t>
            </a:r>
            <a:r>
              <a:rPr lang="en-GB" dirty="0"/>
              <a:t>. </a:t>
            </a:r>
            <a:r>
              <a:rPr lang="en-GB" dirty="0" smtClean="0"/>
              <a:t>	</a:t>
            </a:r>
            <a:r>
              <a:rPr lang="en-GB" i="1" dirty="0" smtClean="0"/>
              <a:t>Educational </a:t>
            </a:r>
            <a:r>
              <a:rPr lang="en-GB" i="1" dirty="0"/>
              <a:t>Administration Quarterly</a:t>
            </a:r>
            <a:r>
              <a:rPr lang="en-GB" dirty="0"/>
              <a:t>, </a:t>
            </a:r>
            <a:r>
              <a:rPr lang="en-GB" i="1" dirty="0"/>
              <a:t>22 </a:t>
            </a:r>
            <a:r>
              <a:rPr lang="en-GB" dirty="0" smtClean="0"/>
              <a:t>	(</a:t>
            </a:r>
            <a:r>
              <a:rPr lang="en-GB" dirty="0"/>
              <a:t>4), </a:t>
            </a:r>
            <a:r>
              <a:rPr lang="en-GB" dirty="0" smtClean="0"/>
              <a:t>1-8.</a:t>
            </a:r>
            <a:endParaRPr lang="en-US" dirty="0"/>
          </a:p>
          <a:p>
            <a:pPr marL="0" indent="0">
              <a:buNone/>
            </a:pPr>
            <a:endParaRPr lang="en-US" dirty="0"/>
          </a:p>
        </p:txBody>
      </p:sp>
    </p:spTree>
    <p:extLst>
      <p:ext uri="{BB962C8B-B14F-4D97-AF65-F5344CB8AC3E}">
        <p14:creationId xmlns:p14="http://schemas.microsoft.com/office/powerpoint/2010/main" val="362084748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Presentation of materials </a:t>
            </a:r>
            <a:r>
              <a:rPr lang="en-US" b="1" dirty="0" err="1">
                <a:solidFill>
                  <a:srgbClr val="FF0000"/>
                </a:solidFill>
              </a:rPr>
              <a:t>cont</a:t>
            </a:r>
            <a:r>
              <a:rPr lang="en-US" b="1" dirty="0">
                <a:solidFill>
                  <a:srgbClr val="FF0000"/>
                </a:solidFill>
              </a:rPr>
              <a:t>…</a:t>
            </a:r>
            <a:endParaRPr lang="en-US" dirty="0"/>
          </a:p>
        </p:txBody>
      </p:sp>
      <p:sp>
        <p:nvSpPr>
          <p:cNvPr id="3" name="Content Placeholder 2"/>
          <p:cNvSpPr>
            <a:spLocks noGrp="1"/>
          </p:cNvSpPr>
          <p:nvPr>
            <p:ph idx="1"/>
          </p:nvPr>
        </p:nvSpPr>
        <p:spPr/>
        <p:txBody>
          <a:bodyPr>
            <a:normAutofit fontScale="92500" lnSpcReduction="10000"/>
          </a:bodyPr>
          <a:lstStyle/>
          <a:p>
            <a:r>
              <a:rPr lang="en-GB" b="1" dirty="0"/>
              <a:t>Article in a </a:t>
            </a:r>
            <a:r>
              <a:rPr lang="en-GB" b="1" dirty="0" smtClean="0"/>
              <a:t>magazine</a:t>
            </a:r>
          </a:p>
          <a:p>
            <a:pPr marL="0" indent="0">
              <a:buNone/>
            </a:pPr>
            <a:endParaRPr lang="en-US" dirty="0"/>
          </a:p>
          <a:p>
            <a:pPr algn="just">
              <a:buFont typeface="Wingdings" pitchFamily="2" charset="2"/>
              <a:buChar char="Ø"/>
            </a:pPr>
            <a:r>
              <a:rPr lang="en-GB" dirty="0" err="1"/>
              <a:t>Gralla</a:t>
            </a:r>
            <a:r>
              <a:rPr lang="en-GB" dirty="0"/>
              <a:t>, P. (1994, April</a:t>
            </a:r>
            <a:r>
              <a:rPr lang="en-GB" dirty="0" smtClean="0"/>
              <a:t>). </a:t>
            </a:r>
            <a:r>
              <a:rPr lang="en-GB" dirty="0"/>
              <a:t>How to </a:t>
            </a:r>
            <a:r>
              <a:rPr lang="en-GB" dirty="0" smtClean="0"/>
              <a:t>cyberspace</a:t>
            </a:r>
            <a:r>
              <a:rPr lang="en-GB" dirty="0"/>
              <a:t>. </a:t>
            </a:r>
            <a:r>
              <a:rPr lang="en-GB" i="1" dirty="0"/>
              <a:t>PC </a:t>
            </a:r>
            <a:r>
              <a:rPr lang="en-GB" i="1" dirty="0" smtClean="0"/>
              <a:t>	Computing</a:t>
            </a:r>
            <a:r>
              <a:rPr lang="en-GB" dirty="0"/>
              <a:t>, </a:t>
            </a:r>
            <a:r>
              <a:rPr lang="en-GB" dirty="0" smtClean="0"/>
              <a:t>60-62.</a:t>
            </a:r>
            <a:endParaRPr lang="en-US" dirty="0"/>
          </a:p>
          <a:p>
            <a:r>
              <a:rPr lang="en-GB" b="1" dirty="0"/>
              <a:t>Online magazine article</a:t>
            </a:r>
          </a:p>
          <a:p>
            <a:pPr algn="just">
              <a:buFont typeface="Wingdings" pitchFamily="2" charset="2"/>
              <a:buChar char="Ø"/>
            </a:pPr>
            <a:r>
              <a:rPr lang="en-US" dirty="0"/>
              <a:t>Clay, R. (2008, June). Science vs. ideology: </a:t>
            </a:r>
            <a:r>
              <a:rPr lang="en-US" dirty="0" smtClean="0"/>
              <a:t>	Psychologists </a:t>
            </a:r>
            <a:r>
              <a:rPr lang="en-US" dirty="0"/>
              <a:t>fight back about </a:t>
            </a:r>
            <a:r>
              <a:rPr lang="en-US" dirty="0" smtClean="0"/>
              <a:t>the misuse </a:t>
            </a:r>
            <a:r>
              <a:rPr lang="en-US" dirty="0"/>
              <a:t>of </a:t>
            </a:r>
            <a:r>
              <a:rPr lang="en-US" dirty="0" smtClean="0"/>
              <a:t>	research</a:t>
            </a:r>
            <a:r>
              <a:rPr lang="en-US" dirty="0"/>
              <a:t>. </a:t>
            </a:r>
            <a:r>
              <a:rPr lang="en-US" i="1" dirty="0"/>
              <a:t>Monitor on Psychology, </a:t>
            </a:r>
            <a:r>
              <a:rPr lang="en-US" dirty="0"/>
              <a:t>39(6). </a:t>
            </a:r>
            <a:r>
              <a:rPr lang="en-US" dirty="0" smtClean="0"/>
              <a:t>	Retrieved from </a:t>
            </a:r>
            <a:r>
              <a:rPr lang="en-GB" dirty="0" smtClean="0"/>
              <a:t>http</a:t>
            </a:r>
            <a:r>
              <a:rPr lang="en-GB" dirty="0"/>
              <a:t>://www.apa.org/monitor/</a:t>
            </a:r>
            <a:endParaRPr lang="en-US" dirty="0"/>
          </a:p>
        </p:txBody>
      </p:sp>
    </p:spTree>
    <p:extLst>
      <p:ext uri="{BB962C8B-B14F-4D97-AF65-F5344CB8AC3E}">
        <p14:creationId xmlns:p14="http://schemas.microsoft.com/office/powerpoint/2010/main" val="333417665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Presentation of materials </a:t>
            </a:r>
            <a:r>
              <a:rPr lang="en-US" b="1" dirty="0" err="1">
                <a:solidFill>
                  <a:srgbClr val="FF0000"/>
                </a:solidFill>
              </a:rPr>
              <a:t>cont</a:t>
            </a:r>
            <a:r>
              <a:rPr lang="en-US" b="1" dirty="0">
                <a:solidFill>
                  <a:srgbClr val="FF0000"/>
                </a:solidFill>
              </a:rPr>
              <a:t>…</a:t>
            </a:r>
            <a:endParaRPr lang="en-US" dirty="0"/>
          </a:p>
        </p:txBody>
      </p:sp>
      <p:sp>
        <p:nvSpPr>
          <p:cNvPr id="3" name="Content Placeholder 2"/>
          <p:cNvSpPr>
            <a:spLocks noGrp="1"/>
          </p:cNvSpPr>
          <p:nvPr>
            <p:ph idx="1"/>
          </p:nvPr>
        </p:nvSpPr>
        <p:spPr/>
        <p:txBody>
          <a:bodyPr>
            <a:normAutofit lnSpcReduction="10000"/>
          </a:bodyPr>
          <a:lstStyle/>
          <a:p>
            <a:r>
              <a:rPr lang="en-GB" b="1" dirty="0"/>
              <a:t>Article in a </a:t>
            </a:r>
            <a:r>
              <a:rPr lang="en-GB" b="1" dirty="0" smtClean="0"/>
              <a:t>newspaper</a:t>
            </a:r>
          </a:p>
          <a:p>
            <a:pPr marL="0" indent="0">
              <a:buNone/>
            </a:pPr>
            <a:endParaRPr lang="en-US" dirty="0"/>
          </a:p>
          <a:p>
            <a:pPr algn="just">
              <a:buFont typeface="Wingdings" pitchFamily="2" charset="2"/>
              <a:buChar char="Ø"/>
            </a:pPr>
            <a:r>
              <a:rPr lang="en-GB" dirty="0"/>
              <a:t>Banda, M. (2002, April 26</a:t>
            </a:r>
            <a:r>
              <a:rPr lang="en-GB" dirty="0" smtClean="0"/>
              <a:t>). </a:t>
            </a:r>
            <a:r>
              <a:rPr lang="en-GB" dirty="0"/>
              <a:t>Murder in the </a:t>
            </a:r>
            <a:r>
              <a:rPr lang="en-GB" dirty="0" smtClean="0"/>
              <a:t>	park</a:t>
            </a:r>
            <a:r>
              <a:rPr lang="en-GB" dirty="0"/>
              <a:t>. </a:t>
            </a:r>
            <a:r>
              <a:rPr lang="en-GB" dirty="0" smtClean="0"/>
              <a:t>	</a:t>
            </a:r>
            <a:r>
              <a:rPr lang="en-GB" i="1" dirty="0" smtClean="0"/>
              <a:t>The </a:t>
            </a:r>
            <a:r>
              <a:rPr lang="en-GB" i="1" dirty="0"/>
              <a:t>Daily Times</a:t>
            </a:r>
            <a:r>
              <a:rPr lang="en-GB" dirty="0"/>
              <a:t>, </a:t>
            </a:r>
            <a:r>
              <a:rPr lang="en-GB" dirty="0" err="1"/>
              <a:t>pp</a:t>
            </a:r>
            <a:r>
              <a:rPr lang="en-GB" dirty="0"/>
              <a:t> </a:t>
            </a:r>
            <a:r>
              <a:rPr lang="en-GB" dirty="0" smtClean="0"/>
              <a:t>2-4.</a:t>
            </a:r>
            <a:endParaRPr lang="en-US" dirty="0"/>
          </a:p>
          <a:p>
            <a:r>
              <a:rPr lang="en-GB" dirty="0"/>
              <a:t> </a:t>
            </a:r>
            <a:r>
              <a:rPr lang="en-GB" b="1" dirty="0"/>
              <a:t>Online newspaper article</a:t>
            </a:r>
          </a:p>
          <a:p>
            <a:pPr algn="just">
              <a:buFont typeface="Wingdings" pitchFamily="2" charset="2"/>
              <a:buChar char="Ø"/>
            </a:pPr>
            <a:r>
              <a:rPr lang="en-US" dirty="0"/>
              <a:t>Brody, J. E. (2007, December 11). Mental </a:t>
            </a:r>
            <a:r>
              <a:rPr lang="en-US" dirty="0" smtClean="0"/>
              <a:t>	reserves </a:t>
            </a:r>
            <a:r>
              <a:rPr lang="en-US" dirty="0"/>
              <a:t>keep brain agile. </a:t>
            </a:r>
            <a:r>
              <a:rPr lang="en-US" i="1" dirty="0"/>
              <a:t>The New </a:t>
            </a:r>
            <a:r>
              <a:rPr lang="en-US" i="1" dirty="0" smtClean="0"/>
              <a:t>York 	Times</a:t>
            </a:r>
            <a:r>
              <a:rPr lang="en-US" i="1" dirty="0"/>
              <a:t>. </a:t>
            </a:r>
            <a:r>
              <a:rPr lang="en-US" dirty="0"/>
              <a:t>Retrieved from </a:t>
            </a:r>
            <a:r>
              <a:rPr lang="en-US" dirty="0" smtClean="0"/>
              <a:t>	http</a:t>
            </a:r>
            <a:r>
              <a:rPr lang="en-US" dirty="0"/>
              <a:t>://</a:t>
            </a:r>
            <a:r>
              <a:rPr lang="en-US" dirty="0" smtClean="0"/>
              <a:t>www.nytimes.com.</a:t>
            </a:r>
            <a:endParaRPr lang="en-US" dirty="0"/>
          </a:p>
        </p:txBody>
      </p:sp>
    </p:spTree>
    <p:extLst>
      <p:ext uri="{BB962C8B-B14F-4D97-AF65-F5344CB8AC3E}">
        <p14:creationId xmlns:p14="http://schemas.microsoft.com/office/powerpoint/2010/main" val="143331028"/>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Presentation of materials </a:t>
            </a:r>
            <a:r>
              <a:rPr lang="en-US" b="1" dirty="0" err="1">
                <a:solidFill>
                  <a:srgbClr val="FF0000"/>
                </a:solidFill>
              </a:rPr>
              <a:t>cont</a:t>
            </a:r>
            <a:r>
              <a:rPr lang="en-US" b="1" dirty="0">
                <a:solidFill>
                  <a:srgbClr val="FF0000"/>
                </a:solidFill>
              </a:rPr>
              <a:t>…</a:t>
            </a:r>
            <a:endParaRPr lang="en-US" dirty="0"/>
          </a:p>
        </p:txBody>
      </p:sp>
      <p:sp>
        <p:nvSpPr>
          <p:cNvPr id="3" name="Content Placeholder 2"/>
          <p:cNvSpPr>
            <a:spLocks noGrp="1"/>
          </p:cNvSpPr>
          <p:nvPr>
            <p:ph idx="1"/>
          </p:nvPr>
        </p:nvSpPr>
        <p:spPr>
          <a:xfrm>
            <a:off x="457200" y="1600200"/>
            <a:ext cx="8458200" cy="4525963"/>
          </a:xfrm>
        </p:spPr>
        <p:txBody>
          <a:bodyPr/>
          <a:lstStyle/>
          <a:p>
            <a:r>
              <a:rPr lang="en-GB" b="1" dirty="0"/>
              <a:t>Unsigned </a:t>
            </a:r>
            <a:r>
              <a:rPr lang="en-GB" b="1" dirty="0" smtClean="0"/>
              <a:t>article (article with unknown author</a:t>
            </a:r>
          </a:p>
          <a:p>
            <a:pPr marL="0" indent="0">
              <a:buNone/>
            </a:pPr>
            <a:endParaRPr lang="en-US" dirty="0"/>
          </a:p>
          <a:p>
            <a:pPr algn="just">
              <a:buFont typeface="Wingdings" pitchFamily="2" charset="2"/>
              <a:buChar char="Ø"/>
            </a:pPr>
            <a:r>
              <a:rPr lang="en-GB" dirty="0"/>
              <a:t>What sort of person reads creative </a:t>
            </a:r>
            <a:r>
              <a:rPr lang="en-GB" dirty="0" smtClean="0"/>
              <a:t>	computing</a:t>
            </a:r>
            <a:r>
              <a:rPr lang="en-GB" dirty="0"/>
              <a:t>? (1985, August). </a:t>
            </a:r>
            <a:r>
              <a:rPr lang="en-GB" i="1" dirty="0"/>
              <a:t>Creative </a:t>
            </a:r>
            <a:r>
              <a:rPr lang="en-GB" i="1" dirty="0" smtClean="0"/>
              <a:t>	Computing</a:t>
            </a:r>
            <a:r>
              <a:rPr lang="en-GB" i="1" dirty="0"/>
              <a:t>,  8</a:t>
            </a:r>
            <a:r>
              <a:rPr lang="en-GB" dirty="0"/>
              <a:t>, 10.</a:t>
            </a:r>
            <a:endParaRPr lang="en-US" dirty="0"/>
          </a:p>
          <a:p>
            <a:endParaRPr lang="en-US" dirty="0"/>
          </a:p>
        </p:txBody>
      </p:sp>
    </p:spTree>
    <p:extLst>
      <p:ext uri="{BB962C8B-B14F-4D97-AF65-F5344CB8AC3E}">
        <p14:creationId xmlns:p14="http://schemas.microsoft.com/office/powerpoint/2010/main" val="323363220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Presentation of materials </a:t>
            </a:r>
            <a:r>
              <a:rPr lang="en-US" b="1" dirty="0" err="1">
                <a:solidFill>
                  <a:srgbClr val="FF0000"/>
                </a:solidFill>
              </a:rPr>
              <a:t>cont</a:t>
            </a:r>
            <a:r>
              <a:rPr lang="en-US" b="1" dirty="0">
                <a:solidFill>
                  <a:srgbClr val="FF0000"/>
                </a:solidFill>
              </a:rPr>
              <a:t>…</a:t>
            </a:r>
            <a:endParaRPr lang="en-US" dirty="0"/>
          </a:p>
        </p:txBody>
      </p:sp>
      <p:sp>
        <p:nvSpPr>
          <p:cNvPr id="3" name="Content Placeholder 2"/>
          <p:cNvSpPr>
            <a:spLocks noGrp="1"/>
          </p:cNvSpPr>
          <p:nvPr>
            <p:ph idx="1"/>
          </p:nvPr>
        </p:nvSpPr>
        <p:spPr/>
        <p:txBody>
          <a:bodyPr/>
          <a:lstStyle/>
          <a:p>
            <a:r>
              <a:rPr lang="en-GB" b="1" dirty="0"/>
              <a:t>Editorial or letter to the </a:t>
            </a:r>
            <a:r>
              <a:rPr lang="en-GB" b="1" dirty="0" smtClean="0"/>
              <a:t>editor</a:t>
            </a:r>
          </a:p>
          <a:p>
            <a:pPr marL="0" indent="0">
              <a:buNone/>
            </a:pPr>
            <a:endParaRPr lang="en-US" dirty="0"/>
          </a:p>
          <a:p>
            <a:pPr algn="just">
              <a:buFont typeface="Wingdings" pitchFamily="2" charset="2"/>
              <a:buChar char="Ø"/>
            </a:pPr>
            <a:r>
              <a:rPr lang="en-GB" dirty="0"/>
              <a:t>Russell, J.S. (1994, March 27) The </a:t>
            </a:r>
            <a:r>
              <a:rPr lang="en-GB" dirty="0" smtClean="0"/>
              <a:t>language 	instinct </a:t>
            </a:r>
            <a:r>
              <a:rPr lang="en-GB" dirty="0"/>
              <a:t>[Letter to the editor]. </a:t>
            </a:r>
            <a:r>
              <a:rPr lang="en-GB" i="1" dirty="0"/>
              <a:t>The New </a:t>
            </a:r>
            <a:r>
              <a:rPr lang="en-GB" i="1" dirty="0" smtClean="0"/>
              <a:t>	York </a:t>
            </a:r>
            <a:r>
              <a:rPr lang="en-GB" i="1" dirty="0"/>
              <a:t>Times Book Review, </a:t>
            </a:r>
            <a:r>
              <a:rPr lang="en-GB" dirty="0"/>
              <a:t> </a:t>
            </a:r>
            <a:r>
              <a:rPr lang="en-GB" i="1" dirty="0"/>
              <a:t>27</a:t>
            </a:r>
            <a:r>
              <a:rPr lang="en-GB" dirty="0"/>
              <a:t>.</a:t>
            </a:r>
            <a:endParaRPr lang="en-US" dirty="0"/>
          </a:p>
          <a:p>
            <a:pPr marL="0" indent="0">
              <a:buNone/>
            </a:pPr>
            <a:r>
              <a:rPr lang="en-GB" dirty="0"/>
              <a:t> </a:t>
            </a:r>
            <a:endParaRPr lang="en-US" dirty="0"/>
          </a:p>
          <a:p>
            <a:pPr marL="0" indent="0">
              <a:buNone/>
            </a:pPr>
            <a:endParaRPr lang="en-US" dirty="0"/>
          </a:p>
        </p:txBody>
      </p:sp>
    </p:spTree>
    <p:extLst>
      <p:ext uri="{BB962C8B-B14F-4D97-AF65-F5344CB8AC3E}">
        <p14:creationId xmlns:p14="http://schemas.microsoft.com/office/powerpoint/2010/main" val="145414611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Presentation of materials </a:t>
            </a:r>
            <a:r>
              <a:rPr lang="en-US" b="1" dirty="0" err="1">
                <a:solidFill>
                  <a:srgbClr val="FF0000"/>
                </a:solidFill>
              </a:rPr>
              <a:t>cont</a:t>
            </a:r>
            <a:r>
              <a:rPr lang="en-US" b="1" dirty="0">
                <a:solidFill>
                  <a:srgbClr val="FF0000"/>
                </a:solidFill>
              </a:rPr>
              <a:t>…</a:t>
            </a:r>
            <a:endParaRPr lang="en-US" dirty="0"/>
          </a:p>
        </p:txBody>
      </p:sp>
      <p:sp>
        <p:nvSpPr>
          <p:cNvPr id="3" name="Content Placeholder 2"/>
          <p:cNvSpPr>
            <a:spLocks noGrp="1"/>
          </p:cNvSpPr>
          <p:nvPr>
            <p:ph idx="1"/>
          </p:nvPr>
        </p:nvSpPr>
        <p:spPr/>
        <p:txBody>
          <a:bodyPr/>
          <a:lstStyle/>
          <a:p>
            <a:r>
              <a:rPr lang="en-GB" b="1" dirty="0" smtClean="0"/>
              <a:t>Review</a:t>
            </a:r>
          </a:p>
          <a:p>
            <a:pPr marL="0" indent="0">
              <a:buNone/>
            </a:pPr>
            <a:endParaRPr lang="en-US" dirty="0"/>
          </a:p>
          <a:p>
            <a:pPr algn="just">
              <a:buFont typeface="Wingdings" pitchFamily="2" charset="2"/>
              <a:buChar char="Ø"/>
            </a:pPr>
            <a:r>
              <a:rPr lang="en-GB" dirty="0" err="1"/>
              <a:t>Larmore</a:t>
            </a:r>
            <a:r>
              <a:rPr lang="en-GB" dirty="0"/>
              <a:t>, C.E. (1989). (Review of the book: </a:t>
            </a:r>
            <a:r>
              <a:rPr lang="en-GB" dirty="0" smtClean="0"/>
              <a:t>	Patterns </a:t>
            </a:r>
            <a:r>
              <a:rPr lang="en-GB" dirty="0"/>
              <a:t>of </a:t>
            </a:r>
            <a:r>
              <a:rPr lang="en-GB" dirty="0" smtClean="0"/>
              <a:t>moral </a:t>
            </a:r>
            <a:r>
              <a:rPr lang="en-GB" dirty="0"/>
              <a:t>c</a:t>
            </a:r>
            <a:r>
              <a:rPr lang="en-GB" dirty="0" smtClean="0"/>
              <a:t>omplexity</a:t>
            </a:r>
            <a:r>
              <a:rPr lang="en-GB" i="1" dirty="0"/>
              <a:t>)</a:t>
            </a:r>
            <a:r>
              <a:rPr lang="en-GB" dirty="0"/>
              <a:t>. </a:t>
            </a:r>
            <a:r>
              <a:rPr lang="en-GB" i="1" dirty="0"/>
              <a:t>Ethics, 99</a:t>
            </a:r>
            <a:r>
              <a:rPr lang="en-GB" dirty="0"/>
              <a:t>, </a:t>
            </a:r>
            <a:r>
              <a:rPr lang="en-GB" dirty="0" smtClean="0"/>
              <a:t>	423-426</a:t>
            </a:r>
            <a:r>
              <a:rPr lang="en-GB" dirty="0"/>
              <a:t>.</a:t>
            </a:r>
            <a:endParaRPr lang="en-US" dirty="0"/>
          </a:p>
          <a:p>
            <a:endParaRPr lang="en-US" dirty="0"/>
          </a:p>
        </p:txBody>
      </p:sp>
    </p:spTree>
    <p:extLst>
      <p:ext uri="{BB962C8B-B14F-4D97-AF65-F5344CB8AC3E}">
        <p14:creationId xmlns:p14="http://schemas.microsoft.com/office/powerpoint/2010/main" val="25517198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Presentation of materials </a:t>
            </a:r>
            <a:r>
              <a:rPr lang="en-US" b="1" dirty="0" err="1">
                <a:solidFill>
                  <a:srgbClr val="FF0000"/>
                </a:solidFill>
              </a:rPr>
              <a:t>cont</a:t>
            </a:r>
            <a:r>
              <a:rPr lang="en-US" b="1" dirty="0">
                <a:solidFill>
                  <a:srgbClr val="FF0000"/>
                </a:solidFill>
              </a:rPr>
              <a:t>…</a:t>
            </a:r>
            <a:endParaRPr lang="en-US" dirty="0"/>
          </a:p>
        </p:txBody>
      </p:sp>
      <p:sp>
        <p:nvSpPr>
          <p:cNvPr id="3" name="Content Placeholder 2"/>
          <p:cNvSpPr>
            <a:spLocks noGrp="1"/>
          </p:cNvSpPr>
          <p:nvPr>
            <p:ph idx="1"/>
          </p:nvPr>
        </p:nvSpPr>
        <p:spPr/>
        <p:txBody>
          <a:bodyPr/>
          <a:lstStyle/>
          <a:p>
            <a:r>
              <a:rPr lang="en-GB" b="1" dirty="0"/>
              <a:t>Published </a:t>
            </a:r>
            <a:r>
              <a:rPr lang="en-GB" b="1" dirty="0" smtClean="0"/>
              <a:t>interview</a:t>
            </a:r>
          </a:p>
          <a:p>
            <a:pPr marL="0" indent="0">
              <a:buNone/>
            </a:pPr>
            <a:endParaRPr lang="en-US" dirty="0"/>
          </a:p>
          <a:p>
            <a:pPr algn="just">
              <a:buFont typeface="Wingdings" pitchFamily="2" charset="2"/>
              <a:buChar char="Ø"/>
            </a:pPr>
            <a:r>
              <a:rPr lang="en-GB" dirty="0"/>
              <a:t>McCarthy, E. (1968, December </a:t>
            </a:r>
            <a:r>
              <a:rPr lang="en-GB"/>
              <a:t>24</a:t>
            </a:r>
            <a:r>
              <a:rPr lang="en-GB" smtClean="0"/>
              <a:t>). </a:t>
            </a:r>
            <a:r>
              <a:rPr lang="en-GB" dirty="0"/>
              <a:t>[Interview </a:t>
            </a:r>
            <a:r>
              <a:rPr lang="en-GB" dirty="0" smtClean="0"/>
              <a:t>	with </a:t>
            </a:r>
            <a:r>
              <a:rPr lang="en-GB" i="1" dirty="0"/>
              <a:t>Boston Globe: </a:t>
            </a:r>
            <a:r>
              <a:rPr lang="en-GB" dirty="0" err="1"/>
              <a:t>Washngton</a:t>
            </a:r>
            <a:r>
              <a:rPr lang="en-GB" dirty="0"/>
              <a:t> staff]. </a:t>
            </a:r>
            <a:r>
              <a:rPr lang="en-GB" dirty="0" smtClean="0"/>
              <a:t>	</a:t>
            </a:r>
            <a:r>
              <a:rPr lang="en-GB" i="1" dirty="0" smtClean="0"/>
              <a:t>Boston </a:t>
            </a:r>
            <a:r>
              <a:rPr lang="en-GB" i="1" dirty="0"/>
              <a:t>Globe, </a:t>
            </a:r>
            <a:r>
              <a:rPr lang="en-GB" dirty="0"/>
              <a:t>p.B27.</a:t>
            </a:r>
            <a:endParaRPr lang="en-US" dirty="0"/>
          </a:p>
          <a:p>
            <a:endParaRPr lang="en-US" dirty="0"/>
          </a:p>
        </p:txBody>
      </p:sp>
    </p:spTree>
    <p:extLst>
      <p:ext uri="{BB962C8B-B14F-4D97-AF65-F5344CB8AC3E}">
        <p14:creationId xmlns:p14="http://schemas.microsoft.com/office/powerpoint/2010/main" val="403256103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Presentation of information sourced from the internet</a:t>
            </a:r>
            <a:endParaRPr lang="en-US" b="1" dirty="0">
              <a:solidFill>
                <a:srgbClr val="FF0000"/>
              </a:solidFill>
            </a:endParaRPr>
          </a:p>
        </p:txBody>
      </p:sp>
      <p:sp>
        <p:nvSpPr>
          <p:cNvPr id="3" name="Content Placeholder 2"/>
          <p:cNvSpPr>
            <a:spLocks noGrp="1"/>
          </p:cNvSpPr>
          <p:nvPr>
            <p:ph idx="1"/>
          </p:nvPr>
        </p:nvSpPr>
        <p:spPr>
          <a:xfrm>
            <a:off x="304800" y="1600200"/>
            <a:ext cx="8686800" cy="4525963"/>
          </a:xfrm>
        </p:spPr>
        <p:txBody>
          <a:bodyPr/>
          <a:lstStyle/>
          <a:p>
            <a:r>
              <a:rPr lang="en-US" b="1" dirty="0" smtClean="0"/>
              <a:t>Author and year publication known</a:t>
            </a:r>
          </a:p>
          <a:p>
            <a:pPr marL="0" indent="0">
              <a:buNone/>
            </a:pPr>
            <a:endParaRPr lang="en-US" b="1" dirty="0" smtClean="0"/>
          </a:p>
          <a:p>
            <a:pPr algn="just">
              <a:buFont typeface="Wingdings" pitchFamily="2" charset="2"/>
              <a:buChar char="Ø"/>
            </a:pPr>
            <a:r>
              <a:rPr lang="en-US" dirty="0" err="1" smtClean="0"/>
              <a:t>Gondwe</a:t>
            </a:r>
            <a:r>
              <a:rPr lang="en-US" dirty="0" smtClean="0"/>
              <a:t>, C. (2013). </a:t>
            </a:r>
            <a:r>
              <a:rPr lang="en-US" i="1" dirty="0" smtClean="0"/>
              <a:t>Democracy in Malawi. 	</a:t>
            </a:r>
            <a:r>
              <a:rPr lang="en-US" dirty="0" smtClean="0"/>
              <a:t>Retrieved from: 	http://www.manaonline.org/demomw.html.</a:t>
            </a:r>
            <a:endParaRPr lang="en-US" dirty="0"/>
          </a:p>
        </p:txBody>
      </p:sp>
    </p:spTree>
    <p:extLst>
      <p:ext uri="{BB962C8B-B14F-4D97-AF65-F5344CB8AC3E}">
        <p14:creationId xmlns:p14="http://schemas.microsoft.com/office/powerpoint/2010/main" val="375087757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If retrieved from a website, author </a:t>
            </a:r>
            <a:r>
              <a:rPr lang="en-US" b="1" dirty="0" err="1" smtClean="0"/>
              <a:t>uknown</a:t>
            </a:r>
            <a:r>
              <a:rPr lang="en-US" b="1" dirty="0" smtClean="0"/>
              <a:t>:</a:t>
            </a:r>
          </a:p>
          <a:p>
            <a:pPr marL="0" indent="0">
              <a:buNone/>
            </a:pPr>
            <a:endParaRPr lang="en-US" b="1" dirty="0" smtClean="0"/>
          </a:p>
          <a:p>
            <a:pPr marL="0" indent="0">
              <a:buNone/>
            </a:pPr>
            <a:r>
              <a:rPr lang="en-US" sz="4000" b="1" dirty="0" smtClean="0"/>
              <a:t>http</a:t>
            </a:r>
            <a:r>
              <a:rPr lang="en-US" sz="4000" b="1" dirty="0"/>
              <a:t>://www.mzuni.ac.mw/index.html</a:t>
            </a:r>
            <a:endParaRPr lang="en-US" sz="4000" b="1" dirty="0" smtClean="0"/>
          </a:p>
          <a:p>
            <a:pPr marL="0" indent="0">
              <a:buNone/>
            </a:pPr>
            <a:r>
              <a:rPr lang="en-US" b="1" dirty="0"/>
              <a:t> </a:t>
            </a:r>
          </a:p>
          <a:p>
            <a:pPr algn="just">
              <a:buFont typeface="Wingdings" pitchFamily="2" charset="2"/>
              <a:buChar char="Ø"/>
            </a:pPr>
            <a:r>
              <a:rPr lang="en-US" dirty="0" smtClean="0">
                <a:solidFill>
                  <a:srgbClr val="FF0000"/>
                </a:solidFill>
              </a:rPr>
              <a:t>Use any search engine to demonstrate how the students can cite information from any website.</a:t>
            </a:r>
            <a:endParaRPr lang="en-US" dirty="0">
              <a:solidFill>
                <a:srgbClr val="FF0000"/>
              </a:solidFill>
            </a:endParaRPr>
          </a:p>
        </p:txBody>
      </p:sp>
    </p:spTree>
    <p:extLst>
      <p:ext uri="{BB962C8B-B14F-4D97-AF65-F5344CB8AC3E}">
        <p14:creationId xmlns:p14="http://schemas.microsoft.com/office/powerpoint/2010/main" val="2920388015"/>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79568110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95941172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072209523"/>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77343472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76996367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2253</TotalTime>
  <Words>3195</Words>
  <Application>Microsoft Office PowerPoint</Application>
  <PresentationFormat>On-screen Show (4:3)</PresentationFormat>
  <Paragraphs>278</Paragraphs>
  <Slides>76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76</vt:i4>
      </vt:variant>
    </vt:vector>
  </HeadingPairs>
  <TitlesOfParts>
    <vt:vector size="80" baseType="lpstr">
      <vt:lpstr>Arial</vt:lpstr>
      <vt:lpstr>Calibri</vt:lpstr>
      <vt:lpstr>Wingdings</vt:lpstr>
      <vt:lpstr>Office Theme</vt:lpstr>
      <vt:lpstr>Referencing</vt:lpstr>
      <vt:lpstr>Why referencing?</vt:lpstr>
      <vt:lpstr>Reasons for referencing cont…</vt:lpstr>
      <vt:lpstr>Reasons for referencing cont…</vt:lpstr>
      <vt:lpstr>Which materials require referencing?</vt:lpstr>
      <vt:lpstr>Materials that require referencing</vt:lpstr>
      <vt:lpstr>Materials requiring referencing cont…</vt:lpstr>
      <vt:lpstr>Presenting source material in your text</vt:lpstr>
      <vt:lpstr>Methods to use when presenting source material in your text</vt:lpstr>
      <vt:lpstr>Paraphrasing cont…</vt:lpstr>
      <vt:lpstr>2. Using summaries</vt:lpstr>
      <vt:lpstr>3. Using direct quotations</vt:lpstr>
      <vt:lpstr>Using quotations cont…</vt:lpstr>
      <vt:lpstr>Using quotations cont…</vt:lpstr>
      <vt:lpstr>PowerPoint Presentation</vt:lpstr>
      <vt:lpstr>Presenting quotations…</vt:lpstr>
      <vt:lpstr>Presenting quotations…</vt:lpstr>
      <vt:lpstr>What does the word “Sic” mean?</vt:lpstr>
      <vt:lpstr>The American Psychological Association (APA) Style of Documentation</vt:lpstr>
      <vt:lpstr>Footnotes</vt:lpstr>
      <vt:lpstr>Content footnotes cont…</vt:lpstr>
      <vt:lpstr>Footnotes cont…</vt:lpstr>
      <vt:lpstr>Footnotes cont…</vt:lpstr>
      <vt:lpstr>What does Ibid mean?</vt:lpstr>
      <vt:lpstr>How to use the APA format for parenthetical citations </vt:lpstr>
      <vt:lpstr>some examples of citations for various kinds of sources </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APA format for a list of references</vt:lpstr>
      <vt:lpstr>Points to remember when writing references and bibliography</vt:lpstr>
      <vt:lpstr>PowerPoint Presentation</vt:lpstr>
      <vt:lpstr>PowerPoint Presentation</vt:lpstr>
      <vt:lpstr>PowerPoint Presentation</vt:lpstr>
      <vt:lpstr>PowerPoint Presentation</vt:lpstr>
      <vt:lpstr>Presentation of materials using APA format</vt:lpstr>
      <vt:lpstr>Order of several works by the same author</vt:lpstr>
      <vt:lpstr>Order of several works by the same author cont…</vt:lpstr>
      <vt:lpstr>Order of several works by the same author</vt:lpstr>
      <vt:lpstr>Order of several works by the same author</vt:lpstr>
      <vt:lpstr>Order of several works by the same author</vt:lpstr>
      <vt:lpstr>Order of several works by the same author</vt:lpstr>
      <vt:lpstr>Order of several works by different first authors with the same surname</vt:lpstr>
      <vt:lpstr>Authors With the Same Surname</vt:lpstr>
      <vt:lpstr>Authors with the same surname cont…</vt:lpstr>
      <vt:lpstr>Authors with the same surname cont…</vt:lpstr>
      <vt:lpstr>Presentation of materials cont…</vt:lpstr>
      <vt:lpstr>Presentation of materials cont…</vt:lpstr>
      <vt:lpstr>Presentation of materials cont…</vt:lpstr>
      <vt:lpstr>Presentation of materials cont…</vt:lpstr>
      <vt:lpstr>Presentation of materials cont…</vt:lpstr>
      <vt:lpstr>Presentation of materials cont…</vt:lpstr>
      <vt:lpstr>Presentation of materials cont…</vt:lpstr>
      <vt:lpstr>Presentation of materials cont…</vt:lpstr>
      <vt:lpstr>Presentation of materials cont…</vt:lpstr>
      <vt:lpstr>Presentation of materials cont…</vt:lpstr>
      <vt:lpstr>PowerPoint Presentation</vt:lpstr>
      <vt:lpstr>Presentation of materials cont…</vt:lpstr>
      <vt:lpstr>Presentation of materials cont…</vt:lpstr>
      <vt:lpstr>Presentation of materials cont…</vt:lpstr>
      <vt:lpstr>Presentation of materials cont…</vt:lpstr>
      <vt:lpstr>Presentation of materials cont…</vt:lpstr>
      <vt:lpstr>Presentation of materials cont…</vt:lpstr>
      <vt:lpstr>Presentation of materials cont…</vt:lpstr>
      <vt:lpstr>Presentation of information sourced from the internet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Communication skills 2</dc:title>
  <dc:creator>Madula</dc:creator>
  <cp:lastModifiedBy>Precious Madula</cp:lastModifiedBy>
  <cp:revision>113</cp:revision>
  <dcterms:created xsi:type="dcterms:W3CDTF">2014-08-12T07:15:19Z</dcterms:created>
  <dcterms:modified xsi:type="dcterms:W3CDTF">2019-12-17T10:28:09Z</dcterms:modified>
</cp:coreProperties>
</file>