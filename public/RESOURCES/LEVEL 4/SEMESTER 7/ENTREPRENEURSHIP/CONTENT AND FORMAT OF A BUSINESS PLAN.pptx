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98" r:id="rId4"/>
    <p:sldId id="287" r:id="rId5"/>
    <p:sldId id="265" r:id="rId6"/>
    <p:sldId id="267" r:id="rId7"/>
    <p:sldId id="289" r:id="rId8"/>
    <p:sldId id="291" r:id="rId9"/>
    <p:sldId id="292" r:id="rId10"/>
    <p:sldId id="293" r:id="rId11"/>
    <p:sldId id="295" r:id="rId12"/>
    <p:sldId id="269" r:id="rId13"/>
    <p:sldId id="270" r:id="rId14"/>
    <p:sldId id="273" r:id="rId15"/>
    <p:sldId id="274" r:id="rId16"/>
    <p:sldId id="275" r:id="rId17"/>
    <p:sldId id="272" r:id="rId18"/>
    <p:sldId id="276" r:id="rId19"/>
    <p:sldId id="297" r:id="rId20"/>
    <p:sldId id="278" r:id="rId21"/>
    <p:sldId id="280" r:id="rId22"/>
    <p:sldId id="282" r:id="rId23"/>
    <p:sldId id="283" r:id="rId24"/>
    <p:sldId id="29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02F0FAD-9AD4-4848-97FC-4DADA1520D3B}"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6263903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2F0FAD-9AD4-4848-97FC-4DADA1520D3B}"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41399599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02F0FAD-9AD4-4848-97FC-4DADA1520D3B}"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2896957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02F0FAD-9AD4-4848-97FC-4DADA1520D3B}" type="datetimeFigureOut">
              <a:rPr lang="en-US" smtClean="0"/>
              <a:pPr/>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2757415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02F0FAD-9AD4-4848-97FC-4DADA1520D3B}" type="datetimeFigureOut">
              <a:rPr lang="en-US" smtClean="0"/>
              <a:pPr/>
              <a:t>5/18/2019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3842851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02F0FAD-9AD4-4848-97FC-4DADA1520D3B}" type="datetimeFigureOut">
              <a:rPr lang="en-US" smtClean="0"/>
              <a:pPr/>
              <a:t>5/18/2019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31848034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F0FAD-9AD4-4848-97FC-4DADA1520D3B}" type="datetimeFigureOut">
              <a:rPr lang="en-US" smtClean="0"/>
              <a:pPr/>
              <a:t>5/18/2019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6245351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02F0FAD-9AD4-4848-97FC-4DADA1520D3B}" type="datetimeFigureOut">
              <a:rPr lang="en-US" smtClean="0"/>
              <a:pPr/>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3756038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02F0FAD-9AD4-4848-97FC-4DADA1520D3B}" type="datetimeFigureOut">
              <a:rPr lang="en-US" smtClean="0"/>
              <a:pPr/>
              <a:t>5/18/2019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610820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2F0FAD-9AD4-4848-97FC-4DADA1520D3B}"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141168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2F0FAD-9AD4-4848-97FC-4DADA1520D3B}" type="datetimeFigureOut">
              <a:rPr lang="en-US" smtClean="0"/>
              <a:pPr/>
              <a:t>5/18/2019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FA76A-1948-4871-A2C7-1C86F7F0AEBF}" type="slidenum">
              <a:rPr lang="en-US" smtClean="0"/>
              <a:pPr/>
              <a:t>‹#›</a:t>
            </a:fld>
            <a:endParaRPr lang="en-US"/>
          </a:p>
        </p:txBody>
      </p:sp>
    </p:spTree>
    <p:extLst>
      <p:ext uri="{BB962C8B-B14F-4D97-AF65-F5344CB8AC3E}">
        <p14:creationId xmlns:p14="http://schemas.microsoft.com/office/powerpoint/2010/main" val="28096427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2F0FAD-9AD4-4848-97FC-4DADA1520D3B}" type="datetimeFigureOut">
              <a:rPr lang="en-US" smtClean="0"/>
              <a:pPr/>
              <a:t>5/18/2019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BFA76A-1948-4871-A2C7-1C86F7F0AEBF}" type="slidenum">
              <a:rPr lang="en-US" smtClean="0"/>
              <a:pPr/>
              <a:t>‹#›</a:t>
            </a:fld>
            <a:endParaRPr lang="en-US"/>
          </a:p>
        </p:txBody>
      </p:sp>
    </p:spTree>
    <p:extLst>
      <p:ext uri="{BB962C8B-B14F-4D97-AF65-F5344CB8AC3E}">
        <p14:creationId xmlns:p14="http://schemas.microsoft.com/office/powerpoint/2010/main" val="1179710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CONTENT AND FORMAT OF A BUSINESS PLAN</a:t>
            </a:r>
            <a:endParaRPr lang="en-US" dirty="0"/>
          </a:p>
        </p:txBody>
      </p:sp>
    </p:spTree>
    <p:extLst>
      <p:ext uri="{BB962C8B-B14F-4D97-AF65-F5344CB8AC3E}">
        <p14:creationId xmlns:p14="http://schemas.microsoft.com/office/powerpoint/2010/main" val="34505303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FORMAT OF  ABUSINES PLAN</a:t>
            </a:r>
            <a:endParaRPr lang="en-US" dirty="0"/>
          </a:p>
        </p:txBody>
      </p:sp>
      <p:sp>
        <p:nvSpPr>
          <p:cNvPr id="3" name="Content Placeholder 2"/>
          <p:cNvSpPr>
            <a:spLocks noGrp="1"/>
          </p:cNvSpPr>
          <p:nvPr>
            <p:ph idx="1"/>
          </p:nvPr>
        </p:nvSpPr>
        <p:spPr/>
        <p:txBody>
          <a:bodyPr>
            <a:normAutofit/>
          </a:bodyPr>
          <a:lstStyle/>
          <a:p>
            <a:r>
              <a:rPr lang="en-US" dirty="0"/>
              <a:t>In reality there is no standard format for the presentation of a good business plan. </a:t>
            </a:r>
            <a:endParaRPr lang="en-US" dirty="0" smtClean="0"/>
          </a:p>
          <a:p>
            <a:r>
              <a:rPr lang="en-US" dirty="0" smtClean="0"/>
              <a:t>Business </a:t>
            </a:r>
            <a:r>
              <a:rPr lang="en-US" dirty="0"/>
              <a:t>plans vary </a:t>
            </a:r>
            <a:r>
              <a:rPr lang="en-US" dirty="0" smtClean="0"/>
              <a:t>in content </a:t>
            </a:r>
            <a:r>
              <a:rPr lang="en-US" dirty="0"/>
              <a:t>and size according to the nature and size of the business concerned and on the emphasis that </a:t>
            </a:r>
            <a:r>
              <a:rPr lang="en-US" dirty="0" smtClean="0"/>
              <a:t>is placed </a:t>
            </a:r>
            <a:r>
              <a:rPr lang="en-US" dirty="0"/>
              <a:t>on certain critical areas as opposed to others</a:t>
            </a:r>
            <a:r>
              <a:rPr lang="en-US" dirty="0" smtClean="0"/>
              <a:t>.</a:t>
            </a:r>
          </a:p>
          <a:p>
            <a:r>
              <a:rPr lang="en-US" dirty="0" smtClean="0"/>
              <a:t>There are guidelines that provide formats upon which to base your business plan.</a:t>
            </a:r>
          </a:p>
          <a:p>
            <a:r>
              <a:rPr lang="en-US" dirty="0"/>
              <a:t>The format provides you with a framework for presenting your thoughts, ideas and strategies in a logical, consistent and coherent manner. </a:t>
            </a:r>
          </a:p>
          <a:p>
            <a:endParaRPr lang="en-US" dirty="0" smtClean="0"/>
          </a:p>
          <a:p>
            <a:endParaRPr lang="en-US" dirty="0"/>
          </a:p>
        </p:txBody>
      </p:sp>
    </p:spTree>
    <p:extLst>
      <p:ext uri="{BB962C8B-B14F-4D97-AF65-F5344CB8AC3E}">
        <p14:creationId xmlns:p14="http://schemas.microsoft.com/office/powerpoint/2010/main" val="37478586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FORMAT OF BUSINESS PLAN</a:t>
            </a:r>
            <a:endParaRPr lang="en-US" b="1" dirty="0"/>
          </a:p>
        </p:txBody>
      </p:sp>
      <p:sp>
        <p:nvSpPr>
          <p:cNvPr id="3" name="Content Placeholder 2"/>
          <p:cNvSpPr>
            <a:spLocks noGrp="1"/>
          </p:cNvSpPr>
          <p:nvPr>
            <p:ph idx="1"/>
          </p:nvPr>
        </p:nvSpPr>
        <p:spPr/>
        <p:txBody>
          <a:bodyPr/>
          <a:lstStyle/>
          <a:p>
            <a:r>
              <a:rPr lang="en-US" dirty="0" smtClean="0"/>
              <a:t>How the different sections of the business plan are arranged convey </a:t>
            </a:r>
            <a:r>
              <a:rPr lang="en-US" dirty="0"/>
              <a:t>a sense of seriousness and that you are well organized. </a:t>
            </a:r>
            <a:endParaRPr lang="en-US" dirty="0" smtClean="0"/>
          </a:p>
          <a:p>
            <a:r>
              <a:rPr lang="en-US" dirty="0" smtClean="0"/>
              <a:t>It </a:t>
            </a:r>
            <a:r>
              <a:rPr lang="en-US" dirty="0"/>
              <a:t>should have a cover page, table of contents, executive summary listing major sections each clearly headed and identified and appendices. </a:t>
            </a:r>
          </a:p>
          <a:p>
            <a:r>
              <a:rPr lang="en-US" dirty="0" smtClean="0"/>
              <a:t>The sections should contain all the specific items that one need to communicate to the stakeholders.</a:t>
            </a:r>
            <a:endParaRPr lang="en-US" dirty="0"/>
          </a:p>
        </p:txBody>
      </p:sp>
    </p:spTree>
    <p:extLst>
      <p:ext uri="{BB962C8B-B14F-4D97-AF65-F5344CB8AC3E}">
        <p14:creationId xmlns:p14="http://schemas.microsoft.com/office/powerpoint/2010/main" val="1048202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7182394" cy="1110978"/>
          </a:xfrm>
        </p:spPr>
        <p:txBody>
          <a:bodyPr>
            <a:normAutofit fontScale="90000"/>
          </a:bodyPr>
          <a:lstStyle/>
          <a:p>
            <a:r>
              <a:rPr lang="en-US" b="1" i="1" dirty="0" smtClean="0"/>
              <a:t/>
            </a:r>
            <a:br>
              <a:rPr lang="en-US" b="1" i="1" dirty="0" smtClean="0"/>
            </a:br>
            <a:r>
              <a:rPr lang="en-US" b="1" i="1" dirty="0" smtClean="0"/>
              <a:t>Section 7. Executive Summary</a:t>
            </a:r>
            <a:br>
              <a:rPr lang="en-US" b="1" i="1" dirty="0" smtClean="0"/>
            </a:br>
            <a:endParaRPr lang="en-US" dirty="0"/>
          </a:p>
        </p:txBody>
      </p:sp>
      <p:sp>
        <p:nvSpPr>
          <p:cNvPr id="3" name="Content Placeholder 2"/>
          <p:cNvSpPr>
            <a:spLocks noGrp="1"/>
          </p:cNvSpPr>
          <p:nvPr>
            <p:ph idx="1"/>
          </p:nvPr>
        </p:nvSpPr>
        <p:spPr>
          <a:xfrm>
            <a:off x="838200" y="1476104"/>
            <a:ext cx="10515600" cy="4700859"/>
          </a:xfrm>
        </p:spPr>
        <p:txBody>
          <a:bodyPr>
            <a:normAutofit fontScale="92500" lnSpcReduction="10000"/>
          </a:bodyPr>
          <a:lstStyle/>
          <a:p>
            <a:r>
              <a:rPr lang="en-US" dirty="0" smtClean="0"/>
              <a:t>The </a:t>
            </a:r>
            <a:r>
              <a:rPr lang="en-US" dirty="0"/>
              <a:t>executive summary is your chance to highlight </a:t>
            </a:r>
            <a:r>
              <a:rPr lang="en-US" dirty="0" smtClean="0"/>
              <a:t>the important </a:t>
            </a:r>
            <a:r>
              <a:rPr lang="en-US" dirty="0"/>
              <a:t>aspects of your venture. As a summary of </a:t>
            </a:r>
            <a:r>
              <a:rPr lang="en-US" dirty="0" smtClean="0"/>
              <a:t>your plan </a:t>
            </a:r>
            <a:r>
              <a:rPr lang="en-US" dirty="0"/>
              <a:t>it should be short. Try to fit it on one page. </a:t>
            </a:r>
            <a:endParaRPr lang="en-US" dirty="0" smtClean="0"/>
          </a:p>
          <a:p>
            <a:pPr marL="0" indent="0">
              <a:buNone/>
            </a:pPr>
            <a:r>
              <a:rPr lang="en-US" b="1" dirty="0" smtClean="0"/>
              <a:t>It should give </a:t>
            </a:r>
            <a:r>
              <a:rPr lang="en-US" b="1" dirty="0"/>
              <a:t>highlights of the following features:</a:t>
            </a:r>
          </a:p>
          <a:p>
            <a:r>
              <a:rPr lang="en-US" dirty="0" smtClean="0"/>
              <a:t>Your </a:t>
            </a:r>
            <a:r>
              <a:rPr lang="en-US" dirty="0"/>
              <a:t>mission and goals,</a:t>
            </a:r>
          </a:p>
          <a:p>
            <a:r>
              <a:rPr lang="en-US" dirty="0" smtClean="0"/>
              <a:t>The product service</a:t>
            </a:r>
            <a:endParaRPr lang="en-US" dirty="0"/>
          </a:p>
          <a:p>
            <a:r>
              <a:rPr lang="en-US" dirty="0" smtClean="0"/>
              <a:t>The </a:t>
            </a:r>
            <a:r>
              <a:rPr lang="en-US" dirty="0"/>
              <a:t>market and its potential,</a:t>
            </a:r>
          </a:p>
          <a:p>
            <a:r>
              <a:rPr lang="en-US" dirty="0" smtClean="0"/>
              <a:t>The </a:t>
            </a:r>
            <a:r>
              <a:rPr lang="en-US" dirty="0"/>
              <a:t>marketing plan,</a:t>
            </a:r>
          </a:p>
          <a:p>
            <a:r>
              <a:rPr lang="en-US" dirty="0" smtClean="0"/>
              <a:t>The </a:t>
            </a:r>
            <a:r>
              <a:rPr lang="en-US" dirty="0"/>
              <a:t>management team,</a:t>
            </a:r>
          </a:p>
          <a:p>
            <a:r>
              <a:rPr lang="en-US" dirty="0" smtClean="0"/>
              <a:t>Key </a:t>
            </a:r>
            <a:r>
              <a:rPr lang="en-US" dirty="0"/>
              <a:t>elements of your operations,</a:t>
            </a:r>
          </a:p>
          <a:p>
            <a:r>
              <a:rPr lang="en-US" dirty="0" smtClean="0"/>
              <a:t>Funding </a:t>
            </a:r>
            <a:r>
              <a:rPr lang="en-US" dirty="0"/>
              <a:t>requirements, and profit and cash </a:t>
            </a:r>
            <a:r>
              <a:rPr lang="en-US" dirty="0" smtClean="0"/>
              <a:t>forecasts, return </a:t>
            </a:r>
            <a:r>
              <a:rPr lang="en-US" dirty="0"/>
              <a:t>to the investor.</a:t>
            </a:r>
          </a:p>
        </p:txBody>
      </p:sp>
    </p:spTree>
    <p:extLst>
      <p:ext uri="{BB962C8B-B14F-4D97-AF65-F5344CB8AC3E}">
        <p14:creationId xmlns:p14="http://schemas.microsoft.com/office/powerpoint/2010/main" val="6915958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1. Business Description</a:t>
            </a:r>
            <a:br>
              <a:rPr lang="en-US" b="1" i="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As </a:t>
            </a:r>
            <a:r>
              <a:rPr lang="en-US" dirty="0"/>
              <a:t>an introduction to your business, this section </a:t>
            </a:r>
            <a:r>
              <a:rPr lang="en-US" dirty="0" smtClean="0"/>
              <a:t>should provide </a:t>
            </a:r>
            <a:r>
              <a:rPr lang="en-US" dirty="0"/>
              <a:t>an overview of the business and its </a:t>
            </a:r>
            <a:r>
              <a:rPr lang="en-US" dirty="0" smtClean="0"/>
              <a:t>objectives and explain why the business should </a:t>
            </a:r>
            <a:r>
              <a:rPr lang="en-US" dirty="0"/>
              <a:t>exist. </a:t>
            </a:r>
            <a:endParaRPr lang="en-US" dirty="0" smtClean="0"/>
          </a:p>
          <a:p>
            <a:r>
              <a:rPr lang="en-US" dirty="0" smtClean="0"/>
              <a:t>This section should contain a mission statement, business overview and </a:t>
            </a:r>
            <a:r>
              <a:rPr lang="en-US" dirty="0" err="1" smtClean="0"/>
              <a:t>brif</a:t>
            </a:r>
            <a:r>
              <a:rPr lang="en-US" dirty="0" smtClean="0"/>
              <a:t> explanation of products and services.</a:t>
            </a:r>
          </a:p>
          <a:p>
            <a:r>
              <a:rPr lang="en-US" b="1" dirty="0"/>
              <a:t>a. Mission statement</a:t>
            </a:r>
            <a:endParaRPr lang="en-US" b="1" dirty="0" smtClean="0"/>
          </a:p>
          <a:p>
            <a:r>
              <a:rPr lang="en-US" dirty="0"/>
              <a:t>This is the beacon for your venture. All other actions in your business plan should help you accomplish the mission.</a:t>
            </a:r>
          </a:p>
          <a:p>
            <a:r>
              <a:rPr lang="en-US" dirty="0"/>
              <a:t>Communicate the mission with clarity because it guides your goals, actions, and the time spent.</a:t>
            </a:r>
          </a:p>
          <a:p>
            <a:r>
              <a:rPr lang="en-US" dirty="0"/>
              <a:t>also include your vision and values</a:t>
            </a:r>
          </a:p>
          <a:p>
            <a:endParaRPr lang="en-US" dirty="0"/>
          </a:p>
        </p:txBody>
      </p:sp>
    </p:spTree>
    <p:extLst>
      <p:ext uri="{BB962C8B-B14F-4D97-AF65-F5344CB8AC3E}">
        <p14:creationId xmlns:p14="http://schemas.microsoft.com/office/powerpoint/2010/main" val="1459315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b. Business Overview</a:t>
            </a:r>
            <a:br>
              <a:rPr lang="en-US" b="1" i="1" dirty="0" smtClean="0"/>
            </a:br>
            <a:endParaRPr lang="en-US" b="1" dirty="0"/>
          </a:p>
        </p:txBody>
      </p:sp>
      <p:sp>
        <p:nvSpPr>
          <p:cNvPr id="3" name="Content Placeholder 2"/>
          <p:cNvSpPr>
            <a:spLocks noGrp="1"/>
          </p:cNvSpPr>
          <p:nvPr>
            <p:ph idx="1"/>
          </p:nvPr>
        </p:nvSpPr>
        <p:spPr>
          <a:xfrm>
            <a:off x="733697" y="1172482"/>
            <a:ext cx="10515600" cy="4927872"/>
          </a:xfrm>
        </p:spPr>
        <p:txBody>
          <a:bodyPr>
            <a:normAutofit fontScale="92500" lnSpcReduction="10000"/>
          </a:bodyPr>
          <a:lstStyle/>
          <a:p>
            <a:r>
              <a:rPr lang="en-US" dirty="0" smtClean="0"/>
              <a:t>The Business Description portion of a business plan is a summary of current state of the venture. Describe its legal structure and  who </a:t>
            </a:r>
            <a:r>
              <a:rPr lang="en-US" dirty="0"/>
              <a:t>the principal owners are. </a:t>
            </a:r>
            <a:endParaRPr lang="en-US" dirty="0" smtClean="0"/>
          </a:p>
          <a:p>
            <a:r>
              <a:rPr lang="en-US" dirty="0" smtClean="0"/>
              <a:t>Also </a:t>
            </a:r>
            <a:r>
              <a:rPr lang="en-US" dirty="0"/>
              <a:t>provide a </a:t>
            </a:r>
            <a:r>
              <a:rPr lang="en-US" dirty="0" smtClean="0"/>
              <a:t>definition of </a:t>
            </a:r>
            <a:r>
              <a:rPr lang="en-US" dirty="0"/>
              <a:t>the business—is it a manufacturer, </a:t>
            </a:r>
            <a:r>
              <a:rPr lang="en-US" dirty="0" smtClean="0"/>
              <a:t> retailer</a:t>
            </a:r>
            <a:r>
              <a:rPr lang="en-US" dirty="0"/>
              <a:t>, wholesaler</a:t>
            </a:r>
            <a:r>
              <a:rPr lang="en-US" dirty="0" smtClean="0"/>
              <a:t>, service </a:t>
            </a:r>
            <a:r>
              <a:rPr lang="en-US" dirty="0"/>
              <a:t>provider, or some combination? Will it be </a:t>
            </a:r>
            <a:r>
              <a:rPr lang="en-US" dirty="0" smtClean="0"/>
              <a:t>started from </a:t>
            </a:r>
            <a:r>
              <a:rPr lang="en-US" dirty="0"/>
              <a:t>scratch, as an expansion, or as an acquisition? </a:t>
            </a:r>
            <a:endParaRPr lang="en-US" dirty="0" smtClean="0"/>
          </a:p>
          <a:p>
            <a:r>
              <a:rPr lang="en-US" dirty="0" smtClean="0"/>
              <a:t>You may </a:t>
            </a:r>
            <a:r>
              <a:rPr lang="en-US" dirty="0"/>
              <a:t>include the history of the business and </a:t>
            </a:r>
            <a:r>
              <a:rPr lang="en-US" dirty="0" smtClean="0"/>
              <a:t>its primary </a:t>
            </a:r>
            <a:r>
              <a:rPr lang="en-US" dirty="0"/>
              <a:t>strengths</a:t>
            </a:r>
            <a:r>
              <a:rPr lang="en-US" dirty="0" smtClean="0"/>
              <a:t>.</a:t>
            </a:r>
          </a:p>
          <a:p>
            <a:r>
              <a:rPr lang="en-US" b="1" i="1" dirty="0"/>
              <a:t>c. Products and Services</a:t>
            </a:r>
            <a:endParaRPr lang="en-US" b="1" dirty="0" smtClean="0"/>
          </a:p>
          <a:p>
            <a:r>
              <a:rPr lang="en-US" dirty="0"/>
              <a:t>Readers of your plan will need a description of what your product or service is and your market.</a:t>
            </a:r>
          </a:p>
          <a:p>
            <a:r>
              <a:rPr lang="en-US" dirty="0"/>
              <a:t> A general description is all that is needed in this section; you can provide more depth in the marketing plan section.</a:t>
            </a:r>
          </a:p>
          <a:p>
            <a:endParaRPr lang="en-US" dirty="0"/>
          </a:p>
        </p:txBody>
      </p:sp>
    </p:spTree>
    <p:extLst>
      <p:ext uri="{BB962C8B-B14F-4D97-AF65-F5344CB8AC3E}">
        <p14:creationId xmlns:p14="http://schemas.microsoft.com/office/powerpoint/2010/main" val="20036318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Section 2. Market Analysis</a:t>
            </a:r>
            <a:br>
              <a:rPr lang="en-US" b="1" i="1" dirty="0" smtClean="0"/>
            </a:br>
            <a:endParaRPr lang="en-US" dirty="0"/>
          </a:p>
        </p:txBody>
      </p:sp>
      <p:sp>
        <p:nvSpPr>
          <p:cNvPr id="3" name="Content Placeholder 2"/>
          <p:cNvSpPr>
            <a:spLocks noGrp="1"/>
          </p:cNvSpPr>
          <p:nvPr>
            <p:ph idx="1"/>
          </p:nvPr>
        </p:nvSpPr>
        <p:spPr>
          <a:xfrm>
            <a:off x="838200" y="1250859"/>
            <a:ext cx="10515600" cy="4351338"/>
          </a:xfrm>
        </p:spPr>
        <p:txBody>
          <a:bodyPr>
            <a:normAutofit fontScale="92500" lnSpcReduction="10000"/>
          </a:bodyPr>
          <a:lstStyle/>
          <a:p>
            <a:r>
              <a:rPr lang="en-US" dirty="0" smtClean="0"/>
              <a:t>This </a:t>
            </a:r>
            <a:r>
              <a:rPr lang="en-US" dirty="0"/>
              <a:t>section is the place for you to discuss the market </a:t>
            </a:r>
            <a:r>
              <a:rPr lang="en-US" dirty="0" smtClean="0"/>
              <a:t>and your </a:t>
            </a:r>
            <a:r>
              <a:rPr lang="en-US" dirty="0"/>
              <a:t>approach to it. In it you describe the market’s characteristics</a:t>
            </a:r>
            <a:r>
              <a:rPr lang="en-US" dirty="0" smtClean="0"/>
              <a:t>, your </a:t>
            </a:r>
            <a:r>
              <a:rPr lang="en-US" dirty="0"/>
              <a:t>target customer’s profile, the competition, </a:t>
            </a:r>
            <a:r>
              <a:rPr lang="en-US" dirty="0" smtClean="0"/>
              <a:t>and how </a:t>
            </a:r>
            <a:r>
              <a:rPr lang="en-US" dirty="0"/>
              <a:t>you plan to gain an advantage over them to create </a:t>
            </a:r>
            <a:r>
              <a:rPr lang="en-US" dirty="0" smtClean="0"/>
              <a:t>a successful </a:t>
            </a:r>
            <a:r>
              <a:rPr lang="en-US" dirty="0"/>
              <a:t>venture</a:t>
            </a:r>
            <a:r>
              <a:rPr lang="en-US" dirty="0" smtClean="0"/>
              <a:t>.</a:t>
            </a:r>
          </a:p>
          <a:p>
            <a:pPr marL="0" indent="0">
              <a:buNone/>
            </a:pPr>
            <a:r>
              <a:rPr lang="en-US" b="1" i="1" dirty="0" smtClean="0"/>
              <a:t>a</a:t>
            </a:r>
            <a:r>
              <a:rPr lang="en-US" b="1" i="1" dirty="0"/>
              <a:t>. Market </a:t>
            </a:r>
            <a:r>
              <a:rPr lang="en-US" b="1" i="1" dirty="0" smtClean="0"/>
              <a:t>Characteristics.</a:t>
            </a:r>
            <a:r>
              <a:rPr lang="en-US" i="1" dirty="0"/>
              <a:t/>
            </a:r>
            <a:br>
              <a:rPr lang="en-US" i="1" dirty="0"/>
            </a:br>
            <a:r>
              <a:rPr lang="en-US" dirty="0" smtClean="0"/>
              <a:t>Your </a:t>
            </a:r>
            <a:r>
              <a:rPr lang="en-US" dirty="0"/>
              <a:t>business will be a part of an industry. Describe the market size, location, history, competitiveness, and profitability as well as its general health. </a:t>
            </a:r>
          </a:p>
          <a:p>
            <a:r>
              <a:rPr lang="en-US" dirty="0"/>
              <a:t>Discuss the current trends in opportunities and threats and prove that a market exists for your product.</a:t>
            </a:r>
          </a:p>
          <a:p>
            <a:r>
              <a:rPr lang="en-US" dirty="0"/>
              <a:t>Your efforts to reach your potential market and create a profit will be limited by other businesses involved in the industry.</a:t>
            </a:r>
          </a:p>
          <a:p>
            <a:endParaRPr lang="en-US" dirty="0"/>
          </a:p>
        </p:txBody>
      </p:sp>
    </p:spTree>
    <p:extLst>
      <p:ext uri="{BB962C8B-B14F-4D97-AF65-F5344CB8AC3E}">
        <p14:creationId xmlns:p14="http://schemas.microsoft.com/office/powerpoint/2010/main" val="4134451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Forces to examine clearly:</a:t>
            </a:r>
            <a:br>
              <a:rPr lang="en-US" dirty="0" smtClean="0"/>
            </a:br>
            <a:endParaRPr lang="en-US" dirty="0"/>
          </a:p>
        </p:txBody>
      </p:sp>
      <p:sp>
        <p:nvSpPr>
          <p:cNvPr id="3" name="Content Placeholder 2"/>
          <p:cNvSpPr>
            <a:spLocks noGrp="1"/>
          </p:cNvSpPr>
          <p:nvPr>
            <p:ph idx="1"/>
          </p:nvPr>
        </p:nvSpPr>
        <p:spPr>
          <a:xfrm>
            <a:off x="838200" y="1263922"/>
            <a:ext cx="10515600" cy="4351338"/>
          </a:xfrm>
        </p:spPr>
        <p:txBody>
          <a:bodyPr>
            <a:normAutofit lnSpcReduction="10000"/>
          </a:bodyPr>
          <a:lstStyle/>
          <a:p>
            <a:r>
              <a:rPr lang="en-US" dirty="0" smtClean="0"/>
              <a:t>Supplier </a:t>
            </a:r>
            <a:r>
              <a:rPr lang="en-US" dirty="0"/>
              <a:t>power (suppliers’ bargaining power </a:t>
            </a:r>
            <a:r>
              <a:rPr lang="en-US" dirty="0" smtClean="0"/>
              <a:t>and leverage</a:t>
            </a:r>
            <a:r>
              <a:rPr lang="en-US" dirty="0"/>
              <a:t>),</a:t>
            </a:r>
          </a:p>
          <a:p>
            <a:r>
              <a:rPr lang="en-US" dirty="0" smtClean="0"/>
              <a:t>New </a:t>
            </a:r>
            <a:r>
              <a:rPr lang="en-US" dirty="0"/>
              <a:t>competitors (the threat of entry of new rivals</a:t>
            </a:r>
            <a:r>
              <a:rPr lang="en-US" dirty="0" smtClean="0"/>
              <a:t>)</a:t>
            </a:r>
            <a:endParaRPr lang="en-US" dirty="0"/>
          </a:p>
          <a:p>
            <a:r>
              <a:rPr lang="en-US" dirty="0" smtClean="0"/>
              <a:t>Substitute </a:t>
            </a:r>
            <a:r>
              <a:rPr lang="en-US" dirty="0"/>
              <a:t>products (ease with which buyers </a:t>
            </a:r>
            <a:r>
              <a:rPr lang="en-US" dirty="0" smtClean="0"/>
              <a:t>can switch </a:t>
            </a:r>
            <a:r>
              <a:rPr lang="en-US" dirty="0"/>
              <a:t>to alternative products and/or attempts </a:t>
            </a:r>
            <a:r>
              <a:rPr lang="en-US" dirty="0" smtClean="0"/>
              <a:t>of outsiders </a:t>
            </a:r>
            <a:r>
              <a:rPr lang="en-US" dirty="0"/>
              <a:t>to win buyers over to their </a:t>
            </a:r>
            <a:r>
              <a:rPr lang="en-US" dirty="0" smtClean="0"/>
              <a:t>alternative products</a:t>
            </a:r>
            <a:r>
              <a:rPr lang="en-US" dirty="0"/>
              <a:t>),</a:t>
            </a:r>
          </a:p>
          <a:p>
            <a:r>
              <a:rPr lang="en-US" dirty="0" smtClean="0"/>
              <a:t>Buyer </a:t>
            </a:r>
            <a:r>
              <a:rPr lang="en-US" dirty="0"/>
              <a:t>power (buyers’ bargaining power </a:t>
            </a:r>
            <a:r>
              <a:rPr lang="en-US" dirty="0" smtClean="0"/>
              <a:t>and leverage</a:t>
            </a:r>
            <a:r>
              <a:rPr lang="en-US" dirty="0"/>
              <a:t>),</a:t>
            </a:r>
          </a:p>
          <a:p>
            <a:r>
              <a:rPr lang="en-US" dirty="0" smtClean="0"/>
              <a:t>Industry </a:t>
            </a:r>
            <a:r>
              <a:rPr lang="en-US" dirty="0"/>
              <a:t>rivalry (intensity of rivals’ jockeying </a:t>
            </a:r>
            <a:r>
              <a:rPr lang="en-US" dirty="0" smtClean="0"/>
              <a:t>for a </a:t>
            </a:r>
            <a:r>
              <a:rPr lang="en-US" dirty="0"/>
              <a:t>better market position and a </a:t>
            </a:r>
            <a:r>
              <a:rPr lang="en-US" dirty="0" smtClean="0"/>
              <a:t>competitive advantage</a:t>
            </a:r>
            <a:r>
              <a:rPr lang="en-US" dirty="0"/>
              <a:t>), and</a:t>
            </a:r>
          </a:p>
          <a:p>
            <a:r>
              <a:rPr lang="en-US" dirty="0" smtClean="0"/>
              <a:t>Government </a:t>
            </a:r>
            <a:r>
              <a:rPr lang="en-US" dirty="0"/>
              <a:t>regulations (government </a:t>
            </a:r>
            <a:r>
              <a:rPr lang="en-US" dirty="0" smtClean="0"/>
              <a:t>influence through </a:t>
            </a:r>
            <a:r>
              <a:rPr lang="en-US" dirty="0"/>
              <a:t>regulations and policy).</a:t>
            </a:r>
          </a:p>
        </p:txBody>
      </p:sp>
    </p:spTree>
    <p:extLst>
      <p:ext uri="{BB962C8B-B14F-4D97-AF65-F5344CB8AC3E}">
        <p14:creationId xmlns:p14="http://schemas.microsoft.com/office/powerpoint/2010/main" val="1756589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b. Target Customer </a:t>
            </a:r>
            <a:r>
              <a:rPr lang="en-US" i="1" dirty="0" smtClean="0"/>
              <a:t>Profile</a:t>
            </a:r>
            <a:endParaRPr lang="en-US" dirty="0"/>
          </a:p>
        </p:txBody>
      </p:sp>
      <p:sp>
        <p:nvSpPr>
          <p:cNvPr id="3" name="Content Placeholder 2"/>
          <p:cNvSpPr>
            <a:spLocks noGrp="1"/>
          </p:cNvSpPr>
          <p:nvPr>
            <p:ph idx="1"/>
          </p:nvPr>
        </p:nvSpPr>
        <p:spPr/>
        <p:txBody>
          <a:bodyPr>
            <a:normAutofit/>
          </a:bodyPr>
          <a:lstStyle/>
          <a:p>
            <a:r>
              <a:rPr lang="en-US" dirty="0" smtClean="0"/>
              <a:t>narrow </a:t>
            </a:r>
            <a:r>
              <a:rPr lang="en-US" dirty="0"/>
              <a:t>the </a:t>
            </a:r>
            <a:r>
              <a:rPr lang="en-US" dirty="0" smtClean="0"/>
              <a:t>range of </a:t>
            </a:r>
            <a:r>
              <a:rPr lang="en-US" dirty="0"/>
              <a:t>potential customers to those </a:t>
            </a:r>
            <a:r>
              <a:rPr lang="en-US" dirty="0" smtClean="0"/>
              <a:t>who </a:t>
            </a:r>
            <a:r>
              <a:rPr lang="en-US" dirty="0"/>
              <a:t>are </a:t>
            </a:r>
            <a:r>
              <a:rPr lang="en-US" dirty="0" smtClean="0"/>
              <a:t>willing and </a:t>
            </a:r>
            <a:r>
              <a:rPr lang="en-US" dirty="0"/>
              <a:t>able to buy your product. </a:t>
            </a:r>
            <a:r>
              <a:rPr lang="en-US" dirty="0" smtClean="0"/>
              <a:t>define </a:t>
            </a:r>
            <a:r>
              <a:rPr lang="en-US" dirty="0"/>
              <a:t>your target customer </a:t>
            </a:r>
            <a:r>
              <a:rPr lang="en-US" dirty="0" smtClean="0"/>
              <a:t>as specifically </a:t>
            </a:r>
            <a:r>
              <a:rPr lang="en-US" dirty="0"/>
              <a:t>as possible both quantitatively and qualitatively</a:t>
            </a:r>
            <a:r>
              <a:rPr lang="en-US" dirty="0" smtClean="0"/>
              <a:t>.</a:t>
            </a:r>
            <a:endParaRPr lang="en-US" dirty="0"/>
          </a:p>
          <a:p>
            <a:r>
              <a:rPr lang="en-US" dirty="0" smtClean="0"/>
              <a:t>Provide demographic info. (</a:t>
            </a:r>
            <a:r>
              <a:rPr lang="en-US" i="1" dirty="0" smtClean="0"/>
              <a:t>who </a:t>
            </a:r>
            <a:r>
              <a:rPr lang="en-US" dirty="0"/>
              <a:t>you’ll focus </a:t>
            </a:r>
            <a:r>
              <a:rPr lang="en-US" dirty="0" smtClean="0"/>
              <a:t>on) </a:t>
            </a:r>
            <a:r>
              <a:rPr lang="en-US" dirty="0"/>
              <a:t>and the psychographic </a:t>
            </a:r>
            <a:r>
              <a:rPr lang="en-US" dirty="0" smtClean="0"/>
              <a:t>information (</a:t>
            </a:r>
            <a:r>
              <a:rPr lang="en-US" i="1" dirty="0" smtClean="0"/>
              <a:t>why </a:t>
            </a:r>
            <a:r>
              <a:rPr lang="en-US" dirty="0"/>
              <a:t>customers buy </a:t>
            </a:r>
            <a:r>
              <a:rPr lang="en-US" dirty="0" smtClean="0"/>
              <a:t>products). </a:t>
            </a:r>
          </a:p>
        </p:txBody>
      </p:sp>
    </p:spTree>
    <p:extLst>
      <p:ext uri="{BB962C8B-B14F-4D97-AF65-F5344CB8AC3E}">
        <p14:creationId xmlns:p14="http://schemas.microsoft.com/office/powerpoint/2010/main" val="36204261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C. </a:t>
            </a:r>
            <a:r>
              <a:rPr lang="en-US" b="1" i="1" dirty="0" smtClean="0"/>
              <a:t>Competition </a:t>
            </a:r>
            <a:r>
              <a:rPr lang="en-US" b="1" i="1" dirty="0" smtClean="0"/>
              <a:t>analysis/Assessment</a:t>
            </a:r>
            <a:br>
              <a:rPr lang="en-US" b="1" i="1" dirty="0" smtClean="0"/>
            </a:br>
            <a:endParaRPr lang="en-US" dirty="0"/>
          </a:p>
        </p:txBody>
      </p:sp>
      <p:sp>
        <p:nvSpPr>
          <p:cNvPr id="3" name="Content Placeholder 2"/>
          <p:cNvSpPr>
            <a:spLocks noGrp="1"/>
          </p:cNvSpPr>
          <p:nvPr>
            <p:ph idx="1"/>
          </p:nvPr>
        </p:nvSpPr>
        <p:spPr/>
        <p:txBody>
          <a:bodyPr>
            <a:normAutofit/>
          </a:bodyPr>
          <a:lstStyle/>
          <a:p>
            <a:r>
              <a:rPr lang="en-US" dirty="0" smtClean="0"/>
              <a:t>review your specific competitors</a:t>
            </a:r>
            <a:r>
              <a:rPr lang="en-US" dirty="0"/>
              <a:t>. </a:t>
            </a:r>
            <a:r>
              <a:rPr lang="en-US" dirty="0" smtClean="0"/>
              <a:t>Some </a:t>
            </a:r>
            <a:r>
              <a:rPr lang="en-US" dirty="0"/>
              <a:t>competitors sell similar products, while others sell </a:t>
            </a:r>
            <a:r>
              <a:rPr lang="en-US" dirty="0" smtClean="0"/>
              <a:t>a product </a:t>
            </a:r>
            <a:r>
              <a:rPr lang="en-US" dirty="0"/>
              <a:t>that serves the same </a:t>
            </a:r>
            <a:r>
              <a:rPr lang="en-US" dirty="0" smtClean="0"/>
              <a:t>function.</a:t>
            </a:r>
          </a:p>
          <a:p>
            <a:r>
              <a:rPr lang="en-US" dirty="0" smtClean="0"/>
              <a:t>First</a:t>
            </a:r>
            <a:r>
              <a:rPr lang="en-US" dirty="0"/>
              <a:t>, define who your competitors are, and then profile </a:t>
            </a:r>
            <a:r>
              <a:rPr lang="en-US" dirty="0" smtClean="0"/>
              <a:t>them. Focus on strengths </a:t>
            </a:r>
            <a:r>
              <a:rPr lang="en-US" dirty="0"/>
              <a:t>and weaknesses </a:t>
            </a:r>
            <a:r>
              <a:rPr lang="en-US" dirty="0" smtClean="0"/>
              <a:t>of your competitors compared </a:t>
            </a:r>
            <a:r>
              <a:rPr lang="en-US" dirty="0"/>
              <a:t>to your own. </a:t>
            </a:r>
            <a:r>
              <a:rPr lang="en-US" dirty="0" smtClean="0"/>
              <a:t>Relate competitor operations to your own.</a:t>
            </a:r>
          </a:p>
          <a:p>
            <a:r>
              <a:rPr lang="en-US" dirty="0"/>
              <a:t>address how your competitors fill customer needs and what you, in turn, will offer. If a competitor has a strong competitive advantage in an important area, you need to discuss how you will address it. </a:t>
            </a:r>
          </a:p>
          <a:p>
            <a:endParaRPr lang="en-US" dirty="0" smtClean="0"/>
          </a:p>
          <a:p>
            <a:endParaRPr lang="en-US" dirty="0"/>
          </a:p>
        </p:txBody>
      </p:sp>
    </p:spTree>
    <p:extLst>
      <p:ext uri="{BB962C8B-B14F-4D97-AF65-F5344CB8AC3E}">
        <p14:creationId xmlns:p14="http://schemas.microsoft.com/office/powerpoint/2010/main" val="18466731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When reviewing competitors, consider what they have as far as:</a:t>
            </a:r>
            <a:br>
              <a:rPr lang="en-US" dirty="0" smtClean="0"/>
            </a:br>
            <a:endParaRPr lang="en-US" dirty="0"/>
          </a:p>
        </p:txBody>
      </p:sp>
      <p:sp>
        <p:nvSpPr>
          <p:cNvPr id="3" name="Content Placeholder 2"/>
          <p:cNvSpPr>
            <a:spLocks noGrp="1"/>
          </p:cNvSpPr>
          <p:nvPr>
            <p:ph idx="1"/>
          </p:nvPr>
        </p:nvSpPr>
        <p:spPr/>
        <p:txBody>
          <a:bodyPr>
            <a:normAutofit/>
          </a:bodyPr>
          <a:lstStyle/>
          <a:p>
            <a:r>
              <a:rPr lang="en-US" dirty="0" smtClean="0"/>
              <a:t>Market share,</a:t>
            </a:r>
          </a:p>
          <a:p>
            <a:r>
              <a:rPr lang="en-US" dirty="0" smtClean="0"/>
              <a:t>Relationship with customers,</a:t>
            </a:r>
          </a:p>
          <a:p>
            <a:r>
              <a:rPr lang="en-US" dirty="0" smtClean="0"/>
              <a:t>Advertising plan,</a:t>
            </a:r>
          </a:p>
          <a:p>
            <a:r>
              <a:rPr lang="en-US" dirty="0" smtClean="0"/>
              <a:t>Price,</a:t>
            </a:r>
          </a:p>
          <a:p>
            <a:r>
              <a:rPr lang="en-US" dirty="0" smtClean="0"/>
              <a:t>Distribution,</a:t>
            </a:r>
          </a:p>
          <a:p>
            <a:r>
              <a:rPr lang="en-US" dirty="0" smtClean="0"/>
              <a:t>Product/service features,</a:t>
            </a:r>
          </a:p>
          <a:p>
            <a:r>
              <a:rPr lang="en-US" dirty="0" smtClean="0"/>
              <a:t>Financial strength/cost position, and</a:t>
            </a:r>
          </a:p>
          <a:p>
            <a:r>
              <a:rPr lang="en-US" dirty="0" smtClean="0"/>
              <a:t>Length of time in business.</a:t>
            </a:r>
          </a:p>
          <a:p>
            <a:endParaRPr lang="en-US" dirty="0"/>
          </a:p>
        </p:txBody>
      </p:sp>
    </p:spTree>
    <p:extLst>
      <p:ext uri="{BB962C8B-B14F-4D97-AF65-F5344CB8AC3E}">
        <p14:creationId xmlns:p14="http://schemas.microsoft.com/office/powerpoint/2010/main" val="18270923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3</a:t>
            </a:r>
            <a:r>
              <a:rPr lang="en-US" b="1" dirty="0" smtClean="0"/>
              <a:t>. </a:t>
            </a:r>
            <a:r>
              <a:rPr lang="en-US" b="1" dirty="0" smtClean="0"/>
              <a:t>Marketing plan</a:t>
            </a:r>
            <a:endParaRPr lang="en-US" b="1" dirty="0"/>
          </a:p>
        </p:txBody>
      </p:sp>
      <p:sp>
        <p:nvSpPr>
          <p:cNvPr id="3" name="Content Placeholder 2"/>
          <p:cNvSpPr>
            <a:spLocks noGrp="1"/>
          </p:cNvSpPr>
          <p:nvPr>
            <p:ph idx="1"/>
          </p:nvPr>
        </p:nvSpPr>
        <p:spPr/>
        <p:txBody>
          <a:bodyPr>
            <a:normAutofit/>
          </a:bodyPr>
          <a:lstStyle/>
          <a:p>
            <a:r>
              <a:rPr lang="en-US" dirty="0" smtClean="0"/>
              <a:t>Marketing </a:t>
            </a:r>
            <a:r>
              <a:rPr lang="en-US" dirty="0"/>
              <a:t>plans usually address four areas: product offered</a:t>
            </a:r>
            <a:r>
              <a:rPr lang="en-US" dirty="0" smtClean="0"/>
              <a:t>, price </a:t>
            </a:r>
            <a:r>
              <a:rPr lang="en-US" dirty="0"/>
              <a:t>charged, distribution system, and promotional efforts</a:t>
            </a:r>
            <a:r>
              <a:rPr lang="en-US" dirty="0" smtClean="0"/>
              <a:t>.</a:t>
            </a:r>
          </a:p>
          <a:p>
            <a:r>
              <a:rPr lang="en-US" b="1" i="1" dirty="0" smtClean="0"/>
              <a:t>A. Products </a:t>
            </a:r>
            <a:r>
              <a:rPr lang="en-US" b="1" i="1" dirty="0"/>
              <a:t>and </a:t>
            </a:r>
            <a:r>
              <a:rPr lang="en-US" b="1" i="1" dirty="0" smtClean="0"/>
              <a:t>Services</a:t>
            </a:r>
          </a:p>
          <a:p>
            <a:r>
              <a:rPr lang="en-US" dirty="0" smtClean="0"/>
              <a:t>Describe your product and </a:t>
            </a:r>
            <a:r>
              <a:rPr lang="en-US" dirty="0"/>
              <a:t>how it will be used. </a:t>
            </a:r>
            <a:r>
              <a:rPr lang="en-US" dirty="0" smtClean="0"/>
              <a:t>Explain your products/services</a:t>
            </a:r>
            <a:r>
              <a:rPr lang="en-US" dirty="0"/>
              <a:t>, identify their features and benefits, </a:t>
            </a:r>
            <a:r>
              <a:rPr lang="en-US" dirty="0" smtClean="0"/>
              <a:t>and discuss </a:t>
            </a:r>
            <a:r>
              <a:rPr lang="en-US" dirty="0"/>
              <a:t>what needs or problems they </a:t>
            </a:r>
            <a:r>
              <a:rPr lang="en-US" dirty="0" smtClean="0"/>
              <a:t>will address </a:t>
            </a:r>
            <a:r>
              <a:rPr lang="en-US" dirty="0"/>
              <a:t>in the market</a:t>
            </a:r>
            <a:r>
              <a:rPr lang="en-US" dirty="0" smtClean="0"/>
              <a:t>. </a:t>
            </a:r>
          </a:p>
          <a:p>
            <a:r>
              <a:rPr lang="en-US" dirty="0" smtClean="0"/>
              <a:t>If </a:t>
            </a:r>
            <a:r>
              <a:rPr lang="en-US" dirty="0"/>
              <a:t>you will offer a product, describe what it is, what it does</a:t>
            </a:r>
            <a:r>
              <a:rPr lang="en-US" dirty="0" smtClean="0"/>
              <a:t>, and </a:t>
            </a:r>
            <a:r>
              <a:rPr lang="en-US" dirty="0"/>
              <a:t>its features and benefits. Include pictures, drawings</a:t>
            </a:r>
            <a:r>
              <a:rPr lang="en-US" dirty="0" smtClean="0"/>
              <a:t>, or </a:t>
            </a:r>
            <a:r>
              <a:rPr lang="en-US" dirty="0"/>
              <a:t>technical images if they would help readers get a </a:t>
            </a:r>
            <a:r>
              <a:rPr lang="en-US" dirty="0" smtClean="0"/>
              <a:t>better understanding </a:t>
            </a:r>
            <a:r>
              <a:rPr lang="en-US" dirty="0"/>
              <a:t>of your product. </a:t>
            </a:r>
            <a:endParaRPr lang="en-US" dirty="0" smtClean="0"/>
          </a:p>
          <a:p>
            <a:endParaRPr lang="en-US" dirty="0"/>
          </a:p>
        </p:txBody>
      </p:sp>
    </p:spTree>
    <p:extLst>
      <p:ext uri="{BB962C8B-B14F-4D97-AF65-F5344CB8AC3E}">
        <p14:creationId xmlns:p14="http://schemas.microsoft.com/office/powerpoint/2010/main" val="3361762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r>
              <a:rPr lang="en-US" dirty="0" smtClean="0"/>
              <a:t>…</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Discuss its size, shape, color, cost, design, quality, capabilities, technological life-span, and patent protection. You may also wish to explain how it is produced, the materials required, and the type of labor needed.</a:t>
            </a:r>
          </a:p>
          <a:p>
            <a:r>
              <a:rPr lang="en-US" dirty="0" smtClean="0"/>
              <a:t>If you will offer a service, explain what the service is and what need it addresses for your target market. Describe how you will perform the service (whether it is on site or via the Internet, telephone, or some other method), what makes it different, and what materials or equipment are needed.</a:t>
            </a:r>
          </a:p>
          <a:p>
            <a:r>
              <a:rPr lang="en-US" dirty="0"/>
              <a:t>The products you offer will include aspects beyond the product itself, like packaging, product support, warranties, returns, training, and service. </a:t>
            </a:r>
          </a:p>
          <a:p>
            <a:r>
              <a:rPr lang="en-US" dirty="0"/>
              <a:t>Discuss how these supporting features, services, and information will make your business competitive and profitable.</a:t>
            </a:r>
          </a:p>
          <a:p>
            <a:endParaRPr lang="en-US" dirty="0" smtClean="0"/>
          </a:p>
          <a:p>
            <a:endParaRPr lang="en-US" dirty="0"/>
          </a:p>
        </p:txBody>
      </p:sp>
    </p:spTree>
    <p:extLst>
      <p:ext uri="{BB962C8B-B14F-4D97-AF65-F5344CB8AC3E}">
        <p14:creationId xmlns:p14="http://schemas.microsoft.com/office/powerpoint/2010/main" val="36893569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b. </a:t>
            </a:r>
            <a:r>
              <a:rPr lang="en-US" b="1" i="1" dirty="0" smtClean="0"/>
              <a:t>Pricing</a:t>
            </a:r>
            <a:r>
              <a:rPr lang="en-US" i="1" dirty="0" smtClean="0"/>
              <a:t/>
            </a:r>
            <a:br>
              <a:rPr lang="en-US" i="1" dirty="0" smtClean="0"/>
            </a:br>
            <a:endParaRPr lang="en-US" dirty="0"/>
          </a:p>
        </p:txBody>
      </p:sp>
      <p:sp>
        <p:nvSpPr>
          <p:cNvPr id="3" name="Content Placeholder 2"/>
          <p:cNvSpPr>
            <a:spLocks noGrp="1"/>
          </p:cNvSpPr>
          <p:nvPr>
            <p:ph idx="1"/>
          </p:nvPr>
        </p:nvSpPr>
        <p:spPr/>
        <p:txBody>
          <a:bodyPr>
            <a:normAutofit/>
          </a:bodyPr>
          <a:lstStyle/>
          <a:p>
            <a:r>
              <a:rPr lang="en-US" dirty="0" smtClean="0"/>
              <a:t>Pricing </a:t>
            </a:r>
            <a:r>
              <a:rPr lang="en-US" dirty="0"/>
              <a:t>strategies are based on the perceived value of </a:t>
            </a:r>
            <a:r>
              <a:rPr lang="en-US" dirty="0" smtClean="0"/>
              <a:t>your products </a:t>
            </a:r>
            <a:r>
              <a:rPr lang="en-US" dirty="0"/>
              <a:t>and services, your cost of doing business, </a:t>
            </a:r>
            <a:r>
              <a:rPr lang="en-US" dirty="0" smtClean="0"/>
              <a:t>your marketing </a:t>
            </a:r>
            <a:r>
              <a:rPr lang="en-US" dirty="0"/>
              <a:t>goals, and expected competitive actions. </a:t>
            </a:r>
            <a:endParaRPr lang="en-US" dirty="0" smtClean="0"/>
          </a:p>
          <a:p>
            <a:r>
              <a:rPr lang="en-US" dirty="0" smtClean="0"/>
              <a:t>Also consider what </a:t>
            </a:r>
            <a:r>
              <a:rPr lang="en-US" dirty="0"/>
              <a:t>other products similar to your products sell for in </a:t>
            </a:r>
            <a:r>
              <a:rPr lang="en-US" dirty="0" smtClean="0"/>
              <a:t>the market.</a:t>
            </a:r>
          </a:p>
          <a:p>
            <a:r>
              <a:rPr lang="en-US" dirty="0" smtClean="0"/>
              <a:t>Finally</a:t>
            </a:r>
            <a:r>
              <a:rPr lang="en-US" dirty="0"/>
              <a:t>, give some thought to why the price of </a:t>
            </a:r>
            <a:r>
              <a:rPr lang="en-US" dirty="0" smtClean="0"/>
              <a:t>your product </a:t>
            </a:r>
            <a:r>
              <a:rPr lang="en-US" dirty="0"/>
              <a:t>or service should be above or below the “</a:t>
            </a:r>
            <a:r>
              <a:rPr lang="en-US" dirty="0" smtClean="0"/>
              <a:t>market price</a:t>
            </a:r>
            <a:r>
              <a:rPr lang="en-US" dirty="0"/>
              <a:t>.” Above all, demonstrate that your price will allow </a:t>
            </a:r>
            <a:r>
              <a:rPr lang="en-US" dirty="0" smtClean="0"/>
              <a:t>you to </a:t>
            </a:r>
            <a:r>
              <a:rPr lang="en-US" dirty="0"/>
              <a:t>create a profit. </a:t>
            </a:r>
          </a:p>
        </p:txBody>
      </p:sp>
    </p:spTree>
    <p:extLst>
      <p:ext uri="{BB962C8B-B14F-4D97-AF65-F5344CB8AC3E}">
        <p14:creationId xmlns:p14="http://schemas.microsoft.com/office/powerpoint/2010/main" val="20763379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c. Distribution (place)</a:t>
            </a:r>
            <a:br>
              <a:rPr lang="en-US" b="1" i="1" dirty="0" smtClean="0"/>
            </a:br>
            <a:endParaRPr lang="en-US" b="1" dirty="0"/>
          </a:p>
        </p:txBody>
      </p:sp>
      <p:sp>
        <p:nvSpPr>
          <p:cNvPr id="3" name="Content Placeholder 2"/>
          <p:cNvSpPr>
            <a:spLocks noGrp="1"/>
          </p:cNvSpPr>
          <p:nvPr>
            <p:ph idx="1"/>
          </p:nvPr>
        </p:nvSpPr>
        <p:spPr/>
        <p:txBody>
          <a:bodyPr>
            <a:normAutofit/>
          </a:bodyPr>
          <a:lstStyle/>
          <a:p>
            <a:r>
              <a:rPr lang="en-US" dirty="0" smtClean="0"/>
              <a:t>Describe how your product will reach customers, including specific distribution channels and geographic areas.</a:t>
            </a:r>
          </a:p>
          <a:p>
            <a:r>
              <a:rPr lang="en-US" dirty="0" smtClean="0"/>
              <a:t>Issues </a:t>
            </a:r>
            <a:r>
              <a:rPr lang="en-US" dirty="0"/>
              <a:t>of cost </a:t>
            </a:r>
            <a:r>
              <a:rPr lang="en-US" dirty="0" smtClean="0"/>
              <a:t>and efficiency</a:t>
            </a:r>
            <a:r>
              <a:rPr lang="en-US" dirty="0"/>
              <a:t>, timeliness, freshness, customer service, </a:t>
            </a:r>
            <a:r>
              <a:rPr lang="en-US" dirty="0" smtClean="0"/>
              <a:t>customer access</a:t>
            </a:r>
            <a:r>
              <a:rPr lang="en-US" dirty="0"/>
              <a:t>, and control </a:t>
            </a:r>
            <a:r>
              <a:rPr lang="en-US" dirty="0" smtClean="0"/>
              <a:t>affect </a:t>
            </a:r>
            <a:r>
              <a:rPr lang="en-US" dirty="0"/>
              <a:t>your choice of </a:t>
            </a:r>
            <a:r>
              <a:rPr lang="en-US" dirty="0" smtClean="0"/>
              <a:t>distribution channel</a:t>
            </a:r>
            <a:r>
              <a:rPr lang="en-US" dirty="0"/>
              <a:t>.</a:t>
            </a:r>
          </a:p>
          <a:p>
            <a:r>
              <a:rPr lang="en-US" dirty="0"/>
              <a:t>Describe how your product will be sold, whether </a:t>
            </a:r>
            <a:r>
              <a:rPr lang="en-US" dirty="0" smtClean="0"/>
              <a:t>through retailers</a:t>
            </a:r>
            <a:r>
              <a:rPr lang="en-US" dirty="0"/>
              <a:t>, direct sales, and/or other methods. Discuss </a:t>
            </a:r>
            <a:r>
              <a:rPr lang="en-US" dirty="0" smtClean="0"/>
              <a:t>any relationships </a:t>
            </a:r>
            <a:r>
              <a:rPr lang="en-US" dirty="0"/>
              <a:t>you have developed with distributors or </a:t>
            </a:r>
            <a:r>
              <a:rPr lang="en-US" dirty="0" smtClean="0"/>
              <a:t>any licensing </a:t>
            </a:r>
            <a:r>
              <a:rPr lang="en-US" dirty="0"/>
              <a:t>agreements you have. </a:t>
            </a:r>
          </a:p>
        </p:txBody>
      </p:sp>
    </p:spTree>
    <p:extLst>
      <p:ext uri="{BB962C8B-B14F-4D97-AF65-F5344CB8AC3E}">
        <p14:creationId xmlns:p14="http://schemas.microsoft.com/office/powerpoint/2010/main" val="16138898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d. Promotion</a:t>
            </a:r>
            <a:br>
              <a:rPr lang="en-US" i="1" dirty="0" smtClean="0"/>
            </a:b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Promotional </a:t>
            </a:r>
            <a:r>
              <a:rPr lang="en-US" dirty="0"/>
              <a:t>activities are designed to communicate the </a:t>
            </a:r>
            <a:r>
              <a:rPr lang="en-US" dirty="0" smtClean="0"/>
              <a:t>value of </a:t>
            </a:r>
            <a:r>
              <a:rPr lang="en-US" dirty="0"/>
              <a:t>your products and services to your customers, </a:t>
            </a:r>
            <a:r>
              <a:rPr lang="en-US" dirty="0" smtClean="0"/>
              <a:t>ultimately leading </a:t>
            </a:r>
            <a:r>
              <a:rPr lang="en-US" dirty="0"/>
              <a:t>them to purchase your product or service. </a:t>
            </a:r>
            <a:r>
              <a:rPr lang="en-US" dirty="0" smtClean="0"/>
              <a:t>May include a </a:t>
            </a:r>
            <a:r>
              <a:rPr lang="en-US" dirty="0"/>
              <a:t>combination of advertising, personal selling efforts, </a:t>
            </a:r>
            <a:r>
              <a:rPr lang="en-US" dirty="0" smtClean="0"/>
              <a:t>and general </a:t>
            </a:r>
            <a:r>
              <a:rPr lang="en-US" dirty="0"/>
              <a:t>public relations </a:t>
            </a:r>
            <a:r>
              <a:rPr lang="en-US" dirty="0" smtClean="0"/>
              <a:t>activities.</a:t>
            </a:r>
          </a:p>
          <a:p>
            <a:r>
              <a:rPr lang="en-US" dirty="0" smtClean="0"/>
              <a:t>choose the most </a:t>
            </a:r>
            <a:r>
              <a:rPr lang="en-US" dirty="0"/>
              <a:t>effective and efficient way to </a:t>
            </a:r>
            <a:r>
              <a:rPr lang="en-US" dirty="0" smtClean="0"/>
              <a:t>communicate with the target segment. </a:t>
            </a:r>
          </a:p>
          <a:p>
            <a:r>
              <a:rPr lang="en-US" dirty="0" smtClean="0"/>
              <a:t>Consider the budget you have for the promotional activities. </a:t>
            </a:r>
          </a:p>
          <a:p>
            <a:r>
              <a:rPr lang="en-US" dirty="0"/>
              <a:t>Finally, a promotional plan must include a timeline for activities—when should you pursue the individual activities in the plan? Creativity is very important here—a low-cost, creative promotion may be far more effective than an expensive (paid) advertising campaign.</a:t>
            </a:r>
          </a:p>
          <a:p>
            <a:endParaRPr lang="en-US" dirty="0"/>
          </a:p>
          <a:p>
            <a:endParaRPr lang="en-US" dirty="0" smtClean="0"/>
          </a:p>
        </p:txBody>
      </p:sp>
    </p:spTree>
    <p:extLst>
      <p:ext uri="{BB962C8B-B14F-4D97-AF65-F5344CB8AC3E}">
        <p14:creationId xmlns:p14="http://schemas.microsoft.com/office/powerpoint/2010/main" val="37781865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4. </a:t>
            </a:r>
            <a:r>
              <a:rPr lang="en-US" b="1" i="1" dirty="0" smtClean="0"/>
              <a:t> </a:t>
            </a:r>
            <a:r>
              <a:rPr lang="en-US" b="1" i="1" dirty="0" smtClean="0"/>
              <a:t>Operation Plan</a:t>
            </a:r>
            <a:br>
              <a:rPr lang="en-US" b="1" i="1" dirty="0" smtClean="0"/>
            </a:br>
            <a:endParaRPr lang="en-US" dirty="0"/>
          </a:p>
        </p:txBody>
      </p:sp>
      <p:sp>
        <p:nvSpPr>
          <p:cNvPr id="3" name="Content Placeholder 2"/>
          <p:cNvSpPr>
            <a:spLocks noGrp="1"/>
          </p:cNvSpPr>
          <p:nvPr>
            <p:ph idx="1"/>
          </p:nvPr>
        </p:nvSpPr>
        <p:spPr/>
        <p:txBody>
          <a:bodyPr/>
          <a:lstStyle/>
          <a:p>
            <a:r>
              <a:rPr lang="en-US" dirty="0" smtClean="0"/>
              <a:t>The operation plan </a:t>
            </a:r>
            <a:r>
              <a:rPr lang="en-US" dirty="0"/>
              <a:t>deals specifically with </a:t>
            </a:r>
            <a:r>
              <a:rPr lang="en-US" dirty="0" smtClean="0"/>
              <a:t>the internal </a:t>
            </a:r>
            <a:r>
              <a:rPr lang="en-US" dirty="0"/>
              <a:t>organizational structure, operations, and </a:t>
            </a:r>
            <a:r>
              <a:rPr lang="en-US" dirty="0" smtClean="0"/>
              <a:t>equipment you </a:t>
            </a:r>
            <a:r>
              <a:rPr lang="en-US" dirty="0"/>
              <a:t>will need to operate your venture. You should discuss </a:t>
            </a:r>
            <a:r>
              <a:rPr lang="en-US" dirty="0" smtClean="0"/>
              <a:t>how the </a:t>
            </a:r>
            <a:r>
              <a:rPr lang="en-US" dirty="0"/>
              <a:t>business will be owned and managed, your personnel </a:t>
            </a:r>
            <a:r>
              <a:rPr lang="en-US" dirty="0" smtClean="0"/>
              <a:t>and physical </a:t>
            </a:r>
            <a:r>
              <a:rPr lang="en-US" dirty="0"/>
              <a:t>resource needs, and the legal issues you will have.</a:t>
            </a:r>
          </a:p>
        </p:txBody>
      </p:sp>
    </p:spTree>
    <p:extLst>
      <p:ext uri="{BB962C8B-B14F-4D97-AF65-F5344CB8AC3E}">
        <p14:creationId xmlns:p14="http://schemas.microsoft.com/office/powerpoint/2010/main" val="1215704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Ownership and Management</a:t>
            </a:r>
            <a:br>
              <a:rPr lang="en-US" i="1" dirty="0" smtClean="0"/>
            </a:br>
            <a:endParaRPr lang="en-US" dirty="0"/>
          </a:p>
        </p:txBody>
      </p:sp>
      <p:sp>
        <p:nvSpPr>
          <p:cNvPr id="3" name="Content Placeholder 2"/>
          <p:cNvSpPr>
            <a:spLocks noGrp="1"/>
          </p:cNvSpPr>
          <p:nvPr>
            <p:ph idx="1"/>
          </p:nvPr>
        </p:nvSpPr>
        <p:spPr/>
        <p:txBody>
          <a:bodyPr>
            <a:normAutofit/>
          </a:bodyPr>
          <a:lstStyle/>
          <a:p>
            <a:r>
              <a:rPr lang="en-US" dirty="0" smtClean="0"/>
              <a:t>In </a:t>
            </a:r>
            <a:r>
              <a:rPr lang="en-US" dirty="0"/>
              <a:t>this section, describe the ownership of your venture, </a:t>
            </a:r>
            <a:r>
              <a:rPr lang="en-US" dirty="0" smtClean="0"/>
              <a:t>and explain </a:t>
            </a:r>
            <a:r>
              <a:rPr lang="en-US" dirty="0"/>
              <a:t>how the business will be managed on a </a:t>
            </a:r>
            <a:r>
              <a:rPr lang="en-US" dirty="0" smtClean="0"/>
              <a:t>day-to-day basis</a:t>
            </a:r>
            <a:r>
              <a:rPr lang="en-US" dirty="0"/>
              <a:t>. </a:t>
            </a:r>
            <a:endParaRPr lang="en-US" dirty="0" smtClean="0"/>
          </a:p>
          <a:p>
            <a:r>
              <a:rPr lang="en-US" dirty="0" smtClean="0"/>
              <a:t>For </a:t>
            </a:r>
            <a:r>
              <a:rPr lang="en-US" dirty="0"/>
              <a:t>instance, if your venture will operate as a partnership</a:t>
            </a:r>
            <a:r>
              <a:rPr lang="en-US" dirty="0" smtClean="0"/>
              <a:t>, then </a:t>
            </a:r>
            <a:r>
              <a:rPr lang="en-US" dirty="0"/>
              <a:t>explain who the partners are and how </a:t>
            </a:r>
            <a:r>
              <a:rPr lang="en-US" dirty="0" smtClean="0"/>
              <a:t>management decisions </a:t>
            </a:r>
            <a:r>
              <a:rPr lang="en-US" dirty="0"/>
              <a:t>will be made and disagreements will </a:t>
            </a:r>
            <a:r>
              <a:rPr lang="en-US" dirty="0" smtClean="0"/>
              <a:t>be resolved</a:t>
            </a:r>
            <a:r>
              <a:rPr lang="en-US" dirty="0"/>
              <a:t>. For a business organized as a corporation, </a:t>
            </a:r>
            <a:r>
              <a:rPr lang="en-US" dirty="0" smtClean="0"/>
              <a:t>describe the </a:t>
            </a:r>
            <a:r>
              <a:rPr lang="en-US" dirty="0"/>
              <a:t>composition and function of your board of directors, </a:t>
            </a:r>
            <a:r>
              <a:rPr lang="en-US" dirty="0" smtClean="0"/>
              <a:t>who the </a:t>
            </a:r>
            <a:r>
              <a:rPr lang="en-US" dirty="0"/>
              <a:t>principal owners will be, and how each will be involved </a:t>
            </a:r>
            <a:r>
              <a:rPr lang="en-US" dirty="0" smtClean="0"/>
              <a:t>in making </a:t>
            </a:r>
            <a:r>
              <a:rPr lang="en-US" dirty="0"/>
              <a:t>decisions</a:t>
            </a:r>
            <a:r>
              <a:rPr lang="en-US" dirty="0" smtClean="0"/>
              <a:t>.</a:t>
            </a:r>
            <a:endParaRPr lang="en-US" dirty="0"/>
          </a:p>
        </p:txBody>
      </p:sp>
    </p:spTree>
    <p:extLst>
      <p:ext uri="{BB962C8B-B14F-4D97-AF65-F5344CB8AC3E}">
        <p14:creationId xmlns:p14="http://schemas.microsoft.com/office/powerpoint/2010/main" val="30951108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cont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Managers turn an idea into a successful business. In this section, describe what qualifies you and any other managers or advisors to manage and operate the business. select managers with an eye to balancing technical, managerial, and financial skills.</a:t>
            </a:r>
          </a:p>
          <a:p>
            <a:r>
              <a:rPr lang="en-US" dirty="0" smtClean="0"/>
              <a:t>Provide a short profile of the relevant training, experience, licensing, or other indicators of ability that you want your key managers to have. Outline the outside advisors  or consultants you will be using and describe each individual’s affiliation and qualifications.</a:t>
            </a:r>
          </a:p>
          <a:p>
            <a:r>
              <a:rPr lang="en-US" dirty="0"/>
              <a:t>After describing who the key people are, you will want to describe how you will organize each person’s responsibilities and authorities for the efficient operation of your business.</a:t>
            </a:r>
          </a:p>
          <a:p>
            <a:r>
              <a:rPr lang="en-US" dirty="0"/>
              <a:t>An organizational chart of the positions required and job descriptions for the key employees will help readers understand how the business will operate.</a:t>
            </a:r>
          </a:p>
          <a:p>
            <a:endParaRPr lang="en-US" dirty="0" smtClean="0"/>
          </a:p>
          <a:p>
            <a:endParaRPr lang="en-US" dirty="0"/>
          </a:p>
        </p:txBody>
      </p:sp>
    </p:spTree>
    <p:extLst>
      <p:ext uri="{BB962C8B-B14F-4D97-AF65-F5344CB8AC3E}">
        <p14:creationId xmlns:p14="http://schemas.microsoft.com/office/powerpoint/2010/main" val="1679894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smtClean="0"/>
              <a:t>Resources and Production</a:t>
            </a:r>
            <a:br>
              <a:rPr lang="en-US" i="1" dirty="0" smtClean="0"/>
            </a:br>
            <a:endParaRPr lang="en-US" dirty="0"/>
          </a:p>
        </p:txBody>
      </p:sp>
      <p:sp>
        <p:nvSpPr>
          <p:cNvPr id="3" name="Content Placeholder 2"/>
          <p:cNvSpPr>
            <a:spLocks noGrp="1"/>
          </p:cNvSpPr>
          <p:nvPr>
            <p:ph idx="1"/>
          </p:nvPr>
        </p:nvSpPr>
        <p:spPr>
          <a:xfrm>
            <a:off x="391886" y="953589"/>
            <a:ext cx="10961914" cy="5223374"/>
          </a:xfrm>
        </p:spPr>
        <p:txBody>
          <a:bodyPr>
            <a:normAutofit fontScale="92500" lnSpcReduction="20000"/>
          </a:bodyPr>
          <a:lstStyle/>
          <a:p>
            <a:r>
              <a:rPr lang="en-US" b="1" dirty="0" smtClean="0"/>
              <a:t>Other </a:t>
            </a:r>
            <a:r>
              <a:rPr lang="en-US" b="1" dirty="0"/>
              <a:t>Staffing</a:t>
            </a:r>
          </a:p>
          <a:p>
            <a:r>
              <a:rPr lang="en-US" dirty="0"/>
              <a:t>If you will need to hire employees apart from yourself </a:t>
            </a:r>
            <a:r>
              <a:rPr lang="en-US" dirty="0" smtClean="0"/>
              <a:t>and other </a:t>
            </a:r>
            <a:r>
              <a:rPr lang="en-US" dirty="0"/>
              <a:t>owner/operators, </a:t>
            </a:r>
            <a:r>
              <a:rPr lang="en-US" dirty="0" smtClean="0"/>
              <a:t>describe your personnel needs. </a:t>
            </a:r>
            <a:r>
              <a:rPr lang="en-US" dirty="0"/>
              <a:t>Have job descriptions </a:t>
            </a:r>
            <a:r>
              <a:rPr lang="en-US" dirty="0" smtClean="0"/>
              <a:t>for </a:t>
            </a:r>
            <a:r>
              <a:rPr lang="en-US" dirty="0"/>
              <a:t>relevant positions, and describe how you will find </a:t>
            </a:r>
            <a:r>
              <a:rPr lang="en-US" dirty="0" smtClean="0"/>
              <a:t>and manage them.</a:t>
            </a:r>
            <a:endParaRPr lang="en-US" dirty="0"/>
          </a:p>
          <a:p>
            <a:r>
              <a:rPr lang="en-US" b="1" dirty="0"/>
              <a:t>Production Methods</a:t>
            </a:r>
          </a:p>
          <a:p>
            <a:r>
              <a:rPr lang="en-US" dirty="0"/>
              <a:t>Outline the methods you will use to produce your </a:t>
            </a:r>
            <a:r>
              <a:rPr lang="en-US" dirty="0" smtClean="0"/>
              <a:t>product (</a:t>
            </a:r>
            <a:r>
              <a:rPr lang="en-US" dirty="0"/>
              <a:t>or conduct your service), especially for a </a:t>
            </a:r>
            <a:r>
              <a:rPr lang="en-US" dirty="0" smtClean="0"/>
              <a:t>manufacturing venture</a:t>
            </a:r>
            <a:r>
              <a:rPr lang="en-US" dirty="0"/>
              <a:t>. </a:t>
            </a:r>
            <a:endParaRPr lang="en-US" dirty="0" smtClean="0"/>
          </a:p>
          <a:p>
            <a:r>
              <a:rPr lang="en-US" dirty="0" smtClean="0"/>
              <a:t>State what will be done, how </a:t>
            </a:r>
            <a:r>
              <a:rPr lang="en-US" dirty="0"/>
              <a:t>you will you source </a:t>
            </a:r>
            <a:r>
              <a:rPr lang="en-US" dirty="0" smtClean="0"/>
              <a:t>inputs and  estimate your production </a:t>
            </a:r>
            <a:r>
              <a:rPr lang="en-US" dirty="0"/>
              <a:t>costs</a:t>
            </a:r>
            <a:r>
              <a:rPr lang="en-US" dirty="0" smtClean="0"/>
              <a:t>.</a:t>
            </a:r>
          </a:p>
          <a:p>
            <a:r>
              <a:rPr lang="en-US" dirty="0"/>
              <a:t>The technical feasibility of producing and distributing the product will be an important aspect of many ventures.</a:t>
            </a:r>
          </a:p>
          <a:p>
            <a:r>
              <a:rPr lang="en-US" dirty="0"/>
              <a:t>Address the availability of inputs and skilled labor, the viability of production technology, the logistics of product production, and the environmental effects of production in your plan.</a:t>
            </a:r>
          </a:p>
          <a:p>
            <a:endParaRPr lang="en-US" dirty="0"/>
          </a:p>
        </p:txBody>
      </p:sp>
    </p:spTree>
    <p:extLst>
      <p:ext uri="{BB962C8B-B14F-4D97-AF65-F5344CB8AC3E}">
        <p14:creationId xmlns:p14="http://schemas.microsoft.com/office/powerpoint/2010/main" val="1300357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8828314" cy="666841"/>
          </a:xfrm>
        </p:spPr>
        <p:txBody>
          <a:bodyPr>
            <a:normAutofit fontScale="90000"/>
          </a:bodyPr>
          <a:lstStyle/>
          <a:p>
            <a:r>
              <a:rPr lang="en-US" dirty="0" smtClean="0"/>
              <a:t>Cont..</a:t>
            </a:r>
            <a:endParaRPr lang="en-US" dirty="0"/>
          </a:p>
        </p:txBody>
      </p:sp>
      <p:sp>
        <p:nvSpPr>
          <p:cNvPr id="3" name="Content Placeholder 2"/>
          <p:cNvSpPr>
            <a:spLocks noGrp="1"/>
          </p:cNvSpPr>
          <p:nvPr>
            <p:ph idx="1"/>
          </p:nvPr>
        </p:nvSpPr>
        <p:spPr>
          <a:xfrm>
            <a:off x="838200" y="1280160"/>
            <a:ext cx="9964783" cy="4896803"/>
          </a:xfrm>
        </p:spPr>
        <p:txBody>
          <a:bodyPr>
            <a:normAutofit fontScale="77500" lnSpcReduction="20000"/>
          </a:bodyPr>
          <a:lstStyle/>
          <a:p>
            <a:r>
              <a:rPr lang="en-US" b="1" dirty="0"/>
              <a:t>Facilities and Equipment</a:t>
            </a:r>
          </a:p>
          <a:p>
            <a:r>
              <a:rPr lang="en-US" dirty="0"/>
              <a:t>Estimate what facilities and equipment you will use </a:t>
            </a:r>
            <a:r>
              <a:rPr lang="en-US" dirty="0" smtClean="0"/>
              <a:t>and where </a:t>
            </a:r>
            <a:r>
              <a:rPr lang="en-US" dirty="0"/>
              <a:t>they will be located in relation to your suppliers </a:t>
            </a:r>
            <a:r>
              <a:rPr lang="en-US" dirty="0" smtClean="0"/>
              <a:t>and customers</a:t>
            </a:r>
            <a:r>
              <a:rPr lang="en-US" dirty="0"/>
              <a:t>. Describe the size and usefulness of the </a:t>
            </a:r>
            <a:r>
              <a:rPr lang="en-US" dirty="0" smtClean="0"/>
              <a:t>facilities and </a:t>
            </a:r>
            <a:r>
              <a:rPr lang="en-US" dirty="0"/>
              <a:t>any modifications needed to start operations and </a:t>
            </a:r>
            <a:r>
              <a:rPr lang="en-US" dirty="0" smtClean="0"/>
              <a:t>as your </a:t>
            </a:r>
            <a:r>
              <a:rPr lang="en-US" dirty="0"/>
              <a:t>business grows.</a:t>
            </a:r>
          </a:p>
          <a:p>
            <a:r>
              <a:rPr lang="en-US" b="1" dirty="0"/>
              <a:t>Operations</a:t>
            </a:r>
          </a:p>
          <a:p>
            <a:r>
              <a:rPr lang="en-US" dirty="0"/>
              <a:t>Describe how your business will be operated in terms of </a:t>
            </a:r>
            <a:r>
              <a:rPr lang="en-US" dirty="0" smtClean="0"/>
              <a:t>both schedule </a:t>
            </a:r>
            <a:r>
              <a:rPr lang="en-US" dirty="0"/>
              <a:t>and procedures. Your schedule may be part-time </a:t>
            </a:r>
            <a:r>
              <a:rPr lang="en-US" dirty="0" smtClean="0"/>
              <a:t>or full-time</a:t>
            </a:r>
            <a:r>
              <a:rPr lang="en-US" dirty="0"/>
              <a:t>, may only operate in certain seasons, may </a:t>
            </a:r>
            <a:r>
              <a:rPr lang="en-US" dirty="0" smtClean="0"/>
              <a:t>observe certain </a:t>
            </a:r>
            <a:r>
              <a:rPr lang="en-US" dirty="0"/>
              <a:t>holidays, or may have extended hours at times </a:t>
            </a:r>
            <a:r>
              <a:rPr lang="en-US" dirty="0" smtClean="0"/>
              <a:t>of the </a:t>
            </a:r>
            <a:r>
              <a:rPr lang="en-US" dirty="0"/>
              <a:t>year</a:t>
            </a:r>
            <a:r>
              <a:rPr lang="en-US" dirty="0" smtClean="0"/>
              <a:t>.</a:t>
            </a:r>
          </a:p>
          <a:p>
            <a:r>
              <a:rPr lang="en-US" dirty="0"/>
              <a:t>Operationally, describe how you will manage your business. For a manufacturer, describe how raw materials will be obtained and transformed into a finished product. A service provider will want to describe where, when, and how the service will be performed.</a:t>
            </a:r>
          </a:p>
          <a:p>
            <a:r>
              <a:rPr lang="en-US" dirty="0"/>
              <a:t>also include your policies and procedures for billing and collections, contract management, inventory control, record keeping, and how you will maintain quality.</a:t>
            </a:r>
          </a:p>
          <a:p>
            <a:endParaRPr lang="en-US" dirty="0"/>
          </a:p>
        </p:txBody>
      </p:sp>
    </p:spTree>
    <p:extLst>
      <p:ext uri="{BB962C8B-B14F-4D97-AF65-F5344CB8AC3E}">
        <p14:creationId xmlns:p14="http://schemas.microsoft.com/office/powerpoint/2010/main" val="33585563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smtClean="0"/>
              <a:t>Legal Issues</a:t>
            </a:r>
            <a:r>
              <a:rPr lang="en-US" i="1" smtClean="0"/>
              <a:t/>
            </a:r>
            <a:br>
              <a:rPr lang="en-US" i="1" smtClean="0"/>
            </a:br>
            <a:endParaRPr lang="en-US" dirty="0"/>
          </a:p>
        </p:txBody>
      </p:sp>
      <p:sp>
        <p:nvSpPr>
          <p:cNvPr id="3" name="Content Placeholder 2"/>
          <p:cNvSpPr>
            <a:spLocks noGrp="1"/>
          </p:cNvSpPr>
          <p:nvPr>
            <p:ph idx="1"/>
          </p:nvPr>
        </p:nvSpPr>
        <p:spPr/>
        <p:txBody>
          <a:bodyPr>
            <a:normAutofit/>
          </a:bodyPr>
          <a:lstStyle/>
          <a:p>
            <a:r>
              <a:rPr lang="en-US" b="1" dirty="0" smtClean="0"/>
              <a:t>Intellectual </a:t>
            </a:r>
            <a:r>
              <a:rPr lang="en-US" b="1" dirty="0"/>
              <a:t>Property Protection</a:t>
            </a:r>
          </a:p>
          <a:p>
            <a:r>
              <a:rPr lang="en-US" dirty="0" smtClean="0"/>
              <a:t>Explain how your business and products will be protected from imitators. Trademarks </a:t>
            </a:r>
            <a:r>
              <a:rPr lang="en-US" dirty="0"/>
              <a:t>and service marks </a:t>
            </a:r>
            <a:r>
              <a:rPr lang="en-US" dirty="0" smtClean="0"/>
              <a:t>will protect </a:t>
            </a:r>
            <a:r>
              <a:rPr lang="en-US" dirty="0"/>
              <a:t>your company’s marketing symbols for products </a:t>
            </a:r>
            <a:r>
              <a:rPr lang="en-US" dirty="0" smtClean="0"/>
              <a:t>and services</a:t>
            </a:r>
            <a:r>
              <a:rPr lang="en-US" dirty="0"/>
              <a:t>. Patents will help protect the products you create.</a:t>
            </a:r>
          </a:p>
          <a:p>
            <a:r>
              <a:rPr lang="en-US" b="1" dirty="0" smtClean="0"/>
              <a:t>Compliance</a:t>
            </a:r>
            <a:endParaRPr lang="en-US" b="1" dirty="0"/>
          </a:p>
          <a:p>
            <a:r>
              <a:rPr lang="en-US" dirty="0"/>
              <a:t>Every business is subject to local, state, and federal regulation</a:t>
            </a:r>
            <a:r>
              <a:rPr lang="en-US" dirty="0" smtClean="0"/>
              <a:t>. Outline </a:t>
            </a:r>
            <a:r>
              <a:rPr lang="en-US" dirty="0"/>
              <a:t>your plan for complying with relevant regulations.</a:t>
            </a:r>
          </a:p>
          <a:p>
            <a:r>
              <a:rPr lang="en-US" dirty="0" smtClean="0"/>
              <a:t>You may include Tax Identification Number.</a:t>
            </a:r>
            <a:endParaRPr lang="en-US" dirty="0"/>
          </a:p>
        </p:txBody>
      </p:sp>
    </p:spTree>
    <p:extLst>
      <p:ext uri="{BB962C8B-B14F-4D97-AF65-F5344CB8AC3E}">
        <p14:creationId xmlns:p14="http://schemas.microsoft.com/office/powerpoint/2010/main" val="45621976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t>Section </a:t>
            </a:r>
            <a:r>
              <a:rPr lang="en-US" b="1" i="1" dirty="0" smtClean="0"/>
              <a:t>5. </a:t>
            </a:r>
            <a:r>
              <a:rPr lang="en-US" b="1" i="1" dirty="0" smtClean="0"/>
              <a:t>Financial Plan</a:t>
            </a:r>
            <a:br>
              <a:rPr lang="en-US" b="1" i="1" dirty="0" smtClean="0"/>
            </a:br>
            <a:endParaRPr lang="en-US" dirty="0"/>
          </a:p>
        </p:txBody>
      </p:sp>
      <p:sp>
        <p:nvSpPr>
          <p:cNvPr id="3" name="Content Placeholder 2"/>
          <p:cNvSpPr>
            <a:spLocks noGrp="1"/>
          </p:cNvSpPr>
          <p:nvPr>
            <p:ph idx="1"/>
          </p:nvPr>
        </p:nvSpPr>
        <p:spPr>
          <a:xfrm>
            <a:off x="838200" y="1319349"/>
            <a:ext cx="10515600" cy="4857614"/>
          </a:xfrm>
        </p:spPr>
        <p:txBody>
          <a:bodyPr>
            <a:normAutofit fontScale="92500" lnSpcReduction="10000"/>
          </a:bodyPr>
          <a:lstStyle/>
          <a:p>
            <a:r>
              <a:rPr lang="en-US" dirty="0" smtClean="0"/>
              <a:t>Necessary for evaluating </a:t>
            </a:r>
            <a:r>
              <a:rPr lang="en-US" dirty="0"/>
              <a:t>a </a:t>
            </a:r>
            <a:r>
              <a:rPr lang="en-US" dirty="0" smtClean="0"/>
              <a:t>new investment </a:t>
            </a:r>
            <a:r>
              <a:rPr lang="en-US" dirty="0"/>
              <a:t>opportunity</a:t>
            </a:r>
            <a:r>
              <a:rPr lang="en-US" dirty="0" smtClean="0"/>
              <a:t>.</a:t>
            </a:r>
          </a:p>
          <a:p>
            <a:r>
              <a:rPr lang="en-US" dirty="0" smtClean="0"/>
              <a:t>Includes an </a:t>
            </a:r>
            <a:r>
              <a:rPr lang="en-US" dirty="0"/>
              <a:t>estimate </a:t>
            </a:r>
            <a:r>
              <a:rPr lang="en-US" dirty="0" smtClean="0"/>
              <a:t>of your </a:t>
            </a:r>
            <a:r>
              <a:rPr lang="en-US" dirty="0"/>
              <a:t>profit potential. </a:t>
            </a:r>
            <a:r>
              <a:rPr lang="en-US" dirty="0" smtClean="0"/>
              <a:t>Describe the </a:t>
            </a:r>
            <a:r>
              <a:rPr lang="en-US" dirty="0"/>
              <a:t>current financial status and present forecasts </a:t>
            </a:r>
            <a:r>
              <a:rPr lang="en-US" dirty="0" smtClean="0"/>
              <a:t>of future </a:t>
            </a:r>
            <a:r>
              <a:rPr lang="en-US" dirty="0"/>
              <a:t>financial s</a:t>
            </a:r>
            <a:r>
              <a:rPr lang="en-US" dirty="0" smtClean="0"/>
              <a:t>tatements</a:t>
            </a:r>
            <a:r>
              <a:rPr lang="en-US" dirty="0"/>
              <a:t>. </a:t>
            </a:r>
            <a:endParaRPr lang="en-US" dirty="0" smtClean="0"/>
          </a:p>
          <a:p>
            <a:r>
              <a:rPr lang="en-US" dirty="0" smtClean="0"/>
              <a:t>If </a:t>
            </a:r>
            <a:r>
              <a:rPr lang="en-US" dirty="0"/>
              <a:t>you are using the business </a:t>
            </a:r>
            <a:r>
              <a:rPr lang="en-US" dirty="0" smtClean="0"/>
              <a:t>plan to </a:t>
            </a:r>
            <a:r>
              <a:rPr lang="en-US" dirty="0"/>
              <a:t>seek financing, cover the type and amount of </a:t>
            </a:r>
            <a:r>
              <a:rPr lang="en-US" dirty="0" smtClean="0"/>
              <a:t>financing planned </a:t>
            </a:r>
            <a:r>
              <a:rPr lang="en-US" dirty="0"/>
              <a:t>(and its repayment terms) as well as the </a:t>
            </a:r>
            <a:r>
              <a:rPr lang="en-US" dirty="0" smtClean="0"/>
              <a:t>potential return </a:t>
            </a:r>
            <a:r>
              <a:rPr lang="en-US" dirty="0"/>
              <a:t>on investment. </a:t>
            </a:r>
            <a:r>
              <a:rPr lang="en-US" dirty="0" smtClean="0"/>
              <a:t>Explain how funds will be used to </a:t>
            </a:r>
            <a:r>
              <a:rPr lang="en-US" dirty="0"/>
              <a:t>create a successful venture</a:t>
            </a:r>
            <a:r>
              <a:rPr lang="en-US" dirty="0" smtClean="0"/>
              <a:t>.</a:t>
            </a:r>
          </a:p>
          <a:p>
            <a:r>
              <a:rPr lang="en-US" dirty="0"/>
              <a:t>Forecasts of product demand, revenues, and expenses for new ventures will draw on the market research you conducted.</a:t>
            </a:r>
          </a:p>
          <a:p>
            <a:r>
              <a:rPr lang="en-US" dirty="0"/>
              <a:t>Your projections are only as good as your assumptions, so make sure they are valid and realistic. Document as much as you possibly can, including how you developed your assumptions</a:t>
            </a:r>
          </a:p>
          <a:p>
            <a:endParaRPr lang="en-US" dirty="0"/>
          </a:p>
        </p:txBody>
      </p:sp>
    </p:spTree>
    <p:extLst>
      <p:ext uri="{BB962C8B-B14F-4D97-AF65-F5344CB8AC3E}">
        <p14:creationId xmlns:p14="http://schemas.microsoft.com/office/powerpoint/2010/main" val="338802684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APPENDICES</a:t>
            </a:r>
            <a:endParaRPr lang="en-US" dirty="0"/>
          </a:p>
        </p:txBody>
      </p:sp>
      <p:sp>
        <p:nvSpPr>
          <p:cNvPr id="3" name="Content Placeholder 2"/>
          <p:cNvSpPr>
            <a:spLocks noGrp="1"/>
          </p:cNvSpPr>
          <p:nvPr>
            <p:ph idx="1"/>
          </p:nvPr>
        </p:nvSpPr>
        <p:spPr/>
        <p:txBody>
          <a:bodyPr/>
          <a:lstStyle/>
          <a:p>
            <a:r>
              <a:rPr lang="en-US" dirty="0" smtClean="0"/>
              <a:t>Here you include supporting document where necessary.</a:t>
            </a:r>
          </a:p>
          <a:p>
            <a:r>
              <a:rPr lang="en-US" dirty="0" smtClean="0"/>
              <a:t>These documents may include: budgets, licenses, certificates, </a:t>
            </a:r>
            <a:r>
              <a:rPr lang="en-US" dirty="0" err="1" smtClean="0"/>
              <a:t>etc</a:t>
            </a:r>
            <a:endParaRPr lang="en-US" dirty="0"/>
          </a:p>
        </p:txBody>
      </p:sp>
    </p:spTree>
    <p:extLst>
      <p:ext uri="{BB962C8B-B14F-4D97-AF65-F5344CB8AC3E}">
        <p14:creationId xmlns:p14="http://schemas.microsoft.com/office/powerpoint/2010/main" val="37053231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552</TotalTime>
  <Words>2184</Words>
  <Application>Microsoft Office PowerPoint</Application>
  <PresentationFormat>Widescreen</PresentationFormat>
  <Paragraphs>125</Paragraphs>
  <Slides>24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Calibri Light</vt:lpstr>
      <vt:lpstr>Office Theme</vt:lpstr>
      <vt:lpstr>CONTENT AND FORMAT OF A BUSINESS PLAN</vt:lpstr>
      <vt:lpstr>FORMAT OF  ABUSINES PLAN</vt:lpstr>
      <vt:lpstr>FORMAT OF BUSINESS PLAN</vt:lpstr>
      <vt:lpstr> Section 7. Executive Summary </vt:lpstr>
      <vt:lpstr>1. Business Description </vt:lpstr>
      <vt:lpstr>b. Business Overview </vt:lpstr>
      <vt:lpstr>Section 2. Market Analysis </vt:lpstr>
      <vt:lpstr>Forces to examine clearly: </vt:lpstr>
      <vt:lpstr>b. Target Customer Profile</vt:lpstr>
      <vt:lpstr>C. Competition analysis/Assessment </vt:lpstr>
      <vt:lpstr>When reviewing competitors, consider what they have as far as: </vt:lpstr>
      <vt:lpstr>3. Marketing plan</vt:lpstr>
      <vt:lpstr>Cont…</vt:lpstr>
      <vt:lpstr>b. Pricing </vt:lpstr>
      <vt:lpstr>c. Distribution (place) </vt:lpstr>
      <vt:lpstr>d. Promotion </vt:lpstr>
      <vt:lpstr>4.  Operation Plan </vt:lpstr>
      <vt:lpstr>Ownership and Management </vt:lpstr>
      <vt:lpstr>cont</vt:lpstr>
      <vt:lpstr>Resources and Production </vt:lpstr>
      <vt:lpstr>Cont..</vt:lpstr>
      <vt:lpstr>Legal Issues </vt:lpstr>
      <vt:lpstr>Section 5. Financial Plan </vt:lpstr>
      <vt:lpstr>APPENDICES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 AND FORMAT OF A BUSINESS PLAN</dc:title>
  <dc:creator>Geoffrey</dc:creator>
  <cp:lastModifiedBy>Mhango</cp:lastModifiedBy>
  <cp:revision>83</cp:revision>
  <dcterms:created xsi:type="dcterms:W3CDTF">2017-05-24T19:13:00Z</dcterms:created>
  <dcterms:modified xsi:type="dcterms:W3CDTF">2019-05-18T17:54:10Z</dcterms:modified>
</cp:coreProperties>
</file>