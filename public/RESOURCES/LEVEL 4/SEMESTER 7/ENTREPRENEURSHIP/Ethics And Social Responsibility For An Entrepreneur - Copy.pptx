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0" r:id="rId4"/>
    <p:sldId id="263" r:id="rId5"/>
    <p:sldId id="264" r:id="rId6"/>
    <p:sldId id="265" r:id="rId7"/>
    <p:sldId id="261" r:id="rId8"/>
    <p:sldId id="257" r:id="rId9"/>
    <p:sldId id="258"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85" d="100"/>
          <a:sy n="85" d="100"/>
        </p:scale>
        <p:origin x="13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718B3-D388-490D-8429-817A7BED63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361686B-23FA-4D57-9769-567CE4BCF6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4FC1A2C-71CE-4D2A-92C3-9A6BA41911C2}"/>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5" name="Footer Placeholder 4">
            <a:extLst>
              <a:ext uri="{FF2B5EF4-FFF2-40B4-BE49-F238E27FC236}">
                <a16:creationId xmlns:a16="http://schemas.microsoft.com/office/drawing/2014/main" id="{9391E801-88C3-4554-ADBE-36837D8E02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C26367-9133-4978-8DD1-771479041994}"/>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3873725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20B1-FD8A-4123-94DC-D17BB0792BB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269CEF-0BAA-480D-B1DE-1004B3166BE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2EAAB2-B0D8-4AFA-AFEC-1FB5C59D8209}"/>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5" name="Footer Placeholder 4">
            <a:extLst>
              <a:ext uri="{FF2B5EF4-FFF2-40B4-BE49-F238E27FC236}">
                <a16:creationId xmlns:a16="http://schemas.microsoft.com/office/drawing/2014/main" id="{DF645E56-F487-4120-B046-1176C68E4A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8C011B-C290-4EB7-A7A8-2BC9C815D7B9}"/>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399923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F49FA-E748-4278-9691-FC27102BAC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DC9B64D-40EF-4D42-9371-345685D2C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85774ED-00AA-491B-A563-786355590C55}"/>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5" name="Footer Placeholder 4">
            <a:extLst>
              <a:ext uri="{FF2B5EF4-FFF2-40B4-BE49-F238E27FC236}">
                <a16:creationId xmlns:a16="http://schemas.microsoft.com/office/drawing/2014/main" id="{A51E2E79-256C-4C6D-B711-0C0541A8C9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AFE02C-70A9-4856-8C7F-647439B8151C}"/>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2010310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FDC5-E5F6-4380-A225-49DBF471ED5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9D4AC0A-19B0-4FA3-BDD0-F50026B20A8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959C1D2-1CBC-45EE-B4D4-3C152229353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5B98670-E7E0-40A1-B923-F8A7DFCE92B0}"/>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6" name="Footer Placeholder 5">
            <a:extLst>
              <a:ext uri="{FF2B5EF4-FFF2-40B4-BE49-F238E27FC236}">
                <a16:creationId xmlns:a16="http://schemas.microsoft.com/office/drawing/2014/main" id="{E8E0AD0C-E39A-4D07-9D95-808B7757C0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F50C941-32B6-4918-B8FE-3FDE7995E04F}"/>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3211035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46577-A4DF-4E68-A843-9F60BCE4617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366DC8-C50A-452F-95D0-DF1DE132D7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D9A2299-8699-4CB1-97EC-2928F42BF0D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5B5861B-B58B-4090-85B7-619CA37DB4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0FC31C4-CF20-40AD-9405-1CB985A2E7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71DCD67-A80D-48EC-958E-4279865AC793}"/>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8" name="Footer Placeholder 7">
            <a:extLst>
              <a:ext uri="{FF2B5EF4-FFF2-40B4-BE49-F238E27FC236}">
                <a16:creationId xmlns:a16="http://schemas.microsoft.com/office/drawing/2014/main" id="{6E684834-52D4-4D60-80CE-70DAE71F0E3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7BF503E-B3B4-401F-A723-1C964C76B5A3}"/>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3662357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764F9-8304-4FF2-A3E7-2770BE5E5F8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336D8CA-651A-475E-9A89-71A4C217975C}"/>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4" name="Footer Placeholder 3">
            <a:extLst>
              <a:ext uri="{FF2B5EF4-FFF2-40B4-BE49-F238E27FC236}">
                <a16:creationId xmlns:a16="http://schemas.microsoft.com/office/drawing/2014/main" id="{D14216D8-9C86-4978-AB79-A342843D205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10DE99F-540A-4DC8-8363-8C62DAF647A9}"/>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921546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054EE7-3F4D-471D-BE41-F7442872CA2B}"/>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3" name="Footer Placeholder 2">
            <a:extLst>
              <a:ext uri="{FF2B5EF4-FFF2-40B4-BE49-F238E27FC236}">
                <a16:creationId xmlns:a16="http://schemas.microsoft.com/office/drawing/2014/main" id="{2CD35400-263E-43E6-B616-B2F5A70F07F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8264E5-9418-4D52-83E1-C2931C2DC1FF}"/>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350658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DE3A1-069E-4D5E-A9CC-D390AE046D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C93A7C4-B5DF-4044-9BB3-C7014766E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A4EA743-F7E7-4849-B12D-7FD4D4CB50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B3DD8C8-C43E-4264-B577-A7E4131F3256}"/>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6" name="Footer Placeholder 5">
            <a:extLst>
              <a:ext uri="{FF2B5EF4-FFF2-40B4-BE49-F238E27FC236}">
                <a16:creationId xmlns:a16="http://schemas.microsoft.com/office/drawing/2014/main" id="{68809772-2DDC-497D-B693-1080B03332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11D9274-1FE6-4E34-A958-9A80C5DD4637}"/>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1937093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8237D-8815-40D7-85B8-E9EF323FD5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140D4F1-D175-42E9-9EFB-69D795F69A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016B740-A36D-405B-A07E-DFEC751E7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A71F421-D040-45B0-BC3E-861381AC8844}"/>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6" name="Footer Placeholder 5">
            <a:extLst>
              <a:ext uri="{FF2B5EF4-FFF2-40B4-BE49-F238E27FC236}">
                <a16:creationId xmlns:a16="http://schemas.microsoft.com/office/drawing/2014/main" id="{BB8757F7-9D7D-4C78-B088-FF589544F92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B62232B-A3BE-4C32-8C49-AABAFF0604F1}"/>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1313322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C851-804F-458D-8F85-6257845E834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BE12952-1754-4CF8-98DD-55C70D9CDBD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C45400B-BCEC-4D20-B35A-238F4DE6C30F}"/>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5" name="Footer Placeholder 4">
            <a:extLst>
              <a:ext uri="{FF2B5EF4-FFF2-40B4-BE49-F238E27FC236}">
                <a16:creationId xmlns:a16="http://schemas.microsoft.com/office/drawing/2014/main" id="{F6113612-5234-4A4E-A603-F3E2A82CCC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620FA0-4E11-4C8B-8B5B-1BD6E1B4F0B5}"/>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3062570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4531A5-1F91-4FA2-87A7-832EB2ED79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0E3F3D-1501-4433-A5C0-774B3623B19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3F57C3-5023-4450-AAB0-88243F166890}"/>
              </a:ext>
            </a:extLst>
          </p:cNvPr>
          <p:cNvSpPr>
            <a:spLocks noGrp="1"/>
          </p:cNvSpPr>
          <p:nvPr>
            <p:ph type="dt" sz="half" idx="10"/>
          </p:nvPr>
        </p:nvSpPr>
        <p:spPr/>
        <p:txBody>
          <a:bodyPr/>
          <a:lstStyle/>
          <a:p>
            <a:fld id="{D352456F-0625-4D35-BE6C-63390F1500B0}" type="datetimeFigureOut">
              <a:rPr lang="en-GB" smtClean="0"/>
              <a:t>10/12/2018</a:t>
            </a:fld>
            <a:endParaRPr lang="en-GB"/>
          </a:p>
        </p:txBody>
      </p:sp>
      <p:sp>
        <p:nvSpPr>
          <p:cNvPr id="5" name="Footer Placeholder 4">
            <a:extLst>
              <a:ext uri="{FF2B5EF4-FFF2-40B4-BE49-F238E27FC236}">
                <a16:creationId xmlns:a16="http://schemas.microsoft.com/office/drawing/2014/main" id="{C92D676C-771A-4366-98D1-641081F1AD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FA0E8B-A960-4DAC-9276-710498A0E3C0}"/>
              </a:ext>
            </a:extLst>
          </p:cNvPr>
          <p:cNvSpPr>
            <a:spLocks noGrp="1"/>
          </p:cNvSpPr>
          <p:nvPr>
            <p:ph type="sldNum" sz="quarter" idx="12"/>
          </p:nvPr>
        </p:nvSpPr>
        <p:spPr/>
        <p:txBody>
          <a:bodyPr/>
          <a:lstStyle/>
          <a:p>
            <a:fld id="{8885D4D4-A581-4C64-AE36-24689DB871E7}" type="slidenum">
              <a:rPr lang="en-GB" smtClean="0"/>
              <a:t>‹#›</a:t>
            </a:fld>
            <a:endParaRPr lang="en-GB"/>
          </a:p>
        </p:txBody>
      </p:sp>
    </p:spTree>
    <p:extLst>
      <p:ext uri="{BB962C8B-B14F-4D97-AF65-F5344CB8AC3E}">
        <p14:creationId xmlns:p14="http://schemas.microsoft.com/office/powerpoint/2010/main" val="2525916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C728E7-83E5-4084-8023-234E046138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220E50-B07A-4A6F-9E90-5E5A38076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C301A70-8D55-4063-99FE-A2BA8AEE55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52456F-0625-4D35-BE6C-63390F1500B0}" type="datetimeFigureOut">
              <a:rPr lang="en-GB" smtClean="0"/>
              <a:t>10/12/2018</a:t>
            </a:fld>
            <a:endParaRPr lang="en-GB"/>
          </a:p>
        </p:txBody>
      </p:sp>
      <p:sp>
        <p:nvSpPr>
          <p:cNvPr id="5" name="Footer Placeholder 4">
            <a:extLst>
              <a:ext uri="{FF2B5EF4-FFF2-40B4-BE49-F238E27FC236}">
                <a16:creationId xmlns:a16="http://schemas.microsoft.com/office/drawing/2014/main" id="{346D6FA6-1DD4-4FF8-ACCD-AAC2C96151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CFB6D6A-AB5F-42D5-B618-1936CC529B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85D4D4-A581-4C64-AE36-24689DB871E7}" type="slidenum">
              <a:rPr lang="en-GB" smtClean="0"/>
              <a:t>‹#›</a:t>
            </a:fld>
            <a:endParaRPr lang="en-GB"/>
          </a:p>
        </p:txBody>
      </p:sp>
    </p:spTree>
    <p:extLst>
      <p:ext uri="{BB962C8B-B14F-4D97-AF65-F5344CB8AC3E}">
        <p14:creationId xmlns:p14="http://schemas.microsoft.com/office/powerpoint/2010/main" val="202033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79341-AAD9-4C8D-B18B-9D38CA303969}"/>
              </a:ext>
            </a:extLst>
          </p:cNvPr>
          <p:cNvSpPr>
            <a:spLocks noGrp="1"/>
          </p:cNvSpPr>
          <p:nvPr>
            <p:ph type="ctrTitle"/>
          </p:nvPr>
        </p:nvSpPr>
        <p:spPr/>
        <p:txBody>
          <a:bodyPr>
            <a:normAutofit/>
          </a:bodyPr>
          <a:lstStyle/>
          <a:p>
            <a:r>
              <a:rPr lang="en-GB" b="1" dirty="0"/>
              <a:t>Strategies for Expanding into International Markets</a:t>
            </a:r>
          </a:p>
        </p:txBody>
      </p:sp>
      <p:sp>
        <p:nvSpPr>
          <p:cNvPr id="3" name="Subtitle 2">
            <a:extLst>
              <a:ext uri="{FF2B5EF4-FFF2-40B4-BE49-F238E27FC236}">
                <a16:creationId xmlns:a16="http://schemas.microsoft.com/office/drawing/2014/main" id="{B87F35C5-D148-4378-B9B5-976421E71183}"/>
              </a:ext>
            </a:extLst>
          </p:cNvPr>
          <p:cNvSpPr>
            <a:spLocks noGrp="1"/>
          </p:cNvSpPr>
          <p:nvPr>
            <p:ph type="subTitle" idx="1"/>
          </p:nvPr>
        </p:nvSpPr>
        <p:spPr/>
        <p:txBody>
          <a:bodyPr/>
          <a:lstStyle/>
          <a:p>
            <a:r>
              <a:rPr lang="en-GB" dirty="0"/>
              <a:t>Wilson</a:t>
            </a:r>
          </a:p>
        </p:txBody>
      </p:sp>
    </p:spTree>
    <p:extLst>
      <p:ext uri="{BB962C8B-B14F-4D97-AF65-F5344CB8AC3E}">
        <p14:creationId xmlns:p14="http://schemas.microsoft.com/office/powerpoint/2010/main" val="2688654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49991-3B4D-4740-A2A7-7D7F70715089}"/>
              </a:ext>
            </a:extLst>
          </p:cNvPr>
          <p:cNvSpPr>
            <a:spLocks noGrp="1"/>
          </p:cNvSpPr>
          <p:nvPr>
            <p:ph type="title"/>
          </p:nvPr>
        </p:nvSpPr>
        <p:spPr>
          <a:xfrm>
            <a:off x="838200" y="365125"/>
            <a:ext cx="10515600" cy="676453"/>
          </a:xfrm>
        </p:spPr>
        <p:txBody>
          <a:bodyPr>
            <a:normAutofit fontScale="90000"/>
          </a:bodyPr>
          <a:lstStyle/>
          <a:p>
            <a:r>
              <a:rPr lang="en-GB" b="1" dirty="0"/>
              <a:t>ANSOFF MATRIX</a:t>
            </a:r>
          </a:p>
        </p:txBody>
      </p:sp>
      <p:pic>
        <p:nvPicPr>
          <p:cNvPr id="4" name="Content Placeholder 3">
            <a:extLst>
              <a:ext uri="{FF2B5EF4-FFF2-40B4-BE49-F238E27FC236}">
                <a16:creationId xmlns:a16="http://schemas.microsoft.com/office/drawing/2014/main" id="{0869BE3D-2626-4537-AC7B-A81459B65AFD}"/>
              </a:ext>
            </a:extLst>
          </p:cNvPr>
          <p:cNvPicPr>
            <a:picLocks noGrp="1" noChangeAspect="1"/>
          </p:cNvPicPr>
          <p:nvPr>
            <p:ph idx="1"/>
          </p:nvPr>
        </p:nvPicPr>
        <p:blipFill>
          <a:blip r:embed="rId2"/>
          <a:stretch>
            <a:fillRect/>
          </a:stretch>
        </p:blipFill>
        <p:spPr>
          <a:xfrm>
            <a:off x="191911" y="1690688"/>
            <a:ext cx="7642577" cy="4619801"/>
          </a:xfrm>
          <a:prstGeom prst="rect">
            <a:avLst/>
          </a:prstGeom>
        </p:spPr>
      </p:pic>
      <p:pic>
        <p:nvPicPr>
          <p:cNvPr id="5" name="Picture 4">
            <a:extLst>
              <a:ext uri="{FF2B5EF4-FFF2-40B4-BE49-F238E27FC236}">
                <a16:creationId xmlns:a16="http://schemas.microsoft.com/office/drawing/2014/main" id="{8162310F-07B9-4ABE-8303-C2DD92F05D27}"/>
              </a:ext>
            </a:extLst>
          </p:cNvPr>
          <p:cNvPicPr>
            <a:picLocks noChangeAspect="1"/>
          </p:cNvPicPr>
          <p:nvPr/>
        </p:nvPicPr>
        <p:blipFill>
          <a:blip r:embed="rId3"/>
          <a:stretch>
            <a:fillRect/>
          </a:stretch>
        </p:blipFill>
        <p:spPr>
          <a:xfrm>
            <a:off x="363642" y="1041578"/>
            <a:ext cx="8800537" cy="5918021"/>
          </a:xfrm>
          <a:prstGeom prst="rect">
            <a:avLst/>
          </a:prstGeom>
        </p:spPr>
      </p:pic>
    </p:spTree>
    <p:extLst>
      <p:ext uri="{BB962C8B-B14F-4D97-AF65-F5344CB8AC3E}">
        <p14:creationId xmlns:p14="http://schemas.microsoft.com/office/powerpoint/2010/main" val="722775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E00D3-E266-4D4B-BCAB-83A341491DFD}"/>
              </a:ext>
            </a:extLst>
          </p:cNvPr>
          <p:cNvSpPr>
            <a:spLocks noGrp="1"/>
          </p:cNvSpPr>
          <p:nvPr>
            <p:ph type="title"/>
          </p:nvPr>
        </p:nvSpPr>
        <p:spPr/>
        <p:txBody>
          <a:bodyPr/>
          <a:lstStyle/>
          <a:p>
            <a:r>
              <a:rPr lang="en-GB" b="1" dirty="0"/>
              <a:t>The main methods of investing in international markets</a:t>
            </a:r>
          </a:p>
        </p:txBody>
      </p:sp>
      <p:sp>
        <p:nvSpPr>
          <p:cNvPr id="3" name="Content Placeholder 2">
            <a:extLst>
              <a:ext uri="{FF2B5EF4-FFF2-40B4-BE49-F238E27FC236}">
                <a16:creationId xmlns:a16="http://schemas.microsoft.com/office/drawing/2014/main" id="{DEA089A3-DA81-4C88-B1EB-15600EEDD474}"/>
              </a:ext>
            </a:extLst>
          </p:cNvPr>
          <p:cNvSpPr>
            <a:spLocks noGrp="1"/>
          </p:cNvSpPr>
          <p:nvPr>
            <p:ph idx="1"/>
          </p:nvPr>
        </p:nvSpPr>
        <p:spPr/>
        <p:txBody>
          <a:bodyPr>
            <a:normAutofit fontScale="62500" lnSpcReduction="20000"/>
          </a:bodyPr>
          <a:lstStyle/>
          <a:p>
            <a:pPr marL="0" indent="0">
              <a:buNone/>
            </a:pPr>
            <a:r>
              <a:rPr lang="en-GB" dirty="0"/>
              <a:t>1. </a:t>
            </a:r>
            <a:r>
              <a:rPr lang="en-GB" dirty="0">
                <a:solidFill>
                  <a:srgbClr val="FF0000"/>
                </a:solidFill>
              </a:rPr>
              <a:t>Exporting direct to international customers</a:t>
            </a:r>
          </a:p>
          <a:p>
            <a:r>
              <a:rPr lang="en-GB" b="1" dirty="0"/>
              <a:t>Advantages</a:t>
            </a:r>
          </a:p>
          <a:p>
            <a:pPr>
              <a:buFont typeface="Wingdings" panose="05000000000000000000" pitchFamily="2" charset="2"/>
              <a:buChar char="Ø"/>
            </a:pPr>
            <a:r>
              <a:rPr lang="en-GB" dirty="0"/>
              <a:t>Uses existing systems – e.g. e-commerce</a:t>
            </a:r>
          </a:p>
          <a:p>
            <a:pPr>
              <a:buFont typeface="Wingdings" panose="05000000000000000000" pitchFamily="2" charset="2"/>
              <a:buChar char="Ø"/>
            </a:pPr>
            <a:r>
              <a:rPr lang="en-GB" dirty="0"/>
              <a:t>Online promotion makes this cost-effective</a:t>
            </a:r>
          </a:p>
          <a:p>
            <a:pPr>
              <a:buFont typeface="Wingdings" panose="05000000000000000000" pitchFamily="2" charset="2"/>
              <a:buChar char="Ø"/>
            </a:pPr>
            <a:r>
              <a:rPr lang="en-GB" dirty="0"/>
              <a:t>Can choose which orders to accept</a:t>
            </a:r>
          </a:p>
          <a:p>
            <a:pPr>
              <a:buFont typeface="Wingdings" panose="05000000000000000000" pitchFamily="2" charset="2"/>
              <a:buChar char="Ø"/>
            </a:pPr>
            <a:r>
              <a:rPr lang="en-GB" dirty="0"/>
              <a:t>Direct customer relationship established</a:t>
            </a:r>
          </a:p>
          <a:p>
            <a:pPr>
              <a:buFont typeface="Wingdings" panose="05000000000000000000" pitchFamily="2" charset="2"/>
              <a:buChar char="Ø"/>
            </a:pPr>
            <a:r>
              <a:rPr lang="en-GB" dirty="0"/>
              <a:t>Entire profit margin remains with the business</a:t>
            </a:r>
          </a:p>
          <a:p>
            <a:pPr>
              <a:buFont typeface="Wingdings" panose="05000000000000000000" pitchFamily="2" charset="2"/>
              <a:buChar char="Ø"/>
            </a:pPr>
            <a:r>
              <a:rPr lang="en-GB" dirty="0"/>
              <a:t>Can choose basis of payment – e.g. terms, currency, delivery options etc</a:t>
            </a:r>
          </a:p>
          <a:p>
            <a:r>
              <a:rPr lang="en-GB" b="1" dirty="0"/>
              <a:t>Disadvantages</a:t>
            </a:r>
            <a:endParaRPr lang="en-GB" dirty="0"/>
          </a:p>
          <a:p>
            <a:pPr>
              <a:buFont typeface="Wingdings" panose="05000000000000000000" pitchFamily="2" charset="2"/>
              <a:buChar char="Ø"/>
            </a:pPr>
            <a:r>
              <a:rPr lang="en-GB" dirty="0"/>
              <a:t>Potentially bureaucratic</a:t>
            </a:r>
          </a:p>
          <a:p>
            <a:pPr>
              <a:buFont typeface="Wingdings" panose="05000000000000000000" pitchFamily="2" charset="2"/>
              <a:buChar char="Ø"/>
            </a:pPr>
            <a:r>
              <a:rPr lang="en-GB" dirty="0"/>
              <a:t>No direct physical contact with customer</a:t>
            </a:r>
          </a:p>
          <a:p>
            <a:pPr>
              <a:buFont typeface="Wingdings" panose="05000000000000000000" pitchFamily="2" charset="2"/>
              <a:buChar char="Ø"/>
            </a:pPr>
            <a:r>
              <a:rPr lang="en-GB" dirty="0"/>
              <a:t>Risk of non-payment</a:t>
            </a:r>
          </a:p>
          <a:p>
            <a:pPr>
              <a:buFont typeface="Wingdings" panose="05000000000000000000" pitchFamily="2" charset="2"/>
              <a:buChar char="Ø"/>
            </a:pPr>
            <a:r>
              <a:rPr lang="en-GB" dirty="0"/>
              <a:t>Customer service processes may need to be extended (e.g. after-sales care in foreign languages)</a:t>
            </a:r>
          </a:p>
        </p:txBody>
      </p:sp>
    </p:spTree>
    <p:extLst>
      <p:ext uri="{BB962C8B-B14F-4D97-AF65-F5344CB8AC3E}">
        <p14:creationId xmlns:p14="http://schemas.microsoft.com/office/powerpoint/2010/main" val="1342492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93866-22F8-4329-AF7B-A0C657C2F1A5}"/>
              </a:ext>
            </a:extLst>
          </p:cNvPr>
          <p:cNvSpPr>
            <a:spLocks noGrp="1"/>
          </p:cNvSpPr>
          <p:nvPr>
            <p:ph type="title"/>
          </p:nvPr>
        </p:nvSpPr>
        <p:spPr/>
        <p:txBody>
          <a:bodyPr/>
          <a:lstStyle/>
          <a:p>
            <a:r>
              <a:rPr lang="en-GB" b="1" dirty="0"/>
              <a:t>main methods of investing in international markets</a:t>
            </a:r>
            <a:endParaRPr lang="en-GB" dirty="0"/>
          </a:p>
        </p:txBody>
      </p:sp>
      <p:sp>
        <p:nvSpPr>
          <p:cNvPr id="3" name="Content Placeholder 2">
            <a:extLst>
              <a:ext uri="{FF2B5EF4-FFF2-40B4-BE49-F238E27FC236}">
                <a16:creationId xmlns:a16="http://schemas.microsoft.com/office/drawing/2014/main" id="{BA1E0092-B91A-481A-96A3-96064CD01D01}"/>
              </a:ext>
            </a:extLst>
          </p:cNvPr>
          <p:cNvSpPr>
            <a:spLocks noGrp="1"/>
          </p:cNvSpPr>
          <p:nvPr>
            <p:ph idx="1"/>
          </p:nvPr>
        </p:nvSpPr>
        <p:spPr/>
        <p:txBody>
          <a:bodyPr>
            <a:normAutofit fontScale="77500" lnSpcReduction="20000"/>
          </a:bodyPr>
          <a:lstStyle/>
          <a:p>
            <a:pPr marL="0" indent="0">
              <a:buNone/>
            </a:pPr>
            <a:r>
              <a:rPr lang="en-GB" dirty="0">
                <a:solidFill>
                  <a:srgbClr val="FF0000"/>
                </a:solidFill>
              </a:rPr>
              <a:t>2. Selling via overseas agents or distributors</a:t>
            </a:r>
          </a:p>
          <a:p>
            <a:r>
              <a:rPr lang="en-GB" b="1" dirty="0"/>
              <a:t>Advantages</a:t>
            </a:r>
            <a:endParaRPr lang="en-GB" dirty="0"/>
          </a:p>
          <a:p>
            <a:r>
              <a:rPr lang="en-GB" dirty="0"/>
              <a:t>Agent of distributor should have specialist market knowledge and existing customers</a:t>
            </a:r>
          </a:p>
          <a:p>
            <a:r>
              <a:rPr lang="en-GB" dirty="0"/>
              <a:t>Fewer transactions to handle</a:t>
            </a:r>
          </a:p>
          <a:p>
            <a:r>
              <a:rPr lang="en-GB" dirty="0"/>
              <a:t>Can be cost effective – commission or distributor margin is a variable cost, not fixed</a:t>
            </a:r>
          </a:p>
          <a:p>
            <a:r>
              <a:rPr lang="en-GB" b="1" dirty="0"/>
              <a:t>Disadvantages</a:t>
            </a:r>
            <a:endParaRPr lang="en-GB" dirty="0"/>
          </a:p>
          <a:p>
            <a:r>
              <a:rPr lang="en-GB" dirty="0"/>
              <a:t>Loss of profit margin</a:t>
            </a:r>
          </a:p>
          <a:p>
            <a:r>
              <a:rPr lang="en-GB" dirty="0"/>
              <a:t>Unlikely to be an exclusive arrangement – question mark over agent and distributor commitment &amp; effort</a:t>
            </a:r>
          </a:p>
          <a:p>
            <a:r>
              <a:rPr lang="en-GB" dirty="0"/>
              <a:t>Harder to manage quality of customer service</a:t>
            </a:r>
          </a:p>
          <a:p>
            <a:r>
              <a:rPr lang="en-GB" dirty="0"/>
              <a:t>Agent / distributor keeps the customer relationship</a:t>
            </a:r>
          </a:p>
        </p:txBody>
      </p:sp>
    </p:spTree>
    <p:extLst>
      <p:ext uri="{BB962C8B-B14F-4D97-AF65-F5344CB8AC3E}">
        <p14:creationId xmlns:p14="http://schemas.microsoft.com/office/powerpoint/2010/main" val="171967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41CB-8650-4558-8916-D3F77BA32E27}"/>
              </a:ext>
            </a:extLst>
          </p:cNvPr>
          <p:cNvSpPr>
            <a:spLocks noGrp="1"/>
          </p:cNvSpPr>
          <p:nvPr>
            <p:ph type="title"/>
          </p:nvPr>
        </p:nvSpPr>
        <p:spPr/>
        <p:txBody>
          <a:bodyPr/>
          <a:lstStyle/>
          <a:p>
            <a:r>
              <a:rPr lang="en-GB" b="1" dirty="0"/>
              <a:t>main methods of investing in international markets</a:t>
            </a:r>
            <a:endParaRPr lang="en-GB" dirty="0"/>
          </a:p>
        </p:txBody>
      </p:sp>
      <p:sp>
        <p:nvSpPr>
          <p:cNvPr id="3" name="Content Placeholder 2">
            <a:extLst>
              <a:ext uri="{FF2B5EF4-FFF2-40B4-BE49-F238E27FC236}">
                <a16:creationId xmlns:a16="http://schemas.microsoft.com/office/drawing/2014/main" id="{F959A758-9378-4F39-8D4A-ADE8D05944EE}"/>
              </a:ext>
            </a:extLst>
          </p:cNvPr>
          <p:cNvSpPr>
            <a:spLocks noGrp="1"/>
          </p:cNvSpPr>
          <p:nvPr>
            <p:ph idx="1"/>
          </p:nvPr>
        </p:nvSpPr>
        <p:spPr/>
        <p:txBody>
          <a:bodyPr>
            <a:normAutofit fontScale="85000" lnSpcReduction="20000"/>
          </a:bodyPr>
          <a:lstStyle/>
          <a:p>
            <a:pPr marL="0" indent="0">
              <a:buNone/>
            </a:pPr>
            <a:endParaRPr lang="en-GB" dirty="0">
              <a:solidFill>
                <a:srgbClr val="FF0000"/>
              </a:solidFill>
            </a:endParaRPr>
          </a:p>
          <a:p>
            <a:pPr marL="0" indent="0">
              <a:buNone/>
            </a:pPr>
            <a:r>
              <a:rPr lang="en-GB" dirty="0">
                <a:solidFill>
                  <a:srgbClr val="FF0000"/>
                </a:solidFill>
              </a:rPr>
              <a:t>3. Opening an operation overseas</a:t>
            </a:r>
          </a:p>
          <a:p>
            <a:r>
              <a:rPr lang="en-GB" b="1" dirty="0"/>
              <a:t>Advantages</a:t>
            </a:r>
            <a:endParaRPr lang="en-GB" dirty="0"/>
          </a:p>
          <a:p>
            <a:r>
              <a:rPr lang="en-GB" dirty="0"/>
              <a:t>Local contact with customers &amp; suppliers</a:t>
            </a:r>
          </a:p>
          <a:p>
            <a:r>
              <a:rPr lang="en-GB" dirty="0"/>
              <a:t>Quickly gain detailed insights into market needs</a:t>
            </a:r>
          </a:p>
          <a:p>
            <a:r>
              <a:rPr lang="en-GB" dirty="0"/>
              <a:t>Direct control over quality and customer service</a:t>
            </a:r>
          </a:p>
          <a:p>
            <a:r>
              <a:rPr lang="en-GB" dirty="0"/>
              <a:t>Avoids tariff barriers</a:t>
            </a:r>
          </a:p>
          <a:p>
            <a:r>
              <a:rPr lang="en-GB" b="1" dirty="0"/>
              <a:t>Disadvantages</a:t>
            </a:r>
            <a:endParaRPr lang="en-GB" dirty="0"/>
          </a:p>
          <a:p>
            <a:r>
              <a:rPr lang="en-GB" dirty="0"/>
              <a:t>Significant cost &amp; investment of management time</a:t>
            </a:r>
          </a:p>
          <a:p>
            <a:r>
              <a:rPr lang="en-GB" dirty="0"/>
              <a:t>Need to understand and comply with local legal and tax issues</a:t>
            </a:r>
          </a:p>
          <a:p>
            <a:r>
              <a:rPr lang="en-GB" dirty="0"/>
              <a:t>Higher risk</a:t>
            </a:r>
          </a:p>
          <a:p>
            <a:endParaRPr lang="en-GB" dirty="0"/>
          </a:p>
          <a:p>
            <a:endParaRPr lang="en-GB" dirty="0"/>
          </a:p>
        </p:txBody>
      </p:sp>
    </p:spTree>
    <p:extLst>
      <p:ext uri="{BB962C8B-B14F-4D97-AF65-F5344CB8AC3E}">
        <p14:creationId xmlns:p14="http://schemas.microsoft.com/office/powerpoint/2010/main" val="1380969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A084C-A2C6-465E-9EDD-D0CE14F0E903}"/>
              </a:ext>
            </a:extLst>
          </p:cNvPr>
          <p:cNvSpPr>
            <a:spLocks noGrp="1"/>
          </p:cNvSpPr>
          <p:nvPr>
            <p:ph type="title"/>
          </p:nvPr>
        </p:nvSpPr>
        <p:spPr/>
        <p:txBody>
          <a:bodyPr/>
          <a:lstStyle/>
          <a:p>
            <a:r>
              <a:rPr lang="en-GB" b="1" dirty="0"/>
              <a:t>main methods of investing in international markets</a:t>
            </a:r>
            <a:endParaRPr lang="en-GB" dirty="0"/>
          </a:p>
        </p:txBody>
      </p:sp>
      <p:sp>
        <p:nvSpPr>
          <p:cNvPr id="3" name="Content Placeholder 2">
            <a:extLst>
              <a:ext uri="{FF2B5EF4-FFF2-40B4-BE49-F238E27FC236}">
                <a16:creationId xmlns:a16="http://schemas.microsoft.com/office/drawing/2014/main" id="{984D2B09-D6A9-40E9-9394-DD620D6F742D}"/>
              </a:ext>
            </a:extLst>
          </p:cNvPr>
          <p:cNvSpPr>
            <a:spLocks noGrp="1"/>
          </p:cNvSpPr>
          <p:nvPr>
            <p:ph idx="1"/>
          </p:nvPr>
        </p:nvSpPr>
        <p:spPr>
          <a:xfrm>
            <a:off x="838200" y="1825624"/>
            <a:ext cx="10515600" cy="4428419"/>
          </a:xfrm>
        </p:spPr>
        <p:txBody>
          <a:bodyPr>
            <a:normAutofit fontScale="92500"/>
          </a:bodyPr>
          <a:lstStyle/>
          <a:p>
            <a:pPr marL="0" indent="0">
              <a:buNone/>
            </a:pPr>
            <a:r>
              <a:rPr lang="en-GB" dirty="0">
                <a:solidFill>
                  <a:srgbClr val="FF0000"/>
                </a:solidFill>
              </a:rPr>
              <a:t>4. Joint venture or buying a business overseas</a:t>
            </a:r>
          </a:p>
          <a:p>
            <a:r>
              <a:rPr lang="en-GB" b="1" dirty="0"/>
              <a:t>Advantages</a:t>
            </a:r>
            <a:endParaRPr lang="en-GB" dirty="0"/>
          </a:p>
          <a:p>
            <a:r>
              <a:rPr lang="en-GB" dirty="0"/>
              <a:t>Popular way of entering emerging markets</a:t>
            </a:r>
          </a:p>
          <a:p>
            <a:r>
              <a:rPr lang="en-GB" dirty="0"/>
              <a:t>Reduced risk – shared with joint venture partner</a:t>
            </a:r>
          </a:p>
          <a:p>
            <a:r>
              <a:rPr lang="en-GB" dirty="0"/>
              <a:t>Buying into existing expertise and market presence</a:t>
            </a:r>
          </a:p>
          <a:p>
            <a:r>
              <a:rPr lang="en-GB" b="1" dirty="0"/>
              <a:t>Disadvantages</a:t>
            </a:r>
            <a:endParaRPr lang="en-GB" dirty="0"/>
          </a:p>
          <a:p>
            <a:r>
              <a:rPr lang="en-GB" dirty="0"/>
              <a:t>Joint ventures often go wrong – difficult to exit too</a:t>
            </a:r>
          </a:p>
          <a:p>
            <a:r>
              <a:rPr lang="en-GB" dirty="0"/>
              <a:t>Risk of buying the wrong business or paying too much for the business</a:t>
            </a:r>
          </a:p>
          <a:p>
            <a:r>
              <a:rPr lang="en-GB" dirty="0"/>
              <a:t>Competitor response may be strong</a:t>
            </a:r>
          </a:p>
          <a:p>
            <a:pPr marL="0" indent="0">
              <a:buNone/>
            </a:pPr>
            <a:endParaRPr lang="en-GB" dirty="0">
              <a:solidFill>
                <a:srgbClr val="FF0000"/>
              </a:solidFill>
            </a:endParaRPr>
          </a:p>
          <a:p>
            <a:endParaRPr lang="en-GB" dirty="0"/>
          </a:p>
        </p:txBody>
      </p:sp>
    </p:spTree>
    <p:extLst>
      <p:ext uri="{BB962C8B-B14F-4D97-AF65-F5344CB8AC3E}">
        <p14:creationId xmlns:p14="http://schemas.microsoft.com/office/powerpoint/2010/main" val="2955685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38363-7A77-4638-9699-641A5AFFB27A}"/>
              </a:ext>
            </a:extLst>
          </p:cNvPr>
          <p:cNvSpPr>
            <a:spLocks noGrp="1"/>
          </p:cNvSpPr>
          <p:nvPr>
            <p:ph type="title"/>
          </p:nvPr>
        </p:nvSpPr>
        <p:spPr/>
        <p:txBody>
          <a:bodyPr>
            <a:normAutofit/>
          </a:bodyPr>
          <a:lstStyle/>
          <a:p>
            <a:r>
              <a:rPr lang="en-GB" sz="3600" b="1" dirty="0"/>
              <a:t>FACTORS TO CONSIDER WHEN EXPANDING INTO INTERNATIONAL MARKETS</a:t>
            </a:r>
          </a:p>
        </p:txBody>
      </p:sp>
      <p:sp>
        <p:nvSpPr>
          <p:cNvPr id="3" name="Content Placeholder 2">
            <a:extLst>
              <a:ext uri="{FF2B5EF4-FFF2-40B4-BE49-F238E27FC236}">
                <a16:creationId xmlns:a16="http://schemas.microsoft.com/office/drawing/2014/main" id="{BDD8B678-7220-4180-9E3A-7F3916F088D4}"/>
              </a:ext>
            </a:extLst>
          </p:cNvPr>
          <p:cNvSpPr>
            <a:spLocks noGrp="1"/>
          </p:cNvSpPr>
          <p:nvPr>
            <p:ph idx="1"/>
          </p:nvPr>
        </p:nvSpPr>
        <p:spPr/>
        <p:txBody>
          <a:bodyPr>
            <a:normAutofit lnSpcReduction="10000"/>
          </a:bodyPr>
          <a:lstStyle/>
          <a:p>
            <a:r>
              <a:rPr lang="en-GB" b="1" dirty="0"/>
              <a:t>Cultural differences: </a:t>
            </a:r>
            <a:r>
              <a:rPr lang="en-GB" dirty="0"/>
              <a:t>a business needs to understand local cultural influences in order to sell its products effectively.</a:t>
            </a:r>
          </a:p>
          <a:p>
            <a:r>
              <a:rPr lang="en-GB" b="1" dirty="0"/>
              <a:t>Language issues: </a:t>
            </a:r>
            <a:r>
              <a:rPr lang="en-GB" dirty="0"/>
              <a:t>although the common business language worldwide is now English, there could still be language issues. Can the business market its product effectively in the local language? Will it have access to professional translators and marketing agencies?</a:t>
            </a:r>
          </a:p>
          <a:p>
            <a:r>
              <a:rPr lang="en-GB" b="1" dirty="0"/>
              <a:t>Legislation:</a:t>
            </a:r>
            <a:r>
              <a:rPr lang="en-GB" dirty="0"/>
              <a:t> legislation varies widely in overseas markets and will affect how to sell into them. A business must make sure it adheres to local laws. It will also need to consider how to find and select partners in overseas countries, as well as how to investigate the freight and communications options available.</a:t>
            </a:r>
          </a:p>
        </p:txBody>
      </p:sp>
    </p:spTree>
    <p:extLst>
      <p:ext uri="{BB962C8B-B14F-4D97-AF65-F5344CB8AC3E}">
        <p14:creationId xmlns:p14="http://schemas.microsoft.com/office/powerpoint/2010/main" val="4098706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B7E88-C8A7-4BB4-9FF5-0C0FDABCA62D}"/>
              </a:ext>
            </a:extLst>
          </p:cNvPr>
          <p:cNvSpPr>
            <a:spLocks noGrp="1"/>
          </p:cNvSpPr>
          <p:nvPr>
            <p:ph type="title"/>
          </p:nvPr>
        </p:nvSpPr>
        <p:spPr/>
        <p:txBody>
          <a:bodyPr>
            <a:normAutofit/>
          </a:bodyPr>
          <a:lstStyle/>
          <a:p>
            <a:r>
              <a:rPr lang="en-GB" b="1" dirty="0"/>
              <a:t>Ethics and Social Responsibility For an Entrepreneur</a:t>
            </a:r>
          </a:p>
        </p:txBody>
      </p:sp>
      <p:sp>
        <p:nvSpPr>
          <p:cNvPr id="3" name="Content Placeholder 2">
            <a:extLst>
              <a:ext uri="{FF2B5EF4-FFF2-40B4-BE49-F238E27FC236}">
                <a16:creationId xmlns:a16="http://schemas.microsoft.com/office/drawing/2014/main" id="{6C1065AC-5300-4188-A9A9-7EADCDDCE737}"/>
              </a:ext>
            </a:extLst>
          </p:cNvPr>
          <p:cNvSpPr>
            <a:spLocks noGrp="1"/>
          </p:cNvSpPr>
          <p:nvPr>
            <p:ph idx="1"/>
          </p:nvPr>
        </p:nvSpPr>
        <p:spPr/>
        <p:txBody>
          <a:bodyPr/>
          <a:lstStyle/>
          <a:p>
            <a:r>
              <a:rPr lang="en-GB" dirty="0"/>
              <a:t>Social Responsibility means eliminating corrupt, irresponsible or unethical behaviour which might harm to the community, its people and the environment.</a:t>
            </a:r>
          </a:p>
          <a:p>
            <a:r>
              <a:rPr lang="en-GB" dirty="0"/>
              <a:t>1) Public Image. The activities of an entrepreneur towards the welfare of the society earn goodwill and reputation for the business. People prefer to buy products of a company that engages itself in various social welfare programs. Again good public image also attracts the honest and competent employees to work with such employers.</a:t>
            </a:r>
          </a:p>
          <a:p>
            <a:r>
              <a:rPr lang="en-GB" dirty="0"/>
              <a:t>2) Employee Satisfaction. Employees are the part of the society. If you satisfy your needs, then you are doing social work.</a:t>
            </a:r>
          </a:p>
          <a:p>
            <a:endParaRPr lang="en-GB" dirty="0"/>
          </a:p>
        </p:txBody>
      </p:sp>
    </p:spTree>
    <p:extLst>
      <p:ext uri="{BB962C8B-B14F-4D97-AF65-F5344CB8AC3E}">
        <p14:creationId xmlns:p14="http://schemas.microsoft.com/office/powerpoint/2010/main" val="2587816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35FBE-0994-41BA-83B0-5A86EBC33D9D}"/>
              </a:ext>
            </a:extLst>
          </p:cNvPr>
          <p:cNvSpPr>
            <a:spLocks noGrp="1"/>
          </p:cNvSpPr>
          <p:nvPr>
            <p:ph type="title"/>
          </p:nvPr>
        </p:nvSpPr>
        <p:spPr>
          <a:xfrm>
            <a:off x="838200" y="681036"/>
            <a:ext cx="10515600" cy="752653"/>
          </a:xfrm>
        </p:spPr>
        <p:txBody>
          <a:bodyPr>
            <a:noAutofit/>
          </a:bodyPr>
          <a:lstStyle/>
          <a:p>
            <a:r>
              <a:rPr lang="en-GB" sz="3200" b="1" dirty="0"/>
              <a:t>Ethics and Social Responsibility for an Entrepreneur </a:t>
            </a:r>
            <a:r>
              <a:rPr lang="en-GB" sz="3200" b="1" dirty="0" err="1"/>
              <a:t>cont</a:t>
            </a:r>
            <a:r>
              <a:rPr lang="en-GB" sz="3200" b="1" dirty="0"/>
              <a:t>…</a:t>
            </a:r>
          </a:p>
        </p:txBody>
      </p:sp>
      <p:sp>
        <p:nvSpPr>
          <p:cNvPr id="3" name="Content Placeholder 2">
            <a:extLst>
              <a:ext uri="{FF2B5EF4-FFF2-40B4-BE49-F238E27FC236}">
                <a16:creationId xmlns:a16="http://schemas.microsoft.com/office/drawing/2014/main" id="{80C115BE-5CA5-4F18-AF0A-B2FDE88CBEA8}"/>
              </a:ext>
            </a:extLst>
          </p:cNvPr>
          <p:cNvSpPr>
            <a:spLocks noGrp="1"/>
          </p:cNvSpPr>
          <p:nvPr>
            <p:ph idx="1"/>
          </p:nvPr>
        </p:nvSpPr>
        <p:spPr>
          <a:xfrm>
            <a:off x="838200" y="1580444"/>
            <a:ext cx="10515600" cy="4596519"/>
          </a:xfrm>
        </p:spPr>
        <p:txBody>
          <a:bodyPr>
            <a:normAutofit fontScale="92500" lnSpcReduction="10000"/>
          </a:bodyPr>
          <a:lstStyle/>
          <a:p>
            <a:r>
              <a:rPr lang="en-GB" dirty="0"/>
              <a:t>3) Ethical Leadership. It is the belief that what entrepreneur does has a strong influence on employees. If manager cheats, Lies, steals or manipulates, then they are sending wrong signals to employees.</a:t>
            </a:r>
          </a:p>
          <a:p>
            <a:r>
              <a:rPr lang="en-GB" dirty="0"/>
              <a:t>4) A social Entrepreneur is an individual or organization who seeks out opportunities to improve society by using practical, innovative and substantial approaches. </a:t>
            </a:r>
          </a:p>
          <a:p>
            <a:r>
              <a:rPr lang="en-GB" dirty="0"/>
              <a:t>5) Environment Management. Managers and Organizations can do many things to protect and preserve the natural environment which includes plastic less business by giving paper bag, creating eco-friendly product, by eliminating production.</a:t>
            </a:r>
          </a:p>
          <a:p>
            <a:r>
              <a:rPr lang="en-GB" dirty="0"/>
              <a:t>6) Consumer Awareness. Consumers have become very conscious about their rights. If you are giving high quality products at cheap rate, that is kind of social Responsibility</a:t>
            </a:r>
          </a:p>
          <a:p>
            <a:pPr marL="0" indent="0">
              <a:buNone/>
            </a:pPr>
            <a:endParaRPr lang="en-GB" dirty="0"/>
          </a:p>
          <a:p>
            <a:endParaRPr lang="en-GB" dirty="0"/>
          </a:p>
        </p:txBody>
      </p:sp>
    </p:spTree>
    <p:extLst>
      <p:ext uri="{BB962C8B-B14F-4D97-AF65-F5344CB8AC3E}">
        <p14:creationId xmlns:p14="http://schemas.microsoft.com/office/powerpoint/2010/main" val="117936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A7332-7570-4979-BFC6-3CF902F79FA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DF5F2B0-5DFD-44B2-B767-EAC5FB0B3C7D}"/>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255080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639</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Strategies for Expanding into International Markets</vt:lpstr>
      <vt:lpstr>ANSOFF MATRIX</vt:lpstr>
      <vt:lpstr>The main methods of investing in international markets</vt:lpstr>
      <vt:lpstr>main methods of investing in international markets</vt:lpstr>
      <vt:lpstr>main methods of investing in international markets</vt:lpstr>
      <vt:lpstr>main methods of investing in international markets</vt:lpstr>
      <vt:lpstr>FACTORS TO CONSIDER WHEN EXPANDING INTO INTERNATIONAL MARKETS</vt:lpstr>
      <vt:lpstr>Ethics and Social Responsibility For an Entrepreneur</vt:lpstr>
      <vt:lpstr>Ethics and Social Responsibility for an Entrepreneur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Social Responsibility For An Entrepreneur</dc:title>
  <dc:creator>cg</dc:creator>
  <cp:lastModifiedBy>cg</cp:lastModifiedBy>
  <cp:revision>8</cp:revision>
  <dcterms:created xsi:type="dcterms:W3CDTF">2018-12-10T07:52:11Z</dcterms:created>
  <dcterms:modified xsi:type="dcterms:W3CDTF">2018-12-10T10:05:11Z</dcterms:modified>
</cp:coreProperties>
</file>