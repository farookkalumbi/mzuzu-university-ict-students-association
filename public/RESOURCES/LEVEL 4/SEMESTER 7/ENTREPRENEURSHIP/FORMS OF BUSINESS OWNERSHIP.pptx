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61" r:id="rId4"/>
    <p:sldId id="262"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8B05897-5B54-474E-A345-581858830008}" type="datetimeFigureOut">
              <a:rPr lang="en-US" smtClean="0"/>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10851804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B05897-5B54-474E-A345-581858830008}" type="datetimeFigureOut">
              <a:rPr lang="en-US" smtClean="0"/>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3425176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8B05897-5B54-474E-A345-581858830008}" type="datetimeFigureOut">
              <a:rPr lang="en-US" smtClean="0"/>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182007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8B05897-5B54-474E-A345-581858830008}" type="datetimeFigureOut">
              <a:rPr lang="en-US" smtClean="0"/>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2370358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B05897-5B54-474E-A345-581858830008}" type="datetimeFigureOut">
              <a:rPr lang="en-US" smtClean="0"/>
              <a:t>5/18/2019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32843928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B05897-5B54-474E-A345-581858830008}" type="datetimeFigureOut">
              <a:rPr lang="en-US" smtClean="0"/>
              <a:t>5/18/2019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3282694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B05897-5B54-474E-A345-581858830008}" type="datetimeFigureOut">
              <a:rPr lang="en-US" smtClean="0"/>
              <a:t>5/18/2019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2266521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B05897-5B54-474E-A345-581858830008}" type="datetimeFigureOut">
              <a:rPr lang="en-US" smtClean="0"/>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21654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8B05897-5B54-474E-A345-581858830008}" type="datetimeFigureOut">
              <a:rPr lang="en-US" smtClean="0"/>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202318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B05897-5B54-474E-A345-581858830008}" type="datetimeFigureOut">
              <a:rPr lang="en-US" smtClean="0"/>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3298070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B05897-5B54-474E-A345-581858830008}" type="datetimeFigureOut">
              <a:rPr lang="en-US" smtClean="0"/>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702AF-DDA4-4290-AAEF-7D33A4E0A5EB}" type="slidenum">
              <a:rPr lang="en-US" smtClean="0"/>
              <a:t>‹#›</a:t>
            </a:fld>
            <a:endParaRPr lang="en-US"/>
          </a:p>
        </p:txBody>
      </p:sp>
    </p:spTree>
    <p:extLst>
      <p:ext uri="{BB962C8B-B14F-4D97-AF65-F5344CB8AC3E}">
        <p14:creationId xmlns:p14="http://schemas.microsoft.com/office/powerpoint/2010/main" val="1367664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B05897-5B54-474E-A345-581858830008}" type="datetimeFigureOut">
              <a:rPr lang="en-US" smtClean="0"/>
              <a:t>5/18/2019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31702AF-DDA4-4290-AAEF-7D33A4E0A5EB}" type="slidenum">
              <a:rPr lang="en-US" smtClean="0"/>
              <a:t>‹#›</a:t>
            </a:fld>
            <a:endParaRPr lang="en-US"/>
          </a:p>
        </p:txBody>
      </p:sp>
    </p:spTree>
    <p:extLst>
      <p:ext uri="{BB962C8B-B14F-4D97-AF65-F5344CB8AC3E}">
        <p14:creationId xmlns:p14="http://schemas.microsoft.com/office/powerpoint/2010/main" val="4215600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a:xfrm>
            <a:off x="827315" y="1940969"/>
            <a:ext cx="9144000" cy="23876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smtClean="0"/>
              <a:t>FORMS OF BUSINESS OWNERSHIP</a:t>
            </a:r>
            <a:endParaRPr lang="en-US" dirty="0"/>
          </a:p>
        </p:txBody>
      </p:sp>
    </p:spTree>
    <p:extLst>
      <p:ext uri="{BB962C8B-B14F-4D97-AF65-F5344CB8AC3E}">
        <p14:creationId xmlns:p14="http://schemas.microsoft.com/office/powerpoint/2010/main" val="1562627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137" y="561703"/>
            <a:ext cx="10909663" cy="5615260"/>
          </a:xfrm>
        </p:spPr>
        <p:txBody>
          <a:bodyPr>
            <a:normAutofit/>
          </a:bodyPr>
          <a:lstStyle/>
          <a:p>
            <a:pPr marL="0" indent="0">
              <a:buNone/>
            </a:pPr>
            <a:r>
              <a:rPr lang="en-US" b="1" dirty="0" smtClean="0"/>
              <a:t>1. family businesses</a:t>
            </a:r>
          </a:p>
          <a:p>
            <a:pPr marL="0" indent="0">
              <a:buNone/>
            </a:pPr>
            <a:r>
              <a:rPr lang="en-US" dirty="0" smtClean="0"/>
              <a:t>A firm, of any size, is a family business, if: </a:t>
            </a:r>
          </a:p>
          <a:p>
            <a:pPr marL="0" indent="0">
              <a:buNone/>
            </a:pPr>
            <a:r>
              <a:rPr lang="en-US" dirty="0" smtClean="0"/>
              <a:t>(1) The majority of decision-making rights is in the possession of the natural person(s) who established the firm, or in the possession of the natural person(s) who has/have acquired the share capital of the firm, or in the possession of their spouses, parents, child or children’s direct heirs. </a:t>
            </a:r>
          </a:p>
          <a:p>
            <a:pPr marL="0" indent="0">
              <a:buNone/>
            </a:pPr>
            <a:r>
              <a:rPr lang="en-US" dirty="0" smtClean="0"/>
              <a:t>(2) The majority of decision-making rights are indirect or direct. </a:t>
            </a:r>
          </a:p>
          <a:p>
            <a:pPr marL="0" indent="0">
              <a:buNone/>
            </a:pPr>
            <a:r>
              <a:rPr lang="en-US" dirty="0" smtClean="0"/>
              <a:t>(3) At least one representative of the family or kin is formally involved in the governance of the firm.</a:t>
            </a:r>
          </a:p>
          <a:p>
            <a:r>
              <a:rPr lang="en-US" dirty="0"/>
              <a:t>However, in most studies a family firm has been characterized as a firm that is controlled and usually managed by multiple family members, sometimes from multiple generations</a:t>
            </a:r>
          </a:p>
          <a:p>
            <a:endParaRPr lang="en-US" dirty="0"/>
          </a:p>
        </p:txBody>
      </p:sp>
    </p:spTree>
    <p:extLst>
      <p:ext uri="{BB962C8B-B14F-4D97-AF65-F5344CB8AC3E}">
        <p14:creationId xmlns:p14="http://schemas.microsoft.com/office/powerpoint/2010/main" val="2386333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85949" y="1107168"/>
            <a:ext cx="10515600" cy="4351338"/>
          </a:xfrm>
        </p:spPr>
        <p:txBody>
          <a:bodyPr>
            <a:normAutofit/>
          </a:bodyPr>
          <a:lstStyle/>
          <a:p>
            <a:pPr marL="0" indent="0">
              <a:buNone/>
            </a:pPr>
            <a:r>
              <a:rPr lang="en-US" b="1" dirty="0" smtClean="0"/>
              <a:t>A. Advantages of Family Firms</a:t>
            </a:r>
          </a:p>
          <a:p>
            <a:r>
              <a:rPr lang="en-US" dirty="0"/>
              <a:t> </a:t>
            </a:r>
            <a:r>
              <a:rPr lang="en-US" dirty="0" smtClean="0"/>
              <a:t>Family firms are </a:t>
            </a:r>
            <a:r>
              <a:rPr lang="en-US" dirty="0" err="1" smtClean="0"/>
              <a:t>longterm</a:t>
            </a:r>
            <a:r>
              <a:rPr lang="en-US" dirty="0" smtClean="0"/>
              <a:t> oriented and care about the future.</a:t>
            </a:r>
          </a:p>
          <a:p>
            <a:r>
              <a:rPr lang="en-US" dirty="0" smtClean="0"/>
              <a:t>There is greater stability of the business: even in the bad times, family ties keep their firm running, something that non-family firms lack. </a:t>
            </a:r>
          </a:p>
          <a:p>
            <a:r>
              <a:rPr lang="en-US" dirty="0" smtClean="0"/>
              <a:t>Family </a:t>
            </a:r>
            <a:r>
              <a:rPr lang="en-US" dirty="0"/>
              <a:t>films enjoy a positive reputation in terms of quality and tradition, which can positively affect the demand for their products and services. </a:t>
            </a:r>
          </a:p>
          <a:p>
            <a:endParaRPr lang="en-US" dirty="0"/>
          </a:p>
        </p:txBody>
      </p:sp>
    </p:spTree>
    <p:extLst>
      <p:ext uri="{BB962C8B-B14F-4D97-AF65-F5344CB8AC3E}">
        <p14:creationId xmlns:p14="http://schemas.microsoft.com/office/powerpoint/2010/main" val="3904880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201783"/>
            <a:ext cx="10515600" cy="4975180"/>
          </a:xfrm>
        </p:spPr>
        <p:txBody>
          <a:bodyPr/>
          <a:lstStyle/>
          <a:p>
            <a:r>
              <a:rPr lang="en-US" dirty="0" smtClean="0"/>
              <a:t>There is lower fluctuation of employees. There is lower rotation of employees, positive employment atmosphere and unwillingness to fire employees during the times of crisis.</a:t>
            </a:r>
          </a:p>
          <a:p>
            <a:r>
              <a:rPr lang="en-US" dirty="0" smtClean="0"/>
              <a:t>There is trust and friendship which contribute to a better working atmosphere, they by reducing </a:t>
            </a:r>
            <a:r>
              <a:rPr lang="en-US" dirty="0"/>
              <a:t>delinquency and </a:t>
            </a:r>
            <a:r>
              <a:rPr lang="en-US" dirty="0" smtClean="0"/>
              <a:t>crime.</a:t>
            </a:r>
          </a:p>
          <a:p>
            <a:r>
              <a:rPr lang="en-US" dirty="0"/>
              <a:t>Family owners are more willing to share knowledge and know-how with their employees. This can be seen as a better dissemination of knowledge (both formal and tacit knowledge) within family firms. </a:t>
            </a:r>
          </a:p>
          <a:p>
            <a:endParaRPr lang="en-US" dirty="0"/>
          </a:p>
        </p:txBody>
      </p:sp>
    </p:spTree>
    <p:extLst>
      <p:ext uri="{BB962C8B-B14F-4D97-AF65-F5344CB8AC3E}">
        <p14:creationId xmlns:p14="http://schemas.microsoft.com/office/powerpoint/2010/main" val="4139764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74320"/>
            <a:ext cx="10515600" cy="5902643"/>
          </a:xfrm>
        </p:spPr>
        <p:txBody>
          <a:bodyPr>
            <a:normAutofit fontScale="92500" lnSpcReduction="20000"/>
          </a:bodyPr>
          <a:lstStyle/>
          <a:p>
            <a:pPr marL="0" indent="0">
              <a:buNone/>
            </a:pPr>
            <a:r>
              <a:rPr lang="en-US" b="1" dirty="0" smtClean="0"/>
              <a:t>Disadvantages of Family Firms</a:t>
            </a:r>
          </a:p>
          <a:p>
            <a:r>
              <a:rPr lang="en-US" dirty="0"/>
              <a:t>Because of emotional ties, a distress of a family firm can have a negative causal impact on the whole family.</a:t>
            </a:r>
          </a:p>
          <a:p>
            <a:r>
              <a:rPr lang="en-US" dirty="0" smtClean="0"/>
              <a:t>Family Conflicts directly affects family entrepreneurship. Conflicts can emerge between husband and wife, as well as between parents and children, between siblings, or between family and non-family employees.</a:t>
            </a:r>
          </a:p>
          <a:p>
            <a:r>
              <a:rPr lang="en-US" dirty="0" smtClean="0"/>
              <a:t>parents </a:t>
            </a:r>
            <a:r>
              <a:rPr lang="en-US" dirty="0"/>
              <a:t>may have too high expectations: children will possibly not be as good as their parents expect them to be</a:t>
            </a:r>
            <a:r>
              <a:rPr lang="en-US" dirty="0" smtClean="0"/>
              <a:t>.</a:t>
            </a:r>
          </a:p>
          <a:p>
            <a:r>
              <a:rPr lang="en-US" dirty="0"/>
              <a:t>control by heirs </a:t>
            </a:r>
            <a:r>
              <a:rPr lang="en-US" dirty="0" smtClean="0"/>
              <a:t>often leads to </a:t>
            </a:r>
            <a:r>
              <a:rPr lang="en-US" dirty="0"/>
              <a:t>lower profitability or </a:t>
            </a:r>
            <a:r>
              <a:rPr lang="en-US" dirty="0" smtClean="0"/>
              <a:t>growth.</a:t>
            </a:r>
          </a:p>
          <a:p>
            <a:r>
              <a:rPr lang="en-US" dirty="0"/>
              <a:t>lack of separation of work and family: bringing home work-related problems, lack of boundaries between work and family, and working “24h a day</a:t>
            </a:r>
            <a:r>
              <a:rPr lang="en-US" dirty="0" smtClean="0"/>
              <a:t>”.</a:t>
            </a:r>
          </a:p>
          <a:p>
            <a:r>
              <a:rPr lang="en-US" dirty="0"/>
              <a:t>Aversion to change can </a:t>
            </a:r>
            <a:r>
              <a:rPr lang="en-US" dirty="0" smtClean="0"/>
              <a:t>limit </a:t>
            </a:r>
            <a:r>
              <a:rPr lang="en-US" dirty="0"/>
              <a:t>the opportunities of </a:t>
            </a:r>
            <a:r>
              <a:rPr lang="en-US" dirty="0" smtClean="0"/>
              <a:t>growth. </a:t>
            </a:r>
          </a:p>
          <a:p>
            <a:r>
              <a:rPr lang="en-US" dirty="0" smtClean="0"/>
              <a:t>family </a:t>
            </a:r>
            <a:r>
              <a:rPr lang="en-US" dirty="0"/>
              <a:t>firm managers cannot afford to be too strict when dealing with their children or spouses.</a:t>
            </a:r>
          </a:p>
          <a:p>
            <a:r>
              <a:rPr lang="en-US" dirty="0"/>
              <a:t>too strict policies or policies that entirely prevented family ties within the company could harm the company’s way to success in the long run</a:t>
            </a:r>
          </a:p>
          <a:p>
            <a:endParaRPr lang="en-US" dirty="0"/>
          </a:p>
        </p:txBody>
      </p:sp>
    </p:spTree>
    <p:extLst>
      <p:ext uri="{BB962C8B-B14F-4D97-AF65-F5344CB8AC3E}">
        <p14:creationId xmlns:p14="http://schemas.microsoft.com/office/powerpoint/2010/main" val="15881209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981200" y="152400"/>
            <a:ext cx="8229600" cy="1143000"/>
          </a:xfrm>
        </p:spPr>
        <p:txBody>
          <a:bodyPr/>
          <a:lstStyle/>
          <a:p>
            <a:pPr eaLnBrk="1" hangingPunct="1"/>
            <a:r>
              <a:rPr lang="en-US" altLang="en-US" sz="3600" dirty="0" smtClean="0">
                <a:latin typeface="Times New Roman" panose="02020603050405020304" pitchFamily="18" charset="0"/>
              </a:rPr>
              <a:t>2. What </a:t>
            </a:r>
            <a:r>
              <a:rPr lang="en-US" altLang="en-US" sz="3600" dirty="0">
                <a:latin typeface="Times New Roman" panose="02020603050405020304" pitchFamily="18" charset="0"/>
              </a:rPr>
              <a:t>is Franchising?</a:t>
            </a:r>
          </a:p>
        </p:txBody>
      </p:sp>
      <p:sp>
        <p:nvSpPr>
          <p:cNvPr id="5123" name="Rectangle 3"/>
          <p:cNvSpPr>
            <a:spLocks noGrp="1" noChangeArrowheads="1"/>
          </p:cNvSpPr>
          <p:nvPr>
            <p:ph idx="1"/>
          </p:nvPr>
        </p:nvSpPr>
        <p:spPr/>
        <p:txBody>
          <a:bodyPr/>
          <a:lstStyle/>
          <a:p>
            <a:pPr eaLnBrk="1" hangingPunct="1"/>
            <a:r>
              <a:rPr lang="en-US" altLang="en-US" dirty="0">
                <a:latin typeface="Times New Roman" panose="02020603050405020304" pitchFamily="18" charset="0"/>
              </a:rPr>
              <a:t>Franchising</a:t>
            </a:r>
          </a:p>
          <a:p>
            <a:pPr lvl="1" eaLnBrk="1" hangingPunct="1"/>
            <a:r>
              <a:rPr lang="en-US" altLang="en-US" dirty="0">
                <a:latin typeface="Times New Roman" panose="02020603050405020304" pitchFamily="18" charset="0"/>
              </a:rPr>
              <a:t>Franchising is a form of business organization in which a firm that already has a successful product or service (franchisor) licenses its trademark and method of doing business to another business or individual (franchisee) in exchange for a franchise fee and an ongoing royalty payment.</a:t>
            </a:r>
          </a:p>
          <a:p>
            <a:pPr lvl="1" eaLnBrk="1" hangingPunct="1"/>
            <a:r>
              <a:rPr lang="en-US" altLang="en-US" dirty="0">
                <a:latin typeface="Times New Roman" panose="02020603050405020304" pitchFamily="18" charset="0"/>
              </a:rPr>
              <a:t>Some franchisors are established firms while others are first-time enterprises being launched by entrepreneurs. </a:t>
            </a:r>
          </a:p>
        </p:txBody>
      </p:sp>
      <p:sp>
        <p:nvSpPr>
          <p:cNvPr id="5126"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400"/>
              <a:t>15-</a:t>
            </a:r>
            <a:fld id="{EEEAF293-B009-48B1-A09F-6CC855C5A1A3}" type="slidenum">
              <a:rPr lang="en-US" altLang="en-US" sz="1400"/>
              <a:pPr>
                <a:spcBef>
                  <a:spcPct val="0"/>
                </a:spcBef>
                <a:buFontTx/>
                <a:buNone/>
              </a:pPr>
              <a:t>6</a:t>
            </a:fld>
            <a:endParaRPr lang="en-US" altLang="en-US" sz="1400"/>
          </a:p>
        </p:txBody>
      </p:sp>
      <p:sp>
        <p:nvSpPr>
          <p:cNvPr id="5124" name="Line 4"/>
          <p:cNvSpPr>
            <a:spLocks noChangeShapeType="1"/>
          </p:cNvSpPr>
          <p:nvPr/>
        </p:nvSpPr>
        <p:spPr bwMode="auto">
          <a:xfrm>
            <a:off x="1524000" y="12192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2646899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752600" y="152400"/>
            <a:ext cx="8763000" cy="1143000"/>
          </a:xfrm>
        </p:spPr>
        <p:txBody>
          <a:bodyPr/>
          <a:lstStyle/>
          <a:p>
            <a:pPr eaLnBrk="1" hangingPunct="1"/>
            <a:r>
              <a:rPr lang="en-US" altLang="en-US" sz="3600">
                <a:latin typeface="Times New Roman" panose="02020603050405020304" pitchFamily="18" charset="0"/>
              </a:rPr>
              <a:t>Advantages and Disadvantages of Franchising as a Method of Business Expansion</a:t>
            </a:r>
          </a:p>
        </p:txBody>
      </p:sp>
      <p:sp>
        <p:nvSpPr>
          <p:cNvPr id="6155"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400"/>
              <a:t>15-</a:t>
            </a:r>
            <a:fld id="{050A7B6A-EA85-4060-84D3-29352278C8A5}" type="slidenum">
              <a:rPr lang="en-US" altLang="en-US" sz="1400"/>
              <a:pPr>
                <a:spcBef>
                  <a:spcPct val="0"/>
                </a:spcBef>
                <a:buFontTx/>
                <a:buNone/>
              </a:pPr>
              <a:t>7</a:t>
            </a:fld>
            <a:endParaRPr lang="en-US" altLang="en-US" sz="1400"/>
          </a:p>
        </p:txBody>
      </p:sp>
      <p:sp>
        <p:nvSpPr>
          <p:cNvPr id="6147"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8" name="Line 6"/>
          <p:cNvSpPr>
            <a:spLocks noChangeShapeType="1"/>
          </p:cNvSpPr>
          <p:nvPr/>
        </p:nvSpPr>
        <p:spPr bwMode="auto">
          <a:xfrm>
            <a:off x="1981200" y="2057400"/>
            <a:ext cx="822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9" name="Line 7"/>
          <p:cNvSpPr>
            <a:spLocks noChangeShapeType="1"/>
          </p:cNvSpPr>
          <p:nvPr/>
        </p:nvSpPr>
        <p:spPr bwMode="auto">
          <a:xfrm>
            <a:off x="5791200" y="2057400"/>
            <a:ext cx="0" cy="441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0" name="Text Box 8"/>
          <p:cNvSpPr txBox="1">
            <a:spLocks noChangeArrowheads="1"/>
          </p:cNvSpPr>
          <p:nvPr/>
        </p:nvSpPr>
        <p:spPr bwMode="auto">
          <a:xfrm>
            <a:off x="1981200" y="16002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Advantages</a:t>
            </a:r>
          </a:p>
        </p:txBody>
      </p:sp>
      <p:sp>
        <p:nvSpPr>
          <p:cNvPr id="6151" name="Text Box 9"/>
          <p:cNvSpPr txBox="1">
            <a:spLocks noChangeArrowheads="1"/>
          </p:cNvSpPr>
          <p:nvPr/>
        </p:nvSpPr>
        <p:spPr bwMode="auto">
          <a:xfrm>
            <a:off x="5867400" y="16002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Disadvantages</a:t>
            </a:r>
          </a:p>
        </p:txBody>
      </p:sp>
      <p:sp>
        <p:nvSpPr>
          <p:cNvPr id="6152" name="Text Box 10"/>
          <p:cNvSpPr txBox="1">
            <a:spLocks noChangeArrowheads="1"/>
          </p:cNvSpPr>
          <p:nvPr/>
        </p:nvSpPr>
        <p:spPr bwMode="auto">
          <a:xfrm>
            <a:off x="1905000" y="2286000"/>
            <a:ext cx="3886200" cy="298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1800">
                <a:latin typeface="Times New Roman" panose="02020603050405020304" pitchFamily="18" charset="0"/>
              </a:rPr>
              <a:t> </a:t>
            </a:r>
            <a:r>
              <a:rPr lang="en-US" altLang="en-US" sz="2000">
                <a:latin typeface="Times New Roman" panose="02020603050405020304" pitchFamily="18" charset="0"/>
              </a:rPr>
              <a:t>Rapid, low-cost market expansion.</a:t>
            </a:r>
          </a:p>
          <a:p>
            <a:pPr eaLnBrk="1" hangingPunct="1">
              <a:lnSpc>
                <a:spcPct val="70000"/>
              </a:lnSpc>
              <a:spcBef>
                <a:spcPct val="50000"/>
              </a:spcBef>
            </a:pPr>
            <a:r>
              <a:rPr lang="en-US" altLang="en-US" sz="2000">
                <a:latin typeface="Times New Roman" panose="02020603050405020304" pitchFamily="18" charset="0"/>
              </a:rPr>
              <a:t> Income from franchise fees and</a:t>
            </a:r>
          </a:p>
          <a:p>
            <a:pPr eaLnBrk="1" hangingPunct="1">
              <a:lnSpc>
                <a:spcPct val="70000"/>
              </a:lnSpc>
              <a:spcBef>
                <a:spcPct val="50000"/>
              </a:spcBef>
              <a:buFontTx/>
              <a:buNone/>
            </a:pPr>
            <a:r>
              <a:rPr lang="en-US" altLang="en-US" sz="2000">
                <a:latin typeface="Times New Roman" panose="02020603050405020304" pitchFamily="18" charset="0"/>
              </a:rPr>
              <a:t>  royalties.</a:t>
            </a:r>
          </a:p>
          <a:p>
            <a:pPr eaLnBrk="1" hangingPunct="1">
              <a:spcBef>
                <a:spcPct val="50000"/>
              </a:spcBef>
            </a:pPr>
            <a:r>
              <a:rPr lang="en-US" altLang="en-US" sz="2000">
                <a:latin typeface="Times New Roman" panose="02020603050405020304" pitchFamily="18" charset="0"/>
              </a:rPr>
              <a:t> Franchisee motivation.</a:t>
            </a:r>
          </a:p>
          <a:p>
            <a:pPr eaLnBrk="1" hangingPunct="1">
              <a:spcBef>
                <a:spcPct val="50000"/>
              </a:spcBef>
            </a:pPr>
            <a:r>
              <a:rPr lang="en-US" altLang="en-US" sz="2000">
                <a:latin typeface="Times New Roman" panose="02020603050405020304" pitchFamily="18" charset="0"/>
              </a:rPr>
              <a:t> Access to ideas and suggestions.</a:t>
            </a:r>
          </a:p>
          <a:p>
            <a:pPr eaLnBrk="1" hangingPunct="1">
              <a:spcBef>
                <a:spcPct val="50000"/>
              </a:spcBef>
            </a:pPr>
            <a:r>
              <a:rPr lang="en-US" altLang="en-US" sz="2000">
                <a:latin typeface="Times New Roman" panose="02020603050405020304" pitchFamily="18" charset="0"/>
              </a:rPr>
              <a:t> Cost savings.</a:t>
            </a:r>
          </a:p>
          <a:p>
            <a:pPr eaLnBrk="1" hangingPunct="1">
              <a:spcBef>
                <a:spcPct val="50000"/>
              </a:spcBef>
            </a:pPr>
            <a:r>
              <a:rPr lang="en-US" altLang="en-US" sz="2000">
                <a:latin typeface="Times New Roman" panose="02020603050405020304" pitchFamily="18" charset="0"/>
              </a:rPr>
              <a:t> Increased buying power.</a:t>
            </a:r>
          </a:p>
        </p:txBody>
      </p:sp>
      <p:sp>
        <p:nvSpPr>
          <p:cNvPr id="6153" name="Text Box 11"/>
          <p:cNvSpPr txBox="1">
            <a:spLocks noChangeArrowheads="1"/>
          </p:cNvSpPr>
          <p:nvPr/>
        </p:nvSpPr>
        <p:spPr bwMode="auto">
          <a:xfrm>
            <a:off x="5867400" y="2286001"/>
            <a:ext cx="4495800"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1600" dirty="0">
                <a:latin typeface="Times New Roman" panose="02020603050405020304" pitchFamily="18" charset="0"/>
              </a:rPr>
              <a:t> </a:t>
            </a:r>
            <a:r>
              <a:rPr lang="en-US" altLang="en-US" sz="2000" dirty="0">
                <a:latin typeface="Times New Roman" panose="02020603050405020304" pitchFamily="18" charset="0"/>
              </a:rPr>
              <a:t>Profit sharing.</a:t>
            </a:r>
          </a:p>
          <a:p>
            <a:pPr eaLnBrk="1" hangingPunct="1">
              <a:spcBef>
                <a:spcPct val="50000"/>
              </a:spcBef>
            </a:pPr>
            <a:r>
              <a:rPr lang="en-US" altLang="en-US" sz="2000" dirty="0">
                <a:latin typeface="Times New Roman" panose="02020603050405020304" pitchFamily="18" charset="0"/>
              </a:rPr>
              <a:t> Loss of control.</a:t>
            </a:r>
          </a:p>
          <a:p>
            <a:pPr eaLnBrk="1" hangingPunct="1">
              <a:spcBef>
                <a:spcPct val="50000"/>
              </a:spcBef>
            </a:pPr>
            <a:r>
              <a:rPr lang="en-US" altLang="en-US" sz="2000" dirty="0">
                <a:latin typeface="Times New Roman" panose="02020603050405020304" pitchFamily="18" charset="0"/>
              </a:rPr>
              <a:t> Friction with franchisees.</a:t>
            </a:r>
          </a:p>
          <a:p>
            <a:pPr eaLnBrk="1" hangingPunct="1">
              <a:spcBef>
                <a:spcPct val="50000"/>
              </a:spcBef>
            </a:pPr>
            <a:r>
              <a:rPr lang="en-US" altLang="en-US" sz="2000" dirty="0">
                <a:latin typeface="Times New Roman" panose="02020603050405020304" pitchFamily="18" charset="0"/>
              </a:rPr>
              <a:t> Managing </a:t>
            </a:r>
            <a:r>
              <a:rPr lang="en-US" altLang="en-US" sz="2000" dirty="0" smtClean="0">
                <a:latin typeface="Times New Roman" panose="02020603050405020304" pitchFamily="18" charset="0"/>
              </a:rPr>
              <a:t>growth may be difficult.</a:t>
            </a:r>
            <a:endParaRPr lang="en-US" altLang="en-US" sz="2000" dirty="0">
              <a:latin typeface="Times New Roman" panose="02020603050405020304" pitchFamily="18" charset="0"/>
            </a:endParaRPr>
          </a:p>
          <a:p>
            <a:pPr eaLnBrk="1" hangingPunct="1">
              <a:spcBef>
                <a:spcPct val="50000"/>
              </a:spcBef>
            </a:pPr>
            <a:r>
              <a:rPr lang="en-US" altLang="en-US" sz="2000" dirty="0">
                <a:latin typeface="Times New Roman" panose="02020603050405020304" pitchFamily="18" charset="0"/>
              </a:rPr>
              <a:t> Differences in required business skills.</a:t>
            </a:r>
          </a:p>
          <a:p>
            <a:pPr eaLnBrk="1" hangingPunct="1">
              <a:spcBef>
                <a:spcPct val="50000"/>
              </a:spcBef>
            </a:pPr>
            <a:r>
              <a:rPr lang="en-US" altLang="en-US" sz="2000" dirty="0">
                <a:latin typeface="Times New Roman" panose="02020603050405020304" pitchFamily="18" charset="0"/>
              </a:rPr>
              <a:t> Legal </a:t>
            </a:r>
            <a:r>
              <a:rPr lang="en-US" altLang="en-US" sz="2000" dirty="0" smtClean="0">
                <a:latin typeface="Times New Roman" panose="02020603050405020304" pitchFamily="18" charset="0"/>
              </a:rPr>
              <a:t>expenses may be higher.</a:t>
            </a:r>
            <a:endParaRPr lang="en-US" altLang="en-US" sz="2000" dirty="0">
              <a:latin typeface="Times New Roman" panose="02020603050405020304" pitchFamily="18" charset="0"/>
            </a:endParaRPr>
          </a:p>
        </p:txBody>
      </p:sp>
    </p:spTree>
    <p:extLst>
      <p:ext uri="{BB962C8B-B14F-4D97-AF65-F5344CB8AC3E}">
        <p14:creationId xmlns:p14="http://schemas.microsoft.com/office/powerpoint/2010/main" val="36001201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752600" y="152400"/>
            <a:ext cx="8763000" cy="1143000"/>
          </a:xfrm>
        </p:spPr>
        <p:txBody>
          <a:bodyPr/>
          <a:lstStyle/>
          <a:p>
            <a:pPr eaLnBrk="1" hangingPunct="1"/>
            <a:r>
              <a:rPr lang="en-US" altLang="en-US" sz="3600">
                <a:latin typeface="Times New Roman" panose="02020603050405020304" pitchFamily="18" charset="0"/>
              </a:rPr>
              <a:t>Advantages and Disadvantages of </a:t>
            </a:r>
            <a:br>
              <a:rPr lang="en-US" altLang="en-US" sz="3600">
                <a:latin typeface="Times New Roman" panose="02020603050405020304" pitchFamily="18" charset="0"/>
              </a:rPr>
            </a:br>
            <a:r>
              <a:rPr lang="en-US" altLang="en-US" sz="3600">
                <a:latin typeface="Times New Roman" panose="02020603050405020304" pitchFamily="18" charset="0"/>
              </a:rPr>
              <a:t>Buying a Franchise</a:t>
            </a:r>
          </a:p>
        </p:txBody>
      </p:sp>
      <p:sp>
        <p:nvSpPr>
          <p:cNvPr id="7179" name="Slide Number Placeholder 12"/>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spcBef>
                <a:spcPct val="0"/>
              </a:spcBef>
              <a:buFontTx/>
              <a:buNone/>
            </a:pPr>
            <a:r>
              <a:rPr lang="en-US" altLang="en-US" sz="1400"/>
              <a:t>15-</a:t>
            </a:r>
            <a:fld id="{32AF38B0-AD61-4837-8B22-81B75FF83B52}" type="slidenum">
              <a:rPr lang="en-US" altLang="en-US" sz="1400"/>
              <a:pPr>
                <a:spcBef>
                  <a:spcPct val="0"/>
                </a:spcBef>
                <a:buFontTx/>
                <a:buNone/>
              </a:pPr>
              <a:t>8</a:t>
            </a:fld>
            <a:endParaRPr lang="en-US" altLang="en-US" sz="1400"/>
          </a:p>
        </p:txBody>
      </p:sp>
      <p:sp>
        <p:nvSpPr>
          <p:cNvPr id="7171" name="Line 4"/>
          <p:cNvSpPr>
            <a:spLocks noChangeShapeType="1"/>
          </p:cNvSpPr>
          <p:nvPr/>
        </p:nvSpPr>
        <p:spPr bwMode="auto">
          <a:xfrm>
            <a:off x="1524000" y="1371600"/>
            <a:ext cx="9144000" cy="0"/>
          </a:xfrm>
          <a:prstGeom prst="line">
            <a:avLst/>
          </a:prstGeom>
          <a:noFill/>
          <a:ln w="38100">
            <a:solidFill>
              <a:srgbClr val="99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2" name="Line 6"/>
          <p:cNvSpPr>
            <a:spLocks noChangeShapeType="1"/>
          </p:cNvSpPr>
          <p:nvPr/>
        </p:nvSpPr>
        <p:spPr bwMode="auto">
          <a:xfrm>
            <a:off x="1981200" y="1905000"/>
            <a:ext cx="822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 name="Line 7"/>
          <p:cNvSpPr>
            <a:spLocks noChangeShapeType="1"/>
          </p:cNvSpPr>
          <p:nvPr/>
        </p:nvSpPr>
        <p:spPr bwMode="auto">
          <a:xfrm>
            <a:off x="5791200" y="1905000"/>
            <a:ext cx="0" cy="441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 name="Text Box 8"/>
          <p:cNvSpPr txBox="1">
            <a:spLocks noChangeArrowheads="1"/>
          </p:cNvSpPr>
          <p:nvPr/>
        </p:nvSpPr>
        <p:spPr bwMode="auto">
          <a:xfrm>
            <a:off x="1981200" y="14478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Advantages</a:t>
            </a:r>
          </a:p>
        </p:txBody>
      </p:sp>
      <p:sp>
        <p:nvSpPr>
          <p:cNvPr id="7175" name="Text Box 9"/>
          <p:cNvSpPr txBox="1">
            <a:spLocks noChangeArrowheads="1"/>
          </p:cNvSpPr>
          <p:nvPr/>
        </p:nvSpPr>
        <p:spPr bwMode="auto">
          <a:xfrm>
            <a:off x="5867400" y="1447800"/>
            <a:ext cx="2438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buFontTx/>
              <a:buNone/>
            </a:pPr>
            <a:r>
              <a:rPr lang="en-US" altLang="en-US" sz="2000">
                <a:latin typeface="Times New Roman" panose="02020603050405020304" pitchFamily="18" charset="0"/>
              </a:rPr>
              <a:t>Disadvantages</a:t>
            </a:r>
          </a:p>
        </p:txBody>
      </p:sp>
      <p:sp>
        <p:nvSpPr>
          <p:cNvPr id="7176" name="Text Box 10"/>
          <p:cNvSpPr txBox="1">
            <a:spLocks noChangeArrowheads="1"/>
          </p:cNvSpPr>
          <p:nvPr/>
        </p:nvSpPr>
        <p:spPr bwMode="auto">
          <a:xfrm>
            <a:off x="1752600" y="1985964"/>
            <a:ext cx="4038600" cy="437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1800">
                <a:latin typeface="Times New Roman" panose="02020603050405020304" pitchFamily="18" charset="0"/>
              </a:rPr>
              <a:t> </a:t>
            </a:r>
            <a:r>
              <a:rPr lang="en-US" altLang="en-US" sz="2000">
                <a:latin typeface="Times New Roman" panose="02020603050405020304" pitchFamily="18" charset="0"/>
              </a:rPr>
              <a:t>A proven product or service within</a:t>
            </a:r>
          </a:p>
          <a:p>
            <a:pPr eaLnBrk="1" hangingPunct="1">
              <a:spcBef>
                <a:spcPct val="50000"/>
              </a:spcBef>
              <a:buFontTx/>
              <a:buNone/>
            </a:pPr>
            <a:r>
              <a:rPr lang="en-US" altLang="en-US" sz="2000">
                <a:latin typeface="Times New Roman" panose="02020603050405020304" pitchFamily="18" charset="0"/>
              </a:rPr>
              <a:t>  an established market.</a:t>
            </a:r>
          </a:p>
          <a:p>
            <a:pPr eaLnBrk="1" hangingPunct="1">
              <a:lnSpc>
                <a:spcPct val="70000"/>
              </a:lnSpc>
              <a:spcBef>
                <a:spcPct val="50000"/>
              </a:spcBef>
            </a:pPr>
            <a:r>
              <a:rPr lang="en-US" altLang="en-US" sz="2000">
                <a:latin typeface="Times New Roman" panose="02020603050405020304" pitchFamily="18" charset="0"/>
              </a:rPr>
              <a:t> An established trademark or </a:t>
            </a:r>
          </a:p>
          <a:p>
            <a:pPr eaLnBrk="1" hangingPunct="1">
              <a:lnSpc>
                <a:spcPct val="70000"/>
              </a:lnSpc>
              <a:spcBef>
                <a:spcPct val="50000"/>
              </a:spcBef>
              <a:buFontTx/>
              <a:buNone/>
            </a:pPr>
            <a:r>
              <a:rPr lang="en-US" altLang="en-US" sz="2000">
                <a:latin typeface="Times New Roman" panose="02020603050405020304" pitchFamily="18" charset="0"/>
              </a:rPr>
              <a:t>  business system.</a:t>
            </a:r>
          </a:p>
          <a:p>
            <a:pPr eaLnBrk="1" hangingPunct="1">
              <a:spcBef>
                <a:spcPct val="50000"/>
              </a:spcBef>
            </a:pPr>
            <a:r>
              <a:rPr lang="en-US" altLang="en-US" sz="2000">
                <a:latin typeface="Times New Roman" panose="02020603050405020304" pitchFamily="18" charset="0"/>
              </a:rPr>
              <a:t> Franchisor’s training, technical</a:t>
            </a:r>
          </a:p>
          <a:p>
            <a:pPr eaLnBrk="1" hangingPunct="1">
              <a:spcBef>
                <a:spcPct val="50000"/>
              </a:spcBef>
              <a:buFontTx/>
              <a:buNone/>
            </a:pPr>
            <a:r>
              <a:rPr lang="en-US" altLang="en-US" sz="2000">
                <a:latin typeface="Times New Roman" panose="02020603050405020304" pitchFamily="18" charset="0"/>
              </a:rPr>
              <a:t>  expertise, and managerial expertise.</a:t>
            </a:r>
          </a:p>
          <a:p>
            <a:pPr eaLnBrk="1" hangingPunct="1">
              <a:spcBef>
                <a:spcPct val="50000"/>
              </a:spcBef>
            </a:pPr>
            <a:r>
              <a:rPr lang="en-US" altLang="en-US" sz="2000">
                <a:latin typeface="Times New Roman" panose="02020603050405020304" pitchFamily="18" charset="0"/>
              </a:rPr>
              <a:t> An established marketing network.</a:t>
            </a:r>
          </a:p>
          <a:p>
            <a:pPr eaLnBrk="1" hangingPunct="1">
              <a:spcBef>
                <a:spcPct val="50000"/>
              </a:spcBef>
            </a:pPr>
            <a:r>
              <a:rPr lang="en-US" altLang="en-US" sz="2000">
                <a:latin typeface="Times New Roman" panose="02020603050405020304" pitchFamily="18" charset="0"/>
              </a:rPr>
              <a:t> Franchisor ongoing support.</a:t>
            </a:r>
          </a:p>
          <a:p>
            <a:pPr eaLnBrk="1" hangingPunct="1">
              <a:spcBef>
                <a:spcPct val="50000"/>
              </a:spcBef>
            </a:pPr>
            <a:r>
              <a:rPr lang="en-US" altLang="en-US" sz="2000">
                <a:latin typeface="Times New Roman" panose="02020603050405020304" pitchFamily="18" charset="0"/>
              </a:rPr>
              <a:t> Availability of financing.</a:t>
            </a:r>
          </a:p>
          <a:p>
            <a:pPr eaLnBrk="1" hangingPunct="1">
              <a:spcBef>
                <a:spcPct val="50000"/>
              </a:spcBef>
            </a:pPr>
            <a:r>
              <a:rPr lang="en-US" altLang="en-US" sz="2000">
                <a:latin typeface="Times New Roman" panose="02020603050405020304" pitchFamily="18" charset="0"/>
              </a:rPr>
              <a:t> Potential for business growth.</a:t>
            </a:r>
          </a:p>
        </p:txBody>
      </p:sp>
      <p:sp>
        <p:nvSpPr>
          <p:cNvPr id="7177" name="Text Box 11"/>
          <p:cNvSpPr txBox="1">
            <a:spLocks noChangeArrowheads="1"/>
          </p:cNvSpPr>
          <p:nvPr/>
        </p:nvSpPr>
        <p:spPr bwMode="auto">
          <a:xfrm>
            <a:off x="5867400" y="1985963"/>
            <a:ext cx="449580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eaLnBrk="1" hangingPunct="1">
              <a:spcBef>
                <a:spcPct val="50000"/>
              </a:spcBef>
            </a:pPr>
            <a:r>
              <a:rPr lang="en-US" altLang="en-US" sz="1600">
                <a:latin typeface="Times New Roman" panose="02020603050405020304" pitchFamily="18" charset="0"/>
              </a:rPr>
              <a:t> </a:t>
            </a:r>
            <a:r>
              <a:rPr lang="en-US" altLang="en-US" sz="2000">
                <a:latin typeface="Times New Roman" panose="02020603050405020304" pitchFamily="18" charset="0"/>
              </a:rPr>
              <a:t>Cost of the franchise.</a:t>
            </a:r>
          </a:p>
          <a:p>
            <a:pPr eaLnBrk="1" hangingPunct="1">
              <a:spcBef>
                <a:spcPct val="50000"/>
              </a:spcBef>
            </a:pPr>
            <a:r>
              <a:rPr lang="en-US" altLang="en-US" sz="2000">
                <a:latin typeface="Times New Roman" panose="02020603050405020304" pitchFamily="18" charset="0"/>
              </a:rPr>
              <a:t> Restrictions on creativity.</a:t>
            </a:r>
          </a:p>
          <a:p>
            <a:pPr eaLnBrk="1" hangingPunct="1">
              <a:spcBef>
                <a:spcPct val="50000"/>
              </a:spcBef>
            </a:pPr>
            <a:r>
              <a:rPr lang="en-US" altLang="en-US" sz="2000">
                <a:latin typeface="Times New Roman" panose="02020603050405020304" pitchFamily="18" charset="0"/>
              </a:rPr>
              <a:t> Duration and nature of the commitment.</a:t>
            </a:r>
          </a:p>
          <a:p>
            <a:pPr eaLnBrk="1" hangingPunct="1">
              <a:spcBef>
                <a:spcPct val="50000"/>
              </a:spcBef>
            </a:pPr>
            <a:r>
              <a:rPr lang="en-US" altLang="en-US" sz="2000">
                <a:latin typeface="Times New Roman" panose="02020603050405020304" pitchFamily="18" charset="0"/>
              </a:rPr>
              <a:t> Risk of fraud, misunderstandings, or </a:t>
            </a:r>
          </a:p>
          <a:p>
            <a:pPr eaLnBrk="1" hangingPunct="1">
              <a:spcBef>
                <a:spcPct val="50000"/>
              </a:spcBef>
              <a:buFontTx/>
              <a:buNone/>
            </a:pPr>
            <a:r>
              <a:rPr lang="en-US" altLang="en-US" sz="2000">
                <a:latin typeface="Times New Roman" panose="02020603050405020304" pitchFamily="18" charset="0"/>
              </a:rPr>
              <a:t>  lack of franchisor commitment.</a:t>
            </a:r>
          </a:p>
          <a:p>
            <a:pPr eaLnBrk="1" hangingPunct="1">
              <a:spcBef>
                <a:spcPct val="50000"/>
              </a:spcBef>
            </a:pPr>
            <a:r>
              <a:rPr lang="en-US" altLang="en-US" sz="2000">
                <a:latin typeface="Times New Roman" panose="02020603050405020304" pitchFamily="18" charset="0"/>
              </a:rPr>
              <a:t> Problems of termination or transfer.</a:t>
            </a:r>
          </a:p>
          <a:p>
            <a:pPr eaLnBrk="1" hangingPunct="1">
              <a:spcBef>
                <a:spcPct val="50000"/>
              </a:spcBef>
            </a:pPr>
            <a:r>
              <a:rPr lang="en-US" altLang="en-US" sz="2000">
                <a:latin typeface="Times New Roman" panose="02020603050405020304" pitchFamily="18" charset="0"/>
              </a:rPr>
              <a:t> Poor performance on the part of other</a:t>
            </a:r>
          </a:p>
          <a:p>
            <a:pPr eaLnBrk="1" hangingPunct="1">
              <a:spcBef>
                <a:spcPct val="50000"/>
              </a:spcBef>
              <a:buFontTx/>
              <a:buNone/>
            </a:pPr>
            <a:r>
              <a:rPr lang="en-US" altLang="en-US" sz="2000">
                <a:latin typeface="Times New Roman" panose="02020603050405020304" pitchFamily="18" charset="0"/>
              </a:rPr>
              <a:t>  franchisees.</a:t>
            </a:r>
          </a:p>
          <a:p>
            <a:pPr eaLnBrk="1" hangingPunct="1">
              <a:spcBef>
                <a:spcPct val="50000"/>
              </a:spcBef>
            </a:pPr>
            <a:r>
              <a:rPr lang="en-US" altLang="en-US" sz="2000">
                <a:latin typeface="Times New Roman" panose="02020603050405020304" pitchFamily="18" charset="0"/>
              </a:rPr>
              <a:t> Potential for failure.</a:t>
            </a:r>
          </a:p>
        </p:txBody>
      </p:sp>
    </p:spTree>
    <p:extLst>
      <p:ext uri="{BB962C8B-B14F-4D97-AF65-F5344CB8AC3E}">
        <p14:creationId xmlns:p14="http://schemas.microsoft.com/office/powerpoint/2010/main" val="22047846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3. BUY OUT</a:t>
            </a:r>
            <a:endParaRPr lang="en-US" b="1" dirty="0"/>
          </a:p>
        </p:txBody>
      </p:sp>
      <p:sp>
        <p:nvSpPr>
          <p:cNvPr id="3" name="Content Placeholder 2"/>
          <p:cNvSpPr>
            <a:spLocks noGrp="1"/>
          </p:cNvSpPr>
          <p:nvPr>
            <p:ph idx="1"/>
          </p:nvPr>
        </p:nvSpPr>
        <p:spPr/>
        <p:txBody>
          <a:bodyPr/>
          <a:lstStyle/>
          <a:p>
            <a:r>
              <a:rPr lang="en-US" dirty="0" smtClean="0"/>
              <a:t>A </a:t>
            </a:r>
            <a:r>
              <a:rPr lang="en-US" b="1" dirty="0" smtClean="0"/>
              <a:t>buyout</a:t>
            </a:r>
            <a:r>
              <a:rPr lang="en-US" dirty="0" smtClean="0"/>
              <a:t> is an investment transaction by which the ownership </a:t>
            </a:r>
            <a:r>
              <a:rPr lang="en-US" b="1" dirty="0" smtClean="0"/>
              <a:t>equity</a:t>
            </a:r>
            <a:r>
              <a:rPr lang="en-US" dirty="0" smtClean="0"/>
              <a:t> of a company, or a majority share of the stock of the company is acquired. The </a:t>
            </a:r>
            <a:r>
              <a:rPr lang="en-US" dirty="0" err="1" smtClean="0"/>
              <a:t>acquiror</a:t>
            </a:r>
            <a:r>
              <a:rPr lang="en-US" dirty="0" smtClean="0"/>
              <a:t> thereby "buys </a:t>
            </a:r>
            <a:r>
              <a:rPr lang="en-US" b="1" dirty="0" smtClean="0"/>
              <a:t>out</a:t>
            </a:r>
            <a:r>
              <a:rPr lang="en-US" dirty="0" smtClean="0"/>
              <a:t>" the present equity holders of the target company.</a:t>
            </a:r>
          </a:p>
          <a:p>
            <a:r>
              <a:rPr lang="en-US" dirty="0" smtClean="0"/>
              <a:t>It may connotes purchase of an existing company.</a:t>
            </a:r>
          </a:p>
          <a:p>
            <a:r>
              <a:rPr lang="en-US" dirty="0" err="1" smtClean="0"/>
              <a:t>Partership</a:t>
            </a:r>
            <a:r>
              <a:rPr lang="en-US" dirty="0" smtClean="0"/>
              <a:t> buyout, management buyout, leveraged buyout, employee buy out.</a:t>
            </a:r>
          </a:p>
          <a:p>
            <a:r>
              <a:rPr lang="en-US" dirty="0"/>
              <a:t>Companies being sold can be either healthy companies or ones that are in significant financial distress.</a:t>
            </a:r>
            <a:endParaRPr lang="en-US" dirty="0" smtClean="0"/>
          </a:p>
          <a:p>
            <a:pPr marL="0" indent="0">
              <a:buNone/>
            </a:pPr>
            <a:endParaRPr lang="en-US" dirty="0"/>
          </a:p>
        </p:txBody>
      </p:sp>
    </p:spTree>
    <p:extLst>
      <p:ext uri="{BB962C8B-B14F-4D97-AF65-F5344CB8AC3E}">
        <p14:creationId xmlns:p14="http://schemas.microsoft.com/office/powerpoint/2010/main" val="3112029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1703"/>
            <a:ext cx="10515600" cy="5615260"/>
          </a:xfrm>
        </p:spPr>
        <p:txBody>
          <a:bodyPr>
            <a:normAutofit fontScale="92500" lnSpcReduction="20000"/>
          </a:bodyPr>
          <a:lstStyle/>
          <a:p>
            <a:pPr marL="0" indent="0">
              <a:buNone/>
            </a:pPr>
            <a:r>
              <a:rPr lang="en-US" b="1" dirty="0" smtClean="0"/>
              <a:t>Advantages of buying a business</a:t>
            </a:r>
          </a:p>
          <a:p>
            <a:r>
              <a:rPr lang="en-US" dirty="0" smtClean="0"/>
              <a:t>Buying a business is generally considered less risky than starting your own business, especially if you can buy a well-managed, profitable business for the right price. </a:t>
            </a:r>
          </a:p>
          <a:p>
            <a:r>
              <a:rPr lang="en-US" dirty="0" smtClean="0"/>
              <a:t>An existing business is a known entity and has an established and historical track record.</a:t>
            </a:r>
          </a:p>
          <a:p>
            <a:r>
              <a:rPr lang="en-US" dirty="0" smtClean="0"/>
              <a:t>The difficult start-up work has already been done. The business should have plans and procedures in place.</a:t>
            </a:r>
          </a:p>
          <a:p>
            <a:r>
              <a:rPr lang="en-US" dirty="0" smtClean="0"/>
              <a:t>Buying an established business means immediate cash flow.</a:t>
            </a:r>
          </a:p>
          <a:p>
            <a:r>
              <a:rPr lang="en-US" dirty="0" smtClean="0"/>
              <a:t>The business will have a financial history, which gives you an idea of what to expect and can make it easier to secure loans and attract investors.</a:t>
            </a:r>
          </a:p>
          <a:p>
            <a:r>
              <a:rPr lang="en-US" dirty="0" smtClean="0"/>
              <a:t>You will acquire existing customers, contacts, goodwill, suppliers, staff, plant, equipment and stock.</a:t>
            </a:r>
          </a:p>
          <a:p>
            <a:r>
              <a:rPr lang="en-US" dirty="0" smtClean="0"/>
              <a:t>A market for your product or service is already established.</a:t>
            </a:r>
          </a:p>
          <a:p>
            <a:r>
              <a:rPr lang="en-US" dirty="0" smtClean="0"/>
              <a:t>Existing employees and managers will have experience they can share.</a:t>
            </a:r>
          </a:p>
          <a:p>
            <a:endParaRPr lang="en-US" dirty="0"/>
          </a:p>
        </p:txBody>
      </p:sp>
    </p:spTree>
    <p:extLst>
      <p:ext uri="{BB962C8B-B14F-4D97-AF65-F5344CB8AC3E}">
        <p14:creationId xmlns:p14="http://schemas.microsoft.com/office/powerpoint/2010/main" val="52430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36023"/>
            <a:ext cx="10515600" cy="5340940"/>
          </a:xfrm>
        </p:spPr>
        <p:txBody>
          <a:bodyPr>
            <a:normAutofit fontScale="92500" lnSpcReduction="20000"/>
          </a:bodyPr>
          <a:lstStyle/>
          <a:p>
            <a:pPr marL="0" indent="0">
              <a:buNone/>
            </a:pPr>
            <a:r>
              <a:rPr lang="en-US" b="1" dirty="0" smtClean="0"/>
              <a:t>Disadvantages </a:t>
            </a:r>
            <a:r>
              <a:rPr lang="en-US" b="1" dirty="0"/>
              <a:t>of buying a business</a:t>
            </a:r>
          </a:p>
          <a:p>
            <a:r>
              <a:rPr lang="en-US" dirty="0"/>
              <a:t>Keep in mind that not every business on the market is a good prospect. Many owners will be selling unprofitable or under-performing </a:t>
            </a:r>
            <a:r>
              <a:rPr lang="en-US" dirty="0" smtClean="0"/>
              <a:t>businesses. While </a:t>
            </a:r>
            <a:r>
              <a:rPr lang="en-US" dirty="0"/>
              <a:t>this can be a chance to buy and develop a cheap business, it can also be a risky investment. </a:t>
            </a:r>
            <a:r>
              <a:rPr lang="en-US" dirty="0" smtClean="0"/>
              <a:t>The </a:t>
            </a:r>
            <a:r>
              <a:rPr lang="en-US" dirty="0"/>
              <a:t>business might need major improvements to old plant and equipment.</a:t>
            </a:r>
          </a:p>
          <a:p>
            <a:r>
              <a:rPr lang="en-US" dirty="0"/>
              <a:t>You often need to invest a large amount up front, and will also have to budget for professional fees for solicitors and accountants.</a:t>
            </a:r>
          </a:p>
          <a:p>
            <a:r>
              <a:rPr lang="en-US" dirty="0"/>
              <a:t>The business may be poorly located or badly managed, with low staff morale.</a:t>
            </a:r>
          </a:p>
          <a:p>
            <a:r>
              <a:rPr lang="en-US" dirty="0"/>
              <a:t>External factors, such as increasing competition or a declining industry, can affect future growth.</a:t>
            </a:r>
          </a:p>
          <a:p>
            <a:r>
              <a:rPr lang="en-US" dirty="0"/>
              <a:t>Under-performing businesses can require a lot of investment to make them profitable.</a:t>
            </a:r>
          </a:p>
          <a:p>
            <a:r>
              <a:rPr lang="en-US" dirty="0"/>
              <a:t>The seller's personality and their established relationships may be a major factor for the success of the business.</a:t>
            </a:r>
          </a:p>
          <a:p>
            <a:endParaRPr lang="en-US" dirty="0"/>
          </a:p>
        </p:txBody>
      </p:sp>
    </p:spTree>
    <p:extLst>
      <p:ext uri="{BB962C8B-B14F-4D97-AF65-F5344CB8AC3E}">
        <p14:creationId xmlns:p14="http://schemas.microsoft.com/office/powerpoint/2010/main" val="2243324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371601"/>
            <a:ext cx="8229600" cy="4754563"/>
          </a:xfrm>
        </p:spPr>
        <p:txBody>
          <a:bodyPr>
            <a:normAutofit/>
          </a:bodyPr>
          <a:lstStyle/>
          <a:p>
            <a:pPr lvl="0">
              <a:buNone/>
            </a:pPr>
            <a:r>
              <a:rPr lang="en-US" b="1" dirty="0" smtClean="0"/>
              <a:t>4. Sole </a:t>
            </a:r>
            <a:r>
              <a:rPr lang="en-US" b="1" dirty="0"/>
              <a:t>proprietorship</a:t>
            </a:r>
            <a:endParaRPr lang="en-US" dirty="0"/>
          </a:p>
          <a:p>
            <a:r>
              <a:rPr lang="en-US" dirty="0"/>
              <a:t>A sole proprietorship is a business owned by only one person. This form is usually adopted by small business entities. </a:t>
            </a:r>
            <a:endParaRPr lang="en-US" dirty="0" smtClean="0"/>
          </a:p>
          <a:p>
            <a:r>
              <a:rPr lang="en-US" dirty="0" smtClean="0"/>
              <a:t>Being a sole proprietor does not preclude you from using a business name that is different from your own name, however.</a:t>
            </a:r>
          </a:p>
          <a:p>
            <a:endParaRPr lang="en-US" dirty="0"/>
          </a:p>
        </p:txBody>
      </p:sp>
    </p:spTree>
    <p:extLst>
      <p:ext uri="{BB962C8B-B14F-4D97-AF65-F5344CB8AC3E}">
        <p14:creationId xmlns:p14="http://schemas.microsoft.com/office/powerpoint/2010/main" val="3132903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1"/>
            <a:ext cx="8229600" cy="5821363"/>
          </a:xfrm>
        </p:spPr>
        <p:txBody>
          <a:bodyPr>
            <a:normAutofit fontScale="92500" lnSpcReduction="20000"/>
          </a:bodyPr>
          <a:lstStyle/>
          <a:p>
            <a:pPr marL="0" indent="0">
              <a:buNone/>
            </a:pPr>
            <a:r>
              <a:rPr lang="en-US" b="1" dirty="0"/>
              <a:t>Advantages</a:t>
            </a:r>
            <a:endParaRPr lang="en-US" dirty="0"/>
          </a:p>
          <a:p>
            <a:pPr lvl="0"/>
            <a:r>
              <a:rPr lang="en-US" dirty="0"/>
              <a:t>Easy and quick decision making</a:t>
            </a:r>
          </a:p>
          <a:p>
            <a:pPr lvl="0"/>
            <a:r>
              <a:rPr lang="en-US" dirty="0"/>
              <a:t>It is easy to set-up and is less costly</a:t>
            </a:r>
          </a:p>
          <a:p>
            <a:pPr lvl="0"/>
            <a:r>
              <a:rPr lang="en-US" dirty="0"/>
              <a:t>All profits are taken/enjoyed by the owner</a:t>
            </a:r>
          </a:p>
          <a:p>
            <a:pPr lvl="0"/>
            <a:r>
              <a:rPr lang="en-US" dirty="0"/>
              <a:t>Minimal and simple legal requirements for start-up</a:t>
            </a:r>
          </a:p>
          <a:p>
            <a:pPr marL="0" indent="0">
              <a:buNone/>
            </a:pPr>
            <a:r>
              <a:rPr lang="en-US" b="1" dirty="0"/>
              <a:t>Disadvantages</a:t>
            </a:r>
            <a:endParaRPr lang="en-US" dirty="0"/>
          </a:p>
          <a:p>
            <a:pPr lvl="0"/>
            <a:r>
              <a:rPr lang="en-US" dirty="0"/>
              <a:t>The owner faces unlimited liability; meaning, the creditors of the business may go after the personal assets of the owner if the business can not pay them.</a:t>
            </a:r>
          </a:p>
          <a:p>
            <a:pPr lvl="0"/>
            <a:r>
              <a:rPr lang="en-US" dirty="0"/>
              <a:t>There is a lack of expertise in areas of business where he is not knowledgeable which may limit success.</a:t>
            </a:r>
          </a:p>
          <a:p>
            <a:pPr lvl="0"/>
            <a:r>
              <a:rPr lang="en-US" dirty="0"/>
              <a:t>Sole proprietor must work for long hours resulting in little time for family.</a:t>
            </a:r>
          </a:p>
          <a:p>
            <a:pPr lvl="0"/>
            <a:r>
              <a:rPr lang="en-US" dirty="0"/>
              <a:t>Limited capital to inject into the business and he alone bears all the risk of the business.</a:t>
            </a:r>
          </a:p>
          <a:p>
            <a:endParaRPr lang="en-US" dirty="0"/>
          </a:p>
          <a:p>
            <a:endParaRPr lang="en-US" dirty="0"/>
          </a:p>
        </p:txBody>
      </p:sp>
    </p:spTree>
    <p:extLst>
      <p:ext uri="{BB962C8B-B14F-4D97-AF65-F5344CB8AC3E}">
        <p14:creationId xmlns:p14="http://schemas.microsoft.com/office/powerpoint/2010/main" val="19987625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533401"/>
            <a:ext cx="8229600" cy="5592763"/>
          </a:xfrm>
        </p:spPr>
        <p:txBody>
          <a:bodyPr>
            <a:normAutofit/>
          </a:bodyPr>
          <a:lstStyle/>
          <a:p>
            <a:pPr lvl="0">
              <a:buNone/>
            </a:pPr>
            <a:r>
              <a:rPr lang="en-US" b="1" dirty="0" smtClean="0"/>
              <a:t>5. Partnership</a:t>
            </a:r>
            <a:endParaRPr lang="en-US" dirty="0"/>
          </a:p>
          <a:p>
            <a:r>
              <a:rPr lang="en-US" dirty="0"/>
              <a:t>A partnership is a business owned by two or more persons who contribute resources into the entity. </a:t>
            </a:r>
            <a:endParaRPr lang="en-US" dirty="0" smtClean="0"/>
          </a:p>
          <a:p>
            <a:r>
              <a:rPr lang="en-US" dirty="0" smtClean="0"/>
              <a:t>The </a:t>
            </a:r>
            <a:r>
              <a:rPr lang="en-US" dirty="0"/>
              <a:t>partners divide the profits of the business among themselves. In general partnerships, all partners have unlimited liability. </a:t>
            </a:r>
            <a:endParaRPr lang="en-US" dirty="0" smtClean="0"/>
          </a:p>
          <a:p>
            <a:pPr marL="0" indent="0">
              <a:buNone/>
            </a:pPr>
            <a:r>
              <a:rPr lang="en-US" b="1" dirty="0" smtClean="0"/>
              <a:t>There </a:t>
            </a:r>
            <a:r>
              <a:rPr lang="en-US" b="1" dirty="0"/>
              <a:t>are two types of partnership forms;</a:t>
            </a:r>
          </a:p>
          <a:p>
            <a:pPr lvl="0"/>
            <a:r>
              <a:rPr lang="en-US" dirty="0"/>
              <a:t>Limited liability partnership- at least one partner must have unlimited liability.</a:t>
            </a:r>
          </a:p>
          <a:p>
            <a:pPr lvl="0"/>
            <a:r>
              <a:rPr lang="en-US" dirty="0"/>
              <a:t>Unlimited liability partnership- all partners have unlimited liability</a:t>
            </a:r>
          </a:p>
          <a:p>
            <a:endParaRPr lang="en-US" dirty="0"/>
          </a:p>
        </p:txBody>
      </p:sp>
    </p:spTree>
    <p:extLst>
      <p:ext uri="{BB962C8B-B14F-4D97-AF65-F5344CB8AC3E}">
        <p14:creationId xmlns:p14="http://schemas.microsoft.com/office/powerpoint/2010/main" val="35162085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1"/>
            <a:ext cx="8229600" cy="5897563"/>
          </a:xfrm>
        </p:spPr>
        <p:txBody>
          <a:bodyPr>
            <a:normAutofit lnSpcReduction="10000"/>
          </a:bodyPr>
          <a:lstStyle/>
          <a:p>
            <a:pPr marL="0" indent="0">
              <a:buNone/>
            </a:pPr>
            <a:r>
              <a:rPr lang="en-US" b="1" dirty="0"/>
              <a:t>Advantages </a:t>
            </a:r>
            <a:endParaRPr lang="en-US" dirty="0"/>
          </a:p>
          <a:p>
            <a:pPr lvl="0"/>
            <a:r>
              <a:rPr lang="en-US" dirty="0"/>
              <a:t>Since more than one person is involved more capital can be raised to inject into the business.</a:t>
            </a:r>
          </a:p>
          <a:p>
            <a:pPr lvl="0"/>
            <a:r>
              <a:rPr lang="en-US" dirty="0"/>
              <a:t>There is more expertise and work load is shared.</a:t>
            </a:r>
          </a:p>
          <a:p>
            <a:pPr lvl="0"/>
            <a:r>
              <a:rPr lang="en-US" dirty="0"/>
              <a:t>The risk of the business operation is also shared</a:t>
            </a:r>
            <a:r>
              <a:rPr lang="en-US" dirty="0" smtClean="0"/>
              <a:t>.</a:t>
            </a:r>
          </a:p>
          <a:p>
            <a:pPr marL="0" indent="0">
              <a:buNone/>
            </a:pPr>
            <a:endParaRPr lang="en-US" dirty="0" smtClean="0"/>
          </a:p>
          <a:p>
            <a:pPr marL="0" indent="0">
              <a:buNone/>
            </a:pPr>
            <a:r>
              <a:rPr lang="en-US" b="1" dirty="0" smtClean="0"/>
              <a:t>Disadvantages </a:t>
            </a:r>
            <a:endParaRPr lang="en-US" dirty="0"/>
          </a:p>
          <a:p>
            <a:pPr lvl="0"/>
            <a:r>
              <a:rPr lang="en-US" dirty="0"/>
              <a:t>All partners will be affected by the action of each partner since each person represents the business.</a:t>
            </a:r>
          </a:p>
          <a:p>
            <a:pPr lvl="0"/>
            <a:r>
              <a:rPr lang="en-US" dirty="0"/>
              <a:t>Decision making may be very slow if partners are not in agreement.</a:t>
            </a:r>
          </a:p>
          <a:p>
            <a:pPr lvl="0"/>
            <a:r>
              <a:rPr lang="en-US" dirty="0"/>
              <a:t>There are high risks for partners who do not have limited liability.</a:t>
            </a:r>
          </a:p>
          <a:p>
            <a:endParaRPr lang="en-US" dirty="0"/>
          </a:p>
        </p:txBody>
      </p:sp>
    </p:spTree>
    <p:extLst>
      <p:ext uri="{BB962C8B-B14F-4D97-AF65-F5344CB8AC3E}">
        <p14:creationId xmlns:p14="http://schemas.microsoft.com/office/powerpoint/2010/main" val="12094381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1"/>
            <a:ext cx="8229600" cy="5745163"/>
          </a:xfrm>
        </p:spPr>
        <p:txBody>
          <a:bodyPr>
            <a:normAutofit/>
          </a:bodyPr>
          <a:lstStyle/>
          <a:p>
            <a:pPr lvl="0">
              <a:buNone/>
            </a:pPr>
            <a:r>
              <a:rPr lang="en-US" b="1" dirty="0" smtClean="0"/>
              <a:t>6. Corporation </a:t>
            </a:r>
            <a:endParaRPr lang="en-US" dirty="0"/>
          </a:p>
          <a:p>
            <a:r>
              <a:rPr lang="en-US" dirty="0"/>
              <a:t>A corporation is a business organization that has a separate legal personality from its owners. </a:t>
            </a:r>
            <a:endParaRPr lang="en-US" dirty="0" smtClean="0"/>
          </a:p>
          <a:p>
            <a:r>
              <a:rPr lang="en-US" dirty="0" smtClean="0"/>
              <a:t>Ownership </a:t>
            </a:r>
            <a:r>
              <a:rPr lang="en-US" dirty="0"/>
              <a:t>in a stock corporation is represented by shares of stock. </a:t>
            </a:r>
            <a:endParaRPr lang="en-US" dirty="0" smtClean="0"/>
          </a:p>
          <a:p>
            <a:r>
              <a:rPr lang="en-US" dirty="0" smtClean="0"/>
              <a:t>The </a:t>
            </a:r>
            <a:r>
              <a:rPr lang="en-US" dirty="0"/>
              <a:t>owners (stockholders) enjoy limited liability but have limited involvement in the company’s operations. </a:t>
            </a:r>
            <a:endParaRPr lang="en-US" dirty="0" smtClean="0"/>
          </a:p>
          <a:p>
            <a:r>
              <a:rPr lang="en-US" dirty="0" smtClean="0"/>
              <a:t>The </a:t>
            </a:r>
            <a:r>
              <a:rPr lang="en-US" dirty="0"/>
              <a:t>board of directors, an elected group from the stockholders, controls the activities of the corporation.</a:t>
            </a:r>
          </a:p>
          <a:p>
            <a:endParaRPr lang="en-US" dirty="0"/>
          </a:p>
        </p:txBody>
      </p:sp>
    </p:spTree>
    <p:extLst>
      <p:ext uri="{BB962C8B-B14F-4D97-AF65-F5344CB8AC3E}">
        <p14:creationId xmlns:p14="http://schemas.microsoft.com/office/powerpoint/2010/main" val="16620722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0"/>
            <a:ext cx="8229600" cy="6172200"/>
          </a:xfrm>
        </p:spPr>
        <p:txBody>
          <a:bodyPr>
            <a:normAutofit fontScale="85000" lnSpcReduction="20000"/>
          </a:bodyPr>
          <a:lstStyle/>
          <a:p>
            <a:pPr marL="0" indent="0">
              <a:buNone/>
            </a:pPr>
            <a:r>
              <a:rPr lang="en-US" b="1" dirty="0"/>
              <a:t>Advantages </a:t>
            </a:r>
            <a:endParaRPr lang="en-US" dirty="0"/>
          </a:p>
          <a:p>
            <a:pPr lvl="0"/>
            <a:r>
              <a:rPr lang="en-US" dirty="0"/>
              <a:t>The liability of the owners towards the creditors is limited to their investment in the company. Meaning only the owners’ contribution is at stake rather than their personal assets.</a:t>
            </a:r>
          </a:p>
          <a:p>
            <a:pPr lvl="0"/>
            <a:r>
              <a:rPr lang="en-US" dirty="0"/>
              <a:t>The corporation is considered a legal person with perpetual existence. It exists until it is liquidated and death or change in ownership has no effect on the business.</a:t>
            </a:r>
          </a:p>
          <a:p>
            <a:endParaRPr lang="en-US" dirty="0"/>
          </a:p>
          <a:p>
            <a:pPr marL="0" indent="0">
              <a:buNone/>
            </a:pPr>
            <a:r>
              <a:rPr lang="en-US" b="1" dirty="0"/>
              <a:t>Disadvantages</a:t>
            </a:r>
            <a:endParaRPr lang="en-US" dirty="0"/>
          </a:p>
          <a:p>
            <a:pPr lvl="0"/>
            <a:r>
              <a:rPr lang="en-US" dirty="0"/>
              <a:t>Establishing a corporation is a complex process and requires registration with the central regulatory authority and listing on a stock exchange which </a:t>
            </a:r>
            <a:r>
              <a:rPr lang="en-US" dirty="0" smtClean="0"/>
              <a:t>requires </a:t>
            </a:r>
            <a:r>
              <a:rPr lang="en-US" dirty="0"/>
              <a:t>fulfillment of certain requirements related to the amount of capital, number of directors etc</a:t>
            </a:r>
          </a:p>
          <a:p>
            <a:pPr lvl="0"/>
            <a:r>
              <a:rPr lang="en-US" dirty="0"/>
              <a:t>Costs ; it costs money to incorporate with the state where the business operates</a:t>
            </a:r>
          </a:p>
          <a:p>
            <a:pPr lvl="0"/>
            <a:r>
              <a:rPr lang="en-US" dirty="0"/>
              <a:t>Documentation ; corporation need to maintain more records than other business entities. Must file annual reports and tax returns and maintain business bank accounts and records that separate from personal accounts.</a:t>
            </a:r>
          </a:p>
          <a:p>
            <a:endParaRPr lang="en-US" dirty="0"/>
          </a:p>
          <a:p>
            <a:endParaRPr lang="en-US" dirty="0"/>
          </a:p>
        </p:txBody>
      </p:sp>
    </p:spTree>
    <p:extLst>
      <p:ext uri="{BB962C8B-B14F-4D97-AF65-F5344CB8AC3E}">
        <p14:creationId xmlns:p14="http://schemas.microsoft.com/office/powerpoint/2010/main" val="4703112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61067"/>
            <a:ext cx="10515600" cy="666841"/>
          </a:xfrm>
        </p:spPr>
        <p:txBody>
          <a:bodyPr>
            <a:noAutofit/>
          </a:bodyPr>
          <a:lstStyle/>
          <a:p>
            <a:r>
              <a:rPr lang="en-US" sz="2400" b="1" dirty="0" smtClean="0">
                <a:latin typeface="Batang" panose="02030600000101010101" pitchFamily="18" charset="-127"/>
                <a:ea typeface="Batang" panose="02030600000101010101" pitchFamily="18" charset="-127"/>
              </a:rPr>
              <a:t/>
            </a:r>
            <a:br>
              <a:rPr lang="en-US" sz="2400" b="1" dirty="0" smtClean="0">
                <a:latin typeface="Batang" panose="02030600000101010101" pitchFamily="18" charset="-127"/>
                <a:ea typeface="Batang" panose="02030600000101010101" pitchFamily="18" charset="-127"/>
              </a:rPr>
            </a:br>
            <a:r>
              <a:rPr lang="en-US" sz="2400" b="1" dirty="0" smtClean="0">
                <a:latin typeface="Batang" panose="02030600000101010101" pitchFamily="18" charset="-127"/>
                <a:ea typeface="Batang" panose="02030600000101010101" pitchFamily="18" charset="-127"/>
              </a:rPr>
              <a:t>FACTORS </a:t>
            </a:r>
            <a:r>
              <a:rPr lang="en-US" sz="2400" b="1" dirty="0">
                <a:latin typeface="Batang" panose="02030600000101010101" pitchFamily="18" charset="-127"/>
                <a:ea typeface="Batang" panose="02030600000101010101" pitchFamily="18" charset="-127"/>
              </a:rPr>
              <a:t>TO CONSIDER WHEN CHOOSING BUSINESS OWNERSHIP</a:t>
            </a:r>
            <a:br>
              <a:rPr lang="en-US" sz="2400" b="1" dirty="0">
                <a:latin typeface="Batang" panose="02030600000101010101" pitchFamily="18" charset="-127"/>
                <a:ea typeface="Batang" panose="02030600000101010101" pitchFamily="18" charset="-127"/>
              </a:rPr>
            </a:br>
            <a:endParaRPr lang="en-US" sz="2400" b="1" dirty="0">
              <a:latin typeface="Batang" panose="02030600000101010101" pitchFamily="18" charset="-127"/>
              <a:ea typeface="Batang" panose="02030600000101010101" pitchFamily="18" charset="-127"/>
            </a:endParaRPr>
          </a:p>
        </p:txBody>
      </p:sp>
      <p:sp>
        <p:nvSpPr>
          <p:cNvPr id="3" name="Content Placeholder 2"/>
          <p:cNvSpPr>
            <a:spLocks noGrp="1"/>
          </p:cNvSpPr>
          <p:nvPr>
            <p:ph idx="1"/>
          </p:nvPr>
        </p:nvSpPr>
        <p:spPr>
          <a:xfrm>
            <a:off x="143691" y="1227909"/>
            <a:ext cx="11639005" cy="5408022"/>
          </a:xfrm>
        </p:spPr>
        <p:txBody>
          <a:bodyPr>
            <a:noAutofit/>
          </a:bodyPr>
          <a:lstStyle/>
          <a:p>
            <a:r>
              <a:rPr lang="en-US" sz="2000" dirty="0"/>
              <a:t>(</a:t>
            </a:r>
            <a:r>
              <a:rPr lang="en-US" sz="2400" dirty="0"/>
              <a:t>a) </a:t>
            </a:r>
            <a:r>
              <a:rPr lang="en-US" sz="2400" b="1" dirty="0"/>
              <a:t>Tax Consideration: </a:t>
            </a:r>
            <a:r>
              <a:rPr lang="en-US" sz="2400" dirty="0"/>
              <a:t>Because of the year-to-year fluctuation in the company income, an entrepreneur should calculate the firm’s tax bill under each ownership every year. Changes in the tax rates may have a significant impact on the firm’s bottom line. </a:t>
            </a:r>
          </a:p>
          <a:p>
            <a:r>
              <a:rPr lang="en-US" sz="2400" dirty="0"/>
              <a:t>(b) </a:t>
            </a:r>
            <a:r>
              <a:rPr lang="en-US" sz="2400" b="1" dirty="0"/>
              <a:t>Liability Exposure</a:t>
            </a:r>
            <a:r>
              <a:rPr lang="en-US" sz="2400" dirty="0"/>
              <a:t>: Entrepreneur must weigh the potential for legal and financial liabilities, and decide the extent to which they are willing to assume personal responsibility for their company’s obligations. The individual with a low tolerance for the risk of loss may choose a form of ownership that provides greater protection of his/her personal assets</a:t>
            </a:r>
            <a:r>
              <a:rPr lang="en-US" sz="2400" dirty="0" smtClean="0"/>
              <a:t>.</a:t>
            </a:r>
          </a:p>
          <a:p>
            <a:r>
              <a:rPr lang="en-US" sz="2400" dirty="0" smtClean="0"/>
              <a:t>(c) </a:t>
            </a:r>
            <a:r>
              <a:rPr lang="en-US" sz="2400" b="1" dirty="0" smtClean="0"/>
              <a:t>Start-up and Future Capital Requirements: </a:t>
            </a:r>
            <a:r>
              <a:rPr lang="en-US" sz="2400" dirty="0" smtClean="0"/>
              <a:t>The form of ownership can have impact on entrepreneur’s ability to raise the start-up capital. Depending on how much capital is required, and the source from which it is to be obtained, some forms of ownership are better than the other when sourcing for the start-up capital. As a business grows, the capital requirement will increase, and some forms of ownership are easier to attract outside financing</a:t>
            </a:r>
            <a:r>
              <a:rPr lang="en-US" sz="2000" dirty="0" smtClean="0"/>
              <a:t>. </a:t>
            </a:r>
          </a:p>
          <a:p>
            <a:endParaRPr lang="en-US" sz="2000" dirty="0"/>
          </a:p>
          <a:p>
            <a:endParaRPr lang="en-US" sz="2000" dirty="0"/>
          </a:p>
        </p:txBody>
      </p:sp>
    </p:spTree>
    <p:extLst>
      <p:ext uri="{BB962C8B-B14F-4D97-AF65-F5344CB8AC3E}">
        <p14:creationId xmlns:p14="http://schemas.microsoft.com/office/powerpoint/2010/main" val="3234524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46760" y="1018903"/>
            <a:ext cx="10515600" cy="4805363"/>
          </a:xfrm>
        </p:spPr>
        <p:txBody>
          <a:bodyPr>
            <a:noAutofit/>
          </a:bodyPr>
          <a:lstStyle/>
          <a:p>
            <a:r>
              <a:rPr lang="en-US" sz="2400" dirty="0" smtClean="0"/>
              <a:t>(</a:t>
            </a:r>
            <a:r>
              <a:rPr lang="en-US" sz="2400" dirty="0"/>
              <a:t>d) </a:t>
            </a:r>
            <a:r>
              <a:rPr lang="en-US" sz="2400" b="1" dirty="0"/>
              <a:t>Managerial Ability: </a:t>
            </a:r>
            <a:r>
              <a:rPr lang="en-US" sz="2400" dirty="0"/>
              <a:t>Entrepreneurs must assess their own ability to manage their company successfully. If they lack skills or experience in certain areas, they may need to select a form of ownership that will enable them to bring individuals who possess those needed skills and experience into the company</a:t>
            </a:r>
            <a:r>
              <a:rPr lang="en-US" sz="2400" dirty="0" smtClean="0"/>
              <a:t>.</a:t>
            </a:r>
          </a:p>
          <a:p>
            <a:r>
              <a:rPr lang="en-US" sz="2400" dirty="0" smtClean="0"/>
              <a:t>(e) </a:t>
            </a:r>
            <a:r>
              <a:rPr lang="en-US" sz="2400" b="1" dirty="0" smtClean="0"/>
              <a:t>Business Goals: </a:t>
            </a:r>
            <a:r>
              <a:rPr lang="en-US" sz="2400" dirty="0" smtClean="0"/>
              <a:t>How big and how profitable an entrepreneur plans for the business to become will also influence the chosen forms of ownership. </a:t>
            </a:r>
          </a:p>
          <a:p>
            <a:r>
              <a:rPr lang="en-US" sz="2400" dirty="0" smtClean="0"/>
              <a:t>(f) </a:t>
            </a:r>
            <a:r>
              <a:rPr lang="en-US" sz="2400" b="1" dirty="0" smtClean="0"/>
              <a:t>Management Succession Plan: </a:t>
            </a:r>
            <a:r>
              <a:rPr lang="en-US" sz="2400" dirty="0" smtClean="0"/>
              <a:t>When choosing forms of ownership, businesses owners must look ahead to the day when they will pass their companies on to the next generation or to a buyer. </a:t>
            </a:r>
          </a:p>
          <a:p>
            <a:r>
              <a:rPr lang="en-US" sz="2400" dirty="0" smtClean="0"/>
              <a:t>(g) </a:t>
            </a:r>
            <a:r>
              <a:rPr lang="en-US" sz="2400" b="1" dirty="0" smtClean="0"/>
              <a:t>Cost of Formation: </a:t>
            </a:r>
            <a:r>
              <a:rPr lang="en-US" sz="2400" dirty="0" smtClean="0"/>
              <a:t>Some forms of ownership are much more costly and complex to create. Entrepreneur must consider carefully the benefits and costs of the particular form they choose. </a:t>
            </a:r>
            <a:endParaRPr lang="en-US" sz="2400" dirty="0"/>
          </a:p>
          <a:p>
            <a:endParaRPr lang="en-US" sz="2400" dirty="0"/>
          </a:p>
        </p:txBody>
      </p:sp>
    </p:spTree>
    <p:extLst>
      <p:ext uri="{BB962C8B-B14F-4D97-AF65-F5344CB8AC3E}">
        <p14:creationId xmlns:p14="http://schemas.microsoft.com/office/powerpoint/2010/main" val="1097416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1812</Words>
  <Application>Microsoft Office PowerPoint</Application>
  <PresentationFormat>Widescreen</PresentationFormat>
  <Paragraphs>138</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MS PGothic</vt:lpstr>
      <vt:lpstr>Arial</vt:lpstr>
      <vt:lpstr>Batang</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2. What is Franchising?</vt:lpstr>
      <vt:lpstr>Advantages and Disadvantages of Franchising as a Method of Business Expansion</vt:lpstr>
      <vt:lpstr>Advantages and Disadvantages of  Buying a Franchise</vt:lpstr>
      <vt:lpstr>3. BUY 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FACTORS TO CONSIDER WHEN CHOOSING BUSINESS OWNERSHIP </vt:lpstr>
      <vt:lpstr>PowerPoint Presentation</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Familly business</dc:title>
  <dc:creator>GEOFFREY</dc:creator>
  <cp:lastModifiedBy>Mhango</cp:lastModifiedBy>
  <cp:revision>14</cp:revision>
  <dcterms:created xsi:type="dcterms:W3CDTF">2017-12-05T15:25:17Z</dcterms:created>
  <dcterms:modified xsi:type="dcterms:W3CDTF">2019-05-18T17:26:49Z</dcterms:modified>
</cp:coreProperties>
</file>