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9793E3-AEBF-4CEE-B491-A8E1A283DEBF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W"/>
        </a:p>
      </dgm:t>
    </dgm:pt>
    <dgm:pt modelId="{695E55F6-04A6-4EB7-A017-A39A5E478BBB}">
      <dgm:prSet phldrT="[Text]"/>
      <dgm:spPr/>
      <dgm:t>
        <a:bodyPr/>
        <a:lstStyle/>
        <a:p>
          <a:r>
            <a:rPr lang="en-GB" dirty="0"/>
            <a:t>Market penetration</a:t>
          </a:r>
          <a:endParaRPr lang="en-MW" dirty="0"/>
        </a:p>
      </dgm:t>
    </dgm:pt>
    <dgm:pt modelId="{37F48CDB-8275-4622-95FF-E4FE426B2A90}" type="parTrans" cxnId="{A286FD21-9FD1-428D-85A5-DCD4282B4500}">
      <dgm:prSet/>
      <dgm:spPr/>
      <dgm:t>
        <a:bodyPr/>
        <a:lstStyle/>
        <a:p>
          <a:endParaRPr lang="en-MW"/>
        </a:p>
      </dgm:t>
    </dgm:pt>
    <dgm:pt modelId="{497E1AF6-B186-4F14-8E49-C78D2EE9EE2F}" type="sibTrans" cxnId="{A286FD21-9FD1-428D-85A5-DCD4282B4500}">
      <dgm:prSet/>
      <dgm:spPr/>
      <dgm:t>
        <a:bodyPr/>
        <a:lstStyle/>
        <a:p>
          <a:endParaRPr lang="en-MW"/>
        </a:p>
      </dgm:t>
    </dgm:pt>
    <dgm:pt modelId="{B84F7DBF-7453-4606-A7A8-C5BDD222EA34}">
      <dgm:prSet phldrT="[Text]"/>
      <dgm:spPr/>
      <dgm:t>
        <a:bodyPr/>
        <a:lstStyle/>
        <a:p>
          <a:r>
            <a:rPr lang="en-GB" dirty="0"/>
            <a:t>product development</a:t>
          </a:r>
          <a:endParaRPr lang="en-MW" dirty="0"/>
        </a:p>
      </dgm:t>
    </dgm:pt>
    <dgm:pt modelId="{E8BB6107-C1EF-4715-BF09-D7E12D409181}" type="parTrans" cxnId="{3C44763C-3FF7-496D-BD89-9A9BB78505A9}">
      <dgm:prSet/>
      <dgm:spPr/>
      <dgm:t>
        <a:bodyPr/>
        <a:lstStyle/>
        <a:p>
          <a:endParaRPr lang="en-MW"/>
        </a:p>
      </dgm:t>
    </dgm:pt>
    <dgm:pt modelId="{255D939F-532F-4898-84BE-4D8BA41A7CAA}" type="sibTrans" cxnId="{3C44763C-3FF7-496D-BD89-9A9BB78505A9}">
      <dgm:prSet/>
      <dgm:spPr/>
      <dgm:t>
        <a:bodyPr/>
        <a:lstStyle/>
        <a:p>
          <a:endParaRPr lang="en-MW"/>
        </a:p>
      </dgm:t>
    </dgm:pt>
    <dgm:pt modelId="{EAD41081-B5DC-496B-B10C-4234F8DEA802}">
      <dgm:prSet phldrT="[Text]"/>
      <dgm:spPr/>
      <dgm:t>
        <a:bodyPr/>
        <a:lstStyle/>
        <a:p>
          <a:r>
            <a:rPr lang="en-GB" dirty="0"/>
            <a:t>Market development</a:t>
          </a:r>
          <a:endParaRPr lang="en-MW" dirty="0"/>
        </a:p>
      </dgm:t>
    </dgm:pt>
    <dgm:pt modelId="{B53CB243-51BA-47E3-8DF1-0EB9DFCCCDEB}" type="parTrans" cxnId="{DA5C7F30-1EE8-47BD-8FBC-6F8D82305151}">
      <dgm:prSet/>
      <dgm:spPr/>
      <dgm:t>
        <a:bodyPr/>
        <a:lstStyle/>
        <a:p>
          <a:endParaRPr lang="en-MW"/>
        </a:p>
      </dgm:t>
    </dgm:pt>
    <dgm:pt modelId="{CE24282E-C479-4267-B44C-3AC8F577E69A}" type="sibTrans" cxnId="{DA5C7F30-1EE8-47BD-8FBC-6F8D82305151}">
      <dgm:prSet/>
      <dgm:spPr/>
      <dgm:t>
        <a:bodyPr/>
        <a:lstStyle/>
        <a:p>
          <a:endParaRPr lang="en-MW"/>
        </a:p>
      </dgm:t>
    </dgm:pt>
    <dgm:pt modelId="{E293FC9A-6E9A-42F5-BC96-74C9E6737C12}">
      <dgm:prSet phldrT="[Text]"/>
      <dgm:spPr/>
      <dgm:t>
        <a:bodyPr/>
        <a:lstStyle/>
        <a:p>
          <a:r>
            <a:rPr lang="en-GB" dirty="0"/>
            <a:t>diversification</a:t>
          </a:r>
          <a:endParaRPr lang="en-MW" dirty="0"/>
        </a:p>
      </dgm:t>
    </dgm:pt>
    <dgm:pt modelId="{8292679B-966F-4D1D-A1A9-832CCB0EF526}" type="parTrans" cxnId="{74EE11B9-A567-4EEA-BA50-19871FE07AAA}">
      <dgm:prSet/>
      <dgm:spPr/>
      <dgm:t>
        <a:bodyPr/>
        <a:lstStyle/>
        <a:p>
          <a:endParaRPr lang="en-MW"/>
        </a:p>
      </dgm:t>
    </dgm:pt>
    <dgm:pt modelId="{FC8E4E2D-A555-4B0C-9A1F-1413EE4A8ADC}" type="sibTrans" cxnId="{74EE11B9-A567-4EEA-BA50-19871FE07AAA}">
      <dgm:prSet/>
      <dgm:spPr/>
      <dgm:t>
        <a:bodyPr/>
        <a:lstStyle/>
        <a:p>
          <a:endParaRPr lang="en-MW"/>
        </a:p>
      </dgm:t>
    </dgm:pt>
    <dgm:pt modelId="{D58FD23A-3A56-487D-85B4-1C1DB8815176}" type="pres">
      <dgm:prSet presAssocID="{E09793E3-AEBF-4CEE-B491-A8E1A283DEBF}" presName="Name0" presStyleCnt="0">
        <dgm:presLayoutVars>
          <dgm:dir/>
          <dgm:resizeHandles val="exact"/>
        </dgm:presLayoutVars>
      </dgm:prSet>
      <dgm:spPr/>
    </dgm:pt>
    <dgm:pt modelId="{13900241-3860-4F63-B876-57826F88F9D3}" type="pres">
      <dgm:prSet presAssocID="{695E55F6-04A6-4EB7-A017-A39A5E478BBB}" presName="compNode" presStyleCnt="0"/>
      <dgm:spPr/>
    </dgm:pt>
    <dgm:pt modelId="{966989CB-B110-4D86-A215-3955B36E55BD}" type="pres">
      <dgm:prSet presAssocID="{695E55F6-04A6-4EB7-A017-A39A5E478BBB}" presName="pictRect" presStyleLbl="node1" presStyleIdx="0" presStyleCnt="4"/>
      <dgm:spPr/>
    </dgm:pt>
    <dgm:pt modelId="{DBF55E7C-21C9-4DEA-9E29-633F9FF5A9D6}" type="pres">
      <dgm:prSet presAssocID="{695E55F6-04A6-4EB7-A017-A39A5E478BBB}" presName="textRect" presStyleLbl="revTx" presStyleIdx="0" presStyleCnt="4">
        <dgm:presLayoutVars>
          <dgm:bulletEnabled val="1"/>
        </dgm:presLayoutVars>
      </dgm:prSet>
      <dgm:spPr/>
    </dgm:pt>
    <dgm:pt modelId="{2E5D2647-8BD1-4936-980E-2445D5DBC66D}" type="pres">
      <dgm:prSet presAssocID="{497E1AF6-B186-4F14-8E49-C78D2EE9EE2F}" presName="sibTrans" presStyleLbl="sibTrans2D1" presStyleIdx="0" presStyleCnt="0"/>
      <dgm:spPr/>
    </dgm:pt>
    <dgm:pt modelId="{D04923B5-C8D2-45A0-A741-78A492876C09}" type="pres">
      <dgm:prSet presAssocID="{B84F7DBF-7453-4606-A7A8-C5BDD222EA34}" presName="compNode" presStyleCnt="0"/>
      <dgm:spPr/>
    </dgm:pt>
    <dgm:pt modelId="{D73317C5-DA05-46A9-9756-2A4BB072739B}" type="pres">
      <dgm:prSet presAssocID="{B84F7DBF-7453-4606-A7A8-C5BDD222EA34}" presName="pictRect" presStyleLbl="node1" presStyleIdx="1" presStyleCnt="4"/>
      <dgm:spPr/>
    </dgm:pt>
    <dgm:pt modelId="{49D0FA13-9B4C-4A7B-9AA5-0EBD32A106B0}" type="pres">
      <dgm:prSet presAssocID="{B84F7DBF-7453-4606-A7A8-C5BDD222EA34}" presName="textRect" presStyleLbl="revTx" presStyleIdx="1" presStyleCnt="4">
        <dgm:presLayoutVars>
          <dgm:bulletEnabled val="1"/>
        </dgm:presLayoutVars>
      </dgm:prSet>
      <dgm:spPr/>
    </dgm:pt>
    <dgm:pt modelId="{A287BCD8-E2C3-4B8D-98FB-A8EBF31F88FE}" type="pres">
      <dgm:prSet presAssocID="{255D939F-532F-4898-84BE-4D8BA41A7CAA}" presName="sibTrans" presStyleLbl="sibTrans2D1" presStyleIdx="0" presStyleCnt="0"/>
      <dgm:spPr/>
    </dgm:pt>
    <dgm:pt modelId="{4D2D0324-786F-468E-A357-CDC978111C03}" type="pres">
      <dgm:prSet presAssocID="{EAD41081-B5DC-496B-B10C-4234F8DEA802}" presName="compNode" presStyleCnt="0"/>
      <dgm:spPr/>
    </dgm:pt>
    <dgm:pt modelId="{96D082B5-18E7-4BED-9849-E329E2B6C2ED}" type="pres">
      <dgm:prSet presAssocID="{EAD41081-B5DC-496B-B10C-4234F8DEA802}" presName="pictRect" presStyleLbl="node1" presStyleIdx="2" presStyleCnt="4"/>
      <dgm:spPr/>
    </dgm:pt>
    <dgm:pt modelId="{7F6937BB-A9AE-45E3-97B0-19FB0FFA1FFE}" type="pres">
      <dgm:prSet presAssocID="{EAD41081-B5DC-496B-B10C-4234F8DEA802}" presName="textRect" presStyleLbl="revTx" presStyleIdx="2" presStyleCnt="4">
        <dgm:presLayoutVars>
          <dgm:bulletEnabled val="1"/>
        </dgm:presLayoutVars>
      </dgm:prSet>
      <dgm:spPr/>
    </dgm:pt>
    <dgm:pt modelId="{3AB6E794-1861-4EE7-B75C-58D9762F7467}" type="pres">
      <dgm:prSet presAssocID="{CE24282E-C479-4267-B44C-3AC8F577E69A}" presName="sibTrans" presStyleLbl="sibTrans2D1" presStyleIdx="0" presStyleCnt="0"/>
      <dgm:spPr/>
    </dgm:pt>
    <dgm:pt modelId="{96858120-D33D-46F7-92C3-1E5545048D32}" type="pres">
      <dgm:prSet presAssocID="{E293FC9A-6E9A-42F5-BC96-74C9E6737C12}" presName="compNode" presStyleCnt="0"/>
      <dgm:spPr/>
    </dgm:pt>
    <dgm:pt modelId="{84639C1B-0F88-4AF5-9FEB-6BD65EC3086B}" type="pres">
      <dgm:prSet presAssocID="{E293FC9A-6E9A-42F5-BC96-74C9E6737C12}" presName="pictRect" presStyleLbl="node1" presStyleIdx="3" presStyleCnt="4"/>
      <dgm:spPr/>
    </dgm:pt>
    <dgm:pt modelId="{466C44FD-DDDA-473D-9360-91AA27992EFF}" type="pres">
      <dgm:prSet presAssocID="{E293FC9A-6E9A-42F5-BC96-74C9E6737C12}" presName="textRect" presStyleLbl="revTx" presStyleIdx="3" presStyleCnt="4">
        <dgm:presLayoutVars>
          <dgm:bulletEnabled val="1"/>
        </dgm:presLayoutVars>
      </dgm:prSet>
      <dgm:spPr/>
    </dgm:pt>
  </dgm:ptLst>
  <dgm:cxnLst>
    <dgm:cxn modelId="{8C72231B-00B8-40BC-8B0B-0EE60A143CE5}" type="presOf" srcId="{CE24282E-C479-4267-B44C-3AC8F577E69A}" destId="{3AB6E794-1861-4EE7-B75C-58D9762F7467}" srcOrd="0" destOrd="0" presId="urn:microsoft.com/office/officeart/2005/8/layout/pList1"/>
    <dgm:cxn modelId="{A286FD21-9FD1-428D-85A5-DCD4282B4500}" srcId="{E09793E3-AEBF-4CEE-B491-A8E1A283DEBF}" destId="{695E55F6-04A6-4EB7-A017-A39A5E478BBB}" srcOrd="0" destOrd="0" parTransId="{37F48CDB-8275-4622-95FF-E4FE426B2A90}" sibTransId="{497E1AF6-B186-4F14-8E49-C78D2EE9EE2F}"/>
    <dgm:cxn modelId="{DA5C7F30-1EE8-47BD-8FBC-6F8D82305151}" srcId="{E09793E3-AEBF-4CEE-B491-A8E1A283DEBF}" destId="{EAD41081-B5DC-496B-B10C-4234F8DEA802}" srcOrd="2" destOrd="0" parTransId="{B53CB243-51BA-47E3-8DF1-0EB9DFCCCDEB}" sibTransId="{CE24282E-C479-4267-B44C-3AC8F577E69A}"/>
    <dgm:cxn modelId="{3C44763C-3FF7-496D-BD89-9A9BB78505A9}" srcId="{E09793E3-AEBF-4CEE-B491-A8E1A283DEBF}" destId="{B84F7DBF-7453-4606-A7A8-C5BDD222EA34}" srcOrd="1" destOrd="0" parTransId="{E8BB6107-C1EF-4715-BF09-D7E12D409181}" sibTransId="{255D939F-532F-4898-84BE-4D8BA41A7CAA}"/>
    <dgm:cxn modelId="{09DA424B-46BC-4D48-96D0-6C3064A22AE3}" type="presOf" srcId="{255D939F-532F-4898-84BE-4D8BA41A7CAA}" destId="{A287BCD8-E2C3-4B8D-98FB-A8EBF31F88FE}" srcOrd="0" destOrd="0" presId="urn:microsoft.com/office/officeart/2005/8/layout/pList1"/>
    <dgm:cxn modelId="{7B29F499-B15F-4F51-A6D6-B4FE842EF3D8}" type="presOf" srcId="{695E55F6-04A6-4EB7-A017-A39A5E478BBB}" destId="{DBF55E7C-21C9-4DEA-9E29-633F9FF5A9D6}" srcOrd="0" destOrd="0" presId="urn:microsoft.com/office/officeart/2005/8/layout/pList1"/>
    <dgm:cxn modelId="{BED1F69F-209F-499B-992F-548579937E99}" type="presOf" srcId="{497E1AF6-B186-4F14-8E49-C78D2EE9EE2F}" destId="{2E5D2647-8BD1-4936-980E-2445D5DBC66D}" srcOrd="0" destOrd="0" presId="urn:microsoft.com/office/officeart/2005/8/layout/pList1"/>
    <dgm:cxn modelId="{ECBF19A6-E5BA-491E-91E8-4029EE680C00}" type="presOf" srcId="{B84F7DBF-7453-4606-A7A8-C5BDD222EA34}" destId="{49D0FA13-9B4C-4A7B-9AA5-0EBD32A106B0}" srcOrd="0" destOrd="0" presId="urn:microsoft.com/office/officeart/2005/8/layout/pList1"/>
    <dgm:cxn modelId="{74EE11B9-A567-4EEA-BA50-19871FE07AAA}" srcId="{E09793E3-AEBF-4CEE-B491-A8E1A283DEBF}" destId="{E293FC9A-6E9A-42F5-BC96-74C9E6737C12}" srcOrd="3" destOrd="0" parTransId="{8292679B-966F-4D1D-A1A9-832CCB0EF526}" sibTransId="{FC8E4E2D-A555-4B0C-9A1F-1413EE4A8ADC}"/>
    <dgm:cxn modelId="{99ECBCC6-FC86-47F8-93E0-722B2E36FA0B}" type="presOf" srcId="{EAD41081-B5DC-496B-B10C-4234F8DEA802}" destId="{7F6937BB-A9AE-45E3-97B0-19FB0FFA1FFE}" srcOrd="0" destOrd="0" presId="urn:microsoft.com/office/officeart/2005/8/layout/pList1"/>
    <dgm:cxn modelId="{0CD522C9-184F-40ED-85EB-EA70EF3B0385}" type="presOf" srcId="{E09793E3-AEBF-4CEE-B491-A8E1A283DEBF}" destId="{D58FD23A-3A56-487D-85B4-1C1DB8815176}" srcOrd="0" destOrd="0" presId="urn:microsoft.com/office/officeart/2005/8/layout/pList1"/>
    <dgm:cxn modelId="{07DA7FD6-F534-4C68-A5E5-E545A7D2948D}" type="presOf" srcId="{E293FC9A-6E9A-42F5-BC96-74C9E6737C12}" destId="{466C44FD-DDDA-473D-9360-91AA27992EFF}" srcOrd="0" destOrd="0" presId="urn:microsoft.com/office/officeart/2005/8/layout/pList1"/>
    <dgm:cxn modelId="{F5CA3191-4D96-46B9-9C62-92AA76C70FFC}" type="presParOf" srcId="{D58FD23A-3A56-487D-85B4-1C1DB8815176}" destId="{13900241-3860-4F63-B876-57826F88F9D3}" srcOrd="0" destOrd="0" presId="urn:microsoft.com/office/officeart/2005/8/layout/pList1"/>
    <dgm:cxn modelId="{1330E664-8860-4A78-A368-4330C8765733}" type="presParOf" srcId="{13900241-3860-4F63-B876-57826F88F9D3}" destId="{966989CB-B110-4D86-A215-3955B36E55BD}" srcOrd="0" destOrd="0" presId="urn:microsoft.com/office/officeart/2005/8/layout/pList1"/>
    <dgm:cxn modelId="{21F85414-A82F-4C8A-9056-4597EB83BD3E}" type="presParOf" srcId="{13900241-3860-4F63-B876-57826F88F9D3}" destId="{DBF55E7C-21C9-4DEA-9E29-633F9FF5A9D6}" srcOrd="1" destOrd="0" presId="urn:microsoft.com/office/officeart/2005/8/layout/pList1"/>
    <dgm:cxn modelId="{DD42FA72-64A2-4BBB-BB66-DBC9F668270B}" type="presParOf" srcId="{D58FD23A-3A56-487D-85B4-1C1DB8815176}" destId="{2E5D2647-8BD1-4936-980E-2445D5DBC66D}" srcOrd="1" destOrd="0" presId="urn:microsoft.com/office/officeart/2005/8/layout/pList1"/>
    <dgm:cxn modelId="{9C402A9B-BAFC-43F0-B885-1A92FF2492C9}" type="presParOf" srcId="{D58FD23A-3A56-487D-85B4-1C1DB8815176}" destId="{D04923B5-C8D2-45A0-A741-78A492876C09}" srcOrd="2" destOrd="0" presId="urn:microsoft.com/office/officeart/2005/8/layout/pList1"/>
    <dgm:cxn modelId="{1163AA6E-0831-482B-8C0B-D09CB0786ABB}" type="presParOf" srcId="{D04923B5-C8D2-45A0-A741-78A492876C09}" destId="{D73317C5-DA05-46A9-9756-2A4BB072739B}" srcOrd="0" destOrd="0" presId="urn:microsoft.com/office/officeart/2005/8/layout/pList1"/>
    <dgm:cxn modelId="{A02045C9-B2F6-4CC8-851C-F3FD374B445F}" type="presParOf" srcId="{D04923B5-C8D2-45A0-A741-78A492876C09}" destId="{49D0FA13-9B4C-4A7B-9AA5-0EBD32A106B0}" srcOrd="1" destOrd="0" presId="urn:microsoft.com/office/officeart/2005/8/layout/pList1"/>
    <dgm:cxn modelId="{7E320A99-03A7-4123-B8B1-8C676B2D1FC4}" type="presParOf" srcId="{D58FD23A-3A56-487D-85B4-1C1DB8815176}" destId="{A287BCD8-E2C3-4B8D-98FB-A8EBF31F88FE}" srcOrd="3" destOrd="0" presId="urn:microsoft.com/office/officeart/2005/8/layout/pList1"/>
    <dgm:cxn modelId="{AFA178B2-710A-44F1-962B-446D9A55BCE1}" type="presParOf" srcId="{D58FD23A-3A56-487D-85B4-1C1DB8815176}" destId="{4D2D0324-786F-468E-A357-CDC978111C03}" srcOrd="4" destOrd="0" presId="urn:microsoft.com/office/officeart/2005/8/layout/pList1"/>
    <dgm:cxn modelId="{42460B2A-5217-46AD-BB05-08A93143DB34}" type="presParOf" srcId="{4D2D0324-786F-468E-A357-CDC978111C03}" destId="{96D082B5-18E7-4BED-9849-E329E2B6C2ED}" srcOrd="0" destOrd="0" presId="urn:microsoft.com/office/officeart/2005/8/layout/pList1"/>
    <dgm:cxn modelId="{97D37443-59DF-4976-B427-F89A6382A8AF}" type="presParOf" srcId="{4D2D0324-786F-468E-A357-CDC978111C03}" destId="{7F6937BB-A9AE-45E3-97B0-19FB0FFA1FFE}" srcOrd="1" destOrd="0" presId="urn:microsoft.com/office/officeart/2005/8/layout/pList1"/>
    <dgm:cxn modelId="{EAC34F64-52F9-499D-8601-67E2E6D3CDD8}" type="presParOf" srcId="{D58FD23A-3A56-487D-85B4-1C1DB8815176}" destId="{3AB6E794-1861-4EE7-B75C-58D9762F7467}" srcOrd="5" destOrd="0" presId="urn:microsoft.com/office/officeart/2005/8/layout/pList1"/>
    <dgm:cxn modelId="{047B6A4C-E85A-4AAD-97EA-FC88B2B86FFA}" type="presParOf" srcId="{D58FD23A-3A56-487D-85B4-1C1DB8815176}" destId="{96858120-D33D-46F7-92C3-1E5545048D32}" srcOrd="6" destOrd="0" presId="urn:microsoft.com/office/officeart/2005/8/layout/pList1"/>
    <dgm:cxn modelId="{B995B171-1E0A-426A-976F-5E770E777B96}" type="presParOf" srcId="{96858120-D33D-46F7-92C3-1E5545048D32}" destId="{84639C1B-0F88-4AF5-9FEB-6BD65EC3086B}" srcOrd="0" destOrd="0" presId="urn:microsoft.com/office/officeart/2005/8/layout/pList1"/>
    <dgm:cxn modelId="{6135A0B5-2D7C-4E69-A223-4F7AB78CAB30}" type="presParOf" srcId="{96858120-D33D-46F7-92C3-1E5545048D32}" destId="{466C44FD-DDDA-473D-9360-91AA27992EFF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6989CB-B110-4D86-A215-3955B36E55BD}">
      <dsp:nvSpPr>
        <dsp:cNvPr id="0" name=""/>
        <dsp:cNvSpPr/>
      </dsp:nvSpPr>
      <dsp:spPr>
        <a:xfrm>
          <a:off x="1061815" y="2531"/>
          <a:ext cx="2018563" cy="1390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F55E7C-21C9-4DEA-9E29-633F9FF5A9D6}">
      <dsp:nvSpPr>
        <dsp:cNvPr id="0" name=""/>
        <dsp:cNvSpPr/>
      </dsp:nvSpPr>
      <dsp:spPr>
        <a:xfrm>
          <a:off x="1061815" y="1393321"/>
          <a:ext cx="2018563" cy="748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Market penetration</a:t>
          </a:r>
          <a:endParaRPr lang="en-MW" sz="2000" kern="1200" dirty="0"/>
        </a:p>
      </dsp:txBody>
      <dsp:txXfrm>
        <a:off x="1061815" y="1393321"/>
        <a:ext cx="2018563" cy="748887"/>
      </dsp:txXfrm>
    </dsp:sp>
    <dsp:sp modelId="{D73317C5-DA05-46A9-9756-2A4BB072739B}">
      <dsp:nvSpPr>
        <dsp:cNvPr id="0" name=""/>
        <dsp:cNvSpPr/>
      </dsp:nvSpPr>
      <dsp:spPr>
        <a:xfrm>
          <a:off x="3282320" y="2531"/>
          <a:ext cx="2018563" cy="1390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0FA13-9B4C-4A7B-9AA5-0EBD32A106B0}">
      <dsp:nvSpPr>
        <dsp:cNvPr id="0" name=""/>
        <dsp:cNvSpPr/>
      </dsp:nvSpPr>
      <dsp:spPr>
        <a:xfrm>
          <a:off x="3282320" y="1393321"/>
          <a:ext cx="2018563" cy="748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product development</a:t>
          </a:r>
          <a:endParaRPr lang="en-MW" sz="2000" kern="1200" dirty="0"/>
        </a:p>
      </dsp:txBody>
      <dsp:txXfrm>
        <a:off x="3282320" y="1393321"/>
        <a:ext cx="2018563" cy="748887"/>
      </dsp:txXfrm>
    </dsp:sp>
    <dsp:sp modelId="{96D082B5-18E7-4BED-9849-E329E2B6C2ED}">
      <dsp:nvSpPr>
        <dsp:cNvPr id="0" name=""/>
        <dsp:cNvSpPr/>
      </dsp:nvSpPr>
      <dsp:spPr>
        <a:xfrm>
          <a:off x="1061815" y="2344065"/>
          <a:ext cx="2018563" cy="1390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937BB-A9AE-45E3-97B0-19FB0FFA1FFE}">
      <dsp:nvSpPr>
        <dsp:cNvPr id="0" name=""/>
        <dsp:cNvSpPr/>
      </dsp:nvSpPr>
      <dsp:spPr>
        <a:xfrm>
          <a:off x="1061815" y="3734855"/>
          <a:ext cx="2018563" cy="748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Market development</a:t>
          </a:r>
          <a:endParaRPr lang="en-MW" sz="2000" kern="1200" dirty="0"/>
        </a:p>
      </dsp:txBody>
      <dsp:txXfrm>
        <a:off x="1061815" y="3734855"/>
        <a:ext cx="2018563" cy="748887"/>
      </dsp:txXfrm>
    </dsp:sp>
    <dsp:sp modelId="{84639C1B-0F88-4AF5-9FEB-6BD65EC3086B}">
      <dsp:nvSpPr>
        <dsp:cNvPr id="0" name=""/>
        <dsp:cNvSpPr/>
      </dsp:nvSpPr>
      <dsp:spPr>
        <a:xfrm>
          <a:off x="3282320" y="2344065"/>
          <a:ext cx="2018563" cy="1390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C44FD-DDDA-473D-9360-91AA27992EFF}">
      <dsp:nvSpPr>
        <dsp:cNvPr id="0" name=""/>
        <dsp:cNvSpPr/>
      </dsp:nvSpPr>
      <dsp:spPr>
        <a:xfrm>
          <a:off x="3282320" y="3734855"/>
          <a:ext cx="2018563" cy="748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diversification</a:t>
          </a:r>
          <a:endParaRPr lang="en-MW" sz="2000" kern="1200" dirty="0"/>
        </a:p>
      </dsp:txBody>
      <dsp:txXfrm>
        <a:off x="3282320" y="3734855"/>
        <a:ext cx="2018563" cy="748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MW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3099868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3557968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3169713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425053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929310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3569089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969668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3412262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290533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2791661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2138238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1058083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1934254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587190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M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6045001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18197139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4124739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156E2CA-37E4-415A-B06D-A7CA7DC822E8}" type="datetimeFigureOut">
              <a:rPr lang="en-MW" smtClean="0"/>
              <a:t>11/08/2021</a:t>
            </a:fld>
            <a:endParaRPr lang="en-M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MW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074EC26-B194-4AA6-B149-4FBD6E52C84E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3603630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58851-D946-4FE4-A9B1-C46F08CD16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GROWTH STRATEGIES</a:t>
            </a:r>
            <a:endParaRPr lang="en-MW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B2242-AB4D-42C6-A292-C8BCB79810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WILSON BANDA</a:t>
            </a:r>
            <a:endParaRPr lang="en-MW" dirty="0"/>
          </a:p>
        </p:txBody>
      </p:sp>
    </p:spTree>
    <p:extLst>
      <p:ext uri="{BB962C8B-B14F-4D97-AF65-F5344CB8AC3E}">
        <p14:creationId xmlns:p14="http://schemas.microsoft.com/office/powerpoint/2010/main" val="960034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E2E0E-1880-4F92-8CE6-7DC4A5B38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GROWTH GOOD OR BAD?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934B9-758B-4695-8EF3-70E1D29D8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36800"/>
            <a:ext cx="9513046" cy="3683000"/>
          </a:xfrm>
        </p:spPr>
        <p:txBody>
          <a:bodyPr/>
          <a:lstStyle/>
          <a:p>
            <a:endParaRPr lang="en-MW" dirty="0"/>
          </a:p>
        </p:txBody>
      </p:sp>
    </p:spTree>
    <p:extLst>
      <p:ext uri="{BB962C8B-B14F-4D97-AF65-F5344CB8AC3E}">
        <p14:creationId xmlns:p14="http://schemas.microsoft.com/office/powerpoint/2010/main" val="3619853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365F3-778A-4D8E-BCFC-78FE975E0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ANSOFF MATRIX</a:t>
            </a:r>
            <a:endParaRPr lang="en-MW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9414F9-F4B6-4230-9212-D5B7019CC8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5670931"/>
              </p:ext>
            </p:extLst>
          </p:nvPr>
        </p:nvGraphicFramePr>
        <p:xfrm>
          <a:off x="2641600" y="1690688"/>
          <a:ext cx="6362700" cy="4486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79C8F37-DA15-4028-9879-03FF92344956}"/>
              </a:ext>
            </a:extLst>
          </p:cNvPr>
          <p:cNvSpPr txBox="1"/>
          <p:nvPr/>
        </p:nvSpPr>
        <p:spPr>
          <a:xfrm>
            <a:off x="1663700" y="3287493"/>
            <a:ext cx="977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Existing markets</a:t>
            </a:r>
            <a:endParaRPr lang="en-M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43CB6A-C08B-41C9-BE40-EBCAB48CEE48}"/>
              </a:ext>
            </a:extLst>
          </p:cNvPr>
          <p:cNvSpPr/>
          <p:nvPr/>
        </p:nvSpPr>
        <p:spPr>
          <a:xfrm>
            <a:off x="4171949" y="1229023"/>
            <a:ext cx="3302001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Existing products</a:t>
            </a:r>
            <a:endParaRPr lang="en-MW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79396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363B0-C808-465E-BCA0-D98A04A3E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Market penetration strategy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CFBAD-9C06-45C2-A1C1-36E55FCC8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Market existing products in same market</a:t>
            </a:r>
          </a:p>
          <a:p>
            <a:r>
              <a:rPr lang="en-GB" dirty="0"/>
              <a:t>Charges lower prices to penetrate the market and gain more market share</a:t>
            </a:r>
          </a:p>
          <a:p>
            <a:endParaRPr lang="en-MW" dirty="0"/>
          </a:p>
        </p:txBody>
      </p:sp>
    </p:spTree>
    <p:extLst>
      <p:ext uri="{BB962C8B-B14F-4D97-AF65-F5344CB8AC3E}">
        <p14:creationId xmlns:p14="http://schemas.microsoft.com/office/powerpoint/2010/main" val="3803598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87118-B10D-4D9D-A2B7-BA0AA0B20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Market development/expansion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2E487-3DBF-4DE6-A88F-5351503EA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Sell current products in new markets</a:t>
            </a:r>
          </a:p>
          <a:p>
            <a:r>
              <a:rPr lang="en-GB" dirty="0">
                <a:solidFill>
                  <a:srgbClr val="FF0000"/>
                </a:solidFill>
              </a:rPr>
              <a:t>why?</a:t>
            </a:r>
          </a:p>
          <a:p>
            <a:r>
              <a:rPr lang="en-GB" dirty="0"/>
              <a:t>Competition</a:t>
            </a:r>
          </a:p>
          <a:p>
            <a:r>
              <a:rPr lang="en-GB" dirty="0"/>
              <a:t>Find new uses for products</a:t>
            </a:r>
          </a:p>
          <a:p>
            <a:endParaRPr lang="en-GB" dirty="0"/>
          </a:p>
          <a:p>
            <a:r>
              <a:rPr lang="en-GB" dirty="0"/>
              <a:t>The Blue ocean </a:t>
            </a:r>
            <a:r>
              <a:rPr lang="en-GB" dirty="0" err="1"/>
              <a:t>startegy</a:t>
            </a:r>
            <a:endParaRPr lang="en-GB" dirty="0"/>
          </a:p>
          <a:p>
            <a:endParaRPr lang="en-MW" dirty="0"/>
          </a:p>
        </p:txBody>
      </p:sp>
    </p:spTree>
    <p:extLst>
      <p:ext uri="{BB962C8B-B14F-4D97-AF65-F5344CB8AC3E}">
        <p14:creationId xmlns:p14="http://schemas.microsoft.com/office/powerpoint/2010/main" val="268034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D42E2-2EA2-40B1-A491-8A1633DA4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Product development/expansion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08CDB-5B5A-4E41-A1FA-E34B17DDE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 new features to increase sales and profits</a:t>
            </a:r>
          </a:p>
          <a:p>
            <a:r>
              <a:rPr lang="en-GB" dirty="0"/>
              <a:t>Sells within the same market</a:t>
            </a:r>
          </a:p>
          <a:p>
            <a:r>
              <a:rPr lang="en-GB" dirty="0"/>
              <a:t>Takes advantage of new technology</a:t>
            </a:r>
          </a:p>
          <a:p>
            <a:endParaRPr lang="en-GB" dirty="0"/>
          </a:p>
          <a:p>
            <a:r>
              <a:rPr lang="en-GB" dirty="0"/>
              <a:t>Differentiation strategy by Porter</a:t>
            </a:r>
            <a:endParaRPr lang="en-MW" dirty="0"/>
          </a:p>
        </p:txBody>
      </p:sp>
    </p:spTree>
    <p:extLst>
      <p:ext uri="{BB962C8B-B14F-4D97-AF65-F5344CB8AC3E}">
        <p14:creationId xmlns:p14="http://schemas.microsoft.com/office/powerpoint/2010/main" val="2470802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BDE7-6829-4DAE-B12D-9ECBFA27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Diversification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B28E9-9B96-4C4D-9F8F-CD788F85C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Sell new products to new markets</a:t>
            </a:r>
          </a:p>
          <a:p>
            <a:r>
              <a:rPr lang="en-GB" dirty="0"/>
              <a:t>Very risky </a:t>
            </a:r>
          </a:p>
          <a:p>
            <a:r>
              <a:rPr lang="en-GB" dirty="0"/>
              <a:t>Marketers need to determine whether consumers will potentially like the new products through marketing research</a:t>
            </a:r>
          </a:p>
          <a:p>
            <a:endParaRPr lang="en-MW" dirty="0"/>
          </a:p>
        </p:txBody>
      </p:sp>
    </p:spTree>
    <p:extLst>
      <p:ext uri="{BB962C8B-B14F-4D97-AF65-F5344CB8AC3E}">
        <p14:creationId xmlns:p14="http://schemas.microsoft.com/office/powerpoint/2010/main" val="3353832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D4515-8A35-4A9F-BFF8-C37015A90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5. Acquisition of other companies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FA008-657F-4336-BCEC-5CB70968B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company purchases another company to expand its operations</a:t>
            </a:r>
          </a:p>
          <a:p>
            <a:r>
              <a:rPr lang="en-GB" dirty="0"/>
              <a:t>A small company may use it to expand its product line and enter new markets</a:t>
            </a:r>
          </a:p>
          <a:p>
            <a:r>
              <a:rPr lang="en-GB" dirty="0"/>
              <a:t>Can be risky but not as the diversification strategy because products and markets are already established</a:t>
            </a:r>
          </a:p>
          <a:p>
            <a:r>
              <a:rPr lang="en-GB" dirty="0"/>
              <a:t>It involves big investment as such a company must know what it wants to achieve when using the strategy</a:t>
            </a:r>
          </a:p>
          <a:p>
            <a:endParaRPr lang="en-MW" dirty="0"/>
          </a:p>
        </p:txBody>
      </p:sp>
    </p:spTree>
    <p:extLst>
      <p:ext uri="{BB962C8B-B14F-4D97-AF65-F5344CB8AC3E}">
        <p14:creationId xmlns:p14="http://schemas.microsoft.com/office/powerpoint/2010/main" val="13269026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</TotalTime>
  <Words>189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GROWTH STRATEGIES</vt:lpstr>
      <vt:lpstr>IS GROWTH GOOD OR BAD?</vt:lpstr>
      <vt:lpstr>ANSOFF MATRIX</vt:lpstr>
      <vt:lpstr>1. Market penetration strategy</vt:lpstr>
      <vt:lpstr>2. Market development/expansion</vt:lpstr>
      <vt:lpstr>3. Product development/expansion</vt:lpstr>
      <vt:lpstr>4. Diversification</vt:lpstr>
      <vt:lpstr>5. Acquisition of other companies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 STRATEGIES</dc:title>
  <dc:creator>Wilson Banda</dc:creator>
  <cp:lastModifiedBy>Wilson Banda</cp:lastModifiedBy>
  <cp:revision>6</cp:revision>
  <dcterms:created xsi:type="dcterms:W3CDTF">2021-08-11T14:21:08Z</dcterms:created>
  <dcterms:modified xsi:type="dcterms:W3CDTF">2021-08-11T14:36:16Z</dcterms:modified>
</cp:coreProperties>
</file>