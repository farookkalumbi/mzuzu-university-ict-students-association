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Robo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81BDAF5-98DB-474B-AFF5-48601693724E}">
  <a:tblStyle styleId="{481BDAF5-98DB-474B-AFF5-48601693724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Roboto-bold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Robot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ced6d274da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ced6d274da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ced6d274da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ced6d274da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ced6d274da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ced6d274da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ced6d274da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ced6d274da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ced6d274da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ced6d274da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ced6d274da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ced6d274da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ced6d274da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2ced6d274da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ced6d274da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2ced6d274da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Baki being weighed, Maulana + Soko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rgbClr val="FF990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spd="slow" p14:dur="1100">
        <p:push dir="r"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Dump-truck (DT) problem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happens?</a:t>
            </a:r>
            <a:endParaRPr/>
          </a:p>
        </p:txBody>
      </p:sp>
      <p:sp>
        <p:nvSpPr>
          <p:cNvPr id="73" name="Google Shape;73;p14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/>
              <a:t>We have</a:t>
            </a:r>
            <a:r>
              <a:rPr lang="en-GB"/>
              <a:t> six dump trucks, two loaders, and a scale. 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/>
              <a:t>Each truck is loaded by one of the two loaders and then moves to the scale to be weighed. 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/>
              <a:t>Both the loaders and the scale have first-come–first-served waiting lines for trucks.</a:t>
            </a:r>
            <a:endParaRPr/>
          </a:p>
        </p:txBody>
      </p:sp>
      <p:pic>
        <p:nvPicPr>
          <p:cNvPr id="74" name="Google Shape;7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8650" y="1112851"/>
            <a:ext cx="1241902" cy="1241902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4"/>
          <p:cNvSpPr/>
          <p:nvPr/>
        </p:nvSpPr>
        <p:spPr>
          <a:xfrm>
            <a:off x="7274962" y="3048450"/>
            <a:ext cx="1057500" cy="1059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Scale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6" name="Google Shape;76;p14"/>
          <p:cNvCxnSpPr>
            <a:endCxn id="75" idx="1"/>
          </p:cNvCxnSpPr>
          <p:nvPr/>
        </p:nvCxnSpPr>
        <p:spPr>
          <a:xfrm>
            <a:off x="5065762" y="3574050"/>
            <a:ext cx="2209200" cy="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7" name="Google Shape;77;p14"/>
          <p:cNvCxnSpPr>
            <a:stCxn id="75" idx="0"/>
            <a:endCxn id="74" idx="0"/>
          </p:cNvCxnSpPr>
          <p:nvPr/>
        </p:nvCxnSpPr>
        <p:spPr>
          <a:xfrm flipH="1" rot="5400000">
            <a:off x="5053912" y="298650"/>
            <a:ext cx="1935600" cy="3564000"/>
          </a:xfrm>
          <a:prstGeom prst="bentConnector3">
            <a:avLst>
              <a:gd fmla="val 112302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8" name="Google Shape;78;p14"/>
          <p:cNvSpPr txBox="1"/>
          <p:nvPr/>
        </p:nvSpPr>
        <p:spPr>
          <a:xfrm>
            <a:off x="3807125" y="2470750"/>
            <a:ext cx="59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Que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" name="Google Shape;79;p14"/>
          <p:cNvSpPr txBox="1"/>
          <p:nvPr/>
        </p:nvSpPr>
        <p:spPr>
          <a:xfrm>
            <a:off x="5046775" y="451250"/>
            <a:ext cx="2147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Travel Time</a:t>
            </a:r>
            <a:endParaRPr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" name="Google Shape;80;p14"/>
          <p:cNvSpPr txBox="1"/>
          <p:nvPr/>
        </p:nvSpPr>
        <p:spPr>
          <a:xfrm>
            <a:off x="5418175" y="3766150"/>
            <a:ext cx="1404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Weighing que</a:t>
            </a:r>
            <a:endParaRPr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81" name="Google Shape;81;p14"/>
          <p:cNvGrpSpPr/>
          <p:nvPr/>
        </p:nvGrpSpPr>
        <p:grpSpPr>
          <a:xfrm>
            <a:off x="3803050" y="3048450"/>
            <a:ext cx="1057500" cy="1385000"/>
            <a:chOff x="3803050" y="3048450"/>
            <a:chExt cx="1057500" cy="1385000"/>
          </a:xfrm>
        </p:grpSpPr>
        <p:sp>
          <p:nvSpPr>
            <p:cNvPr id="82" name="Google Shape;82;p14"/>
            <p:cNvSpPr/>
            <p:nvPr/>
          </p:nvSpPr>
          <p:spPr>
            <a:xfrm>
              <a:off x="3803050" y="3048450"/>
              <a:ext cx="1057500" cy="6345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Loader</a:t>
              </a:r>
              <a:endPara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3" name="Google Shape;83;p14"/>
            <p:cNvSpPr/>
            <p:nvPr/>
          </p:nvSpPr>
          <p:spPr>
            <a:xfrm>
              <a:off x="3803050" y="3798950"/>
              <a:ext cx="1057500" cy="6345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Loader</a:t>
              </a:r>
              <a:endPara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Terms</a:t>
            </a:r>
            <a:endParaRPr/>
          </a:p>
        </p:txBody>
      </p:sp>
      <p:sp>
        <p:nvSpPr>
          <p:cNvPr id="89" name="Google Shape;89;p15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LQ(t) = number of trucks in the loading que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L(t) = number of trucks being loaded -  0, 1 or 2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WQ(t) = number of trucks in the weighing que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W(t) = number of trucks being weighed - 0 or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100"/>
                                        <p:tgtEl>
                                          <p:spTgt spid="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100"/>
                                        <p:tgtEl>
                                          <p:spTgt spid="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100"/>
                                        <p:tgtEl>
                                          <p:spTgt spid="8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100"/>
                                        <p:tgtEl>
                                          <p:spTgt spid="8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Performance Metrics</a:t>
            </a:r>
            <a:endParaRPr/>
          </a:p>
        </p:txBody>
      </p:sp>
      <p:sp>
        <p:nvSpPr>
          <p:cNvPr id="95" name="Google Shape;95;p16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BL = total busy time of both loaders from time 0 to time 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BS = total busy time of the scale from time 0 to time t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Event Noticies</a:t>
            </a:r>
            <a:endParaRPr/>
          </a:p>
        </p:txBody>
      </p:sp>
      <p:sp>
        <p:nvSpPr>
          <p:cNvPr id="101" name="Google Shape;101;p17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(ALQ, t, DTi), truck DT</a:t>
            </a:r>
            <a:r>
              <a:rPr i="1" lang="en-GB"/>
              <a:t>i</a:t>
            </a:r>
            <a:r>
              <a:rPr lang="en-GB"/>
              <a:t> arrives at loader queue (ALQ) at time t;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(EL, t, DTi), DTi ends loading (EL) at time t;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(EW, t, DTi), DTi ends weighing (EW ) at time t.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6625" y="230100"/>
            <a:ext cx="4162425" cy="136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8"/>
          <p:cNvPicPr preferRelativeResize="0"/>
          <p:nvPr/>
        </p:nvPicPr>
        <p:blipFill rotWithShape="1">
          <a:blip r:embed="rId4">
            <a:alphaModFix/>
          </a:blip>
          <a:srcRect b="10439" l="2162" r="0" t="8444"/>
          <a:stretch/>
        </p:blipFill>
        <p:spPr>
          <a:xfrm>
            <a:off x="4363987" y="1745775"/>
            <a:ext cx="4447700" cy="120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54263" y="3260275"/>
            <a:ext cx="3867150" cy="1504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8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Distributions</a:t>
            </a:r>
            <a:endParaRPr/>
          </a:p>
        </p:txBody>
      </p:sp>
      <p:sp>
        <p:nvSpPr>
          <p:cNvPr id="110" name="Google Shape;110;p18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-GB"/>
              <a:t>Loading time for dump trucks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-GB"/>
              <a:t>Weighing time for the dump trucks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-GB"/>
              <a:t>Travel time for dump trucks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Randomly Generaged Activity Times</a:t>
            </a:r>
            <a:endParaRPr/>
          </a:p>
        </p:txBody>
      </p:sp>
      <p:pic>
        <p:nvPicPr>
          <p:cNvPr id="116" name="Google Shape;11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3525" y="1625613"/>
            <a:ext cx="6596950" cy="18922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Time 0</a:t>
            </a:r>
            <a:endParaRPr/>
          </a:p>
        </p:txBody>
      </p:sp>
      <p:pic>
        <p:nvPicPr>
          <p:cNvPr id="122" name="Google Shape;12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687" y="1137276"/>
            <a:ext cx="1426698" cy="142669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0"/>
          <p:cNvSpPr txBox="1"/>
          <p:nvPr/>
        </p:nvSpPr>
        <p:spPr>
          <a:xfrm>
            <a:off x="699275" y="621575"/>
            <a:ext cx="8547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L(t)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" name="Google Shape;124;p20"/>
          <p:cNvSpPr txBox="1"/>
          <p:nvPr/>
        </p:nvSpPr>
        <p:spPr>
          <a:xfrm>
            <a:off x="3050488" y="621575"/>
            <a:ext cx="8547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LQ(t)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" name="Google Shape;125;p20"/>
          <p:cNvSpPr txBox="1"/>
          <p:nvPr/>
        </p:nvSpPr>
        <p:spPr>
          <a:xfrm>
            <a:off x="5292925" y="621575"/>
            <a:ext cx="8547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W</a:t>
            </a:r>
            <a:r>
              <a:rPr lang="en-GB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Q(t)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" name="Google Shape;126;p20"/>
          <p:cNvSpPr txBox="1"/>
          <p:nvPr/>
        </p:nvSpPr>
        <p:spPr>
          <a:xfrm>
            <a:off x="7325575" y="621575"/>
            <a:ext cx="8547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W</a:t>
            </a:r>
            <a:r>
              <a:rPr lang="en-GB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(t)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7" name="Google Shape;12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687" y="2292051"/>
            <a:ext cx="1426698" cy="14266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79537" y="1137276"/>
            <a:ext cx="1426698" cy="14266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54612" y="1137276"/>
            <a:ext cx="1426698" cy="14266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79537" y="2292051"/>
            <a:ext cx="1426698" cy="14266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64500" y="3424901"/>
            <a:ext cx="1426698" cy="1426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SIMULATION TABLE..</a:t>
            </a:r>
            <a:endParaRPr/>
          </a:p>
        </p:txBody>
      </p:sp>
      <p:graphicFrame>
        <p:nvGraphicFramePr>
          <p:cNvPr id="137" name="Google Shape;137;p21"/>
          <p:cNvGraphicFramePr/>
          <p:nvPr/>
        </p:nvGraphicFramePr>
        <p:xfrm>
          <a:off x="209000" y="1245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{481BDAF5-98DB-474B-AFF5-48601693724E}</a:tableStyleId>
              </a:tblPr>
              <a:tblGrid>
                <a:gridCol w="748275"/>
                <a:gridCol w="639500"/>
                <a:gridCol w="608475"/>
                <a:gridCol w="717175"/>
                <a:gridCol w="577325"/>
                <a:gridCol w="903725"/>
                <a:gridCol w="825975"/>
                <a:gridCol w="1960350"/>
                <a:gridCol w="872600"/>
                <a:gridCol w="8726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CLOCK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LQ(t)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L(t)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WQ(t)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W(t)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Loader Que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Weigh Que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FEL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Bl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Bs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Phiri, Zaid, Sogolera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(EL, 5, Maulana)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(EL, 10, Soko)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(EW, 12, Baki)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Zaid, Sogolera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Maulana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(EL, 10, Phiri)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EL, 10, Soko)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(EW, 12, Baki)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38" name="Google Shape;138;p21"/>
          <p:cNvSpPr txBox="1"/>
          <p:nvPr/>
        </p:nvSpPr>
        <p:spPr>
          <a:xfrm>
            <a:off x="3820050" y="3897550"/>
            <a:ext cx="1383000" cy="11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b="1"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b="1"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b="1"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