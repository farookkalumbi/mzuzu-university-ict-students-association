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57" r:id="rId3"/>
    <p:sldId id="258" r:id="rId4"/>
    <p:sldId id="259" r:id="rId5"/>
    <p:sldId id="262" r:id="rId6"/>
    <p:sldId id="263" r:id="rId7"/>
    <p:sldId id="270" r:id="rId8"/>
    <p:sldId id="260" r:id="rId9"/>
    <p:sldId id="261" r:id="rId10"/>
    <p:sldId id="264" r:id="rId11"/>
    <p:sldId id="265" r:id="rId12"/>
    <p:sldId id="266" r:id="rId13"/>
    <p:sldId id="267" r:id="rId14"/>
    <p:sldId id="271" r:id="rId15"/>
    <p:sldId id="269" r:id="rId16"/>
    <p:sldId id="268" r:id="rId17"/>
    <p:sldId id="282" r:id="rId18"/>
    <p:sldId id="272" r:id="rId19"/>
    <p:sldId id="273" r:id="rId20"/>
    <p:sldId id="274" r:id="rId21"/>
    <p:sldId id="275" r:id="rId22"/>
    <p:sldId id="276" r:id="rId23"/>
    <p:sldId id="277" r:id="rId24"/>
    <p:sldId id="278" r:id="rId25"/>
    <p:sldId id="279" r:id="rId26"/>
    <p:sldId id="280"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extLst>
      <p:ext uri="{19B8F6BF-5375-455C-9EA6-DF929625EA0E}">
        <p15:presenceInfo xmlns:p15="http://schemas.microsoft.com/office/powerpoint/2012/main" userId="Windows 用户"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7C363-8B6D-4947-A208-576F00CE8CD4}"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419AA-4992-44B4-A0E6-EFE75FF7C3C0}" type="slidenum">
              <a:rPr lang="en-US" smtClean="0"/>
              <a:t>‹#›</a:t>
            </a:fld>
            <a:endParaRPr lang="en-US"/>
          </a:p>
        </p:txBody>
      </p:sp>
    </p:spTree>
    <p:extLst>
      <p:ext uri="{BB962C8B-B14F-4D97-AF65-F5344CB8AC3E}">
        <p14:creationId xmlns:p14="http://schemas.microsoft.com/office/powerpoint/2010/main" val="614831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Every software project is precipitated by some business need—the need to correct a defect in an existing application;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need to the need to adapt a ‘legacy system’ to a changing business environment;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0EB419AA-4992-44B4-A0E6-EFE75FF7C3C0}" type="slidenum">
              <a:rPr lang="en-US" smtClean="0"/>
              <a:t>16</a:t>
            </a:fld>
            <a:endParaRPr lang="en-US"/>
          </a:p>
        </p:txBody>
      </p:sp>
    </p:spTree>
    <p:extLst>
      <p:ext uri="{BB962C8B-B14F-4D97-AF65-F5344CB8AC3E}">
        <p14:creationId xmlns:p14="http://schemas.microsoft.com/office/powerpoint/2010/main" val="3618423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Failure to understand what you want to build leads to poor software projects</a:t>
            </a:r>
          </a:p>
          <a:p>
            <a:endParaRPr lang="en-US" dirty="0"/>
          </a:p>
        </p:txBody>
      </p:sp>
      <p:sp>
        <p:nvSpPr>
          <p:cNvPr id="4" name="Slide Number Placeholder 3"/>
          <p:cNvSpPr>
            <a:spLocks noGrp="1"/>
          </p:cNvSpPr>
          <p:nvPr>
            <p:ph type="sldNum" sz="quarter" idx="10"/>
          </p:nvPr>
        </p:nvSpPr>
        <p:spPr/>
        <p:txBody>
          <a:bodyPr/>
          <a:lstStyle/>
          <a:p>
            <a:fld id="{0EB419AA-4992-44B4-A0E6-EFE75FF7C3C0}" type="slidenum">
              <a:rPr lang="en-US" smtClean="0"/>
              <a:t>23</a:t>
            </a:fld>
            <a:endParaRPr lang="en-US"/>
          </a:p>
        </p:txBody>
      </p:sp>
    </p:spTree>
    <p:extLst>
      <p:ext uri="{BB962C8B-B14F-4D97-AF65-F5344CB8AC3E}">
        <p14:creationId xmlns:p14="http://schemas.microsoft.com/office/powerpoint/2010/main" val="830586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12/16/2024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BY DONALD PHIRI</a:t>
            </a:r>
          </a:p>
        </p:txBody>
      </p:sp>
    </p:spTree>
    <p:extLst>
      <p:ext uri="{BB962C8B-B14F-4D97-AF65-F5344CB8AC3E}">
        <p14:creationId xmlns:p14="http://schemas.microsoft.com/office/powerpoint/2010/main" val="83260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Software</a:t>
            </a:r>
          </a:p>
          <a:p>
            <a:r>
              <a:rPr lang="en-US" dirty="0"/>
              <a:t>Relevance  </a:t>
            </a:r>
          </a:p>
          <a:p>
            <a:r>
              <a:rPr lang="en-US" dirty="0"/>
              <a:t>Categories</a:t>
            </a:r>
          </a:p>
          <a:p>
            <a:r>
              <a:rPr lang="en-US" dirty="0"/>
              <a:t>Software Engineering</a:t>
            </a:r>
          </a:p>
          <a:p>
            <a:r>
              <a:rPr lang="en-US" dirty="0"/>
              <a:t>Why engineering</a:t>
            </a:r>
          </a:p>
          <a:p>
            <a:r>
              <a:rPr lang="en-US" dirty="0"/>
              <a:t>Software process</a:t>
            </a:r>
          </a:p>
          <a:p>
            <a:r>
              <a:rPr lang="en-US" dirty="0"/>
              <a:t>Adapting a process model</a:t>
            </a:r>
          </a:p>
          <a:p>
            <a:r>
              <a:rPr lang="en-US" dirty="0"/>
              <a:t>Software myths</a:t>
            </a:r>
          </a:p>
          <a:p>
            <a:r>
              <a:rPr lang="en-US" dirty="0"/>
              <a:t>How software is engineered (Case studies)</a:t>
            </a:r>
          </a:p>
          <a:p>
            <a:endParaRPr lang="en-US" dirty="0"/>
          </a:p>
        </p:txBody>
      </p:sp>
    </p:spTree>
    <p:extLst>
      <p:ext uri="{BB962C8B-B14F-4D97-AF65-F5344CB8AC3E}">
        <p14:creationId xmlns:p14="http://schemas.microsoft.com/office/powerpoint/2010/main" val="3862459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a:t>
            </a:r>
          </a:p>
        </p:txBody>
      </p:sp>
      <p:sp>
        <p:nvSpPr>
          <p:cNvPr id="3" name="Content Placeholder 2"/>
          <p:cNvSpPr>
            <a:spLocks noGrp="1"/>
          </p:cNvSpPr>
          <p:nvPr>
            <p:ph idx="1"/>
          </p:nvPr>
        </p:nvSpPr>
        <p:spPr/>
        <p:txBody>
          <a:bodyPr/>
          <a:lstStyle/>
          <a:p>
            <a:r>
              <a:rPr lang="en-US" dirty="0"/>
              <a:t>The product that software professionals build and then support over the long term. </a:t>
            </a:r>
          </a:p>
          <a:p>
            <a:r>
              <a:rPr lang="en-US" dirty="0"/>
              <a:t>Software encompasses:</a:t>
            </a:r>
          </a:p>
          <a:p>
            <a:pPr>
              <a:buFont typeface="+mj-lt"/>
              <a:buAutoNum type="arabicPeriod"/>
            </a:pPr>
            <a:r>
              <a:rPr lang="en-US" dirty="0"/>
              <a:t>Instructions (computer programs) that when executed provide desired features, function, and performance.</a:t>
            </a:r>
          </a:p>
          <a:p>
            <a:pPr>
              <a:buFont typeface="+mj-lt"/>
              <a:buAutoNum type="arabicPeriod"/>
            </a:pPr>
            <a:r>
              <a:rPr lang="en-US" dirty="0"/>
              <a:t>Data structures that enable the programs to adequately store and manipulate information.</a:t>
            </a:r>
          </a:p>
          <a:p>
            <a:pPr>
              <a:buFont typeface="+mj-lt"/>
              <a:buAutoNum type="arabicPeriod"/>
            </a:pPr>
            <a:r>
              <a:rPr lang="en-US" dirty="0"/>
              <a:t>documentation that describes the operation and use of the programs.</a:t>
            </a:r>
          </a:p>
          <a:p>
            <a:pPr>
              <a:buFont typeface="+mj-lt"/>
              <a:buAutoNum type="arabicPeriod"/>
            </a:pPr>
            <a:endParaRPr lang="en-US" dirty="0"/>
          </a:p>
        </p:txBody>
      </p:sp>
    </p:spTree>
    <p:extLst>
      <p:ext uri="{BB962C8B-B14F-4D97-AF65-F5344CB8AC3E}">
        <p14:creationId xmlns:p14="http://schemas.microsoft.com/office/powerpoint/2010/main" val="3785273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a:t>
            </a:r>
          </a:p>
        </p:txBody>
      </p:sp>
      <p:sp>
        <p:nvSpPr>
          <p:cNvPr id="3" name="Content Placeholder 2"/>
          <p:cNvSpPr>
            <a:spLocks noGrp="1"/>
          </p:cNvSpPr>
          <p:nvPr>
            <p:ph idx="1"/>
          </p:nvPr>
        </p:nvSpPr>
        <p:spPr/>
        <p:txBody>
          <a:bodyPr/>
          <a:lstStyle/>
          <a:p>
            <a:r>
              <a:rPr lang="en-US" b="1" dirty="0"/>
              <a:t>Generic Software: </a:t>
            </a:r>
            <a:r>
              <a:rPr lang="en-US" dirty="0"/>
              <a:t>Stand-alone systems that are marketed and sold to any customer who wishes to buy them. Examples – PC software such as editing, graphics programs, project management tools; CAD software; software for specific markets such as appointments systems for dentists.</a:t>
            </a:r>
          </a:p>
          <a:p>
            <a:r>
              <a:rPr lang="en-US" b="1" dirty="0"/>
              <a:t>Customized products: </a:t>
            </a:r>
            <a:r>
              <a:rPr lang="en-US" dirty="0"/>
              <a:t>Software that is commissioned by a specific customer to meet their own needs. Examples – embedded control systems, air traffic control software, traffic monitoring systems.</a:t>
            </a:r>
          </a:p>
        </p:txBody>
      </p:sp>
    </p:spTree>
    <p:extLst>
      <p:ext uri="{BB962C8B-B14F-4D97-AF65-F5344CB8AC3E}">
        <p14:creationId xmlns:p14="http://schemas.microsoft.com/office/powerpoint/2010/main" val="3857850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cost</a:t>
            </a:r>
          </a:p>
        </p:txBody>
      </p:sp>
      <p:sp>
        <p:nvSpPr>
          <p:cNvPr id="3" name="Content Placeholder 2"/>
          <p:cNvSpPr>
            <a:spLocks noGrp="1"/>
          </p:cNvSpPr>
          <p:nvPr>
            <p:ph idx="1"/>
          </p:nvPr>
        </p:nvSpPr>
        <p:spPr/>
        <p:txBody>
          <a:bodyPr/>
          <a:lstStyle/>
          <a:p>
            <a:r>
              <a:rPr lang="en-US" dirty="0"/>
              <a:t>Software costs often dominate computer system costs. </a:t>
            </a:r>
          </a:p>
          <a:p>
            <a:r>
              <a:rPr lang="en-US" dirty="0"/>
              <a:t>The costs of software on a PC are often greater than the hardware cost.</a:t>
            </a:r>
          </a:p>
          <a:p>
            <a:r>
              <a:rPr lang="en-US" dirty="0"/>
              <a:t>Software costs more to maintain than it does to develop. </a:t>
            </a:r>
          </a:p>
          <a:p>
            <a:r>
              <a:rPr lang="en-US" dirty="0"/>
              <a:t>For systems with a long life, maintenance costs may be several times development costs.</a:t>
            </a:r>
          </a:p>
          <a:p>
            <a:r>
              <a:rPr lang="en-US" dirty="0"/>
              <a:t>Software engineering is concerned with cost-effective software development.</a:t>
            </a:r>
          </a:p>
        </p:txBody>
      </p:sp>
    </p:spTree>
    <p:extLst>
      <p:ext uri="{BB962C8B-B14F-4D97-AF65-F5344CB8AC3E}">
        <p14:creationId xmlns:p14="http://schemas.microsoft.com/office/powerpoint/2010/main" val="4172362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 features </a:t>
            </a:r>
          </a:p>
        </p:txBody>
      </p:sp>
      <p:sp>
        <p:nvSpPr>
          <p:cNvPr id="3" name="Content Placeholder 2"/>
          <p:cNvSpPr>
            <a:spLocks noGrp="1"/>
          </p:cNvSpPr>
          <p:nvPr>
            <p:ph idx="1"/>
          </p:nvPr>
        </p:nvSpPr>
        <p:spPr>
          <a:xfrm>
            <a:off x="2042445" y="1640792"/>
            <a:ext cx="9239976" cy="4142243"/>
          </a:xfrm>
        </p:spPr>
        <p:txBody>
          <a:bodyPr>
            <a:normAutofit/>
          </a:bodyPr>
          <a:lstStyle/>
          <a:p>
            <a:r>
              <a:rPr lang="en-US" dirty="0"/>
              <a:t>Its characteristics that make it different from other things human being build.</a:t>
            </a:r>
          </a:p>
          <a:p>
            <a:r>
              <a:rPr lang="en-US" dirty="0"/>
              <a:t>Features of such logical system: Software is developed or engineered, it is not manufactured in the classical sense which has quality problem.</a:t>
            </a:r>
          </a:p>
          <a:p>
            <a:r>
              <a:rPr lang="en-US" dirty="0"/>
              <a:t>Software doesn't "wear out.” but it deteriorates (due to change). Hardware has bathtub curve of failure rate ( high failure rate in the beginning, then drop to steady state, then cumulative effects of dust, vibration, abuse occurs).</a:t>
            </a:r>
          </a:p>
          <a:p>
            <a:r>
              <a:rPr lang="en-US" dirty="0"/>
              <a:t>Although the industry is moving toward component-based construction (e.g. standard screws and off-the-shelf integrated circuits), most software continues to be custom-built. </a:t>
            </a:r>
          </a:p>
          <a:p>
            <a:r>
              <a:rPr lang="en-US" dirty="0"/>
              <a:t>Modern reusable components encapsulate data and processing into software parts to be reused by different programs. E.g. graphical user interface, window, pull-down menus in library et</a:t>
            </a:r>
          </a:p>
        </p:txBody>
      </p:sp>
    </p:spTree>
    <p:extLst>
      <p:ext uri="{BB962C8B-B14F-4D97-AF65-F5344CB8AC3E}">
        <p14:creationId xmlns:p14="http://schemas.microsoft.com/office/powerpoint/2010/main" val="1752697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Pictorial view of software failure rate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3219" y="2238998"/>
            <a:ext cx="6725293" cy="3359917"/>
          </a:xfrm>
        </p:spPr>
      </p:pic>
    </p:spTree>
    <p:extLst>
      <p:ext uri="{BB962C8B-B14F-4D97-AF65-F5344CB8AC3E}">
        <p14:creationId xmlns:p14="http://schemas.microsoft.com/office/powerpoint/2010/main" val="3616314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Relevance</a:t>
            </a:r>
          </a:p>
        </p:txBody>
      </p:sp>
      <p:sp>
        <p:nvSpPr>
          <p:cNvPr id="3" name="Content Placeholder 2"/>
          <p:cNvSpPr>
            <a:spLocks noGrp="1"/>
          </p:cNvSpPr>
          <p:nvPr>
            <p:ph idx="1"/>
          </p:nvPr>
        </p:nvSpPr>
        <p:spPr/>
        <p:txBody>
          <a:bodyPr/>
          <a:lstStyle/>
          <a:p>
            <a:r>
              <a:rPr lang="en-US" dirty="0"/>
              <a:t>The economies of ALL developed nations are dependent on software.</a:t>
            </a:r>
          </a:p>
          <a:p>
            <a:r>
              <a:rPr lang="en-US" dirty="0"/>
              <a:t>More and more systems are software controlled ( transportation, medical, telecommunications, military, industrial, entertainment, banks, market platforms </a:t>
            </a:r>
            <a:r>
              <a:rPr lang="en-US" dirty="0" err="1"/>
              <a:t>etc</a:t>
            </a:r>
            <a:r>
              <a:rPr lang="en-US" dirty="0"/>
              <a:t>)</a:t>
            </a:r>
          </a:p>
          <a:p>
            <a:r>
              <a:rPr lang="en-US" dirty="0"/>
              <a:t>Software engineering is concerned with theories, methods and tools for professional software development.</a:t>
            </a:r>
          </a:p>
          <a:p>
            <a:r>
              <a:rPr lang="en-US" dirty="0"/>
              <a:t>Expenditure on software represents a significant fraction of GNP in all developed countries.</a:t>
            </a:r>
          </a:p>
        </p:txBody>
      </p:sp>
    </p:spTree>
    <p:extLst>
      <p:ext uri="{BB962C8B-B14F-4D97-AF65-F5344CB8AC3E}">
        <p14:creationId xmlns:p14="http://schemas.microsoft.com/office/powerpoint/2010/main" val="205293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a:t>
            </a:r>
          </a:p>
        </p:txBody>
      </p:sp>
      <p:sp>
        <p:nvSpPr>
          <p:cNvPr id="3" name="Content Placeholder 2"/>
          <p:cNvSpPr>
            <a:spLocks noGrp="1"/>
          </p:cNvSpPr>
          <p:nvPr>
            <p:ph idx="1"/>
          </p:nvPr>
        </p:nvSpPr>
        <p:spPr/>
        <p:txBody>
          <a:bodyPr>
            <a:normAutofit fontScale="92500" lnSpcReduction="20000"/>
          </a:bodyPr>
          <a:lstStyle/>
          <a:p>
            <a:r>
              <a:rPr lang="en-US" b="1" dirty="0"/>
              <a:t>System software:</a:t>
            </a:r>
            <a:r>
              <a:rPr lang="en-US" dirty="0"/>
              <a:t> such as compilers, editors, file management utilities.</a:t>
            </a:r>
          </a:p>
          <a:p>
            <a:r>
              <a:rPr lang="en-US" b="1" dirty="0"/>
              <a:t>Application software:</a:t>
            </a:r>
            <a:r>
              <a:rPr lang="en-US" dirty="0"/>
              <a:t> stand-alone programs for specific needs.</a:t>
            </a:r>
          </a:p>
          <a:p>
            <a:r>
              <a:rPr lang="en-US" b="1" dirty="0"/>
              <a:t>Engineering/scientific software:</a:t>
            </a:r>
            <a:r>
              <a:rPr lang="en-US" dirty="0"/>
              <a:t> Characterized by “number crunching "algorithms, such as automotive stress analysis, molecular biology, orbital dynamics etc. </a:t>
            </a:r>
          </a:p>
          <a:p>
            <a:r>
              <a:rPr lang="en-US" b="1" dirty="0"/>
              <a:t>Embedded software</a:t>
            </a:r>
            <a:r>
              <a:rPr lang="en-US" dirty="0"/>
              <a:t> resides within a product or system. (key pad control of a microwave oven, digital function of dashboard display in a car). </a:t>
            </a:r>
          </a:p>
          <a:p>
            <a:r>
              <a:rPr lang="en-US" b="1" dirty="0"/>
              <a:t>Product-line software</a:t>
            </a:r>
            <a:r>
              <a:rPr lang="en-US" dirty="0"/>
              <a:t> focus on a limited marketplace to address mass consumer market. (word processing, graphics, database management)</a:t>
            </a:r>
          </a:p>
          <a:p>
            <a:r>
              <a:rPr lang="en-US" b="1" dirty="0"/>
              <a:t> Web Apps</a:t>
            </a:r>
            <a:r>
              <a:rPr lang="en-US" dirty="0"/>
              <a:t> (Web applications) network centric software. As web 2.0 emerges, more sophisticated computing environments is supported integrated with remote database and business applications.</a:t>
            </a:r>
          </a:p>
          <a:p>
            <a:r>
              <a:rPr lang="en-US" dirty="0"/>
              <a:t> </a:t>
            </a:r>
            <a:r>
              <a:rPr lang="en-US" b="1" dirty="0"/>
              <a:t>AI software</a:t>
            </a:r>
            <a:r>
              <a:rPr lang="en-US" dirty="0"/>
              <a:t> uses non-numerical algorithm to solve complex problem. Robotics, expert system, pattern recognition game playing</a:t>
            </a:r>
          </a:p>
        </p:txBody>
      </p:sp>
    </p:spTree>
    <p:extLst>
      <p:ext uri="{BB962C8B-B14F-4D97-AF65-F5344CB8AC3E}">
        <p14:creationId xmlns:p14="http://schemas.microsoft.com/office/powerpoint/2010/main" val="673254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b="1" dirty="0"/>
              <a:t>The seminal definition:</a:t>
            </a:r>
          </a:p>
          <a:p>
            <a:r>
              <a:rPr lang="en-US" dirty="0"/>
              <a:t>Software engineering is the establishment and use of sound engineering principles in order to obtain economically software that is reliable and works efficiently on real machines.</a:t>
            </a:r>
          </a:p>
          <a:p>
            <a:r>
              <a:rPr lang="en-US" b="1" dirty="0"/>
              <a:t>The IEEE definition:</a:t>
            </a:r>
          </a:p>
          <a:p>
            <a:r>
              <a:rPr lang="en-US" dirty="0"/>
              <a:t>Software Engineering:  The application of a systematic, disciplined, quantifiable approach to the development, operation, and maintenance of software; that is, the application of engineering to software.</a:t>
            </a:r>
          </a:p>
          <a:p>
            <a:r>
              <a:rPr lang="en-US" b="1" dirty="0"/>
              <a:t>Other sources: </a:t>
            </a:r>
          </a:p>
          <a:p>
            <a:r>
              <a:rPr lang="en-US" dirty="0"/>
              <a:t>Engineering is the application of an empirical, scientific approach to finding efficient, economic solutions to practical problems.</a:t>
            </a:r>
          </a:p>
        </p:txBody>
      </p:sp>
    </p:spTree>
    <p:extLst>
      <p:ext uri="{BB962C8B-B14F-4D97-AF65-F5344CB8AC3E}">
        <p14:creationId xmlns:p14="http://schemas.microsoft.com/office/powerpoint/2010/main" val="1801154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engineering not just production</a:t>
            </a:r>
          </a:p>
        </p:txBody>
      </p:sp>
      <p:sp>
        <p:nvSpPr>
          <p:cNvPr id="3" name="Content Placeholder 2"/>
          <p:cNvSpPr>
            <a:spLocks noGrp="1"/>
          </p:cNvSpPr>
          <p:nvPr>
            <p:ph idx="1"/>
          </p:nvPr>
        </p:nvSpPr>
        <p:spPr/>
        <p:txBody>
          <a:bodyPr>
            <a:normAutofit fontScale="92500" lnSpcReduction="10000"/>
          </a:bodyPr>
          <a:lstStyle/>
          <a:p>
            <a:r>
              <a:rPr lang="en-US" dirty="0"/>
              <a:t>More and more, individuals and society rely on advanced software systems. </a:t>
            </a:r>
          </a:p>
          <a:p>
            <a:r>
              <a:rPr lang="en-US" dirty="0"/>
              <a:t>We need to be able to produce reliable and trustworthy systems economically and quickly.</a:t>
            </a:r>
          </a:p>
          <a:p>
            <a:r>
              <a:rPr lang="en-US" dirty="0"/>
              <a:t>It is usually cheaper, in the long run, to use software engineering methods and techniques for software systems rather than just write the programs as if it was a personal programming project. </a:t>
            </a:r>
          </a:p>
          <a:p>
            <a:r>
              <a:rPr lang="en-US" dirty="0"/>
              <a:t>For most types of system, the majority of costs are the costs of changing the software after it has gone into use.</a:t>
            </a:r>
          </a:p>
          <a:p>
            <a:r>
              <a:rPr lang="en-US" dirty="0"/>
              <a:t>Issues of complexity, reusability, scalability are best handled by engineering approach.</a:t>
            </a:r>
          </a:p>
          <a:p>
            <a:r>
              <a:rPr lang="en-US" dirty="0"/>
              <a:t>When we get these things right, and many teams do, we see greater productivity, less stress and burnout in team members, higher quality in design, and more resilience in the systems that we create.</a:t>
            </a:r>
          </a:p>
        </p:txBody>
      </p:sp>
    </p:spTree>
    <p:extLst>
      <p:ext uri="{BB962C8B-B14F-4D97-AF65-F5344CB8AC3E}">
        <p14:creationId xmlns:p14="http://schemas.microsoft.com/office/powerpoint/2010/main" val="1620012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 </a:t>
            </a:r>
          </a:p>
        </p:txBody>
      </p:sp>
      <p:sp>
        <p:nvSpPr>
          <p:cNvPr id="3" name="Content Placeholder 2"/>
          <p:cNvSpPr>
            <a:spLocks noGrp="1"/>
          </p:cNvSpPr>
          <p:nvPr>
            <p:ph idx="1"/>
          </p:nvPr>
        </p:nvSpPr>
        <p:spPr/>
        <p:txBody>
          <a:bodyPr/>
          <a:lstStyle/>
          <a:p>
            <a:r>
              <a:rPr lang="en-US" b="1" dirty="0"/>
              <a:t>Engineering</a:t>
            </a:r>
            <a:r>
              <a:rPr lang="en-US" dirty="0"/>
              <a:t> amplifies our ability to be creative, to make useful things, to proceed with confidence and quality. It allows us to explore ideas and ultimately to scale our ability to create things so that we can build ever bigger, more complex systems.</a:t>
            </a:r>
          </a:p>
          <a:p>
            <a:r>
              <a:rPr lang="en-US" dirty="0"/>
              <a:t>The systems that we build please their users more.</a:t>
            </a:r>
          </a:p>
          <a:p>
            <a:r>
              <a:rPr lang="en-US" dirty="0"/>
              <a:t>We see dramatically fewer bugs in production, and teams that employ these ideas find it significantly easier to change almost any aspect of the systems that they work on as their learning evolves.</a:t>
            </a:r>
          </a:p>
          <a:p>
            <a:r>
              <a:rPr lang="en-US" dirty="0"/>
              <a:t>Engineering is about learning and mastering.</a:t>
            </a:r>
          </a:p>
        </p:txBody>
      </p:sp>
    </p:spTree>
    <p:extLst>
      <p:ext uri="{BB962C8B-B14F-4D97-AF65-F5344CB8AC3E}">
        <p14:creationId xmlns:p14="http://schemas.microsoft.com/office/powerpoint/2010/main" val="812940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a good software</a:t>
            </a:r>
          </a:p>
        </p:txBody>
      </p:sp>
      <p:sp>
        <p:nvSpPr>
          <p:cNvPr id="3" name="Content Placeholder 2"/>
          <p:cNvSpPr>
            <a:spLocks noGrp="1"/>
          </p:cNvSpPr>
          <p:nvPr>
            <p:ph idx="1"/>
          </p:nvPr>
        </p:nvSpPr>
        <p:spPr/>
        <p:txBody>
          <a:bodyPr>
            <a:normAutofit fontScale="92500" lnSpcReduction="10000"/>
          </a:bodyPr>
          <a:lstStyle/>
          <a:p>
            <a:r>
              <a:rPr lang="en-US" b="1" dirty="0"/>
              <a:t>Maintainability and scalability:</a:t>
            </a:r>
            <a:r>
              <a:rPr lang="en-US" dirty="0"/>
              <a:t> Software should be written in such a way so that it can evolve to meet the changing needs of customers. This is a critical attribute because software change is an inevitable requirement of a changing business environment.</a:t>
            </a:r>
          </a:p>
          <a:p>
            <a:r>
              <a:rPr lang="en-US" b="1" dirty="0"/>
              <a:t>Dependability and security:</a:t>
            </a:r>
            <a:r>
              <a:rPr lang="en-US" dirty="0"/>
              <a:t> Software dependability includes a range of characteristics including reliability, security and safety. Dependable software should not cause physical or economic damage in the event of system failure. Malicious users should not be able to access or damage the system.</a:t>
            </a:r>
          </a:p>
          <a:p>
            <a:r>
              <a:rPr lang="en-US" b="1" dirty="0"/>
              <a:t>Efficiency:</a:t>
            </a:r>
            <a:r>
              <a:rPr lang="en-US" dirty="0"/>
              <a:t> Software should not make wasteful use of system resources such as memory and processor cycles. Efficiency therefore includes responsiveness, processing time, memory </a:t>
            </a:r>
            <a:r>
              <a:rPr lang="en-US" dirty="0" err="1"/>
              <a:t>utilisation</a:t>
            </a:r>
            <a:r>
              <a:rPr lang="en-US" dirty="0"/>
              <a:t>, etc. </a:t>
            </a:r>
          </a:p>
          <a:p>
            <a:r>
              <a:rPr lang="en-US" b="1" dirty="0"/>
              <a:t>Acceptability: </a:t>
            </a:r>
            <a:r>
              <a:rPr lang="en-US" dirty="0"/>
              <a:t>Software must be acceptable to the type of users for which it is designed. This means that it must be understandable, usable and compatible with other systems that they use.</a:t>
            </a:r>
          </a:p>
        </p:txBody>
      </p:sp>
    </p:spTree>
    <p:extLst>
      <p:ext uri="{BB962C8B-B14F-4D97-AF65-F5344CB8AC3E}">
        <p14:creationId xmlns:p14="http://schemas.microsoft.com/office/powerpoint/2010/main" val="3419684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0633" y="624110"/>
            <a:ext cx="9333980" cy="1384152"/>
          </a:xfrm>
        </p:spPr>
        <p:txBody>
          <a:bodyPr/>
          <a:lstStyle/>
          <a:p>
            <a:r>
              <a:rPr lang="en-US" dirty="0"/>
              <a:t>Software engineering layered model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0632" y="2084584"/>
            <a:ext cx="9311356" cy="3700919"/>
          </a:xfrm>
        </p:spPr>
      </p:pic>
    </p:spTree>
    <p:extLst>
      <p:ext uri="{BB962C8B-B14F-4D97-AF65-F5344CB8AC3E}">
        <p14:creationId xmlns:p14="http://schemas.microsoft.com/office/powerpoint/2010/main" val="2954059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as a layered model.</a:t>
            </a:r>
          </a:p>
        </p:txBody>
      </p:sp>
      <p:sp>
        <p:nvSpPr>
          <p:cNvPr id="3" name="Content Placeholder 2"/>
          <p:cNvSpPr>
            <a:spLocks noGrp="1"/>
          </p:cNvSpPr>
          <p:nvPr>
            <p:ph idx="1"/>
          </p:nvPr>
        </p:nvSpPr>
        <p:spPr/>
        <p:txBody>
          <a:bodyPr/>
          <a:lstStyle/>
          <a:p>
            <a:r>
              <a:rPr lang="en-US" dirty="0"/>
              <a:t>Any engineering approach must rest on organizational commitment to </a:t>
            </a:r>
            <a:r>
              <a:rPr lang="en-US" b="1" dirty="0"/>
              <a:t>quality</a:t>
            </a:r>
            <a:r>
              <a:rPr lang="en-US" dirty="0"/>
              <a:t> which fosters a continuous process improvement culture.</a:t>
            </a:r>
          </a:p>
          <a:p>
            <a:r>
              <a:rPr lang="en-US" b="1" dirty="0"/>
              <a:t>Process </a:t>
            </a:r>
            <a:r>
              <a:rPr lang="en-US" dirty="0"/>
              <a:t>layer as the foundation defines a framework with activities for effective delivery of software engineering technology. Establish the context where products (model, data, report, and forms) are produced, milestone are established, quality is ensured and change is managed.</a:t>
            </a:r>
          </a:p>
          <a:p>
            <a:r>
              <a:rPr lang="en-US" b="1" dirty="0"/>
              <a:t>Method</a:t>
            </a:r>
            <a:r>
              <a:rPr lang="en-US" dirty="0"/>
              <a:t> provides technical how-</a:t>
            </a:r>
            <a:r>
              <a:rPr lang="en-US" dirty="0" err="1"/>
              <a:t>tos</a:t>
            </a:r>
            <a:r>
              <a:rPr lang="en-US" dirty="0"/>
              <a:t> for building software. It encompasses many tasks including: communication, requirement analysis, design modeling, program construction, testing and support.</a:t>
            </a:r>
          </a:p>
          <a:p>
            <a:r>
              <a:rPr lang="en-US" b="1" dirty="0"/>
              <a:t>Tools</a:t>
            </a:r>
            <a:r>
              <a:rPr lang="en-US" dirty="0"/>
              <a:t> provide automated or semi-automated support for the process and methods.</a:t>
            </a:r>
            <a:br>
              <a:rPr lang="en-US" dirty="0"/>
            </a:br>
            <a:endParaRPr lang="en-US" dirty="0"/>
          </a:p>
        </p:txBody>
      </p:sp>
    </p:spTree>
    <p:extLst>
      <p:ext uri="{BB962C8B-B14F-4D97-AF65-F5344CB8AC3E}">
        <p14:creationId xmlns:p14="http://schemas.microsoft.com/office/powerpoint/2010/main" val="1155646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how the journey starts</a:t>
            </a:r>
          </a:p>
        </p:txBody>
      </p:sp>
      <p:sp>
        <p:nvSpPr>
          <p:cNvPr id="3" name="Content Placeholder 2"/>
          <p:cNvSpPr>
            <a:spLocks noGrp="1"/>
          </p:cNvSpPr>
          <p:nvPr>
            <p:ph idx="1"/>
          </p:nvPr>
        </p:nvSpPr>
        <p:spPr/>
        <p:txBody>
          <a:bodyPr>
            <a:normAutofit/>
          </a:bodyPr>
          <a:lstStyle/>
          <a:p>
            <a:r>
              <a:rPr lang="en-US" dirty="0"/>
              <a:t>Starts with having any idea, new or already existing.</a:t>
            </a:r>
          </a:p>
          <a:p>
            <a:pPr>
              <a:buFont typeface="Arial" panose="020B0604020202020204" pitchFamily="34" charset="0"/>
              <a:buChar char="•"/>
            </a:pPr>
            <a:r>
              <a:rPr lang="en-US" dirty="0"/>
              <a:t>Need to change things.</a:t>
            </a:r>
          </a:p>
          <a:p>
            <a:pPr>
              <a:buFont typeface="Arial" panose="020B0604020202020204" pitchFamily="34" charset="0"/>
              <a:buChar char="•"/>
            </a:pPr>
            <a:r>
              <a:rPr lang="en-US" dirty="0"/>
              <a:t>Need to solve a problem related to software operations that affect business.</a:t>
            </a:r>
          </a:p>
          <a:p>
            <a:pPr>
              <a:buFont typeface="Arial" panose="020B0604020202020204" pitchFamily="34" charset="0"/>
              <a:buChar char="•"/>
            </a:pPr>
            <a:r>
              <a:rPr lang="en-US" dirty="0"/>
              <a:t>Need to extend the functions and features of an existing application.</a:t>
            </a:r>
          </a:p>
          <a:p>
            <a:pPr>
              <a:buFont typeface="Arial" panose="020B0604020202020204" pitchFamily="34" charset="0"/>
              <a:buChar char="•"/>
            </a:pPr>
            <a:r>
              <a:rPr lang="en-US" dirty="0"/>
              <a:t>Need to create a new product, service, or system.</a:t>
            </a:r>
          </a:p>
          <a:p>
            <a:r>
              <a:rPr lang="en-US" dirty="0"/>
              <a:t>Requires a road map, a process, a step by step approach. </a:t>
            </a:r>
            <a:r>
              <a:rPr lang="en-US" b="1" dirty="0"/>
              <a:t>(software process)</a:t>
            </a:r>
          </a:p>
          <a:p>
            <a:endParaRPr lang="en-US" dirty="0"/>
          </a:p>
          <a:p>
            <a:endParaRPr lang="en-US" dirty="0"/>
          </a:p>
        </p:txBody>
      </p:sp>
    </p:spTree>
    <p:extLst>
      <p:ext uri="{BB962C8B-B14F-4D97-AF65-F5344CB8AC3E}">
        <p14:creationId xmlns:p14="http://schemas.microsoft.com/office/powerpoint/2010/main" val="1410950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a:t>
            </a:r>
          </a:p>
        </p:txBody>
      </p:sp>
      <p:sp>
        <p:nvSpPr>
          <p:cNvPr id="3" name="Content Placeholder 2"/>
          <p:cNvSpPr>
            <a:spLocks noGrp="1"/>
          </p:cNvSpPr>
          <p:nvPr>
            <p:ph idx="1"/>
          </p:nvPr>
        </p:nvSpPr>
        <p:spPr/>
        <p:txBody>
          <a:bodyPr>
            <a:normAutofit/>
          </a:bodyPr>
          <a:lstStyle/>
          <a:p>
            <a:r>
              <a:rPr lang="en-US" dirty="0"/>
              <a:t>A process is a collection of activities, actions and tasks that are performed when some work product is to be created. </a:t>
            </a:r>
          </a:p>
          <a:p>
            <a:r>
              <a:rPr lang="en-US" dirty="0"/>
              <a:t>It is not a rigid prescription for how to build computer software. Rather, it is an adaptable approach that enables the people doing the work to pick and choose the appropriate set of work actions and tasks.</a:t>
            </a:r>
          </a:p>
          <a:p>
            <a:r>
              <a:rPr lang="en-US" dirty="0"/>
              <a:t>Purpose of process is to deliver software in a timely manner and with sufficient quality to satisfy those who have sponsored its creation and those who will use it.</a:t>
            </a:r>
          </a:p>
          <a:p>
            <a:endParaRPr lang="en-US" dirty="0"/>
          </a:p>
        </p:txBody>
      </p:sp>
    </p:spTree>
    <p:extLst>
      <p:ext uri="{BB962C8B-B14F-4D97-AF65-F5344CB8AC3E}">
        <p14:creationId xmlns:p14="http://schemas.microsoft.com/office/powerpoint/2010/main" val="1722490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Five Activities of a Generic Process framework</a:t>
            </a:r>
          </a:p>
        </p:txBody>
      </p:sp>
      <p:sp>
        <p:nvSpPr>
          <p:cNvPr id="3" name="Content Placeholder 2"/>
          <p:cNvSpPr>
            <a:spLocks noGrp="1"/>
          </p:cNvSpPr>
          <p:nvPr>
            <p:ph idx="1"/>
          </p:nvPr>
        </p:nvSpPr>
        <p:spPr/>
        <p:txBody>
          <a:bodyPr>
            <a:normAutofit fontScale="77500" lnSpcReduction="20000"/>
          </a:bodyPr>
          <a:lstStyle/>
          <a:p>
            <a:pPr>
              <a:buFont typeface="+mj-lt"/>
              <a:buAutoNum type="arabicPeriod"/>
            </a:pPr>
            <a:r>
              <a:rPr lang="en-US" b="1" dirty="0"/>
              <a:t>Communication: </a:t>
            </a:r>
            <a:r>
              <a:rPr lang="en-US" dirty="0"/>
              <a:t>communicate with customer to understand objectives and gather requirements.</a:t>
            </a:r>
          </a:p>
          <a:p>
            <a:pPr>
              <a:buFont typeface="+mj-lt"/>
              <a:buAutoNum type="arabicPeriod"/>
            </a:pPr>
            <a:r>
              <a:rPr lang="en-US" b="1" dirty="0"/>
              <a:t>Planning: </a:t>
            </a:r>
            <a:r>
              <a:rPr lang="en-US" dirty="0"/>
              <a:t>creates a “map” defines the work by describing the tasks, risks and resources, work products and work schedule.</a:t>
            </a:r>
          </a:p>
          <a:p>
            <a:pPr>
              <a:buFont typeface="+mj-lt"/>
              <a:buAutoNum type="arabicPeriod"/>
            </a:pPr>
            <a:r>
              <a:rPr lang="en-US" b="1" dirty="0"/>
              <a:t>Modeling: </a:t>
            </a:r>
            <a:r>
              <a:rPr lang="en-US" dirty="0"/>
              <a:t>Create a “sketch”, what it looks like architecturally, how the constituent parts fit together and other characteristics.</a:t>
            </a:r>
          </a:p>
          <a:p>
            <a:pPr>
              <a:buFont typeface="+mj-lt"/>
              <a:buAutoNum type="arabicPeriod"/>
            </a:pPr>
            <a:r>
              <a:rPr lang="en-US" b="1" dirty="0"/>
              <a:t>Construction: </a:t>
            </a:r>
            <a:r>
              <a:rPr lang="en-US" dirty="0"/>
              <a:t>code generation and the testing.</a:t>
            </a:r>
          </a:p>
          <a:p>
            <a:pPr>
              <a:buFont typeface="+mj-lt"/>
              <a:buAutoNum type="arabicPeriod"/>
            </a:pPr>
            <a:r>
              <a:rPr lang="en-US" b="1" dirty="0"/>
              <a:t>Deployment: </a:t>
            </a:r>
            <a:r>
              <a:rPr lang="en-US" dirty="0"/>
              <a:t>Delivered to the customer who evaluates the products and provides feedback based on the evaluation.</a:t>
            </a:r>
          </a:p>
          <a:p>
            <a:r>
              <a:rPr lang="en-US" dirty="0"/>
              <a:t>These five framework activities can be used to all software development regardless of the application domain, size of the project, complexity of the efforts </a:t>
            </a:r>
            <a:r>
              <a:rPr lang="en-US" dirty="0" err="1"/>
              <a:t>etc</a:t>
            </a:r>
            <a:r>
              <a:rPr lang="en-US" dirty="0"/>
              <a:t>, though the details will be different in each case. This will lead us to software development life cycle to be discussed later.</a:t>
            </a:r>
          </a:p>
          <a:p>
            <a:r>
              <a:rPr lang="en-US" dirty="0"/>
              <a:t>For many software projects, these framework activities are applied iteratively as a project progresses. Each iteration produces a software increment that provides a subset of overall software features and functionality.</a:t>
            </a:r>
          </a:p>
        </p:txBody>
      </p:sp>
    </p:spTree>
    <p:extLst>
      <p:ext uri="{BB962C8B-B14F-4D97-AF65-F5344CB8AC3E}">
        <p14:creationId xmlns:p14="http://schemas.microsoft.com/office/powerpoint/2010/main" val="1059908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 activities </a:t>
            </a:r>
          </a:p>
        </p:txBody>
      </p:sp>
      <p:sp>
        <p:nvSpPr>
          <p:cNvPr id="3" name="Content Placeholder 2"/>
          <p:cNvSpPr>
            <a:spLocks noGrp="1"/>
          </p:cNvSpPr>
          <p:nvPr>
            <p:ph idx="1"/>
          </p:nvPr>
        </p:nvSpPr>
        <p:spPr/>
        <p:txBody>
          <a:bodyPr>
            <a:normAutofit fontScale="85000" lnSpcReduction="20000"/>
          </a:bodyPr>
          <a:lstStyle/>
          <a:p>
            <a:r>
              <a:rPr lang="en-US" dirty="0"/>
              <a:t>Complement the five process framework activities and help team manage and control progress, quality, change, and risk.</a:t>
            </a:r>
          </a:p>
          <a:p>
            <a:r>
              <a:rPr lang="en-US" b="1" dirty="0"/>
              <a:t>Software project tracking and control:</a:t>
            </a:r>
            <a:r>
              <a:rPr lang="en-US" dirty="0"/>
              <a:t> assess progress against the plan and take actions to maintain the schedule.</a:t>
            </a:r>
          </a:p>
          <a:p>
            <a:r>
              <a:rPr lang="en-US" b="1" dirty="0"/>
              <a:t>Risk management:</a:t>
            </a:r>
            <a:r>
              <a:rPr lang="en-US" dirty="0"/>
              <a:t> assesses risks that may affect the outcome and quality.</a:t>
            </a:r>
          </a:p>
          <a:p>
            <a:r>
              <a:rPr lang="en-US" b="1" dirty="0"/>
              <a:t>Software quality assurance:</a:t>
            </a:r>
            <a:r>
              <a:rPr lang="en-US" dirty="0"/>
              <a:t> defines and conduct activities to ensure quality.</a:t>
            </a:r>
          </a:p>
          <a:p>
            <a:r>
              <a:rPr lang="en-US" b="1" dirty="0"/>
              <a:t>Technical reviews:</a:t>
            </a:r>
            <a:r>
              <a:rPr lang="en-US" dirty="0"/>
              <a:t> assesses work products to uncover and remove errors before going to the next activity.</a:t>
            </a:r>
          </a:p>
          <a:p>
            <a:r>
              <a:rPr lang="en-US" b="1" dirty="0"/>
              <a:t>Measurement:</a:t>
            </a:r>
            <a:r>
              <a:rPr lang="en-US" dirty="0"/>
              <a:t> define and collects process, project, and product measures to ensure stakeholder’s needs are met.</a:t>
            </a:r>
          </a:p>
          <a:p>
            <a:r>
              <a:rPr lang="en-US" b="1" dirty="0"/>
              <a:t>Software configuration management:</a:t>
            </a:r>
            <a:r>
              <a:rPr lang="en-US" dirty="0"/>
              <a:t> manage the effects of change throughout the software process.</a:t>
            </a:r>
          </a:p>
          <a:p>
            <a:r>
              <a:rPr lang="en-US" b="1" dirty="0"/>
              <a:t>Reusability management:</a:t>
            </a:r>
            <a:r>
              <a:rPr lang="en-US" dirty="0"/>
              <a:t> defines criteria for work product reuse and establishes mechanism to achieve reusable components.</a:t>
            </a:r>
          </a:p>
        </p:txBody>
      </p:sp>
    </p:spTree>
    <p:extLst>
      <p:ext uri="{BB962C8B-B14F-4D97-AF65-F5344CB8AC3E}">
        <p14:creationId xmlns:p14="http://schemas.microsoft.com/office/powerpoint/2010/main" val="4195724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Adapting a Process Model</a:t>
            </a:r>
          </a:p>
        </p:txBody>
      </p:sp>
      <p:sp>
        <p:nvSpPr>
          <p:cNvPr id="3" name="Content Placeholder 2"/>
          <p:cNvSpPr>
            <a:spLocks noGrp="1"/>
          </p:cNvSpPr>
          <p:nvPr>
            <p:ph idx="1"/>
          </p:nvPr>
        </p:nvSpPr>
        <p:spPr/>
        <p:txBody>
          <a:bodyPr>
            <a:normAutofit fontScale="85000" lnSpcReduction="20000"/>
          </a:bodyPr>
          <a:lstStyle/>
          <a:p>
            <a:r>
              <a:rPr lang="en-US" dirty="0"/>
              <a:t>The process should be agile and adaptable to problems. </a:t>
            </a:r>
          </a:p>
          <a:p>
            <a:r>
              <a:rPr lang="en-US" dirty="0"/>
              <a:t>Process adopted for one project might be significantly different than a process adopted from another project. (to the problem, the project, the team, organizational culture). Among the differences are:</a:t>
            </a:r>
          </a:p>
          <a:p>
            <a:r>
              <a:rPr lang="en-US"/>
              <a:t>the </a:t>
            </a:r>
            <a:r>
              <a:rPr lang="en-US" dirty="0"/>
              <a:t>overall flow of activities, actions, and tasks and the interdependencies among them </a:t>
            </a:r>
          </a:p>
          <a:p>
            <a:r>
              <a:rPr lang="en-US" dirty="0"/>
              <a:t>the degree to which actions and tasks are defined within each framework activity </a:t>
            </a:r>
          </a:p>
          <a:p>
            <a:r>
              <a:rPr lang="en-US" dirty="0"/>
              <a:t>the degree to which work products are identified and required</a:t>
            </a:r>
          </a:p>
          <a:p>
            <a:r>
              <a:rPr lang="en-US" dirty="0"/>
              <a:t>the manner in which quality assurance activities are applied </a:t>
            </a:r>
          </a:p>
          <a:p>
            <a:r>
              <a:rPr lang="en-US" dirty="0"/>
              <a:t>the manner in which project tracking and control activities are applied</a:t>
            </a:r>
          </a:p>
          <a:p>
            <a:r>
              <a:rPr lang="en-US" dirty="0"/>
              <a:t>the overall degree of detail and rigor with which the process is described</a:t>
            </a:r>
          </a:p>
          <a:p>
            <a:r>
              <a:rPr lang="en-US" dirty="0"/>
              <a:t>the degree to which the customer and other stakeholders are involved with the project</a:t>
            </a:r>
          </a:p>
          <a:p>
            <a:r>
              <a:rPr lang="en-US" dirty="0"/>
              <a:t>the level of autonomy given to the software team</a:t>
            </a:r>
          </a:p>
          <a:p>
            <a:r>
              <a:rPr lang="en-US" dirty="0"/>
              <a:t>the degree to which team organization and roles are prescribed</a:t>
            </a:r>
          </a:p>
        </p:txBody>
      </p:sp>
    </p:spTree>
    <p:extLst>
      <p:ext uri="{BB962C8B-B14F-4D97-AF65-F5344CB8AC3E}">
        <p14:creationId xmlns:p14="http://schemas.microsoft.com/office/powerpoint/2010/main" val="1119761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Prescriptive and Agile Process Models</a:t>
            </a:r>
          </a:p>
        </p:txBody>
      </p:sp>
      <p:sp>
        <p:nvSpPr>
          <p:cNvPr id="3" name="Content Placeholder 2"/>
          <p:cNvSpPr>
            <a:spLocks noGrp="1"/>
          </p:cNvSpPr>
          <p:nvPr>
            <p:ph idx="1"/>
          </p:nvPr>
        </p:nvSpPr>
        <p:spPr/>
        <p:txBody>
          <a:bodyPr/>
          <a:lstStyle/>
          <a:p>
            <a:r>
              <a:rPr lang="en-US" dirty="0"/>
              <a:t>The prescriptive process models stress detailed definition, identification, and application of process </a:t>
            </a:r>
            <a:r>
              <a:rPr lang="en-US" dirty="0" err="1"/>
              <a:t>activaties</a:t>
            </a:r>
            <a:r>
              <a:rPr lang="en-US" dirty="0"/>
              <a:t> and tasks.</a:t>
            </a:r>
          </a:p>
          <a:p>
            <a:r>
              <a:rPr lang="en-US" dirty="0"/>
              <a:t> Intent is to improve system quality, make projects more manageable, make delivery dates and costs more predictable, and guide teams of software engineers as they perform the work required to build a system.</a:t>
            </a:r>
          </a:p>
          <a:p>
            <a:r>
              <a:rPr lang="en-US" dirty="0"/>
              <a:t>Unfortunately, there have been times when these objectives were not achieved. If prescriptive models are applied dogmatically and without adaptation, they can increase the level of bureaucracy.</a:t>
            </a:r>
          </a:p>
          <a:p>
            <a:r>
              <a:rPr lang="en-US" dirty="0"/>
              <a:t>Agile process models emphasize project “agility” and follow a set of principles that lead to a more informal approach to software process. It emphasizes maneuverability and adaptability. It is particularly useful when Web applications are engineered.</a:t>
            </a:r>
          </a:p>
        </p:txBody>
      </p:sp>
    </p:spTree>
    <p:extLst>
      <p:ext uri="{BB962C8B-B14F-4D97-AF65-F5344CB8AC3E}">
        <p14:creationId xmlns:p14="http://schemas.microsoft.com/office/powerpoint/2010/main" val="1585038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Engineering meets software development</a:t>
            </a:r>
          </a:p>
        </p:txBody>
      </p:sp>
      <p:sp>
        <p:nvSpPr>
          <p:cNvPr id="3" name="Content Placeholder 2"/>
          <p:cNvSpPr>
            <a:spLocks noGrp="1"/>
          </p:cNvSpPr>
          <p:nvPr>
            <p:ph idx="1"/>
          </p:nvPr>
        </p:nvSpPr>
        <p:spPr/>
        <p:txBody>
          <a:bodyPr/>
          <a:lstStyle/>
          <a:p>
            <a:r>
              <a:rPr lang="en-US" dirty="0"/>
              <a:t>How does the practice of software engineering fit in the process activities mentioned above? Namely, communication, planning, modeling, construction and deployment.</a:t>
            </a:r>
          </a:p>
          <a:p>
            <a:r>
              <a:rPr lang="en-US" dirty="0"/>
              <a:t>George </a:t>
            </a:r>
            <a:r>
              <a:rPr lang="en-US" dirty="0" err="1"/>
              <a:t>Polya</a:t>
            </a:r>
            <a:r>
              <a:rPr lang="en-US" dirty="0"/>
              <a:t> outlines the essence of problem solving, suggests:</a:t>
            </a:r>
          </a:p>
          <a:p>
            <a:r>
              <a:rPr lang="en-US" dirty="0"/>
              <a:t>1. Understand the problem (communication and analysis).</a:t>
            </a:r>
          </a:p>
          <a:p>
            <a:r>
              <a:rPr lang="en-US" dirty="0"/>
              <a:t>2. Plan a solution (modeling and software design).</a:t>
            </a:r>
          </a:p>
          <a:p>
            <a:r>
              <a:rPr lang="en-US" dirty="0"/>
              <a:t>3. Carry out the plan (code generation).</a:t>
            </a:r>
          </a:p>
          <a:p>
            <a:r>
              <a:rPr lang="en-US" dirty="0"/>
              <a:t>4. Examine the result for accuracy (testing and quality assurance).</a:t>
            </a:r>
          </a:p>
        </p:txBody>
      </p:sp>
    </p:spTree>
    <p:extLst>
      <p:ext uri="{BB962C8B-B14F-4D97-AF65-F5344CB8AC3E}">
        <p14:creationId xmlns:p14="http://schemas.microsoft.com/office/powerpoint/2010/main" val="801547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 the Problem: where mostly things go wrong</a:t>
            </a:r>
          </a:p>
        </p:txBody>
      </p:sp>
      <p:sp>
        <p:nvSpPr>
          <p:cNvPr id="3" name="Content Placeholder 2"/>
          <p:cNvSpPr>
            <a:spLocks noGrp="1"/>
          </p:cNvSpPr>
          <p:nvPr>
            <p:ph idx="1"/>
          </p:nvPr>
        </p:nvSpPr>
        <p:spPr/>
        <p:txBody>
          <a:bodyPr>
            <a:normAutofit lnSpcReduction="10000"/>
          </a:bodyPr>
          <a:lstStyle/>
          <a:p>
            <a:r>
              <a:rPr lang="en-US" dirty="0"/>
              <a:t>Who has a stake in the solution to the problem? That is, who are the stakeholders?</a:t>
            </a:r>
          </a:p>
          <a:p>
            <a:r>
              <a:rPr lang="en-US" dirty="0"/>
              <a:t>What are the unknowns? </a:t>
            </a:r>
          </a:p>
          <a:p>
            <a:r>
              <a:rPr lang="en-US" dirty="0"/>
              <a:t>What data, functions, and features are required to properly solve the problem?</a:t>
            </a:r>
          </a:p>
          <a:p>
            <a:r>
              <a:rPr lang="en-US" dirty="0"/>
              <a:t>Can the problem be compartmentalized? </a:t>
            </a:r>
          </a:p>
          <a:p>
            <a:r>
              <a:rPr lang="en-US" dirty="0"/>
              <a:t>Is it possible to represent smaller problems that may be easier to understand?</a:t>
            </a:r>
          </a:p>
          <a:p>
            <a:r>
              <a:rPr lang="en-US" dirty="0"/>
              <a:t>Can the problem be represented graphically? </a:t>
            </a:r>
          </a:p>
          <a:p>
            <a:r>
              <a:rPr lang="en-US" dirty="0"/>
              <a:t>Can an analysis model be created?</a:t>
            </a:r>
          </a:p>
          <a:p>
            <a:r>
              <a:rPr lang="en-US" dirty="0"/>
              <a:t>Is it a new invention or an update or an upgrade?</a:t>
            </a:r>
          </a:p>
        </p:txBody>
      </p:sp>
    </p:spTree>
    <p:extLst>
      <p:ext uri="{BB962C8B-B14F-4D97-AF65-F5344CB8AC3E}">
        <p14:creationId xmlns:p14="http://schemas.microsoft.com/office/powerpoint/2010/main" val="1954135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 the Problem: where mostly things go wrong</a:t>
            </a:r>
          </a:p>
        </p:txBody>
      </p:sp>
      <p:sp>
        <p:nvSpPr>
          <p:cNvPr id="3" name="Content Placeholder 2"/>
          <p:cNvSpPr>
            <a:spLocks noGrp="1"/>
          </p:cNvSpPr>
          <p:nvPr>
            <p:ph idx="1"/>
          </p:nvPr>
        </p:nvSpPr>
        <p:spPr/>
        <p:txBody>
          <a:bodyPr>
            <a:normAutofit fontScale="92500"/>
          </a:bodyPr>
          <a:lstStyle/>
          <a:p>
            <a:r>
              <a:rPr lang="en-US" dirty="0"/>
              <a:t>Have you seen similar problems before?</a:t>
            </a:r>
          </a:p>
          <a:p>
            <a:r>
              <a:rPr lang="en-US"/>
              <a:t>Are </a:t>
            </a:r>
            <a:r>
              <a:rPr lang="en-US" dirty="0"/>
              <a:t>there patterns that are recognizable in a potential solution? Is there existing software that implements the data, functions, and features that are required?</a:t>
            </a:r>
          </a:p>
          <a:p>
            <a:r>
              <a:rPr lang="en-US" dirty="0"/>
              <a:t>Has a similar problem been solved? If so, are elements of the solution reusable?</a:t>
            </a:r>
          </a:p>
          <a:p>
            <a:r>
              <a:rPr lang="en-US" dirty="0"/>
              <a:t>Can sub problems be defined? </a:t>
            </a:r>
          </a:p>
          <a:p>
            <a:r>
              <a:rPr lang="en-US" dirty="0"/>
              <a:t>If so, are solutions readily apparent for the sub problems?</a:t>
            </a:r>
          </a:p>
          <a:p>
            <a:r>
              <a:rPr lang="en-US" dirty="0"/>
              <a:t>Can you represent a solution in a manner that leads to effective implementation? </a:t>
            </a:r>
          </a:p>
          <a:p>
            <a:r>
              <a:rPr lang="en-US" dirty="0"/>
              <a:t>Can a design model be created?</a:t>
            </a:r>
          </a:p>
          <a:p>
            <a:r>
              <a:rPr lang="en-US" dirty="0"/>
              <a:t>Plan the Solution</a:t>
            </a:r>
          </a:p>
        </p:txBody>
      </p:sp>
    </p:spTree>
    <p:extLst>
      <p:ext uri="{BB962C8B-B14F-4D97-AF65-F5344CB8AC3E}">
        <p14:creationId xmlns:p14="http://schemas.microsoft.com/office/powerpoint/2010/main" val="2639111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509490"/>
          </a:xfrm>
        </p:spPr>
        <p:txBody>
          <a:bodyPr>
            <a:normAutofit fontScale="90000"/>
          </a:bodyPr>
          <a:lstStyle/>
          <a:p>
            <a:r>
              <a:rPr lang="en-US" dirty="0"/>
              <a:t>Hooker’s General Principles for Software Engineering Practice: important underlying law</a:t>
            </a:r>
            <a:br>
              <a:rPr lang="en-US" dirty="0"/>
            </a:br>
            <a:br>
              <a:rPr lang="en-US" dirty="0"/>
            </a:br>
            <a:endParaRPr lang="en-US" dirty="0"/>
          </a:p>
        </p:txBody>
      </p:sp>
      <p:sp>
        <p:nvSpPr>
          <p:cNvPr id="3" name="Content Placeholder 2"/>
          <p:cNvSpPr>
            <a:spLocks noGrp="1"/>
          </p:cNvSpPr>
          <p:nvPr>
            <p:ph idx="1"/>
          </p:nvPr>
        </p:nvSpPr>
        <p:spPr/>
        <p:txBody>
          <a:bodyPr/>
          <a:lstStyle/>
          <a:p>
            <a:r>
              <a:rPr lang="en-US" dirty="0"/>
              <a:t>1: The Reason It All Exists: provide values to users</a:t>
            </a:r>
          </a:p>
          <a:p>
            <a:r>
              <a:rPr lang="en-US" dirty="0"/>
              <a:t>2: KISS (Keep It Simple, Stupid! As simple as possible)</a:t>
            </a:r>
          </a:p>
          <a:p>
            <a:r>
              <a:rPr lang="en-US" dirty="0"/>
              <a:t>3: Maintain the Vision (otherwise, incompatible design)</a:t>
            </a:r>
          </a:p>
          <a:p>
            <a:r>
              <a:rPr lang="en-US" dirty="0"/>
              <a:t>4: What You Produce, Others Will Consume (code with concern for those that must maintain and extend the system)</a:t>
            </a:r>
          </a:p>
          <a:p>
            <a:r>
              <a:rPr lang="en-US" dirty="0"/>
              <a:t>5: Be Open to the Future (never design yourself into a corner as specification and hardware changes)</a:t>
            </a:r>
          </a:p>
          <a:p>
            <a:r>
              <a:rPr lang="en-US" dirty="0"/>
              <a:t>6: Plan Ahead for Reuse</a:t>
            </a:r>
          </a:p>
          <a:p>
            <a:r>
              <a:rPr lang="en-US" dirty="0"/>
              <a:t>7: Think! Place clear complete thought before action produces better results.</a:t>
            </a:r>
          </a:p>
        </p:txBody>
      </p:sp>
    </p:spTree>
    <p:extLst>
      <p:ext uri="{BB962C8B-B14F-4D97-AF65-F5344CB8AC3E}">
        <p14:creationId xmlns:p14="http://schemas.microsoft.com/office/powerpoint/2010/main" val="185729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Myths</a:t>
            </a:r>
          </a:p>
        </p:txBody>
      </p:sp>
      <p:sp>
        <p:nvSpPr>
          <p:cNvPr id="3" name="Content Placeholder 2"/>
          <p:cNvSpPr>
            <a:spLocks noGrp="1"/>
          </p:cNvSpPr>
          <p:nvPr>
            <p:ph idx="1"/>
          </p:nvPr>
        </p:nvSpPr>
        <p:spPr/>
        <p:txBody>
          <a:bodyPr/>
          <a:lstStyle/>
          <a:p>
            <a:r>
              <a:rPr lang="en-US" dirty="0"/>
              <a:t>Erroneous beliefs about software and the process that is used to build it.</a:t>
            </a:r>
          </a:p>
          <a:p>
            <a:r>
              <a:rPr lang="en-US" dirty="0"/>
              <a:t>Affect managers, customers (and other non-technical stakeholders) and practitioners</a:t>
            </a:r>
          </a:p>
          <a:p>
            <a:r>
              <a:rPr lang="en-US" dirty="0"/>
              <a:t>Are believable because they often have elements of truth, but …Invariably lead to bad decisions, therefore …Insist on reality as you navigate your way through software engineering</a:t>
            </a:r>
          </a:p>
        </p:txBody>
      </p:sp>
    </p:spTree>
    <p:extLst>
      <p:ext uri="{BB962C8B-B14F-4D97-AF65-F5344CB8AC3E}">
        <p14:creationId xmlns:p14="http://schemas.microsoft.com/office/powerpoint/2010/main" val="2413369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Myths Examples</a:t>
            </a:r>
          </a:p>
        </p:txBody>
      </p:sp>
      <p:sp>
        <p:nvSpPr>
          <p:cNvPr id="3" name="Content Placeholder 2"/>
          <p:cNvSpPr>
            <a:spLocks noGrp="1"/>
          </p:cNvSpPr>
          <p:nvPr>
            <p:ph idx="1"/>
          </p:nvPr>
        </p:nvSpPr>
        <p:spPr/>
        <p:txBody>
          <a:bodyPr>
            <a:normAutofit fontScale="92500" lnSpcReduction="10000"/>
          </a:bodyPr>
          <a:lstStyle/>
          <a:p>
            <a:r>
              <a:rPr lang="en-US" dirty="0"/>
              <a:t>Myth 1: Once we write the program and get it to work, our job is done. Reality: the sooner you begin writing code, the longer it will take you to get done. 60% to 80% of all efforts are spent after software is delivered to the customer for the first time.</a:t>
            </a:r>
          </a:p>
          <a:p>
            <a:r>
              <a:rPr lang="en-US" dirty="0"/>
              <a:t>Myth 2: Until I get the program running, I have no way of assessing its quality. Reality: technical review are a quality filter that can be used to find certain classes of software defects from the inception of a project.</a:t>
            </a:r>
          </a:p>
          <a:p>
            <a:r>
              <a:rPr lang="en-US" dirty="0"/>
              <a:t>Myth 3: software engineering will make us create voluminous and unnecessary documentation and will invariably slow us down. Reality: it is not about creating documents. It is about creating a quality product. Better quality leads to a reduced rework. Reduced work results in faster delivery times.</a:t>
            </a:r>
          </a:p>
          <a:p>
            <a:r>
              <a:rPr lang="en-US" dirty="0"/>
              <a:t>Many people recognize the fallacy of the myths. Regrettably, habitual attitudes and methods foster poor management and technical practices, even when reality dictates a better approach.</a:t>
            </a:r>
          </a:p>
        </p:txBody>
      </p:sp>
    </p:spTree>
    <p:extLst>
      <p:ext uri="{BB962C8B-B14F-4D97-AF65-F5344CB8AC3E}">
        <p14:creationId xmlns:p14="http://schemas.microsoft.com/office/powerpoint/2010/main" val="192519324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1933</TotalTime>
  <Words>2690</Words>
  <Application>Microsoft Office PowerPoint</Application>
  <PresentationFormat>Widescreen</PresentationFormat>
  <Paragraphs>169</Paragraphs>
  <Slides>27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Century Gothic</vt:lpstr>
      <vt:lpstr>Wingdings 3</vt:lpstr>
      <vt:lpstr>Wisp</vt:lpstr>
      <vt:lpstr>SOFTWARE ENGINEERING</vt:lpstr>
      <vt:lpstr>OUTLINE</vt:lpstr>
      <vt:lpstr>Software</vt:lpstr>
      <vt:lpstr>Types </vt:lpstr>
      <vt:lpstr>Software cost</vt:lpstr>
      <vt:lpstr>Characteristic features </vt:lpstr>
      <vt:lpstr>Pictorial view of software failure rate</vt:lpstr>
      <vt:lpstr>Relevance</vt:lpstr>
      <vt:lpstr>Categories </vt:lpstr>
      <vt:lpstr>Software Engineering</vt:lpstr>
      <vt:lpstr>Why engineering not just production</vt:lpstr>
      <vt:lpstr>Continued </vt:lpstr>
      <vt:lpstr>Attributes of a good software</vt:lpstr>
      <vt:lpstr>Software engineering layered model</vt:lpstr>
      <vt:lpstr>Software engineering as a layered model.</vt:lpstr>
      <vt:lpstr>Software process: how the journey starts</vt:lpstr>
      <vt:lpstr>Software process</vt:lpstr>
      <vt:lpstr>Five Activities of a Generic Process framework</vt:lpstr>
      <vt:lpstr>Complement activities </vt:lpstr>
      <vt:lpstr>Adapting a Process Model</vt:lpstr>
      <vt:lpstr>Prescriptive and Agile Process Models</vt:lpstr>
      <vt:lpstr>Engineering meets software development</vt:lpstr>
      <vt:lpstr>Understand the Problem: where mostly things go wrong</vt:lpstr>
      <vt:lpstr>Understand the Problem: where mostly things go wrong</vt:lpstr>
      <vt:lpstr>Hooker’s General Principles for Software Engineering Practice: important underlying law  </vt:lpstr>
      <vt:lpstr>Software Myths</vt:lpstr>
      <vt:lpstr>Software Myths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Windows 用户</dc:creator>
  <cp:lastModifiedBy>lasmon kapota</cp:lastModifiedBy>
  <cp:revision>26</cp:revision>
  <dcterms:created xsi:type="dcterms:W3CDTF">2022-05-12T11:50:58Z</dcterms:created>
  <dcterms:modified xsi:type="dcterms:W3CDTF">2024-12-16T18:28:56Z</dcterms:modified>
</cp:coreProperties>
</file>