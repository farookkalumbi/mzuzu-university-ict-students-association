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3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6/14/2022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Software Process Models</a:t>
            </a:r>
            <a:endParaRPr lang="en-US" dirty="0"/>
          </a:p>
        </p:txBody>
      </p:sp>
      <p:sp>
        <p:nvSpPr>
          <p:cNvPr id="3" name="Subtitle 2"/>
          <p:cNvSpPr>
            <a:spLocks noGrp="1"/>
          </p:cNvSpPr>
          <p:nvPr>
            <p:ph type="subTitle" idx="1"/>
          </p:nvPr>
        </p:nvSpPr>
        <p:spPr/>
        <p:txBody>
          <a:bodyPr/>
          <a:lstStyle/>
          <a:p>
            <a:r>
              <a:rPr lang="en-US" dirty="0" smtClean="0"/>
              <a:t>Agile development Approaches</a:t>
            </a:r>
            <a:endParaRPr lang="en-US" dirty="0"/>
          </a:p>
        </p:txBody>
      </p:sp>
    </p:spTree>
    <p:extLst>
      <p:ext uri="{BB962C8B-B14F-4D97-AF65-F5344CB8AC3E}">
        <p14:creationId xmlns:p14="http://schemas.microsoft.com/office/powerpoint/2010/main" val="2294443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 </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Agile methods</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Plan-driven and agile development</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Extreme programming (XP)</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Scrum</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Scaling up agile methods</a:t>
            </a:r>
          </a:p>
        </p:txBody>
      </p:sp>
    </p:spTree>
    <p:extLst>
      <p:ext uri="{BB962C8B-B14F-4D97-AF65-F5344CB8AC3E}">
        <p14:creationId xmlns:p14="http://schemas.microsoft.com/office/powerpoint/2010/main" val="3744716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Rapid software development</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Rapid development and delivery</a:t>
            </a:r>
            <a:r>
              <a:rPr lang="en-US" dirty="0">
                <a:latin typeface="Arial" panose="020B0604020202020204" pitchFamily="34" charset="0"/>
                <a:ea typeface="ＭＳ Ｐゴシック" panose="020B0600070205080204" pitchFamily="34" charset="-128"/>
                <a:cs typeface="Arial" panose="020B0604020202020204" pitchFamily="34" charset="0"/>
              </a:rPr>
              <a:t> is now often the most important requirement for software systems</a:t>
            </a:r>
          </a:p>
          <a:p>
            <a:pPr lvl="1">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Businesses operate in a fast–changing environment</a:t>
            </a:r>
          </a:p>
          <a:p>
            <a:pPr lvl="1">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Software has to evolve quickly to reflect changing business needs</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Rapid software development characteristics:</a:t>
            </a:r>
          </a:p>
          <a:p>
            <a:pPr lvl="1">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Specification, design and implementation are inter-leaved</a:t>
            </a:r>
          </a:p>
          <a:p>
            <a:pPr lvl="1">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System is developed as a series of versions with stakeholders involved in version evaluation</a:t>
            </a:r>
          </a:p>
          <a:p>
            <a:pPr lvl="1">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User interfaces are often developed using an IDE and graphical toolset</a:t>
            </a:r>
          </a:p>
        </p:txBody>
      </p:sp>
    </p:spTree>
    <p:extLst>
      <p:ext uri="{BB962C8B-B14F-4D97-AF65-F5344CB8AC3E}">
        <p14:creationId xmlns:p14="http://schemas.microsoft.com/office/powerpoint/2010/main" val="58604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Agile Methods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Dissatisfaction with the overheads involved in software design methods of the 1980s and 1990s led to the creation of </a:t>
            </a:r>
            <a:r>
              <a:rPr lang="en-US" i="1"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agile methods</a:t>
            </a:r>
            <a:r>
              <a:rPr lang="en-US" dirty="0">
                <a:latin typeface="Arial" panose="020B0604020202020204" pitchFamily="34" charset="0"/>
                <a:ea typeface="ＭＳ Ｐゴシック" panose="020B0600070205080204" pitchFamily="34" charset="-128"/>
                <a:cs typeface="Arial" panose="020B0604020202020204" pitchFamily="34" charset="0"/>
              </a:rPr>
              <a:t>. These methods:</a:t>
            </a:r>
          </a:p>
          <a:p>
            <a:pPr lvl="1">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Focus on the code rather than the design</a:t>
            </a:r>
          </a:p>
          <a:p>
            <a:pPr lvl="1">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Are based on an iterative approach to software development</a:t>
            </a:r>
          </a:p>
          <a:p>
            <a:pPr lvl="1">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Are intended to deliver working software quickly and evolve this quickly to meet changing requirements</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The aim of agile methods is to reduce overheads in the software process (e.g. by limiting documentation) and to be able to respond quickly to changing requirements without excessive rework</a:t>
            </a:r>
          </a:p>
        </p:txBody>
      </p:sp>
    </p:spTree>
    <p:extLst>
      <p:ext uri="{BB962C8B-B14F-4D97-AF65-F5344CB8AC3E}">
        <p14:creationId xmlns:p14="http://schemas.microsoft.com/office/powerpoint/2010/main" val="888915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manifesto</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i="1" dirty="0">
                <a:latin typeface="Arial" panose="020B0604020202020204" pitchFamily="34" charset="0"/>
                <a:ea typeface="ＭＳ Ｐゴシック" panose="020B0600070205080204" pitchFamily="34" charset="-128"/>
                <a:cs typeface="Arial" panose="020B0604020202020204" pitchFamily="34" charset="0"/>
              </a:rPr>
              <a:t>“We are uncovering better ways of developing software by doing it and helping others do it. Through this work we have come to value:</a:t>
            </a:r>
            <a:endParaRPr lang="en-GB" dirty="0">
              <a:latin typeface="Arial" panose="020B0604020202020204" pitchFamily="34" charset="0"/>
              <a:ea typeface="ＭＳ Ｐゴシック" panose="020B0600070205080204" pitchFamily="34" charset="-128"/>
              <a:cs typeface="Arial" panose="020B0604020202020204" pitchFamily="34" charset="0"/>
            </a:endParaRPr>
          </a:p>
          <a:p>
            <a:pPr lvl="1">
              <a:buFont typeface="Wingdings" panose="05000000000000000000" pitchFamily="2" charset="2"/>
              <a:buChar char="§"/>
            </a:pPr>
            <a:r>
              <a:rPr lang="en-US" i="1" dirty="0">
                <a:solidFill>
                  <a:srgbClr val="00B050"/>
                </a:solidFill>
                <a:latin typeface="Arial" panose="020B0604020202020204" pitchFamily="34" charset="0"/>
                <a:ea typeface="ＭＳ Ｐゴシック" panose="020B0600070205080204" pitchFamily="34" charset="-128"/>
                <a:cs typeface="Arial" panose="020B0604020202020204" pitchFamily="34" charset="0"/>
              </a:rPr>
              <a:t>Individuals and interactions</a:t>
            </a:r>
            <a:r>
              <a:rPr lang="en-US" i="1"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 over </a:t>
            </a:r>
            <a:r>
              <a:rPr lang="en-US" i="1" dirty="0">
                <a:solidFill>
                  <a:srgbClr val="7030A0"/>
                </a:solidFill>
                <a:latin typeface="Arial" panose="020B0604020202020204" pitchFamily="34" charset="0"/>
                <a:ea typeface="ＭＳ Ｐゴシック" panose="020B0600070205080204" pitchFamily="34" charset="-128"/>
                <a:cs typeface="Arial" panose="020B0604020202020204" pitchFamily="34" charset="0"/>
              </a:rPr>
              <a:t>processes and tools</a:t>
            </a:r>
            <a:r>
              <a:rPr lang="en-US" i="1" dirty="0">
                <a:solidFill>
                  <a:srgbClr val="00B050"/>
                </a:solidFill>
                <a:latin typeface="Arial" panose="020B0604020202020204" pitchFamily="34" charset="0"/>
                <a:ea typeface="ＭＳ Ｐゴシック" panose="020B0600070205080204" pitchFamily="34" charset="-128"/>
                <a:cs typeface="Arial" panose="020B0604020202020204" pitchFamily="34" charset="0"/>
              </a:rPr>
              <a:t>;</a:t>
            </a:r>
            <a:br>
              <a:rPr lang="en-US" i="1" dirty="0">
                <a:solidFill>
                  <a:srgbClr val="00B050"/>
                </a:solidFill>
                <a:latin typeface="Arial" panose="020B0604020202020204" pitchFamily="34" charset="0"/>
                <a:ea typeface="ＭＳ Ｐゴシック" panose="020B0600070205080204" pitchFamily="34" charset="-128"/>
                <a:cs typeface="Arial" panose="020B0604020202020204" pitchFamily="34" charset="0"/>
              </a:rPr>
            </a:br>
            <a:r>
              <a:rPr lang="en-US" i="1" dirty="0">
                <a:solidFill>
                  <a:srgbClr val="00B050"/>
                </a:solidFill>
                <a:latin typeface="Arial" panose="020B0604020202020204" pitchFamily="34" charset="0"/>
                <a:ea typeface="ＭＳ Ｐゴシック" panose="020B0600070205080204" pitchFamily="34" charset="-128"/>
                <a:cs typeface="Arial" panose="020B0604020202020204" pitchFamily="34" charset="0"/>
              </a:rPr>
              <a:t>Working software </a:t>
            </a:r>
            <a:r>
              <a:rPr lang="en-US" i="1"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over</a:t>
            </a:r>
            <a:r>
              <a:rPr lang="en-US" i="1" dirty="0">
                <a:solidFill>
                  <a:srgbClr val="00B050"/>
                </a:solidFill>
                <a:latin typeface="Arial" panose="020B0604020202020204" pitchFamily="34" charset="0"/>
                <a:ea typeface="ＭＳ Ｐゴシック" panose="020B0600070205080204" pitchFamily="34" charset="-128"/>
                <a:cs typeface="Arial" panose="020B0604020202020204" pitchFamily="34" charset="0"/>
              </a:rPr>
              <a:t> </a:t>
            </a:r>
            <a:r>
              <a:rPr lang="en-US" i="1" dirty="0">
                <a:solidFill>
                  <a:srgbClr val="7030A0"/>
                </a:solidFill>
                <a:latin typeface="Arial" panose="020B0604020202020204" pitchFamily="34" charset="0"/>
                <a:ea typeface="ＭＳ Ｐゴシック" panose="020B0600070205080204" pitchFamily="34" charset="-128"/>
                <a:cs typeface="Arial" panose="020B0604020202020204" pitchFamily="34" charset="0"/>
              </a:rPr>
              <a:t>comprehensive documentation</a:t>
            </a:r>
            <a:r>
              <a:rPr lang="en-US" i="1" dirty="0">
                <a:solidFill>
                  <a:srgbClr val="00B050"/>
                </a:solidFill>
                <a:latin typeface="Arial" panose="020B0604020202020204" pitchFamily="34" charset="0"/>
                <a:ea typeface="ＭＳ Ｐゴシック" panose="020B0600070205080204" pitchFamily="34" charset="-128"/>
                <a:cs typeface="Arial" panose="020B0604020202020204" pitchFamily="34" charset="0"/>
              </a:rPr>
              <a:t>; </a:t>
            </a:r>
            <a:br>
              <a:rPr lang="en-US" i="1" dirty="0">
                <a:solidFill>
                  <a:srgbClr val="00B050"/>
                </a:solidFill>
                <a:latin typeface="Arial" panose="020B0604020202020204" pitchFamily="34" charset="0"/>
                <a:ea typeface="ＭＳ Ｐゴシック" panose="020B0600070205080204" pitchFamily="34" charset="-128"/>
                <a:cs typeface="Arial" panose="020B0604020202020204" pitchFamily="34" charset="0"/>
              </a:rPr>
            </a:br>
            <a:r>
              <a:rPr lang="en-US" i="1" dirty="0">
                <a:solidFill>
                  <a:srgbClr val="00B050"/>
                </a:solidFill>
                <a:latin typeface="Arial" panose="020B0604020202020204" pitchFamily="34" charset="0"/>
                <a:ea typeface="ＭＳ Ｐゴシック" panose="020B0600070205080204" pitchFamily="34" charset="-128"/>
                <a:cs typeface="Arial" panose="020B0604020202020204" pitchFamily="34" charset="0"/>
              </a:rPr>
              <a:t>Customer collaboration </a:t>
            </a:r>
            <a:r>
              <a:rPr lang="en-US" i="1"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over</a:t>
            </a:r>
            <a:r>
              <a:rPr lang="en-US" i="1" dirty="0">
                <a:solidFill>
                  <a:srgbClr val="00B050"/>
                </a:solidFill>
                <a:latin typeface="Arial" panose="020B0604020202020204" pitchFamily="34" charset="0"/>
                <a:ea typeface="ＭＳ Ｐゴシック" panose="020B0600070205080204" pitchFamily="34" charset="-128"/>
                <a:cs typeface="Arial" panose="020B0604020202020204" pitchFamily="34" charset="0"/>
              </a:rPr>
              <a:t> </a:t>
            </a:r>
            <a:r>
              <a:rPr lang="en-US" i="1" dirty="0">
                <a:solidFill>
                  <a:srgbClr val="7030A0"/>
                </a:solidFill>
                <a:latin typeface="Arial" panose="020B0604020202020204" pitchFamily="34" charset="0"/>
                <a:ea typeface="ＭＳ Ｐゴシック" panose="020B0600070205080204" pitchFamily="34" charset="-128"/>
                <a:cs typeface="Arial" panose="020B0604020202020204" pitchFamily="34" charset="0"/>
              </a:rPr>
              <a:t>contract negotiation</a:t>
            </a:r>
            <a:r>
              <a:rPr lang="en-US" i="1" dirty="0">
                <a:solidFill>
                  <a:srgbClr val="00B050"/>
                </a:solidFill>
                <a:latin typeface="Arial" panose="020B0604020202020204" pitchFamily="34" charset="0"/>
                <a:ea typeface="ＭＳ Ｐゴシック" panose="020B0600070205080204" pitchFamily="34" charset="-128"/>
                <a:cs typeface="Arial" panose="020B0604020202020204" pitchFamily="34" charset="0"/>
              </a:rPr>
              <a:t>; </a:t>
            </a:r>
            <a:br>
              <a:rPr lang="en-US" i="1" dirty="0">
                <a:solidFill>
                  <a:srgbClr val="00B050"/>
                </a:solidFill>
                <a:latin typeface="Arial" panose="020B0604020202020204" pitchFamily="34" charset="0"/>
                <a:ea typeface="ＭＳ Ｐゴシック" panose="020B0600070205080204" pitchFamily="34" charset="-128"/>
                <a:cs typeface="Arial" panose="020B0604020202020204" pitchFamily="34" charset="0"/>
              </a:rPr>
            </a:br>
            <a:r>
              <a:rPr lang="en-US" i="1" dirty="0">
                <a:solidFill>
                  <a:srgbClr val="00B050"/>
                </a:solidFill>
                <a:latin typeface="Arial" panose="020B0604020202020204" pitchFamily="34" charset="0"/>
                <a:ea typeface="ＭＳ Ｐゴシック" panose="020B0600070205080204" pitchFamily="34" charset="-128"/>
                <a:cs typeface="Arial" panose="020B0604020202020204" pitchFamily="34" charset="0"/>
              </a:rPr>
              <a:t>Responding to change </a:t>
            </a:r>
            <a:r>
              <a:rPr lang="en-US" i="1"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over</a:t>
            </a:r>
            <a:r>
              <a:rPr lang="en-US" i="1" dirty="0">
                <a:solidFill>
                  <a:srgbClr val="00B050"/>
                </a:solidFill>
                <a:latin typeface="Arial" panose="020B0604020202020204" pitchFamily="34" charset="0"/>
                <a:ea typeface="ＭＳ Ｐゴシック" panose="020B0600070205080204" pitchFamily="34" charset="-128"/>
                <a:cs typeface="Arial" panose="020B0604020202020204" pitchFamily="34" charset="0"/>
              </a:rPr>
              <a:t> </a:t>
            </a:r>
            <a:r>
              <a:rPr lang="en-US" i="1" dirty="0">
                <a:solidFill>
                  <a:srgbClr val="7030A0"/>
                </a:solidFill>
                <a:latin typeface="Arial" panose="020B0604020202020204" pitchFamily="34" charset="0"/>
                <a:ea typeface="ＭＳ Ｐゴシック" panose="020B0600070205080204" pitchFamily="34" charset="-128"/>
                <a:cs typeface="Arial" panose="020B0604020202020204" pitchFamily="34" charset="0"/>
              </a:rPr>
              <a:t>following a plan</a:t>
            </a:r>
            <a:r>
              <a:rPr lang="en-US" i="1" dirty="0">
                <a:solidFill>
                  <a:srgbClr val="00B050"/>
                </a:solidFill>
                <a:latin typeface="Arial" panose="020B0604020202020204" pitchFamily="34" charset="0"/>
                <a:ea typeface="ＭＳ Ｐゴシック" panose="020B0600070205080204" pitchFamily="34" charset="-128"/>
                <a:cs typeface="Arial" panose="020B0604020202020204" pitchFamily="34" charset="0"/>
              </a:rPr>
              <a:t>; </a:t>
            </a:r>
            <a:endParaRPr lang="en-GB" dirty="0">
              <a:solidFill>
                <a:srgbClr val="00B050"/>
              </a:solidFill>
              <a:latin typeface="Arial" panose="020B0604020202020204" pitchFamily="34" charset="0"/>
              <a:ea typeface="ＭＳ Ｐゴシック" panose="020B0600070205080204" pitchFamily="34" charset="-128"/>
              <a:cs typeface="Arial" panose="020B0604020202020204" pitchFamily="34" charset="0"/>
            </a:endParaRPr>
          </a:p>
          <a:p>
            <a:pPr>
              <a:buFont typeface="Wingdings" panose="05000000000000000000" pitchFamily="2" charset="2"/>
              <a:buChar char="²"/>
            </a:pPr>
            <a:r>
              <a:rPr lang="en-US" i="1" dirty="0">
                <a:latin typeface="Arial" panose="020B0604020202020204" pitchFamily="34" charset="0"/>
                <a:ea typeface="ＭＳ Ｐゴシック" panose="020B0600070205080204" pitchFamily="34" charset="-128"/>
                <a:cs typeface="Arial" panose="020B0604020202020204" pitchFamily="34" charset="0"/>
              </a:rPr>
              <a:t>That is, while there is value in the items on the right, we value the items on the left more.”</a:t>
            </a:r>
            <a:r>
              <a:rPr lang="en-GB" dirty="0">
                <a:latin typeface="Arial" panose="020B0604020202020204" pitchFamily="34" charset="0"/>
                <a:ea typeface="ＭＳ Ｐゴシック" panose="020B0600070205080204" pitchFamily="34" charset="-128"/>
                <a:cs typeface="Arial" panose="020B0604020202020204" pitchFamily="34" charset="0"/>
              </a:rPr>
              <a:t> </a:t>
            </a:r>
            <a:endParaRPr lang="en-US"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034512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The principles of agile methods</a:t>
            </a:r>
            <a:endParaRPr lang="en-US" dirty="0"/>
          </a:p>
        </p:txBody>
      </p:sp>
      <p:pic>
        <p:nvPicPr>
          <p:cNvPr id="4" name="Content Placeholder 3"/>
          <p:cNvPicPr>
            <a:picLocks noGrp="1" noChangeAspect="1"/>
          </p:cNvPicPr>
          <p:nvPr>
            <p:ph idx="1"/>
          </p:nvPr>
        </p:nvPicPr>
        <p:blipFill>
          <a:blip r:embed="rId2"/>
          <a:stretch>
            <a:fillRect/>
          </a:stretch>
        </p:blipFill>
        <p:spPr>
          <a:xfrm>
            <a:off x="2592924" y="1777525"/>
            <a:ext cx="7311261" cy="3905725"/>
          </a:xfrm>
          <a:prstGeom prst="rect">
            <a:avLst/>
          </a:prstGeom>
        </p:spPr>
      </p:pic>
    </p:spTree>
    <p:extLst>
      <p:ext uri="{BB962C8B-B14F-4D97-AF65-F5344CB8AC3E}">
        <p14:creationId xmlns:p14="http://schemas.microsoft.com/office/powerpoint/2010/main" val="795327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Agile method applicability</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Product development where a software company is developing a </a:t>
            </a: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small </a:t>
            </a:r>
            <a:r>
              <a:rPr lang="en-GB"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or</a:t>
            </a: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 medium-sized </a:t>
            </a:r>
            <a:r>
              <a:rPr lang="en-GB" dirty="0">
                <a:latin typeface="Arial" panose="020B0604020202020204" pitchFamily="34" charset="0"/>
                <a:ea typeface="ＭＳ Ｐゴシック" panose="020B0600070205080204" pitchFamily="34" charset="-128"/>
                <a:cs typeface="Arial" panose="020B0604020202020204" pitchFamily="34" charset="0"/>
              </a:rPr>
              <a:t>product for sale</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Custom system development within an organization, where there is a clear </a:t>
            </a: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commitment from the customer </a:t>
            </a:r>
            <a:r>
              <a:rPr lang="en-GB" dirty="0">
                <a:latin typeface="Arial" panose="020B0604020202020204" pitchFamily="34" charset="0"/>
                <a:ea typeface="ＭＳ Ｐゴシック" panose="020B0600070205080204" pitchFamily="34" charset="-128"/>
                <a:cs typeface="Arial" panose="020B0604020202020204" pitchFamily="34" charset="0"/>
              </a:rPr>
              <a:t>to become involved in the development process and where there are not a lot of external rules and regulations that affect the software</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Because of their </a:t>
            </a: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focus on small, tightly-integrated teams</a:t>
            </a:r>
            <a:r>
              <a:rPr lang="en-GB" dirty="0">
                <a:latin typeface="Arial" panose="020B0604020202020204" pitchFamily="34" charset="0"/>
                <a:ea typeface="ＭＳ Ｐゴシック" panose="020B0600070205080204" pitchFamily="34" charset="-128"/>
                <a:cs typeface="Arial" panose="020B0604020202020204" pitchFamily="34" charset="0"/>
              </a:rPr>
              <a:t>, there are problems in scaling agile methods to large systems </a:t>
            </a:r>
          </a:p>
        </p:txBody>
      </p:sp>
    </p:spTree>
    <p:extLst>
      <p:ext uri="{BB962C8B-B14F-4D97-AF65-F5344CB8AC3E}">
        <p14:creationId xmlns:p14="http://schemas.microsoft.com/office/powerpoint/2010/main" val="3582087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Problems with agile methods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It can be difficult to keep the interest of customers who are involved in the process</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Team members may be unsuited to the intense involvement that characterizes agile methods</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Prioritizing changes can be difficult where there are multiple stakeholders</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Maintaining simplicity requires extra work</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Contracts may be a problem as with other approaches to iterative development</a:t>
            </a:r>
          </a:p>
        </p:txBody>
      </p:sp>
    </p:spTree>
    <p:extLst>
      <p:ext uri="{BB962C8B-B14F-4D97-AF65-F5344CB8AC3E}">
        <p14:creationId xmlns:p14="http://schemas.microsoft.com/office/powerpoint/2010/main" val="1434392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Agile methods and software maintenance</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Most organizations spend more on maintaining existing software than they do on new software development. So, if agile methods are to be successful, they have to support maintenance as well as original development</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Two key issues:</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Are systems that are developed using an agile approach </a:t>
            </a: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maintainable</a:t>
            </a:r>
            <a:r>
              <a:rPr lang="en-GB" dirty="0">
                <a:latin typeface="Arial" panose="020B0604020202020204" pitchFamily="34" charset="0"/>
                <a:ea typeface="ＭＳ Ｐゴシック" panose="020B0600070205080204" pitchFamily="34" charset="-128"/>
                <a:cs typeface="Arial" panose="020B0604020202020204" pitchFamily="34" charset="0"/>
              </a:rPr>
              <a:t>, given the emphasis in the development process of minimizing formal documentation?</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Can agile methods be used effectively for </a:t>
            </a: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evolving</a:t>
            </a:r>
            <a:r>
              <a:rPr lang="en-GB" dirty="0">
                <a:latin typeface="Arial" panose="020B0604020202020204" pitchFamily="34" charset="0"/>
                <a:ea typeface="ＭＳ Ｐゴシック" panose="020B0600070205080204" pitchFamily="34" charset="-128"/>
                <a:cs typeface="Arial" panose="020B0604020202020204" pitchFamily="34" charset="0"/>
              </a:rPr>
              <a:t> a system in response to customer change requests?</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Problems may arise if original development team cannot be maintained</a:t>
            </a:r>
          </a:p>
        </p:txBody>
      </p:sp>
    </p:spTree>
    <p:extLst>
      <p:ext uri="{BB962C8B-B14F-4D97-AF65-F5344CB8AC3E}">
        <p14:creationId xmlns:p14="http://schemas.microsoft.com/office/powerpoint/2010/main" val="382381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Plan-driven and agile development</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Plan-driven development</a:t>
            </a:r>
          </a:p>
          <a:p>
            <a:pPr lvl="1">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A plan-driven approach to software engineering is based around separate development stages with the outputs to be produced at each of these stages planned in advance</a:t>
            </a:r>
          </a:p>
          <a:p>
            <a:pPr lvl="1">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Not necessarily waterfall model – plan-driven, incremental development, spiral (Boehm) are also possible</a:t>
            </a:r>
          </a:p>
          <a:p>
            <a:pPr lvl="1">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Iteration occurs within activities </a:t>
            </a:r>
          </a:p>
          <a:p>
            <a:pPr>
              <a:buFont typeface="Wingdings" panose="05000000000000000000" pitchFamily="2" charset="2"/>
              <a:buChar char="²"/>
            </a:pP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Agile development</a:t>
            </a:r>
          </a:p>
          <a:p>
            <a:pPr lvl="1">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Specification, design, implementation and testing are inter-leaved and the outputs from the development process are decided through a process of negotiation during the software development process</a:t>
            </a:r>
          </a:p>
        </p:txBody>
      </p:sp>
    </p:spTree>
    <p:extLst>
      <p:ext uri="{BB962C8B-B14F-4D97-AF65-F5344CB8AC3E}">
        <p14:creationId xmlns:p14="http://schemas.microsoft.com/office/powerpoint/2010/main" val="249387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Plan-driven and agile specification</a:t>
            </a:r>
            <a:endParaRPr lang="en-US" dirty="0"/>
          </a:p>
        </p:txBody>
      </p:sp>
      <p:pic>
        <p:nvPicPr>
          <p:cNvPr id="4" name="Content Placeholder 3"/>
          <p:cNvPicPr>
            <a:picLocks noGrp="1" noChangeAspect="1"/>
          </p:cNvPicPr>
          <p:nvPr>
            <p:ph idx="1"/>
          </p:nvPr>
        </p:nvPicPr>
        <p:blipFill>
          <a:blip r:embed="rId2"/>
          <a:stretch>
            <a:fillRect/>
          </a:stretch>
        </p:blipFill>
        <p:spPr>
          <a:xfrm>
            <a:off x="3931065" y="2133599"/>
            <a:ext cx="5599697" cy="4258925"/>
          </a:xfrm>
          <a:prstGeom prst="rect">
            <a:avLst/>
          </a:prstGeom>
        </p:spPr>
      </p:pic>
    </p:spTree>
    <p:extLst>
      <p:ext uri="{BB962C8B-B14F-4D97-AF65-F5344CB8AC3E}">
        <p14:creationId xmlns:p14="http://schemas.microsoft.com/office/powerpoint/2010/main" val="2510320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Technical, human, organizational issues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Most projects include elements of plan-driven and agile processes. Deciding on the balance depends on:</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Is it important to have a </a:t>
            </a: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very detailed specification and design </a:t>
            </a:r>
            <a:r>
              <a:rPr lang="en-GB" dirty="0">
                <a:latin typeface="Arial" panose="020B0604020202020204" pitchFamily="34" charset="0"/>
                <a:ea typeface="ＭＳ Ｐゴシック" panose="020B0600070205080204" pitchFamily="34" charset="-128"/>
                <a:cs typeface="Arial" panose="020B0604020202020204" pitchFamily="34" charset="0"/>
              </a:rPr>
              <a:t>before moving to implementation? If so, you probably need to use a plan-driven approach</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Is an </a:t>
            </a: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incremental delivery strategy</a:t>
            </a:r>
            <a:r>
              <a:rPr lang="en-GB" dirty="0">
                <a:latin typeface="Arial" panose="020B0604020202020204" pitchFamily="34" charset="0"/>
                <a:ea typeface="ＭＳ Ｐゴシック" panose="020B0600070205080204" pitchFamily="34" charset="-128"/>
                <a:cs typeface="Arial" panose="020B0604020202020204" pitchFamily="34" charset="0"/>
              </a:rPr>
              <a:t>, where you deliver the software to customers and get rapid feedback from them, realistic? If so, consider using agile methods.</a:t>
            </a:r>
          </a:p>
          <a:p>
            <a:pPr lvl="1">
              <a:buFont typeface="Wingdings" panose="05000000000000000000" pitchFamily="2" charset="2"/>
              <a:buChar char="§"/>
            </a:pP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How large is the system </a:t>
            </a:r>
            <a:r>
              <a:rPr lang="en-GB" dirty="0">
                <a:latin typeface="Arial" panose="020B0604020202020204" pitchFamily="34" charset="0"/>
                <a:ea typeface="ＭＳ Ｐゴシック" panose="020B0600070205080204" pitchFamily="34" charset="-128"/>
                <a:cs typeface="Arial" panose="020B0604020202020204" pitchFamily="34" charset="0"/>
              </a:rPr>
              <a:t>that is being developed? Agile methods are most effective when the system can be developed with a small co-located team who can communicate informally. This may not be possible for large systems that require larger development teams so a plan-driven approach may have to be used. </a:t>
            </a:r>
          </a:p>
          <a:p>
            <a:pPr lvl="1">
              <a:buFont typeface="Wingdings" panose="05000000000000000000" pitchFamily="2" charset="2"/>
              <a:buChar char="§"/>
            </a:pPr>
            <a:endParaRPr lang="en-US"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034913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Technical, human, organizational issues</a:t>
            </a:r>
            <a:endParaRPr lang="en-US" dirty="0"/>
          </a:p>
        </p:txBody>
      </p:sp>
      <p:sp>
        <p:nvSpPr>
          <p:cNvPr id="3" name="Content Placeholder 2"/>
          <p:cNvSpPr>
            <a:spLocks noGrp="1"/>
          </p:cNvSpPr>
          <p:nvPr>
            <p:ph idx="1"/>
          </p:nvPr>
        </p:nvSpPr>
        <p:spPr/>
        <p:txBody>
          <a:bodyPr/>
          <a:lstStyle/>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What </a:t>
            </a: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type of system </a:t>
            </a:r>
            <a:r>
              <a:rPr lang="en-GB" dirty="0">
                <a:latin typeface="Arial" panose="020B0604020202020204" pitchFamily="34" charset="0"/>
                <a:ea typeface="ＭＳ Ｐゴシック" panose="020B0600070205080204" pitchFamily="34" charset="-128"/>
                <a:cs typeface="Arial" panose="020B0604020202020204" pitchFamily="34" charset="0"/>
              </a:rPr>
              <a:t>is being developed? </a:t>
            </a:r>
          </a:p>
          <a:p>
            <a:pPr lvl="2"/>
            <a:r>
              <a:rPr lang="en-GB" dirty="0">
                <a:latin typeface="Arial" panose="020B0604020202020204" pitchFamily="34" charset="0"/>
                <a:ea typeface="ＭＳ Ｐゴシック" panose="020B0600070205080204" pitchFamily="34" charset="-128"/>
                <a:cs typeface="Arial" panose="020B0604020202020204" pitchFamily="34" charset="0"/>
              </a:rPr>
              <a:t>Plan-driven approaches may be required for systems that require a lot of analysis before implementation (e.g. real-time system with complex timing requirements)</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What is the expected </a:t>
            </a: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system lifetime</a:t>
            </a:r>
            <a:r>
              <a:rPr lang="en-GB" dirty="0">
                <a:latin typeface="Arial" panose="020B0604020202020204" pitchFamily="34" charset="0"/>
                <a:ea typeface="ＭＳ Ｐゴシック" panose="020B0600070205080204" pitchFamily="34" charset="-128"/>
                <a:cs typeface="Arial" panose="020B0604020202020204" pitchFamily="34" charset="0"/>
              </a:rPr>
              <a:t>? </a:t>
            </a:r>
          </a:p>
          <a:p>
            <a:pPr lvl="2"/>
            <a:r>
              <a:rPr lang="en-GB" dirty="0">
                <a:latin typeface="Arial" panose="020B0604020202020204" pitchFamily="34" charset="0"/>
                <a:ea typeface="ＭＳ Ｐゴシック" panose="020B0600070205080204" pitchFamily="34" charset="-128"/>
                <a:cs typeface="Arial" panose="020B0604020202020204" pitchFamily="34" charset="0"/>
              </a:rPr>
              <a:t>Long-lifetime systems may require more design documentation to communicate the original intentions of the system developers to the support team</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What </a:t>
            </a: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technologies</a:t>
            </a:r>
            <a:r>
              <a:rPr lang="en-GB" dirty="0">
                <a:latin typeface="Arial" panose="020B0604020202020204" pitchFamily="34" charset="0"/>
                <a:ea typeface="ＭＳ Ｐゴシック" panose="020B0600070205080204" pitchFamily="34" charset="-128"/>
                <a:cs typeface="Arial" panose="020B0604020202020204" pitchFamily="34" charset="0"/>
              </a:rPr>
              <a:t> are available to support system development? </a:t>
            </a:r>
          </a:p>
          <a:p>
            <a:pPr lvl="2"/>
            <a:r>
              <a:rPr lang="en-GB" dirty="0">
                <a:latin typeface="Arial" panose="020B0604020202020204" pitchFamily="34" charset="0"/>
                <a:ea typeface="ＭＳ Ｐゴシック" panose="020B0600070205080204" pitchFamily="34" charset="-128"/>
                <a:cs typeface="Arial" panose="020B0604020202020204" pitchFamily="34" charset="0"/>
              </a:rPr>
              <a:t>Agile methods rely on good tools to keep track of an evolving design</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How is the </a:t>
            </a: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development team </a:t>
            </a:r>
            <a:r>
              <a:rPr lang="en-GB" dirty="0">
                <a:latin typeface="Arial" panose="020B0604020202020204" pitchFamily="34" charset="0"/>
                <a:ea typeface="ＭＳ Ｐゴシック" panose="020B0600070205080204" pitchFamily="34" charset="-128"/>
                <a:cs typeface="Arial" panose="020B0604020202020204" pitchFamily="34" charset="0"/>
              </a:rPr>
              <a:t>organized? </a:t>
            </a:r>
          </a:p>
          <a:p>
            <a:pPr lvl="2"/>
            <a:r>
              <a:rPr lang="en-GB" dirty="0">
                <a:latin typeface="Arial" panose="020B0604020202020204" pitchFamily="34" charset="0"/>
                <a:ea typeface="ＭＳ Ｐゴシック" panose="020B0600070205080204" pitchFamily="34" charset="-128"/>
                <a:cs typeface="Arial" panose="020B0604020202020204" pitchFamily="34" charset="0"/>
              </a:rPr>
              <a:t>If the development team is distributed or if part of the development is being outsourced, then you may need to develop design documents to communicate across the development teams</a:t>
            </a:r>
          </a:p>
        </p:txBody>
      </p:sp>
    </p:spTree>
    <p:extLst>
      <p:ext uri="{BB962C8B-B14F-4D97-AF65-F5344CB8AC3E}">
        <p14:creationId xmlns:p14="http://schemas.microsoft.com/office/powerpoint/2010/main" val="2809457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Technical, human, organizational issues</a:t>
            </a:r>
            <a:endParaRPr lang="en-US" dirty="0"/>
          </a:p>
        </p:txBody>
      </p:sp>
      <p:sp>
        <p:nvSpPr>
          <p:cNvPr id="3" name="Content Placeholder 2"/>
          <p:cNvSpPr>
            <a:spLocks noGrp="1"/>
          </p:cNvSpPr>
          <p:nvPr>
            <p:ph idx="1"/>
          </p:nvPr>
        </p:nvSpPr>
        <p:spPr/>
        <p:txBody>
          <a:bodyPr/>
          <a:lstStyle/>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Are there </a:t>
            </a: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cultural or organizational issues </a:t>
            </a:r>
            <a:r>
              <a:rPr lang="en-GB" dirty="0">
                <a:latin typeface="Arial" panose="020B0604020202020204" pitchFamily="34" charset="0"/>
                <a:ea typeface="ＭＳ Ｐゴシック" panose="020B0600070205080204" pitchFamily="34" charset="-128"/>
                <a:cs typeface="Arial" panose="020B0604020202020204" pitchFamily="34" charset="0"/>
              </a:rPr>
              <a:t>that may affect the system development? </a:t>
            </a:r>
          </a:p>
          <a:p>
            <a:pPr lvl="2"/>
            <a:r>
              <a:rPr lang="en-GB" dirty="0">
                <a:latin typeface="Arial" panose="020B0604020202020204" pitchFamily="34" charset="0"/>
                <a:ea typeface="ＭＳ Ｐゴシック" panose="020B0600070205080204" pitchFamily="34" charset="-128"/>
                <a:cs typeface="Arial" panose="020B0604020202020204" pitchFamily="34" charset="0"/>
              </a:rPr>
              <a:t>Traditional engineering organizations have a culture of plan-based development, as this is the norm in engineering</a:t>
            </a:r>
          </a:p>
          <a:p>
            <a:pPr lvl="1">
              <a:buFont typeface="Wingdings" panose="05000000000000000000" pitchFamily="2" charset="2"/>
              <a:buChar char="§"/>
            </a:pP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How good are the designers and programmers </a:t>
            </a:r>
            <a:r>
              <a:rPr lang="en-GB" dirty="0">
                <a:latin typeface="Arial" panose="020B0604020202020204" pitchFamily="34" charset="0"/>
                <a:ea typeface="ＭＳ Ｐゴシック" panose="020B0600070205080204" pitchFamily="34" charset="-128"/>
                <a:cs typeface="Arial" panose="020B0604020202020204" pitchFamily="34" charset="0"/>
              </a:rPr>
              <a:t>in the development team?</a:t>
            </a:r>
          </a:p>
          <a:p>
            <a:pPr lvl="2"/>
            <a:r>
              <a:rPr lang="en-GB" dirty="0">
                <a:latin typeface="Arial" panose="020B0604020202020204" pitchFamily="34" charset="0"/>
                <a:ea typeface="ＭＳ Ｐゴシック" panose="020B0600070205080204" pitchFamily="34" charset="-128"/>
                <a:cs typeface="Arial" panose="020B0604020202020204" pitchFamily="34" charset="0"/>
              </a:rPr>
              <a:t> It is sometimes argued that agile methods require higher skill levels than plan-based approaches in which programmers simply translate a detailed design into code</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Is the system subject to </a:t>
            </a:r>
            <a:r>
              <a:rPr lang="en-GB"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external regulation</a:t>
            </a:r>
            <a:r>
              <a:rPr lang="en-GB" dirty="0">
                <a:latin typeface="Arial" panose="020B0604020202020204" pitchFamily="34" charset="0"/>
                <a:ea typeface="ＭＳ Ｐゴシック" panose="020B0600070205080204" pitchFamily="34" charset="-128"/>
                <a:cs typeface="Arial" panose="020B0604020202020204" pitchFamily="34" charset="0"/>
              </a:rPr>
              <a:t>? </a:t>
            </a:r>
          </a:p>
          <a:p>
            <a:pPr lvl="2"/>
            <a:r>
              <a:rPr lang="en-GB" dirty="0">
                <a:latin typeface="Arial" panose="020B0604020202020204" pitchFamily="34" charset="0"/>
                <a:ea typeface="ＭＳ Ｐゴシック" panose="020B0600070205080204" pitchFamily="34" charset="-128"/>
                <a:cs typeface="Arial" panose="020B0604020202020204" pitchFamily="34" charset="0"/>
              </a:rPr>
              <a:t>If a system has to be approved by an external regulator (e.g. the FAA approve software that is critical to the operation of an aircraft) then you will probably be required to produce detailed documentation as part of the system safety case</a:t>
            </a:r>
          </a:p>
        </p:txBody>
      </p:sp>
    </p:spTree>
    <p:extLst>
      <p:ext uri="{BB962C8B-B14F-4D97-AF65-F5344CB8AC3E}">
        <p14:creationId xmlns:p14="http://schemas.microsoft.com/office/powerpoint/2010/main" val="3717892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Extreme programming</a:t>
            </a:r>
            <a:endParaRPr lang="en-US" dirty="0"/>
          </a:p>
        </p:txBody>
      </p:sp>
      <p:sp>
        <p:nvSpPr>
          <p:cNvPr id="3" name="Content Placeholder 2"/>
          <p:cNvSpPr>
            <a:spLocks noGrp="1"/>
          </p:cNvSpPr>
          <p:nvPr>
            <p:ph idx="1"/>
          </p:nvPr>
        </p:nvSpPr>
        <p:spPr/>
        <p:txBody>
          <a:bodyPr/>
          <a:lstStyle/>
          <a:p>
            <a:pPr>
              <a:lnSpc>
                <a:spcPct val="90000"/>
              </a:lnSpc>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Perhaps the best-known and most widely used agile method.</a:t>
            </a:r>
          </a:p>
          <a:p>
            <a:pPr>
              <a:lnSpc>
                <a:spcPct val="90000"/>
              </a:lnSpc>
              <a:buFont typeface="Wingdings" panose="05000000000000000000" pitchFamily="2" charset="2"/>
              <a:buChar char="²"/>
            </a:pP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Extreme Programming (XP)</a:t>
            </a:r>
            <a:r>
              <a:rPr lang="en-US" dirty="0">
                <a:latin typeface="Arial" panose="020B0604020202020204" pitchFamily="34" charset="0"/>
                <a:ea typeface="ＭＳ Ｐゴシック" panose="020B0600070205080204" pitchFamily="34" charset="-128"/>
                <a:cs typeface="Arial" panose="020B0604020202020204" pitchFamily="34" charset="0"/>
              </a:rPr>
              <a:t> takes an “extreme” approach to iterative development</a:t>
            </a:r>
          </a:p>
          <a:p>
            <a:pPr lvl="1">
              <a:lnSpc>
                <a:spcPct val="90000"/>
              </a:lnSpc>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New versions may be built several times per day;</a:t>
            </a:r>
          </a:p>
          <a:p>
            <a:pPr lvl="1">
              <a:lnSpc>
                <a:spcPct val="90000"/>
              </a:lnSpc>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Increments are delivered to customers every 2 weeks;</a:t>
            </a:r>
          </a:p>
          <a:p>
            <a:pPr lvl="1">
              <a:lnSpc>
                <a:spcPct val="90000"/>
              </a:lnSpc>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All tests must be run for every build and the build is only accepted if tests run successfully</a:t>
            </a:r>
          </a:p>
        </p:txBody>
      </p:sp>
    </p:spTree>
    <p:extLst>
      <p:ext uri="{BB962C8B-B14F-4D97-AF65-F5344CB8AC3E}">
        <p14:creationId xmlns:p14="http://schemas.microsoft.com/office/powerpoint/2010/main" val="974370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XP cycle</a:t>
            </a:r>
            <a:endParaRPr lang="en-US" dirty="0"/>
          </a:p>
        </p:txBody>
      </p:sp>
      <p:pic>
        <p:nvPicPr>
          <p:cNvPr id="4" name="Content Placeholder 3"/>
          <p:cNvPicPr>
            <a:picLocks noGrp="1" noChangeAspect="1"/>
          </p:cNvPicPr>
          <p:nvPr>
            <p:ph idx="1"/>
          </p:nvPr>
        </p:nvPicPr>
        <p:blipFill>
          <a:blip r:embed="rId2"/>
          <a:stretch>
            <a:fillRect/>
          </a:stretch>
        </p:blipFill>
        <p:spPr>
          <a:xfrm>
            <a:off x="3423951" y="2501534"/>
            <a:ext cx="6596444" cy="2871465"/>
          </a:xfrm>
          <a:prstGeom prst="rect">
            <a:avLst/>
          </a:prstGeom>
        </p:spPr>
      </p:pic>
    </p:spTree>
    <p:extLst>
      <p:ext uri="{BB962C8B-B14F-4D97-AF65-F5344CB8AC3E}">
        <p14:creationId xmlns:p14="http://schemas.microsoft.com/office/powerpoint/2010/main" val="1122765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Extreme programming practices (a)</a:t>
            </a:r>
            <a:endParaRPr lang="en-US" dirty="0"/>
          </a:p>
        </p:txBody>
      </p:sp>
      <p:pic>
        <p:nvPicPr>
          <p:cNvPr id="4" name="Content Placeholder 3"/>
          <p:cNvPicPr>
            <a:picLocks noGrp="1" noChangeAspect="1"/>
          </p:cNvPicPr>
          <p:nvPr>
            <p:ph idx="1"/>
          </p:nvPr>
        </p:nvPicPr>
        <p:blipFill>
          <a:blip r:embed="rId2"/>
          <a:stretch>
            <a:fillRect/>
          </a:stretch>
        </p:blipFill>
        <p:spPr>
          <a:xfrm>
            <a:off x="2452644" y="1578954"/>
            <a:ext cx="7585084" cy="4255984"/>
          </a:xfrm>
          <a:prstGeom prst="rect">
            <a:avLst/>
          </a:prstGeom>
        </p:spPr>
      </p:pic>
    </p:spTree>
    <p:extLst>
      <p:ext uri="{BB962C8B-B14F-4D97-AF65-F5344CB8AC3E}">
        <p14:creationId xmlns:p14="http://schemas.microsoft.com/office/powerpoint/2010/main" val="1549161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Extreme programming practices (b</a:t>
            </a:r>
            <a:endParaRPr lang="en-US" dirty="0"/>
          </a:p>
        </p:txBody>
      </p:sp>
      <p:pic>
        <p:nvPicPr>
          <p:cNvPr id="4" name="Content Placeholder 3"/>
          <p:cNvPicPr>
            <a:picLocks noGrp="1" noChangeAspect="1"/>
          </p:cNvPicPr>
          <p:nvPr>
            <p:ph idx="1"/>
          </p:nvPr>
        </p:nvPicPr>
        <p:blipFill>
          <a:blip r:embed="rId2"/>
          <a:stretch>
            <a:fillRect/>
          </a:stretch>
        </p:blipFill>
        <p:spPr>
          <a:xfrm>
            <a:off x="2592925" y="1723134"/>
            <a:ext cx="7600375" cy="4120350"/>
          </a:xfrm>
          <a:prstGeom prst="rect">
            <a:avLst/>
          </a:prstGeom>
        </p:spPr>
      </p:pic>
    </p:spTree>
    <p:extLst>
      <p:ext uri="{BB962C8B-B14F-4D97-AF65-F5344CB8AC3E}">
        <p14:creationId xmlns:p14="http://schemas.microsoft.com/office/powerpoint/2010/main" val="2201416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XP and agile principles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Incremental development </a:t>
            </a:r>
            <a:r>
              <a:rPr lang="en-US" dirty="0">
                <a:latin typeface="Arial" panose="020B0604020202020204" pitchFamily="34" charset="0"/>
                <a:ea typeface="ＭＳ Ｐゴシック" panose="020B0600070205080204" pitchFamily="34" charset="-128"/>
                <a:cs typeface="Arial" panose="020B0604020202020204" pitchFamily="34" charset="0"/>
              </a:rPr>
              <a:t>is supported through small, frequent system releases</a:t>
            </a:r>
          </a:p>
          <a:p>
            <a:pPr>
              <a:buFont typeface="Wingdings" panose="05000000000000000000" pitchFamily="2" charset="2"/>
              <a:buChar char="²"/>
            </a:pP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Customer involvement </a:t>
            </a:r>
            <a:r>
              <a:rPr lang="en-US" dirty="0">
                <a:latin typeface="Arial" panose="020B0604020202020204" pitchFamily="34" charset="0"/>
                <a:ea typeface="ＭＳ Ｐゴシック" panose="020B0600070205080204" pitchFamily="34" charset="-128"/>
                <a:cs typeface="Arial" panose="020B0604020202020204" pitchFamily="34" charset="0"/>
              </a:rPr>
              <a:t>means full-time customer engagement with the team</a:t>
            </a:r>
          </a:p>
          <a:p>
            <a:pPr>
              <a:buFont typeface="Wingdings" panose="05000000000000000000" pitchFamily="2" charset="2"/>
              <a:buChar char="²"/>
            </a:pP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People not process </a:t>
            </a:r>
            <a:r>
              <a:rPr lang="en-US" dirty="0">
                <a:latin typeface="Arial" panose="020B0604020202020204" pitchFamily="34" charset="0"/>
                <a:ea typeface="ＭＳ Ｐゴシック" panose="020B0600070205080204" pitchFamily="34" charset="-128"/>
                <a:cs typeface="Arial" panose="020B0604020202020204" pitchFamily="34" charset="0"/>
              </a:rPr>
              <a:t>through pair programming, collective ownership and a process that avoids long working hours.</a:t>
            </a:r>
          </a:p>
          <a:p>
            <a:pPr>
              <a:buFont typeface="Wingdings" panose="05000000000000000000" pitchFamily="2" charset="2"/>
              <a:buChar char="²"/>
            </a:pP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Change</a:t>
            </a:r>
            <a:r>
              <a:rPr lang="en-US" dirty="0">
                <a:latin typeface="Arial" panose="020B0604020202020204" pitchFamily="34" charset="0"/>
                <a:ea typeface="ＭＳ Ｐゴシック" panose="020B0600070205080204" pitchFamily="34" charset="-128"/>
                <a:cs typeface="Arial" panose="020B0604020202020204" pitchFamily="34" charset="0"/>
              </a:rPr>
              <a:t> supported through regular system releases</a:t>
            </a:r>
          </a:p>
          <a:p>
            <a:pPr>
              <a:buFont typeface="Wingdings" panose="05000000000000000000" pitchFamily="2" charset="2"/>
              <a:buChar char="²"/>
            </a:pP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Maintaining simplicity </a:t>
            </a:r>
            <a:r>
              <a:rPr lang="en-US" dirty="0">
                <a:latin typeface="Arial" panose="020B0604020202020204" pitchFamily="34" charset="0"/>
                <a:ea typeface="ＭＳ Ｐゴシック" panose="020B0600070205080204" pitchFamily="34" charset="-128"/>
                <a:cs typeface="Arial" panose="020B0604020202020204" pitchFamily="34" charset="0"/>
              </a:rPr>
              <a:t>through constant refactoring of code</a:t>
            </a:r>
          </a:p>
        </p:txBody>
      </p:sp>
    </p:spTree>
    <p:extLst>
      <p:ext uri="{BB962C8B-B14F-4D97-AF65-F5344CB8AC3E}">
        <p14:creationId xmlns:p14="http://schemas.microsoft.com/office/powerpoint/2010/main" val="3089215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Requirements scenarios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In XP, a </a:t>
            </a:r>
            <a:r>
              <a:rPr lang="en-US"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customer</a:t>
            </a:r>
            <a:r>
              <a:rPr lang="en-US" dirty="0">
                <a:latin typeface="Arial" panose="020B0604020202020204" pitchFamily="34" charset="0"/>
                <a:ea typeface="ＭＳ Ｐゴシック" panose="020B0600070205080204" pitchFamily="34" charset="-128"/>
                <a:cs typeface="Arial" panose="020B0604020202020204" pitchFamily="34" charset="0"/>
              </a:rPr>
              <a:t> or </a:t>
            </a:r>
            <a:r>
              <a:rPr lang="en-US"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user</a:t>
            </a:r>
            <a:r>
              <a:rPr lang="en-US" dirty="0">
                <a:latin typeface="Arial" panose="020B0604020202020204" pitchFamily="34" charset="0"/>
                <a:ea typeface="ＭＳ Ｐゴシック" panose="020B0600070205080204" pitchFamily="34" charset="-128"/>
                <a:cs typeface="Arial" panose="020B0604020202020204" pitchFamily="34" charset="0"/>
              </a:rPr>
              <a:t> is part of the XP team and is responsible for making decisions on requirements.</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User requirements are expressed as </a:t>
            </a:r>
            <a:r>
              <a:rPr lang="en-US"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scenarios</a:t>
            </a:r>
            <a:r>
              <a:rPr lang="en-US" dirty="0">
                <a:latin typeface="Arial" panose="020B0604020202020204" pitchFamily="34" charset="0"/>
                <a:ea typeface="ＭＳ Ｐゴシック" panose="020B0600070205080204" pitchFamily="34" charset="-128"/>
                <a:cs typeface="Arial" panose="020B0604020202020204" pitchFamily="34" charset="0"/>
              </a:rPr>
              <a:t> or </a:t>
            </a:r>
            <a:r>
              <a:rPr lang="en-US"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user stories</a:t>
            </a:r>
            <a:r>
              <a:rPr lang="en-US" dirty="0">
                <a:latin typeface="Arial" panose="020B0604020202020204" pitchFamily="34" charset="0"/>
                <a:ea typeface="ＭＳ Ｐゴシック" panose="020B0600070205080204" pitchFamily="34" charset="-128"/>
                <a:cs typeface="Arial" panose="020B0604020202020204" pitchFamily="34" charset="0"/>
              </a:rPr>
              <a:t>.</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These are written on cards and the development team break them down into </a:t>
            </a:r>
            <a:r>
              <a:rPr lang="en-US" dirty="0">
                <a:solidFill>
                  <a:srgbClr val="0070C0"/>
                </a:solidFill>
                <a:latin typeface="Arial" panose="020B0604020202020204" pitchFamily="34" charset="0"/>
                <a:ea typeface="ＭＳ Ｐゴシック" panose="020B0600070205080204" pitchFamily="34" charset="-128"/>
                <a:cs typeface="Arial" panose="020B0604020202020204" pitchFamily="34" charset="0"/>
              </a:rPr>
              <a:t>implementation tasks</a:t>
            </a:r>
            <a:r>
              <a:rPr lang="en-US" dirty="0">
                <a:latin typeface="Arial" panose="020B0604020202020204" pitchFamily="34" charset="0"/>
                <a:ea typeface="ＭＳ Ｐゴシック" panose="020B0600070205080204" pitchFamily="34" charset="-128"/>
                <a:cs typeface="Arial" panose="020B0604020202020204" pitchFamily="34" charset="0"/>
              </a:rPr>
              <a:t>. These tasks are the basis of schedule and cost estimates.</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The customer chooses the stories for inclusion in the next release based on their priorities and the schedule estimates.</a:t>
            </a:r>
          </a:p>
          <a:p>
            <a:pPr marL="0" indent="0">
              <a:buNone/>
            </a:pPr>
            <a:endParaRPr lang="en-US" dirty="0"/>
          </a:p>
        </p:txBody>
      </p:sp>
    </p:spTree>
    <p:extLst>
      <p:ext uri="{BB962C8B-B14F-4D97-AF65-F5344CB8AC3E}">
        <p14:creationId xmlns:p14="http://schemas.microsoft.com/office/powerpoint/2010/main" val="9434630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A ‘prescribing medication’ </a:t>
            </a:r>
            <a:r>
              <a:rPr lang="en-US" dirty="0" smtClean="0">
                <a:latin typeface="Arial" panose="020B0604020202020204" pitchFamily="34" charset="0"/>
                <a:ea typeface="ＭＳ Ｐゴシック" panose="020B0600070205080204" pitchFamily="34" charset="-128"/>
                <a:cs typeface="Arial" panose="020B0604020202020204" pitchFamily="34" charset="0"/>
              </a:rPr>
              <a:t>story: case study</a:t>
            </a:r>
            <a:endParaRPr lang="en-US" dirty="0"/>
          </a:p>
        </p:txBody>
      </p:sp>
      <p:pic>
        <p:nvPicPr>
          <p:cNvPr id="4" name="Picture 6" descr="3.5 StoryCard.eps"/>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27006" y="1716992"/>
            <a:ext cx="6620024" cy="4153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27372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Examples of task cards for prescribing medication </a:t>
            </a:r>
            <a:endParaRPr lang="en-US" dirty="0"/>
          </a:p>
        </p:txBody>
      </p:sp>
      <p:pic>
        <p:nvPicPr>
          <p:cNvPr id="4" name="Picture 6" descr="3.6 TaskCards.eps"/>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82482" y="2175322"/>
            <a:ext cx="5118492" cy="3604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356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XP and change</a:t>
            </a:r>
            <a:endParaRPr lang="en-US" dirty="0"/>
          </a:p>
        </p:txBody>
      </p:sp>
      <p:sp>
        <p:nvSpPr>
          <p:cNvPr id="3" name="Content Placeholder 2"/>
          <p:cNvSpPr>
            <a:spLocks noGrp="1"/>
          </p:cNvSpPr>
          <p:nvPr>
            <p:ph idx="1"/>
          </p:nvPr>
        </p:nvSpPr>
        <p:spPr/>
        <p:txBody>
          <a:bodyPr/>
          <a:lstStyle/>
          <a:p>
            <a:pPr>
              <a:lnSpc>
                <a:spcPct val="90000"/>
              </a:lnSpc>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Conventional wisdom in software engineering is to </a:t>
            </a: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design for change</a:t>
            </a:r>
            <a:r>
              <a:rPr lang="en-US" dirty="0">
                <a:latin typeface="Arial" panose="020B0604020202020204" pitchFamily="34" charset="0"/>
                <a:ea typeface="ＭＳ Ｐゴシック" panose="020B0600070205080204" pitchFamily="34" charset="-128"/>
                <a:cs typeface="Arial" panose="020B0604020202020204" pitchFamily="34" charset="0"/>
              </a:rPr>
              <a:t>. It is worth spending time and effort anticipating changes as this reduces costs later in the life cycle.</a:t>
            </a:r>
          </a:p>
          <a:p>
            <a:pPr>
              <a:lnSpc>
                <a:spcPct val="90000"/>
              </a:lnSpc>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XP, however, maintains that this is not worthwhile as </a:t>
            </a: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changes cannot be reliably anticipated</a:t>
            </a:r>
          </a:p>
          <a:p>
            <a:pPr>
              <a:lnSpc>
                <a:spcPct val="90000"/>
              </a:lnSpc>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Rather, it proposes </a:t>
            </a: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constant code improvement (refactoring) </a:t>
            </a:r>
            <a:r>
              <a:rPr lang="en-US" dirty="0">
                <a:latin typeface="Arial" panose="020B0604020202020204" pitchFamily="34" charset="0"/>
                <a:ea typeface="ＭＳ Ｐゴシック" panose="020B0600070205080204" pitchFamily="34" charset="-128"/>
                <a:cs typeface="Arial" panose="020B0604020202020204" pitchFamily="34" charset="0"/>
              </a:rPr>
              <a:t>to make changes easier when they have to be implemented</a:t>
            </a:r>
          </a:p>
        </p:txBody>
      </p:sp>
    </p:spTree>
    <p:extLst>
      <p:ext uri="{BB962C8B-B14F-4D97-AF65-F5344CB8AC3E}">
        <p14:creationId xmlns:p14="http://schemas.microsoft.com/office/powerpoint/2010/main" val="1409330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Refactoring</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Programming team look for possible software improvements and make these improvements even where there is no immediate need for them</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This improves the understandability of the software and so reduces the need for documentation</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Changes are easier to make because the code is well-structured and clear</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However, some changes requires architecture refactoring and this is much more expensive.</a:t>
            </a:r>
          </a:p>
        </p:txBody>
      </p:sp>
    </p:spTree>
    <p:extLst>
      <p:ext uri="{BB962C8B-B14F-4D97-AF65-F5344CB8AC3E}">
        <p14:creationId xmlns:p14="http://schemas.microsoft.com/office/powerpoint/2010/main" val="19811726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Examples of refactoring</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Re-organization of a class hierarchy to remove duplicate code</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Tidying up and renaming attributes and methods to make them easier to understand</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The replacement of inline code with calls to methods that have been included in a program library</a:t>
            </a:r>
          </a:p>
        </p:txBody>
      </p:sp>
    </p:spTree>
    <p:extLst>
      <p:ext uri="{BB962C8B-B14F-4D97-AF65-F5344CB8AC3E}">
        <p14:creationId xmlns:p14="http://schemas.microsoft.com/office/powerpoint/2010/main" val="1400095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Testing in XP</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Testing</a:t>
            </a:r>
            <a:r>
              <a:rPr lang="en-US" dirty="0">
                <a:latin typeface="Arial" panose="020B0604020202020204" pitchFamily="34" charset="0"/>
                <a:ea typeface="ＭＳ Ｐゴシック" panose="020B0600070205080204" pitchFamily="34" charset="-128"/>
                <a:cs typeface="Arial" panose="020B0604020202020204" pitchFamily="34" charset="0"/>
              </a:rPr>
              <a:t> is central to XP and XP has developed an approach where the program is tested after every change has been made.</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XP testing features:</a:t>
            </a:r>
          </a:p>
          <a:p>
            <a:pPr lvl="1">
              <a:buFont typeface="Wingdings" panose="05000000000000000000" pitchFamily="2" charset="2"/>
              <a:buChar char="§"/>
            </a:pP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Test-first development</a:t>
            </a:r>
          </a:p>
          <a:p>
            <a:pPr lvl="1">
              <a:buFont typeface="Wingdings" panose="05000000000000000000" pitchFamily="2" charset="2"/>
              <a:buChar char="§"/>
            </a:pP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Incremental test development </a:t>
            </a:r>
            <a:r>
              <a:rPr lang="en-US" dirty="0">
                <a:latin typeface="Arial" panose="020B0604020202020204" pitchFamily="34" charset="0"/>
                <a:ea typeface="ＭＳ Ｐゴシック" panose="020B0600070205080204" pitchFamily="34" charset="-128"/>
                <a:cs typeface="Arial" panose="020B0604020202020204" pitchFamily="34" charset="0"/>
              </a:rPr>
              <a:t>from scenarios</a:t>
            </a:r>
          </a:p>
          <a:p>
            <a:pPr lvl="1">
              <a:buFont typeface="Wingdings" panose="05000000000000000000" pitchFamily="2" charset="2"/>
              <a:buChar char="§"/>
            </a:pP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User involvement </a:t>
            </a:r>
            <a:r>
              <a:rPr lang="en-US" dirty="0">
                <a:latin typeface="Arial" panose="020B0604020202020204" pitchFamily="34" charset="0"/>
                <a:ea typeface="ＭＳ Ｐゴシック" panose="020B0600070205080204" pitchFamily="34" charset="-128"/>
                <a:cs typeface="Arial" panose="020B0604020202020204" pitchFamily="34" charset="0"/>
              </a:rPr>
              <a:t>in test development and validation</a:t>
            </a:r>
          </a:p>
          <a:p>
            <a:pPr lvl="1">
              <a:buFont typeface="Wingdings" panose="05000000000000000000" pitchFamily="2" charset="2"/>
              <a:buChar char="§"/>
            </a:pP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Automated test harnesses </a:t>
            </a:r>
            <a:r>
              <a:rPr lang="en-US" dirty="0">
                <a:latin typeface="Arial" panose="020B0604020202020204" pitchFamily="34" charset="0"/>
                <a:ea typeface="ＭＳ Ｐゴシック" panose="020B0600070205080204" pitchFamily="34" charset="-128"/>
                <a:cs typeface="Arial" panose="020B0604020202020204" pitchFamily="34" charset="0"/>
              </a:rPr>
              <a:t>are used to run all component tests each time that a new release is built</a:t>
            </a:r>
          </a:p>
        </p:txBody>
      </p:sp>
    </p:spTree>
    <p:extLst>
      <p:ext uri="{BB962C8B-B14F-4D97-AF65-F5344CB8AC3E}">
        <p14:creationId xmlns:p14="http://schemas.microsoft.com/office/powerpoint/2010/main" val="31416753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Test-first </a:t>
            </a:r>
            <a:r>
              <a:rPr lang="en-US" dirty="0" smtClean="0">
                <a:latin typeface="Arial" panose="020B0604020202020204" pitchFamily="34" charset="0"/>
                <a:ea typeface="ＭＳ Ｐゴシック" panose="020B0600070205080204" pitchFamily="34" charset="-128"/>
                <a:cs typeface="Arial" panose="020B0604020202020204" pitchFamily="34" charset="0"/>
              </a:rPr>
              <a:t>development in XP</a:t>
            </a:r>
            <a:endParaRPr lang="en-US" dirty="0"/>
          </a:p>
        </p:txBody>
      </p:sp>
      <p:sp>
        <p:nvSpPr>
          <p:cNvPr id="3" name="Content Placeholder 2"/>
          <p:cNvSpPr>
            <a:spLocks noGrp="1"/>
          </p:cNvSpPr>
          <p:nvPr>
            <p:ph idx="1"/>
          </p:nvPr>
        </p:nvSpPr>
        <p:spPr/>
        <p:txBody>
          <a:bodyPr/>
          <a:lstStyle/>
          <a:p>
            <a:pPr>
              <a:lnSpc>
                <a:spcPct val="90000"/>
              </a:lnSpc>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Writing tests before code clarifies the requirements to be implemented.</a:t>
            </a:r>
          </a:p>
          <a:p>
            <a:pPr>
              <a:lnSpc>
                <a:spcPct val="90000"/>
              </a:lnSpc>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Tests are written as programs rather than data so that they can be executed automatically. The test includes a check that it has executed correctly.</a:t>
            </a:r>
          </a:p>
          <a:p>
            <a:pPr lvl="1">
              <a:lnSpc>
                <a:spcPct val="90000"/>
              </a:lnSpc>
              <a:buFont typeface="Wingdings" panose="05000000000000000000" pitchFamily="2" charset="2"/>
              <a:buChar char="§"/>
            </a:pPr>
            <a:r>
              <a:rPr lang="en-US" dirty="0">
                <a:latin typeface="Arial" panose="020B0604020202020204" pitchFamily="34" charset="0"/>
                <a:ea typeface="ＭＳ Ｐゴシック" panose="020B0600070205080204" pitchFamily="34" charset="-128"/>
                <a:cs typeface="Arial" panose="020B0604020202020204" pitchFamily="34" charset="0"/>
              </a:rPr>
              <a:t>Usually relies on a testing framework such as </a:t>
            </a:r>
            <a:r>
              <a:rPr lang="en-US" dirty="0" err="1">
                <a:latin typeface="Arial" panose="020B0604020202020204" pitchFamily="34" charset="0"/>
                <a:ea typeface="ＭＳ Ｐゴシック" panose="020B0600070205080204" pitchFamily="34" charset="-128"/>
                <a:cs typeface="Arial" panose="020B0604020202020204" pitchFamily="34" charset="0"/>
              </a:rPr>
              <a:t>Junit</a:t>
            </a:r>
            <a:r>
              <a:rPr lang="en-US" dirty="0">
                <a:latin typeface="Arial" panose="020B0604020202020204" pitchFamily="34" charset="0"/>
                <a:ea typeface="ＭＳ Ｐゴシック" panose="020B0600070205080204" pitchFamily="34" charset="-128"/>
                <a:cs typeface="Arial" panose="020B0604020202020204" pitchFamily="34" charset="0"/>
              </a:rPr>
              <a:t>.</a:t>
            </a:r>
          </a:p>
          <a:p>
            <a:pPr>
              <a:lnSpc>
                <a:spcPct val="90000"/>
              </a:lnSpc>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All previous and new tests are run automatically when new functionality is added, thus checking that the new functionality has not introduced errors</a:t>
            </a:r>
          </a:p>
        </p:txBody>
      </p:sp>
    </p:spTree>
    <p:extLst>
      <p:ext uri="{BB962C8B-B14F-4D97-AF65-F5344CB8AC3E}">
        <p14:creationId xmlns:p14="http://schemas.microsoft.com/office/powerpoint/2010/main" val="2102940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Customer involvement</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 role of the customer in the testing process is to help develop acceptance tests for the stories that are to be implemented in the next release of the system. </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 customer who is part of the team writes tests as development proceeds. All new code is therefore validated to ensure that it is what the customer needs. </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However, people adopting the customer role have limited time available and so cannot work full-time with the development team. They may feel that providing the requirements was enough of a contribution and so may be reluctant to get involved in the testing process.</a:t>
            </a:r>
            <a:endParaRPr lang="en-US" dirty="0"/>
          </a:p>
        </p:txBody>
      </p:sp>
    </p:spTree>
    <p:extLst>
      <p:ext uri="{BB962C8B-B14F-4D97-AF65-F5344CB8AC3E}">
        <p14:creationId xmlns:p14="http://schemas.microsoft.com/office/powerpoint/2010/main" val="3944483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Test case description for dose checking</a:t>
            </a:r>
            <a:endParaRPr lang="en-US" dirty="0"/>
          </a:p>
        </p:txBody>
      </p:sp>
      <p:pic>
        <p:nvPicPr>
          <p:cNvPr id="5" name="Content Placeholder 4"/>
          <p:cNvPicPr>
            <a:picLocks noGrp="1" noChangeAspect="1"/>
          </p:cNvPicPr>
          <p:nvPr>
            <p:ph idx="1"/>
          </p:nvPr>
        </p:nvPicPr>
        <p:blipFill>
          <a:blip r:embed="rId2"/>
          <a:stretch>
            <a:fillRect/>
          </a:stretch>
        </p:blipFill>
        <p:spPr>
          <a:xfrm>
            <a:off x="2592925" y="1973124"/>
            <a:ext cx="7587997" cy="4135639"/>
          </a:xfrm>
          <a:prstGeom prst="rect">
            <a:avLst/>
          </a:prstGeom>
        </p:spPr>
      </p:pic>
    </p:spTree>
    <p:extLst>
      <p:ext uri="{BB962C8B-B14F-4D97-AF65-F5344CB8AC3E}">
        <p14:creationId xmlns:p14="http://schemas.microsoft.com/office/powerpoint/2010/main" val="408642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XP testing difficulties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Programmers prefer programming to testing and sometimes they take short cuts when writing tests. For example, they may write incomplete tests that do not check for all possible exceptions that may occur. </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Some tests can be difficult to write incrementally. For example, in a complex user interface, it is often difficult to write unit tests for the code that implements the ‘display logic’ and workflow between screens. </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It difficult to judge the completeness of a set of tests. Although you may have a lot of system tests, your test set may not provide complete coverage.  </a:t>
            </a:r>
          </a:p>
        </p:txBody>
      </p:sp>
    </p:spTree>
    <p:extLst>
      <p:ext uri="{BB962C8B-B14F-4D97-AF65-F5344CB8AC3E}">
        <p14:creationId xmlns:p14="http://schemas.microsoft.com/office/powerpoint/2010/main" val="368021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Pair programming</a:t>
            </a:r>
            <a:endParaRPr lang="en-US" dirty="0"/>
          </a:p>
        </p:txBody>
      </p:sp>
      <p:sp>
        <p:nvSpPr>
          <p:cNvPr id="3" name="Content Placeholder 2"/>
          <p:cNvSpPr>
            <a:spLocks noGrp="1"/>
          </p:cNvSpPr>
          <p:nvPr>
            <p:ph idx="1"/>
          </p:nvPr>
        </p:nvSpPr>
        <p:spPr/>
        <p:txBody>
          <a:bodyPr/>
          <a:lstStyle/>
          <a:p>
            <a:pPr>
              <a:lnSpc>
                <a:spcPct val="90000"/>
              </a:lnSpc>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In XP, programmers work in pairs, sitting together to develop code.</a:t>
            </a:r>
          </a:p>
          <a:p>
            <a:pPr>
              <a:lnSpc>
                <a:spcPct val="90000"/>
              </a:lnSpc>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This helps develop common ownership of code and spreads knowledge across the team.</a:t>
            </a:r>
          </a:p>
          <a:p>
            <a:pPr>
              <a:lnSpc>
                <a:spcPct val="90000"/>
              </a:lnSpc>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It serves as an informal review process as each line of code is looked at by more than 1 person.</a:t>
            </a:r>
          </a:p>
          <a:p>
            <a:pPr>
              <a:lnSpc>
                <a:spcPct val="90000"/>
              </a:lnSpc>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It encourages refactoring as the whole team can benefit from this.</a:t>
            </a:r>
          </a:p>
          <a:p>
            <a:pPr>
              <a:lnSpc>
                <a:spcPct val="90000"/>
              </a:lnSpc>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Measurements suggest that development productivity with pair programming is similar to that of two people working independently.</a:t>
            </a:r>
          </a:p>
        </p:txBody>
      </p:sp>
    </p:spTree>
    <p:extLst>
      <p:ext uri="{BB962C8B-B14F-4D97-AF65-F5344CB8AC3E}">
        <p14:creationId xmlns:p14="http://schemas.microsoft.com/office/powerpoint/2010/main" val="630579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Advantages of pair programming</a:t>
            </a:r>
            <a:endParaRPr lang="en-US" dirty="0"/>
          </a:p>
        </p:txBody>
      </p:sp>
      <p:sp>
        <p:nvSpPr>
          <p:cNvPr id="3" name="Content Placeholder 2"/>
          <p:cNvSpPr>
            <a:spLocks noGrp="1"/>
          </p:cNvSpPr>
          <p:nvPr>
            <p:ph idx="1"/>
          </p:nvPr>
        </p:nvSpPr>
        <p:spPr>
          <a:xfrm>
            <a:off x="2592924" y="1811708"/>
            <a:ext cx="8911687" cy="4099514"/>
          </a:xfrm>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It supports the idea of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collective ownership and responsibility </a:t>
            </a:r>
            <a:r>
              <a:rPr lang="en-GB" dirty="0">
                <a:latin typeface="Arial" panose="020B0604020202020204" pitchFamily="34" charset="0"/>
                <a:ea typeface="ＭＳ Ｐゴシック" panose="020B0600070205080204" pitchFamily="34" charset="-128"/>
                <a:cs typeface="Arial" panose="020B0604020202020204" pitchFamily="34" charset="0"/>
              </a:rPr>
              <a:t>for the system </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Individuals are not held responsible for problems with the code. Instead, the team has collective responsibility for resolving these problems.</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It acts as an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informal review process </a:t>
            </a:r>
            <a:r>
              <a:rPr lang="en-GB" dirty="0">
                <a:latin typeface="Arial" panose="020B0604020202020204" pitchFamily="34" charset="0"/>
                <a:ea typeface="ＭＳ Ｐゴシック" panose="020B0600070205080204" pitchFamily="34" charset="-128"/>
                <a:cs typeface="Arial" panose="020B0604020202020204" pitchFamily="34" charset="0"/>
              </a:rPr>
              <a:t>because each line of code is looked at by at least two people </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It helps support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refactoring</a:t>
            </a:r>
            <a:r>
              <a:rPr lang="en-GB" dirty="0">
                <a:latin typeface="Arial" panose="020B0604020202020204" pitchFamily="34" charset="0"/>
                <a:ea typeface="ＭＳ Ｐゴシック" panose="020B0600070205080204" pitchFamily="34" charset="-128"/>
                <a:cs typeface="Arial" panose="020B0604020202020204" pitchFamily="34" charset="0"/>
              </a:rPr>
              <a:t>, which is a process of software improvement</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Where pair programming and collective ownership are used, others benefit immediately from the refactoring so they are likely to support the process </a:t>
            </a:r>
          </a:p>
        </p:txBody>
      </p:sp>
    </p:spTree>
    <p:extLst>
      <p:ext uri="{BB962C8B-B14F-4D97-AF65-F5344CB8AC3E}">
        <p14:creationId xmlns:p14="http://schemas.microsoft.com/office/powerpoint/2010/main" val="36069934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Scrum</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 Scrum </a:t>
            </a:r>
            <a:r>
              <a:rPr lang="en-GB" dirty="0">
                <a:latin typeface="Arial" panose="020B0604020202020204" pitchFamily="34" charset="0"/>
                <a:ea typeface="ＭＳ Ｐゴシック" panose="020B0600070205080204" pitchFamily="34" charset="-128"/>
                <a:cs typeface="Arial" panose="020B0604020202020204" pitchFamily="34" charset="0"/>
              </a:rPr>
              <a:t>approach is a general agile method but its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focus is on managing iterative development </a:t>
            </a:r>
            <a:r>
              <a:rPr lang="en-GB" dirty="0">
                <a:latin typeface="Arial" panose="020B0604020202020204" pitchFamily="34" charset="0"/>
                <a:ea typeface="ＭＳ Ｐゴシック" panose="020B0600070205080204" pitchFamily="34" charset="-128"/>
                <a:cs typeface="Arial" panose="020B0604020202020204" pitchFamily="34" charset="0"/>
              </a:rPr>
              <a:t>rather than specific agile practices</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There are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three phases </a:t>
            </a:r>
            <a:r>
              <a:rPr lang="en-GB" dirty="0">
                <a:latin typeface="Arial" panose="020B0604020202020204" pitchFamily="34" charset="0"/>
                <a:ea typeface="ＭＳ Ｐゴシック" panose="020B0600070205080204" pitchFamily="34" charset="-128"/>
                <a:cs typeface="Arial" panose="020B0604020202020204" pitchFamily="34" charset="0"/>
              </a:rPr>
              <a:t>in Scrum:</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The initial phase is an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outline planning </a:t>
            </a:r>
            <a:r>
              <a:rPr lang="en-GB" dirty="0">
                <a:latin typeface="Arial" panose="020B0604020202020204" pitchFamily="34" charset="0"/>
                <a:ea typeface="ＭＳ Ｐゴシック" panose="020B0600070205080204" pitchFamily="34" charset="-128"/>
                <a:cs typeface="Arial" panose="020B0604020202020204" pitchFamily="34" charset="0"/>
              </a:rPr>
              <a:t>phase where you establish the general objectives for the project and design the software architecture</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This is followed by a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series of sprint cycles</a:t>
            </a:r>
            <a:r>
              <a:rPr lang="en-GB" dirty="0">
                <a:latin typeface="Arial" panose="020B0604020202020204" pitchFamily="34" charset="0"/>
                <a:ea typeface="ＭＳ Ｐゴシック" panose="020B0600070205080204" pitchFamily="34" charset="-128"/>
                <a:cs typeface="Arial" panose="020B0604020202020204" pitchFamily="34" charset="0"/>
              </a:rPr>
              <a:t>, where each cycle develops an increment of the system </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The project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closure phase </a:t>
            </a:r>
            <a:r>
              <a:rPr lang="en-GB" dirty="0">
                <a:latin typeface="Arial" panose="020B0604020202020204" pitchFamily="34" charset="0"/>
                <a:ea typeface="ＭＳ Ｐゴシック" panose="020B0600070205080204" pitchFamily="34" charset="-128"/>
                <a:cs typeface="Arial" panose="020B0604020202020204" pitchFamily="34" charset="0"/>
              </a:rPr>
              <a:t>wraps up the project, completes required documentation such as system help frames and user manuals and assesses the lessons learned from the project</a:t>
            </a:r>
          </a:p>
        </p:txBody>
      </p:sp>
    </p:spTree>
    <p:extLst>
      <p:ext uri="{BB962C8B-B14F-4D97-AF65-F5344CB8AC3E}">
        <p14:creationId xmlns:p14="http://schemas.microsoft.com/office/powerpoint/2010/main" val="12507520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The Scrum process</a:t>
            </a:r>
            <a:r>
              <a:rPr lang="en-GB" dirty="0">
                <a:latin typeface="Arial" panose="020B0604020202020204" pitchFamily="34" charset="0"/>
                <a:ea typeface="ＭＳ Ｐゴシック" panose="020B0600070205080204" pitchFamily="34" charset="-128"/>
                <a:cs typeface="Arial" panose="020B0604020202020204" pitchFamily="34" charset="0"/>
              </a:rPr>
              <a:t> </a:t>
            </a:r>
            <a:endParaRPr lang="en-US" dirty="0"/>
          </a:p>
        </p:txBody>
      </p:sp>
      <p:pic>
        <p:nvPicPr>
          <p:cNvPr id="4" name="Content Placeholder 3"/>
          <p:cNvPicPr>
            <a:picLocks noGrp="1" noChangeAspect="1"/>
          </p:cNvPicPr>
          <p:nvPr>
            <p:ph idx="1"/>
          </p:nvPr>
        </p:nvPicPr>
        <p:blipFill>
          <a:blip r:embed="rId2"/>
          <a:stretch>
            <a:fillRect/>
          </a:stretch>
        </p:blipFill>
        <p:spPr>
          <a:xfrm>
            <a:off x="2592925" y="2338845"/>
            <a:ext cx="6639119" cy="2359356"/>
          </a:xfrm>
          <a:prstGeom prst="rect">
            <a:avLst/>
          </a:prstGeom>
        </p:spPr>
      </p:pic>
    </p:spTree>
    <p:extLst>
      <p:ext uri="{BB962C8B-B14F-4D97-AF65-F5344CB8AC3E}">
        <p14:creationId xmlns:p14="http://schemas.microsoft.com/office/powerpoint/2010/main" val="14238291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The Sprint cycle</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Once these are agreed, the team organize themselves to develop the software. During this stage the team is isolated from the customer and the organization, with all communications channelled through the so-called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Scrum master </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 role of the Scrum master is to protect the development team from external distractions</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 At the end of the sprint, the work done is reviewed and presented to stakeholders. The next sprint cycle then begins.</a:t>
            </a:r>
            <a:endParaRPr lang="en-US"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2007996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Teamwork in Scrum</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 ‘Scrum master’ is a facilitator who arranges daily meetings, tracks the backlog of work to be done, records decisions, measures progress against the backlog and communicates with customers and management outside of the team.</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 whole team attends short daily meetings where all team members share information, describe their progress since the last meeting, problems that have arisen and what is planned for the following day. </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This means that everyone on the team knows what is going on and, if problems arise, can re-plan short-term work to cope with them. </a:t>
            </a:r>
          </a:p>
        </p:txBody>
      </p:sp>
    </p:spTree>
    <p:extLst>
      <p:ext uri="{BB962C8B-B14F-4D97-AF65-F5344CB8AC3E}">
        <p14:creationId xmlns:p14="http://schemas.microsoft.com/office/powerpoint/2010/main" val="12989652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Scrum benefits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The product is broken down into a set of manageable and understandable chunks</a:t>
            </a:r>
          </a:p>
          <a:p>
            <a:pPr>
              <a:buFont typeface="Wingdings" panose="05000000000000000000" pitchFamily="2" charset="2"/>
              <a:buChar char="²"/>
            </a:pPr>
            <a:r>
              <a:rPr lang="en-GB"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Unstable requirements do not hold up progress</a:t>
            </a:r>
          </a:p>
          <a:p>
            <a:pPr>
              <a:buFont typeface="Wingdings" panose="05000000000000000000" pitchFamily="2" charset="2"/>
              <a:buChar char="²"/>
            </a:pPr>
            <a:r>
              <a:rPr lang="en-GB"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The whole team have visibility of everything and consequently team communication is improved</a:t>
            </a:r>
          </a:p>
          <a:p>
            <a:pPr>
              <a:buFont typeface="Wingdings" panose="05000000000000000000" pitchFamily="2" charset="2"/>
              <a:buChar char="²"/>
            </a:pPr>
            <a:r>
              <a:rPr lang="en-GB"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Customers see on-time delivery of increments and gain feedback on how the product works</a:t>
            </a:r>
          </a:p>
          <a:p>
            <a:pPr>
              <a:buFont typeface="Wingdings" panose="05000000000000000000" pitchFamily="2" charset="2"/>
              <a:buChar char="²"/>
            </a:pPr>
            <a:r>
              <a:rPr lang="en-GB"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Trust between customers and developers is established and a positive culture is created in which everyone expects the project to succeed</a:t>
            </a:r>
          </a:p>
        </p:txBody>
      </p:sp>
    </p:spTree>
    <p:extLst>
      <p:ext uri="{BB962C8B-B14F-4D97-AF65-F5344CB8AC3E}">
        <p14:creationId xmlns:p14="http://schemas.microsoft.com/office/powerpoint/2010/main" val="40039689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Scaling agile methods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Agile methods have proved to be </a:t>
            </a: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successful for small and medium sized projects </a:t>
            </a:r>
            <a:r>
              <a:rPr lang="en-US" dirty="0">
                <a:latin typeface="Arial" panose="020B0604020202020204" pitchFamily="34" charset="0"/>
                <a:ea typeface="ＭＳ Ｐゴシック" panose="020B0600070205080204" pitchFamily="34" charset="-128"/>
                <a:cs typeface="Arial" panose="020B0604020202020204" pitchFamily="34" charset="0"/>
              </a:rPr>
              <a:t>that can be developed by a small co-located team</a:t>
            </a:r>
          </a:p>
          <a:p>
            <a:pPr>
              <a:buFont typeface="Wingdings" panose="05000000000000000000" pitchFamily="2" charset="2"/>
              <a:buChar char="²"/>
            </a:pPr>
            <a:r>
              <a:rPr lang="en-US" dirty="0">
                <a:latin typeface="Arial" panose="020B0604020202020204" pitchFamily="34" charset="0"/>
                <a:ea typeface="ＭＳ Ｐゴシック" panose="020B0600070205080204" pitchFamily="34" charset="-128"/>
                <a:cs typeface="Arial" panose="020B0604020202020204" pitchFamily="34" charset="0"/>
              </a:rPr>
              <a:t>It is sometimes argued that the success of these methods comes because of </a:t>
            </a: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improved communications </a:t>
            </a:r>
            <a:r>
              <a:rPr lang="en-US" dirty="0">
                <a:latin typeface="Arial" panose="020B0604020202020204" pitchFamily="34" charset="0"/>
                <a:ea typeface="ＭＳ Ｐゴシック" panose="020B0600070205080204" pitchFamily="34" charset="-128"/>
                <a:cs typeface="Arial" panose="020B0604020202020204" pitchFamily="34" charset="0"/>
              </a:rPr>
              <a:t>which is possible when everyone is working together</a:t>
            </a:r>
          </a:p>
          <a:p>
            <a:pPr>
              <a:buFont typeface="Wingdings" panose="05000000000000000000" pitchFamily="2" charset="2"/>
              <a:buChar char="²"/>
            </a:pPr>
            <a:r>
              <a:rPr lang="en-US"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Scaling up agile methods </a:t>
            </a:r>
            <a:r>
              <a:rPr lang="en-US" dirty="0">
                <a:latin typeface="Arial" panose="020B0604020202020204" pitchFamily="34" charset="0"/>
                <a:ea typeface="ＭＳ Ｐゴシック" panose="020B0600070205080204" pitchFamily="34" charset="-128"/>
                <a:cs typeface="Arial" panose="020B0604020202020204" pitchFamily="34" charset="0"/>
              </a:rPr>
              <a:t>involves changing these to cope with larger, longer projects where there are multiple development teams, perhaps working in different locations.</a:t>
            </a:r>
          </a:p>
        </p:txBody>
      </p:sp>
    </p:spTree>
    <p:extLst>
      <p:ext uri="{BB962C8B-B14F-4D97-AF65-F5344CB8AC3E}">
        <p14:creationId xmlns:p14="http://schemas.microsoft.com/office/powerpoint/2010/main" val="30477805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anose="020B0604020202020204" pitchFamily="34" charset="0"/>
                <a:ea typeface="ＭＳ Ｐゴシック" panose="020B0600070205080204" pitchFamily="34" charset="-128"/>
                <a:cs typeface="Arial" panose="020B0604020202020204" pitchFamily="34" charset="0"/>
              </a:rPr>
              <a:t>Large </a:t>
            </a:r>
            <a:r>
              <a:rPr lang="en-US" dirty="0">
                <a:latin typeface="Arial" panose="020B0604020202020204" pitchFamily="34" charset="0"/>
                <a:ea typeface="ＭＳ Ｐゴシック" panose="020B0600070205080204" pitchFamily="34" charset="-128"/>
                <a:cs typeface="Arial" panose="020B0604020202020204" pitchFamily="34" charset="0"/>
              </a:rPr>
              <a:t>systems development</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Large systems are usually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collections of separate, communicating systems</a:t>
            </a:r>
            <a:r>
              <a:rPr lang="en-GB" dirty="0">
                <a:latin typeface="Arial" panose="020B0604020202020204" pitchFamily="34" charset="0"/>
                <a:ea typeface="ＭＳ Ｐゴシック" panose="020B0600070205080204" pitchFamily="34" charset="-128"/>
                <a:cs typeface="Arial" panose="020B0604020202020204" pitchFamily="34" charset="0"/>
              </a:rPr>
              <a:t>, where separate teams develop each system. Frequently, these teams are working in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different places</a:t>
            </a:r>
            <a:r>
              <a:rPr lang="en-GB" dirty="0">
                <a:latin typeface="Arial" panose="020B0604020202020204" pitchFamily="34" charset="0"/>
                <a:ea typeface="ＭＳ Ｐゴシック" panose="020B0600070205080204" pitchFamily="34" charset="-128"/>
                <a:cs typeface="Arial" panose="020B0604020202020204" pitchFamily="34" charset="0"/>
              </a:rPr>
              <a:t>, sometimes in different time zones. </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Large systems are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brownfield systems</a:t>
            </a:r>
            <a:r>
              <a:rPr lang="en-GB" dirty="0">
                <a:latin typeface="Arial" panose="020B0604020202020204" pitchFamily="34" charset="0"/>
                <a:ea typeface="ＭＳ Ｐゴシック" panose="020B0600070205080204" pitchFamily="34" charset="-128"/>
                <a:cs typeface="Arial" panose="020B0604020202020204" pitchFamily="34" charset="0"/>
              </a:rPr>
              <a:t>’, that is they include and interact with a number of existing systems. Many of the system requirements are concerned with this interaction and so don’t really lend themselves to flexibility and incremental development. </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Where several systems are integrated to create a system, a significant fraction of the development is concerned with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system configuration </a:t>
            </a:r>
            <a:r>
              <a:rPr lang="en-GB" dirty="0">
                <a:latin typeface="Arial" panose="020B0604020202020204" pitchFamily="34" charset="0"/>
                <a:ea typeface="ＭＳ Ｐゴシック" panose="020B0600070205080204" pitchFamily="34" charset="-128"/>
                <a:cs typeface="Arial" panose="020B0604020202020204" pitchFamily="34" charset="0"/>
              </a:rPr>
              <a:t>rather than original code development </a:t>
            </a:r>
            <a:endParaRPr lang="en-US"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2614245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Large system development</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Large systems and their development processes are often constrained by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external rules and regulations </a:t>
            </a:r>
            <a:r>
              <a:rPr lang="en-GB" dirty="0">
                <a:latin typeface="Arial" panose="020B0604020202020204" pitchFamily="34" charset="0"/>
                <a:ea typeface="ＭＳ Ｐゴシック" panose="020B0600070205080204" pitchFamily="34" charset="-128"/>
                <a:cs typeface="Arial" panose="020B0604020202020204" pitchFamily="34" charset="0"/>
              </a:rPr>
              <a:t>limiting the way that they can be developed.</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Large systems have a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long procurement and development time</a:t>
            </a:r>
            <a:r>
              <a:rPr lang="en-GB" dirty="0">
                <a:latin typeface="Arial" panose="020B0604020202020204" pitchFamily="34" charset="0"/>
                <a:ea typeface="ＭＳ Ｐゴシック" panose="020B0600070205080204" pitchFamily="34" charset="-128"/>
                <a:cs typeface="Arial" panose="020B0604020202020204" pitchFamily="34" charset="0"/>
              </a:rPr>
              <a:t>. It is difficult to maintain coherent teams who know about the system over that period as, inevitably, people move on to other jobs and projects. </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Large systems usually have a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diverse set of stakeholders</a:t>
            </a:r>
            <a:r>
              <a:rPr lang="en-GB" dirty="0">
                <a:latin typeface="Arial" panose="020B0604020202020204" pitchFamily="34" charset="0"/>
                <a:ea typeface="ＭＳ Ｐゴシック" panose="020B0600070205080204" pitchFamily="34" charset="-128"/>
                <a:cs typeface="Arial" panose="020B0604020202020204" pitchFamily="34" charset="0"/>
              </a:rPr>
              <a:t>. It is practically impossible to involve all of these different stakeholders in the development process. </a:t>
            </a:r>
            <a:endParaRPr lang="en-US"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5242513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Scaling out and scaling up</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Scaling up</a:t>
            </a:r>
            <a:r>
              <a:rPr lang="en-GB" dirty="0">
                <a:latin typeface="Arial" panose="020B0604020202020204" pitchFamily="34" charset="0"/>
                <a:ea typeface="ＭＳ Ｐゴシック" panose="020B0600070205080204" pitchFamily="34" charset="-128"/>
                <a:cs typeface="Arial" panose="020B0604020202020204" pitchFamily="34" charset="0"/>
              </a:rPr>
              <a:t>’ is concerned with using agile methods for developing large software systems that cannot be developed by a small team </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Scaling out</a:t>
            </a:r>
            <a:r>
              <a:rPr lang="en-GB" dirty="0">
                <a:latin typeface="Arial" panose="020B0604020202020204" pitchFamily="34" charset="0"/>
                <a:ea typeface="ＭＳ Ｐゴシック" panose="020B0600070205080204" pitchFamily="34" charset="-128"/>
                <a:cs typeface="Arial" panose="020B0604020202020204" pitchFamily="34" charset="0"/>
              </a:rPr>
              <a:t>’ is concerned with how agile methods can be introduced across a large organization with many years of software development experience</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When scaling agile methods it is essential to maintain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agile fundamentals</a:t>
            </a:r>
          </a:p>
          <a:p>
            <a:pPr lvl="1">
              <a:buFont typeface="Wingdings" panose="05000000000000000000" pitchFamily="2" charset="2"/>
              <a:buChar char="§"/>
            </a:pPr>
            <a:r>
              <a:rPr lang="en-GB" dirty="0">
                <a:latin typeface="Arial" panose="020B0604020202020204" pitchFamily="34" charset="0"/>
                <a:ea typeface="ＭＳ Ｐゴシック" panose="020B0600070205080204" pitchFamily="34" charset="-128"/>
                <a:cs typeface="Arial" panose="020B0604020202020204" pitchFamily="34" charset="0"/>
              </a:rPr>
              <a:t>Flexible planning, frequent system releases, continuous integration, test-driven development and good team communications. </a:t>
            </a:r>
          </a:p>
        </p:txBody>
      </p:sp>
    </p:spTree>
    <p:extLst>
      <p:ext uri="{BB962C8B-B14F-4D97-AF65-F5344CB8AC3E}">
        <p14:creationId xmlns:p14="http://schemas.microsoft.com/office/powerpoint/2010/main" val="40709278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Scaling up to large systems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For large systems development, it is not possible to focus only on the code of the system. You need to do more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up-front design and system documentation</a:t>
            </a:r>
            <a:r>
              <a:rPr lang="en-GB" dirty="0">
                <a:latin typeface="Arial" panose="020B0604020202020204" pitchFamily="34" charset="0"/>
                <a:ea typeface="ＭＳ Ｐゴシック" panose="020B0600070205080204" pitchFamily="34" charset="-128"/>
                <a:cs typeface="Arial" panose="020B0604020202020204" pitchFamily="34" charset="0"/>
              </a:rPr>
              <a:t>.</a:t>
            </a:r>
          </a:p>
          <a:p>
            <a:pPr>
              <a:buFont typeface="Wingdings" panose="05000000000000000000" pitchFamily="2" charset="2"/>
              <a:buChar char="²"/>
            </a:pP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Cross-team communication </a:t>
            </a:r>
            <a:r>
              <a:rPr lang="en-GB" dirty="0">
                <a:latin typeface="Arial" panose="020B0604020202020204" pitchFamily="34" charset="0"/>
                <a:ea typeface="ＭＳ Ｐゴシック" panose="020B0600070205080204" pitchFamily="34" charset="-128"/>
                <a:cs typeface="Arial" panose="020B0604020202020204" pitchFamily="34" charset="0"/>
              </a:rPr>
              <a:t>mechanisms have to be designed and used. This should involve regular phone and video conferences between team members and frequent, short electronic meetings where teams update each other on progress. </a:t>
            </a:r>
          </a:p>
          <a:p>
            <a:pPr>
              <a:buFont typeface="Wingdings" panose="05000000000000000000" pitchFamily="2" charset="2"/>
              <a:buChar char="²"/>
            </a:pP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Continuous integration</a:t>
            </a:r>
            <a:r>
              <a:rPr lang="en-GB" dirty="0">
                <a:latin typeface="Arial" panose="020B0604020202020204" pitchFamily="34" charset="0"/>
                <a:ea typeface="ＭＳ Ｐゴシック" panose="020B0600070205080204" pitchFamily="34" charset="-128"/>
                <a:cs typeface="Arial" panose="020B0604020202020204" pitchFamily="34" charset="0"/>
              </a:rPr>
              <a:t>, where the whole system is built every time any developer checks in a change,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is practically impossible</a:t>
            </a:r>
            <a:r>
              <a:rPr lang="en-GB" dirty="0">
                <a:latin typeface="Arial" panose="020B0604020202020204" pitchFamily="34" charset="0"/>
                <a:ea typeface="ＭＳ Ｐゴシック" panose="020B0600070205080204" pitchFamily="34" charset="-128"/>
                <a:cs typeface="Arial" panose="020B0604020202020204" pitchFamily="34" charset="0"/>
              </a:rPr>
              <a:t>. However, it is essential to maintain frequent system builds and regular releases of the system. </a:t>
            </a:r>
            <a:endParaRPr lang="en-US"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1197754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ea typeface="ＭＳ Ｐゴシック" panose="020B0600070205080204" pitchFamily="34" charset="-128"/>
                <a:cs typeface="Arial" panose="020B0604020202020204" pitchFamily="34" charset="0"/>
              </a:rPr>
              <a:t>Scaling out to large companies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Project managers </a:t>
            </a:r>
            <a:r>
              <a:rPr lang="en-GB" dirty="0">
                <a:latin typeface="Arial" panose="020B0604020202020204" pitchFamily="34" charset="0"/>
                <a:ea typeface="ＭＳ Ｐゴシック" panose="020B0600070205080204" pitchFamily="34" charset="-128"/>
                <a:cs typeface="Arial" panose="020B0604020202020204" pitchFamily="34" charset="0"/>
              </a:rPr>
              <a:t>who do not have experience of agile methods may be reluctant to accept the risk of a new approach.</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Large organizations often have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quality procedures </a:t>
            </a:r>
            <a:r>
              <a:rPr lang="en-GB" dirty="0">
                <a:latin typeface="Arial" panose="020B0604020202020204" pitchFamily="34" charset="0"/>
                <a:ea typeface="ＭＳ Ｐゴシック" panose="020B0600070205080204" pitchFamily="34" charset="-128"/>
                <a:cs typeface="Arial" panose="020B0604020202020204" pitchFamily="34" charset="0"/>
              </a:rPr>
              <a:t>and standards that all projects are expected to follow and, because of their bureaucratic nature, these are likely to be incompatible with agile methods. </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Agile methods seem to work best when team members have a relatively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high skill level</a:t>
            </a:r>
            <a:r>
              <a:rPr lang="en-GB" dirty="0">
                <a:latin typeface="Arial" panose="020B0604020202020204" pitchFamily="34" charset="0"/>
                <a:ea typeface="ＭＳ Ｐゴシック" panose="020B0600070205080204" pitchFamily="34" charset="-128"/>
                <a:cs typeface="Arial" panose="020B0604020202020204" pitchFamily="34" charset="0"/>
              </a:rPr>
              <a:t>. However, within large organizations, there are likely to be a wide range of skills and abilities. </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There may be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cultural resistance to agile methods</a:t>
            </a:r>
            <a:r>
              <a:rPr lang="en-GB" dirty="0">
                <a:latin typeface="Arial" panose="020B0604020202020204" pitchFamily="34" charset="0"/>
                <a:ea typeface="ＭＳ Ｐゴシック" panose="020B0600070205080204" pitchFamily="34" charset="-128"/>
                <a:cs typeface="Arial" panose="020B0604020202020204" pitchFamily="34" charset="0"/>
              </a:rPr>
              <a:t>, especially in those organizations that have a long history of using conventional systems engineering processes.</a:t>
            </a:r>
          </a:p>
        </p:txBody>
      </p:sp>
    </p:spTree>
    <p:extLst>
      <p:ext uri="{BB962C8B-B14F-4D97-AF65-F5344CB8AC3E}">
        <p14:creationId xmlns:p14="http://schemas.microsoft.com/office/powerpoint/2010/main" val="10342441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Agile methods </a:t>
            </a:r>
            <a:r>
              <a:rPr lang="en-GB" dirty="0">
                <a:latin typeface="Arial" panose="020B0604020202020204" pitchFamily="34" charset="0"/>
                <a:ea typeface="ＭＳ Ｐゴシック" panose="020B0600070205080204" pitchFamily="34" charset="-128"/>
                <a:cs typeface="Arial" panose="020B0604020202020204" pitchFamily="34" charset="0"/>
              </a:rPr>
              <a:t>are incremental development methods that focus on rapid development, frequent releases of the software, reducing process overheads and producing high-quality code. They involve the customer directly in the development process.</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 decision on whether to use an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agile or a plan-driven </a:t>
            </a:r>
            <a:r>
              <a:rPr lang="en-GB" dirty="0">
                <a:latin typeface="Arial" panose="020B0604020202020204" pitchFamily="34" charset="0"/>
                <a:ea typeface="ＭＳ Ｐゴシック" panose="020B0600070205080204" pitchFamily="34" charset="-128"/>
                <a:cs typeface="Arial" panose="020B0604020202020204" pitchFamily="34" charset="0"/>
              </a:rPr>
              <a:t>approach to development should depend on the type of software being developed, the capabilities of the development team, and the culture of the company developing the system.</a:t>
            </a:r>
          </a:p>
          <a:p>
            <a:pPr>
              <a:buFont typeface="Wingdings" panose="05000000000000000000" pitchFamily="2" charset="2"/>
              <a:buChar char="²"/>
            </a:pP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Extreme programming </a:t>
            </a:r>
            <a:r>
              <a:rPr lang="en-GB" dirty="0">
                <a:latin typeface="Arial" panose="020B0604020202020204" pitchFamily="34" charset="0"/>
                <a:ea typeface="ＭＳ Ｐゴシック" panose="020B0600070205080204" pitchFamily="34" charset="-128"/>
                <a:cs typeface="Arial" panose="020B0604020202020204" pitchFamily="34" charset="0"/>
              </a:rPr>
              <a:t>is a well-known agile method that integrates a range of good programming practices such as frequent releases of the software, continuous software improvement and customer participation in the development team.</a:t>
            </a:r>
          </a:p>
        </p:txBody>
      </p:sp>
    </p:spTree>
    <p:extLst>
      <p:ext uri="{BB962C8B-B14F-4D97-AF65-F5344CB8AC3E}">
        <p14:creationId xmlns:p14="http://schemas.microsoft.com/office/powerpoint/2010/main" val="28018748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A particular strength of extreme programming is the development of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automated tests </a:t>
            </a:r>
            <a:r>
              <a:rPr lang="en-GB" dirty="0">
                <a:latin typeface="Arial" panose="020B0604020202020204" pitchFamily="34" charset="0"/>
                <a:ea typeface="ＭＳ Ｐゴシック" panose="020B0600070205080204" pitchFamily="34" charset="-128"/>
                <a:cs typeface="Arial" panose="020B0604020202020204" pitchFamily="34" charset="0"/>
              </a:rPr>
              <a:t>before a program feature is created. All tests must successfully execute when an increment is integrated into a system.</a:t>
            </a:r>
          </a:p>
          <a:p>
            <a:pPr>
              <a:buFont typeface="Wingdings" panose="05000000000000000000" pitchFamily="2" charset="2"/>
              <a:buChar char="²"/>
            </a:pPr>
            <a:r>
              <a:rPr lang="en-GB" dirty="0">
                <a:latin typeface="Arial" panose="020B0604020202020204" pitchFamily="34" charset="0"/>
                <a:ea typeface="ＭＳ Ｐゴシック" panose="020B0600070205080204" pitchFamily="34" charset="-128"/>
                <a:cs typeface="Arial" panose="020B0604020202020204" pitchFamily="34" charset="0"/>
              </a:rPr>
              <a:t>The </a:t>
            </a: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Scrum </a:t>
            </a:r>
            <a:r>
              <a:rPr lang="en-GB" dirty="0">
                <a:latin typeface="Arial" panose="020B0604020202020204" pitchFamily="34" charset="0"/>
                <a:ea typeface="ＭＳ Ｐゴシック" panose="020B0600070205080204" pitchFamily="34" charset="-128"/>
                <a:cs typeface="Arial" panose="020B0604020202020204" pitchFamily="34" charset="0"/>
              </a:rPr>
              <a:t>method is an agile method that provides a project management framework. It is centred round a set of sprints, which are fixed time periods when a system increment is developed. </a:t>
            </a:r>
          </a:p>
          <a:p>
            <a:pPr>
              <a:buFont typeface="Wingdings" panose="05000000000000000000" pitchFamily="2" charset="2"/>
              <a:buChar char="²"/>
            </a:pPr>
            <a:r>
              <a:rPr lang="en-GB" dirty="0">
                <a:solidFill>
                  <a:srgbClr val="0000FF"/>
                </a:solidFill>
                <a:latin typeface="Arial" panose="020B0604020202020204" pitchFamily="34" charset="0"/>
                <a:ea typeface="ＭＳ Ｐゴシック" panose="020B0600070205080204" pitchFamily="34" charset="-128"/>
                <a:cs typeface="Arial" panose="020B0604020202020204" pitchFamily="34" charset="0"/>
              </a:rPr>
              <a:t>Scaling agile methods </a:t>
            </a:r>
            <a:r>
              <a:rPr lang="en-GB" dirty="0">
                <a:latin typeface="Arial" panose="020B0604020202020204" pitchFamily="34" charset="0"/>
                <a:ea typeface="ＭＳ Ｐゴシック" panose="020B0600070205080204" pitchFamily="34" charset="-128"/>
                <a:cs typeface="Arial" panose="020B0604020202020204" pitchFamily="34" charset="0"/>
              </a:rPr>
              <a:t>for large systems is difficult. Large systems need up-front design and a lot of documentation.</a:t>
            </a:r>
          </a:p>
        </p:txBody>
      </p:sp>
    </p:spTree>
    <p:extLst>
      <p:ext uri="{BB962C8B-B14F-4D97-AF65-F5344CB8AC3E}">
        <p14:creationId xmlns:p14="http://schemas.microsoft.com/office/powerpoint/2010/main" val="226948713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3208</TotalTime>
  <Words>3006</Words>
  <Application>Microsoft Office PowerPoint</Application>
  <PresentationFormat>Widescreen</PresentationFormat>
  <Paragraphs>195</Paragraphs>
  <Slides>45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ＭＳ Ｐゴシック</vt:lpstr>
      <vt:lpstr>Arial</vt:lpstr>
      <vt:lpstr>Century Gothic</vt:lpstr>
      <vt:lpstr>Wingdings</vt:lpstr>
      <vt:lpstr>Wingdings 3</vt:lpstr>
      <vt:lpstr>Wisp</vt:lpstr>
      <vt:lpstr>Software Process Models</vt:lpstr>
      <vt:lpstr>Outline </vt:lpstr>
      <vt:lpstr>Rapid software development</vt:lpstr>
      <vt:lpstr>Agile Methods</vt:lpstr>
      <vt:lpstr>Agile manifesto</vt:lpstr>
      <vt:lpstr>The principles of agile methods</vt:lpstr>
      <vt:lpstr>Agile method applicability</vt:lpstr>
      <vt:lpstr>Problems with agile methods</vt:lpstr>
      <vt:lpstr>Agile methods and software maintenance</vt:lpstr>
      <vt:lpstr>Plan-driven and agile development</vt:lpstr>
      <vt:lpstr>Plan-driven and agile specification</vt:lpstr>
      <vt:lpstr>Technical, human, organizational issues</vt:lpstr>
      <vt:lpstr>Technical, human, organizational issues</vt:lpstr>
      <vt:lpstr>Technical, human, organizational issues</vt:lpstr>
      <vt:lpstr>Extreme programming</vt:lpstr>
      <vt:lpstr>The XP cycle</vt:lpstr>
      <vt:lpstr>Extreme programming practices (a)</vt:lpstr>
      <vt:lpstr>Extreme programming practices (b</vt:lpstr>
      <vt:lpstr>XP and agile principles</vt:lpstr>
      <vt:lpstr>Requirements scenarios</vt:lpstr>
      <vt:lpstr>A ‘prescribing medication’ story: case study</vt:lpstr>
      <vt:lpstr>Examples of task cards for prescribing medication </vt:lpstr>
      <vt:lpstr>XP and change</vt:lpstr>
      <vt:lpstr>Refactoring</vt:lpstr>
      <vt:lpstr>Examples of refactoring</vt:lpstr>
      <vt:lpstr>Testing in XP</vt:lpstr>
      <vt:lpstr>Test-first development in XP</vt:lpstr>
      <vt:lpstr>Customer involvement</vt:lpstr>
      <vt:lpstr>Test case description for dose checking</vt:lpstr>
      <vt:lpstr>XP testing difficulties</vt:lpstr>
      <vt:lpstr>Pair programming</vt:lpstr>
      <vt:lpstr>Advantages of pair programming</vt:lpstr>
      <vt:lpstr>Scrum</vt:lpstr>
      <vt:lpstr>The Scrum process </vt:lpstr>
      <vt:lpstr>The Sprint cycle</vt:lpstr>
      <vt:lpstr>Teamwork in Scrum</vt:lpstr>
      <vt:lpstr>Scrum benefits</vt:lpstr>
      <vt:lpstr>Scaling agile methods</vt:lpstr>
      <vt:lpstr>Large systems development</vt:lpstr>
      <vt:lpstr>Large system development</vt:lpstr>
      <vt:lpstr>Scaling out and scaling up</vt:lpstr>
      <vt:lpstr>Scaling up to large systems</vt:lpstr>
      <vt:lpstr>Scaling out to large companies</vt:lpstr>
      <vt:lpstr>Summary </vt:lpstr>
      <vt:lpstr>Summary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 Models</dc:title>
  <dc:creator>Windows 用户</dc:creator>
  <cp:lastModifiedBy>Windows 用户</cp:lastModifiedBy>
  <cp:revision>12</cp:revision>
  <dcterms:created xsi:type="dcterms:W3CDTF">2022-06-14T08:23:46Z</dcterms:created>
  <dcterms:modified xsi:type="dcterms:W3CDTF">2022-06-16T13:52:34Z</dcterms:modified>
</cp:coreProperties>
</file>