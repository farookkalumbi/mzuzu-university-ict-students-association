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4660"/>
  </p:normalViewPr>
  <p:slideViewPr>
    <p:cSldViewPr snapToGrid="0">
      <p:cViewPr varScale="1">
        <p:scale>
          <a:sx n="89" d="100"/>
          <a:sy n="89" d="100"/>
        </p:scale>
        <p:origin x="42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7/21/2022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7/21/2022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7/21/2022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7/21/2022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7/21/2022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7/21/2022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7/21/2022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7/21/2022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7/21/2022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7/21/2022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7/21/2022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7/21/2022</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System design and modeling</a:t>
            </a:r>
            <a:endParaRPr lang="en-US" dirty="0"/>
          </a:p>
        </p:txBody>
      </p:sp>
      <p:sp>
        <p:nvSpPr>
          <p:cNvPr id="3" name="Subtitle 2"/>
          <p:cNvSpPr>
            <a:spLocks noGrp="1"/>
          </p:cNvSpPr>
          <p:nvPr>
            <p:ph type="subTitle" idx="1"/>
          </p:nvPr>
        </p:nvSpPr>
        <p:spPr/>
        <p:txBody>
          <a:bodyPr/>
          <a:lstStyle/>
          <a:p>
            <a:r>
              <a:rPr lang="en-US" dirty="0" smtClean="0"/>
              <a:t>Part 1: System Modeling</a:t>
            </a:r>
            <a:endParaRPr lang="en-US" dirty="0"/>
          </a:p>
        </p:txBody>
      </p:sp>
    </p:spTree>
    <p:extLst>
      <p:ext uri="{BB962C8B-B14F-4D97-AF65-F5344CB8AC3E}">
        <p14:creationId xmlns:p14="http://schemas.microsoft.com/office/powerpoint/2010/main" val="2653706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modeling</a:t>
            </a:r>
            <a:endParaRPr lang="en-US" dirty="0"/>
          </a:p>
        </p:txBody>
      </p:sp>
      <p:sp>
        <p:nvSpPr>
          <p:cNvPr id="3" name="Content Placeholder 2"/>
          <p:cNvSpPr>
            <a:spLocks noGrp="1"/>
          </p:cNvSpPr>
          <p:nvPr>
            <p:ph idx="1"/>
          </p:nvPr>
        </p:nvSpPr>
        <p:spPr/>
        <p:txBody>
          <a:bodyPr/>
          <a:lstStyle/>
          <a:p>
            <a:r>
              <a:rPr lang="en-US" dirty="0">
                <a:solidFill>
                  <a:srgbClr val="00B0F0"/>
                </a:solidFill>
              </a:rPr>
              <a:t>System modeling </a:t>
            </a:r>
            <a:r>
              <a:rPr lang="en-US" dirty="0"/>
              <a:t>is the process of developing abstract models of a system, with each model presenting a different view or perspective of that system. </a:t>
            </a:r>
          </a:p>
          <a:p>
            <a:r>
              <a:rPr lang="en-US" dirty="0"/>
              <a:t>System modeling has now come to mean representing a system using some kind of graphical notation, which is now almost always based on notations in the Unified Modeling Language (</a:t>
            </a:r>
            <a:r>
              <a:rPr lang="en-US" dirty="0">
                <a:solidFill>
                  <a:srgbClr val="00B0F0"/>
                </a:solidFill>
              </a:rPr>
              <a:t>UML</a:t>
            </a:r>
            <a:r>
              <a:rPr lang="en-US" dirty="0"/>
              <a:t>). </a:t>
            </a:r>
          </a:p>
          <a:p>
            <a:r>
              <a:rPr lang="en-GB" dirty="0"/>
              <a:t>System modelling helps the analyst to understand the functionality of the system and models are used to communicate with customers.</a:t>
            </a:r>
          </a:p>
        </p:txBody>
      </p:sp>
    </p:spTree>
    <p:extLst>
      <p:ext uri="{BB962C8B-B14F-4D97-AF65-F5344CB8AC3E}">
        <p14:creationId xmlns:p14="http://schemas.microsoft.com/office/powerpoint/2010/main" val="1711548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graphical models</a:t>
            </a:r>
          </a:p>
        </p:txBody>
      </p:sp>
      <p:sp>
        <p:nvSpPr>
          <p:cNvPr id="3" name="Content Placeholder 2"/>
          <p:cNvSpPr>
            <a:spLocks noGrp="1"/>
          </p:cNvSpPr>
          <p:nvPr>
            <p:ph idx="1"/>
          </p:nvPr>
        </p:nvSpPr>
        <p:spPr/>
        <p:txBody>
          <a:bodyPr/>
          <a:lstStyle/>
          <a:p>
            <a:r>
              <a:rPr lang="en-US" dirty="0"/>
              <a:t>There are three ways in which graphical models are commonly used:</a:t>
            </a:r>
          </a:p>
          <a:p>
            <a:r>
              <a:rPr lang="en-US" dirty="0"/>
              <a:t>As a means of </a:t>
            </a:r>
            <a:r>
              <a:rPr lang="en-US" dirty="0">
                <a:solidFill>
                  <a:schemeClr val="tx2">
                    <a:lumMod val="60000"/>
                    <a:lumOff val="40000"/>
                  </a:schemeClr>
                </a:solidFill>
              </a:rPr>
              <a:t>facilitating discussion </a:t>
            </a:r>
            <a:r>
              <a:rPr lang="en-US" dirty="0"/>
              <a:t>about an existing or proposed system</a:t>
            </a:r>
          </a:p>
          <a:p>
            <a:pPr lvl="1"/>
            <a:r>
              <a:rPr lang="en-US" dirty="0"/>
              <a:t>Incomplete and incorrect models are OK as their role is to support discussion.</a:t>
            </a:r>
            <a:endParaRPr lang="en-GB" dirty="0"/>
          </a:p>
          <a:p>
            <a:r>
              <a:rPr lang="en-US" dirty="0"/>
              <a:t>As a way of </a:t>
            </a:r>
            <a:r>
              <a:rPr lang="en-US" dirty="0">
                <a:solidFill>
                  <a:schemeClr val="tx2">
                    <a:lumMod val="60000"/>
                    <a:lumOff val="40000"/>
                  </a:schemeClr>
                </a:solidFill>
              </a:rPr>
              <a:t>documenting</a:t>
            </a:r>
            <a:r>
              <a:rPr lang="en-US" dirty="0"/>
              <a:t> an existing system</a:t>
            </a:r>
          </a:p>
          <a:p>
            <a:pPr lvl="1"/>
            <a:r>
              <a:rPr lang="en-US" dirty="0"/>
              <a:t>Models should be an accurate representation of the system but need not be complete. </a:t>
            </a:r>
            <a:r>
              <a:rPr lang="en-US" dirty="0">
                <a:solidFill>
                  <a:srgbClr val="C00000"/>
                </a:solidFill>
              </a:rPr>
              <a:t>(Because you may only wish to develop models for some parts of a system).</a:t>
            </a:r>
            <a:endParaRPr lang="en-GB" dirty="0">
              <a:solidFill>
                <a:srgbClr val="C00000"/>
              </a:solidFill>
            </a:endParaRPr>
          </a:p>
          <a:p>
            <a:r>
              <a:rPr lang="en-US" dirty="0"/>
              <a:t>As a detailed system description that can be used to generate a system implementation</a:t>
            </a:r>
          </a:p>
          <a:p>
            <a:pPr lvl="1"/>
            <a:r>
              <a:rPr lang="en-US" dirty="0"/>
              <a:t>Models have to be both correct and complete.</a:t>
            </a:r>
            <a:endParaRPr lang="en-GB" dirty="0"/>
          </a:p>
        </p:txBody>
      </p:sp>
    </p:spTree>
    <p:extLst>
      <p:ext uri="{BB962C8B-B14F-4D97-AF65-F5344CB8AC3E}">
        <p14:creationId xmlns:p14="http://schemas.microsoft.com/office/powerpoint/2010/main" val="1924329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Existing and planned system models</a:t>
            </a:r>
            <a:endParaRPr lang="en-US" dirty="0"/>
          </a:p>
        </p:txBody>
      </p:sp>
      <p:sp>
        <p:nvSpPr>
          <p:cNvPr id="3" name="Content Placeholder 2"/>
          <p:cNvSpPr>
            <a:spLocks noGrp="1"/>
          </p:cNvSpPr>
          <p:nvPr>
            <p:ph idx="1"/>
          </p:nvPr>
        </p:nvSpPr>
        <p:spPr/>
        <p:txBody>
          <a:bodyPr/>
          <a:lstStyle/>
          <a:p>
            <a:r>
              <a:rPr lang="en-US" dirty="0">
                <a:solidFill>
                  <a:srgbClr val="00B0F0"/>
                </a:solidFill>
              </a:rPr>
              <a:t>Models of the existing system </a:t>
            </a:r>
            <a:r>
              <a:rPr lang="en-US" dirty="0"/>
              <a:t>are used during requirements engineering. They help clarify what the existing system does and can be used as a basis for discussing its strengths and weaknesses. These then lead to requirements for the new system.</a:t>
            </a:r>
            <a:endParaRPr lang="en-GB" dirty="0"/>
          </a:p>
          <a:p>
            <a:r>
              <a:rPr lang="en-US" dirty="0">
                <a:solidFill>
                  <a:srgbClr val="00B0F0"/>
                </a:solidFill>
              </a:rPr>
              <a:t>Models of the new system </a:t>
            </a:r>
            <a:r>
              <a:rPr lang="en-US" dirty="0"/>
              <a:t>are used during requirements engineering to help explain the proposed requirements to other system stakeholders. Engineers use these models to discuss design proposals and to document the system for implementation. </a:t>
            </a:r>
          </a:p>
          <a:p>
            <a:r>
              <a:rPr lang="en-US" dirty="0"/>
              <a:t>In a </a:t>
            </a:r>
            <a:r>
              <a:rPr lang="en-US" dirty="0">
                <a:solidFill>
                  <a:srgbClr val="00B0F0"/>
                </a:solidFill>
              </a:rPr>
              <a:t>model-driven engineering process</a:t>
            </a:r>
            <a:r>
              <a:rPr lang="en-US" dirty="0"/>
              <a:t>, it is possible to generate a complete or partial system implementation from the system model. </a:t>
            </a:r>
            <a:endParaRPr lang="en-GB" dirty="0"/>
          </a:p>
        </p:txBody>
      </p:sp>
    </p:spTree>
    <p:extLst>
      <p:ext uri="{BB962C8B-B14F-4D97-AF65-F5344CB8AC3E}">
        <p14:creationId xmlns:p14="http://schemas.microsoft.com/office/powerpoint/2010/main" val="374748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perspectives</a:t>
            </a:r>
          </a:p>
        </p:txBody>
      </p:sp>
      <p:sp>
        <p:nvSpPr>
          <p:cNvPr id="3" name="Content Placeholder 2"/>
          <p:cNvSpPr>
            <a:spLocks noGrp="1"/>
          </p:cNvSpPr>
          <p:nvPr>
            <p:ph idx="1"/>
          </p:nvPr>
        </p:nvSpPr>
        <p:spPr/>
        <p:txBody>
          <a:bodyPr/>
          <a:lstStyle/>
          <a:p>
            <a:r>
              <a:rPr lang="en-US" dirty="0"/>
              <a:t>An </a:t>
            </a:r>
            <a:r>
              <a:rPr lang="en-US" dirty="0">
                <a:solidFill>
                  <a:srgbClr val="00B0F0"/>
                </a:solidFill>
              </a:rPr>
              <a:t>external perspective</a:t>
            </a:r>
            <a:r>
              <a:rPr lang="en-US" dirty="0"/>
              <a:t>, where you model the context or environment of the system.</a:t>
            </a:r>
            <a:endParaRPr lang="en-GB" dirty="0"/>
          </a:p>
          <a:p>
            <a:r>
              <a:rPr lang="en-US" dirty="0"/>
              <a:t>An </a:t>
            </a:r>
            <a:r>
              <a:rPr lang="en-US" dirty="0">
                <a:solidFill>
                  <a:srgbClr val="00B0F0"/>
                </a:solidFill>
              </a:rPr>
              <a:t>interaction perspective</a:t>
            </a:r>
            <a:r>
              <a:rPr lang="en-US" dirty="0"/>
              <a:t>, where you model the interactions between a system and its environment, or between the components of a system.</a:t>
            </a:r>
            <a:endParaRPr lang="en-GB" dirty="0"/>
          </a:p>
          <a:p>
            <a:r>
              <a:rPr lang="en-US" dirty="0"/>
              <a:t>A </a:t>
            </a:r>
            <a:r>
              <a:rPr lang="en-US" dirty="0">
                <a:solidFill>
                  <a:srgbClr val="00B0F0"/>
                </a:solidFill>
              </a:rPr>
              <a:t>structural perspective</a:t>
            </a:r>
            <a:r>
              <a:rPr lang="en-US" dirty="0"/>
              <a:t>, where you model the organization of a system or the structure of the data that is processed by the system.</a:t>
            </a:r>
            <a:endParaRPr lang="en-GB" dirty="0"/>
          </a:p>
          <a:p>
            <a:r>
              <a:rPr lang="en-US" dirty="0"/>
              <a:t>A </a:t>
            </a:r>
            <a:r>
              <a:rPr lang="en-US" dirty="0">
                <a:solidFill>
                  <a:srgbClr val="00B0F0"/>
                </a:solidFill>
              </a:rPr>
              <a:t>behavioral perspective</a:t>
            </a:r>
            <a:r>
              <a:rPr lang="en-US" dirty="0"/>
              <a:t>, where you model the dynamic behavior of the system and how it responds to events. </a:t>
            </a:r>
            <a:endParaRPr lang="en-GB" dirty="0"/>
          </a:p>
        </p:txBody>
      </p:sp>
    </p:spTree>
    <p:extLst>
      <p:ext uri="{BB962C8B-B14F-4D97-AF65-F5344CB8AC3E}">
        <p14:creationId xmlns:p14="http://schemas.microsoft.com/office/powerpoint/2010/main" val="3844475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Context models</a:t>
            </a:r>
            <a:endParaRPr lang="en-US" dirty="0"/>
          </a:p>
        </p:txBody>
      </p:sp>
      <p:sp>
        <p:nvSpPr>
          <p:cNvPr id="3" name="Content Placeholder 2"/>
          <p:cNvSpPr>
            <a:spLocks noGrp="1"/>
          </p:cNvSpPr>
          <p:nvPr>
            <p:ph idx="1"/>
          </p:nvPr>
        </p:nvSpPr>
        <p:spPr/>
        <p:txBody>
          <a:bodyPr/>
          <a:lstStyle/>
          <a:p>
            <a:r>
              <a:rPr lang="en-GB" dirty="0">
                <a:solidFill>
                  <a:srgbClr val="00B0F0"/>
                </a:solidFill>
              </a:rPr>
              <a:t>Context models </a:t>
            </a:r>
            <a:r>
              <a:rPr lang="en-GB" dirty="0"/>
              <a:t>are used to illustrate the operational context of a system - they show what lies outside the system boundaries.</a:t>
            </a:r>
          </a:p>
          <a:p>
            <a:r>
              <a:rPr lang="en-GB" dirty="0"/>
              <a:t>Social and organisational concerns may affect the decision on where to position system boundaries.</a:t>
            </a:r>
          </a:p>
          <a:p>
            <a:r>
              <a:rPr lang="en-GB" dirty="0"/>
              <a:t>Architectural models show the system and its relationship with other systems.</a:t>
            </a:r>
          </a:p>
        </p:txBody>
      </p:sp>
    </p:spTree>
    <p:extLst>
      <p:ext uri="{BB962C8B-B14F-4D97-AF65-F5344CB8AC3E}">
        <p14:creationId xmlns:p14="http://schemas.microsoft.com/office/powerpoint/2010/main" val="1901277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 boundaries</a:t>
            </a:r>
          </a:p>
        </p:txBody>
      </p:sp>
      <p:sp>
        <p:nvSpPr>
          <p:cNvPr id="3" name="Content Placeholder 2"/>
          <p:cNvSpPr>
            <a:spLocks noGrp="1"/>
          </p:cNvSpPr>
          <p:nvPr>
            <p:ph idx="1"/>
          </p:nvPr>
        </p:nvSpPr>
        <p:spPr/>
        <p:txBody>
          <a:bodyPr/>
          <a:lstStyle/>
          <a:p>
            <a:r>
              <a:rPr lang="en-US" dirty="0" smtClean="0"/>
              <a:t>Also known as system scope.</a:t>
            </a:r>
          </a:p>
          <a:p>
            <a:r>
              <a:rPr lang="en-US" dirty="0"/>
              <a:t>System boundaries are established to define what is inside and what is outside the system.</a:t>
            </a:r>
          </a:p>
          <a:p>
            <a:pPr lvl="1"/>
            <a:r>
              <a:rPr lang="en-US" dirty="0"/>
              <a:t>They show other systems that are used or depend on the system being developed.</a:t>
            </a:r>
          </a:p>
          <a:p>
            <a:r>
              <a:rPr lang="en-US" dirty="0"/>
              <a:t>The position of the system boundary has a profound effect on the system requirements. </a:t>
            </a:r>
          </a:p>
          <a:p>
            <a:endParaRPr lang="en-US" dirty="0"/>
          </a:p>
        </p:txBody>
      </p:sp>
    </p:spTree>
    <p:extLst>
      <p:ext uri="{BB962C8B-B14F-4D97-AF65-F5344CB8AC3E}">
        <p14:creationId xmlns:p14="http://schemas.microsoft.com/office/powerpoint/2010/main" val="2427906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context of the MHC-PMS</a:t>
            </a:r>
            <a:r>
              <a:rPr lang="en-GB" dirty="0"/>
              <a:t> </a:t>
            </a:r>
            <a:endParaRPr lang="en-US" dirty="0"/>
          </a:p>
        </p:txBody>
      </p:sp>
      <p:pic>
        <p:nvPicPr>
          <p:cNvPr id="4" name="Picture 2"/>
          <p:cNvPicPr>
            <a:picLocks noGrp="1" noChangeAspect="1" noChangeArrowheads="1"/>
          </p:cNvPicPr>
          <p:nvPr>
            <p:ph idx="1"/>
          </p:nvPr>
        </p:nvPicPr>
        <p:blipFill>
          <a:blip r:embed="rId2"/>
          <a:srcRect l="19688" t="25500" r="25000" b="18000"/>
          <a:stretch>
            <a:fillRect/>
          </a:stretch>
        </p:blipFill>
        <p:spPr bwMode="auto">
          <a:xfrm>
            <a:off x="2733556" y="2286000"/>
            <a:ext cx="6301025" cy="4022725"/>
          </a:xfrm>
          <a:prstGeom prst="rect">
            <a:avLst/>
          </a:prstGeom>
          <a:noFill/>
          <a:ln w="9525">
            <a:noFill/>
            <a:miter lim="800000"/>
            <a:headEnd/>
            <a:tailEnd/>
          </a:ln>
        </p:spPr>
      </p:pic>
    </p:spTree>
    <p:extLst>
      <p:ext uri="{BB962C8B-B14F-4D97-AF65-F5344CB8AC3E}">
        <p14:creationId xmlns:p14="http://schemas.microsoft.com/office/powerpoint/2010/main" val="72302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perspective</a:t>
            </a:r>
          </a:p>
        </p:txBody>
      </p:sp>
      <p:sp>
        <p:nvSpPr>
          <p:cNvPr id="3" name="Content Placeholder 2"/>
          <p:cNvSpPr>
            <a:spLocks noGrp="1"/>
          </p:cNvSpPr>
          <p:nvPr>
            <p:ph idx="1"/>
          </p:nvPr>
        </p:nvSpPr>
        <p:spPr/>
        <p:txBody>
          <a:bodyPr/>
          <a:lstStyle/>
          <a:p>
            <a:r>
              <a:rPr lang="en-US" dirty="0"/>
              <a:t>Context models simply show the other systems in the environment, not how the system being developed is used in that environment.</a:t>
            </a:r>
          </a:p>
          <a:p>
            <a:r>
              <a:rPr lang="en-US" dirty="0"/>
              <a:t>Process models reveal how the system being developed is used in broader business processes.</a:t>
            </a:r>
          </a:p>
          <a:p>
            <a:r>
              <a:rPr lang="en-US" dirty="0"/>
              <a:t>UML activity diagrams may be used to define business process models.</a:t>
            </a:r>
          </a:p>
        </p:txBody>
      </p:sp>
    </p:spTree>
    <p:extLst>
      <p:ext uri="{BB962C8B-B14F-4D97-AF65-F5344CB8AC3E}">
        <p14:creationId xmlns:p14="http://schemas.microsoft.com/office/powerpoint/2010/main" val="2198327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model of involuntary detention</a:t>
            </a:r>
            <a:r>
              <a:rPr lang="en-GB" dirty="0"/>
              <a:t> </a:t>
            </a:r>
            <a:endParaRPr lang="en-US" dirty="0"/>
          </a:p>
        </p:txBody>
      </p:sp>
      <p:pic>
        <p:nvPicPr>
          <p:cNvPr id="4" name="Picture 2"/>
          <p:cNvPicPr>
            <a:picLocks noGrp="1" noChangeAspect="1" noChangeArrowheads="1"/>
          </p:cNvPicPr>
          <p:nvPr>
            <p:ph idx="1"/>
          </p:nvPr>
        </p:nvPicPr>
        <p:blipFill>
          <a:blip r:embed="rId2"/>
          <a:srcRect l="15375" t="21000" r="20875" b="18000"/>
          <a:stretch>
            <a:fillRect/>
          </a:stretch>
        </p:blipFill>
        <p:spPr bwMode="auto">
          <a:xfrm>
            <a:off x="2520807" y="2286000"/>
            <a:ext cx="6726523" cy="4022725"/>
          </a:xfrm>
          <a:prstGeom prst="rect">
            <a:avLst/>
          </a:prstGeom>
          <a:noFill/>
          <a:ln w="9525">
            <a:noFill/>
            <a:miter lim="800000"/>
            <a:headEnd/>
            <a:tailEnd/>
          </a:ln>
        </p:spPr>
      </p:pic>
    </p:spTree>
    <p:extLst>
      <p:ext uri="{BB962C8B-B14F-4D97-AF65-F5344CB8AC3E}">
        <p14:creationId xmlns:p14="http://schemas.microsoft.com/office/powerpoint/2010/main" val="3722049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models</a:t>
            </a:r>
          </a:p>
        </p:txBody>
      </p:sp>
      <p:sp>
        <p:nvSpPr>
          <p:cNvPr id="3" name="Content Placeholder 2"/>
          <p:cNvSpPr>
            <a:spLocks noGrp="1"/>
          </p:cNvSpPr>
          <p:nvPr>
            <p:ph idx="1"/>
          </p:nvPr>
        </p:nvSpPr>
        <p:spPr/>
        <p:txBody>
          <a:bodyPr/>
          <a:lstStyle/>
          <a:p>
            <a:r>
              <a:rPr lang="en-US" dirty="0"/>
              <a:t>Structural models of software display the organization of a system in terms of the components that make up that system and their relationships. </a:t>
            </a:r>
          </a:p>
          <a:p>
            <a:r>
              <a:rPr lang="en-US" dirty="0"/>
              <a:t>Structural models may be static models, which show the structure of the system design, or dynamic models, which show the organization of the system when it is executing. </a:t>
            </a:r>
          </a:p>
          <a:p>
            <a:r>
              <a:rPr lang="en-US" dirty="0"/>
              <a:t>You create structural models of a system when you are discussing and designing the system architecture. </a:t>
            </a:r>
          </a:p>
        </p:txBody>
      </p:sp>
    </p:spTree>
    <p:extLst>
      <p:ext uri="{BB962C8B-B14F-4D97-AF65-F5344CB8AC3E}">
        <p14:creationId xmlns:p14="http://schemas.microsoft.com/office/powerpoint/2010/main" val="657101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models</a:t>
            </a:r>
          </a:p>
        </p:txBody>
      </p:sp>
      <p:sp>
        <p:nvSpPr>
          <p:cNvPr id="3" name="Content Placeholder 2"/>
          <p:cNvSpPr>
            <a:spLocks noGrp="1"/>
          </p:cNvSpPr>
          <p:nvPr>
            <p:ph idx="1"/>
          </p:nvPr>
        </p:nvSpPr>
        <p:spPr/>
        <p:txBody>
          <a:bodyPr/>
          <a:lstStyle/>
          <a:p>
            <a:r>
              <a:rPr lang="en-US" dirty="0">
                <a:solidFill>
                  <a:srgbClr val="00B0F0"/>
                </a:solidFill>
              </a:rPr>
              <a:t>Behavioral models </a:t>
            </a:r>
            <a:r>
              <a:rPr lang="en-US" dirty="0"/>
              <a:t>are models of the dynamic behavior of a system as it is executing. They show what happens or what is supposed to happen when a system responds to a stimulus from its environment. </a:t>
            </a:r>
          </a:p>
          <a:p>
            <a:r>
              <a:rPr lang="en-US" dirty="0"/>
              <a:t>You can think of these stimuli as being of two types:</a:t>
            </a:r>
            <a:endParaRPr lang="en-GB" dirty="0"/>
          </a:p>
          <a:p>
            <a:pPr lvl="1"/>
            <a:r>
              <a:rPr lang="en-US" dirty="0">
                <a:solidFill>
                  <a:srgbClr val="FF0000"/>
                </a:solidFill>
              </a:rPr>
              <a:t>Data-driven models: </a:t>
            </a:r>
            <a:r>
              <a:rPr lang="en-US" dirty="0"/>
              <a:t>Some data arrives that has to be processed by the system.</a:t>
            </a:r>
            <a:endParaRPr lang="en-GB" dirty="0"/>
          </a:p>
          <a:p>
            <a:pPr lvl="1"/>
            <a:r>
              <a:rPr lang="en-US" dirty="0">
                <a:solidFill>
                  <a:srgbClr val="FF0000"/>
                </a:solidFill>
              </a:rPr>
              <a:t>Events-driven models: </a:t>
            </a:r>
            <a:r>
              <a:rPr lang="en-US" dirty="0"/>
              <a:t>Some event happens that triggers system processing. Events may have associated data, although this is not always the case.</a:t>
            </a:r>
            <a:endParaRPr lang="en-GB" dirty="0"/>
          </a:p>
          <a:p>
            <a:endParaRPr lang="en-US" dirty="0"/>
          </a:p>
        </p:txBody>
      </p:sp>
    </p:spTree>
    <p:extLst>
      <p:ext uri="{BB962C8B-B14F-4D97-AF65-F5344CB8AC3E}">
        <p14:creationId xmlns:p14="http://schemas.microsoft.com/office/powerpoint/2010/main" val="1214802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Uml</a:t>
            </a:r>
            <a:r>
              <a:rPr lang="en-US" dirty="0" smtClean="0"/>
              <a:t> basics</a:t>
            </a:r>
            <a:endParaRPr lang="en-US" dirty="0"/>
          </a:p>
        </p:txBody>
      </p:sp>
      <p:sp>
        <p:nvSpPr>
          <p:cNvPr id="3" name="Content Placeholder 2"/>
          <p:cNvSpPr>
            <a:spLocks noGrp="1"/>
          </p:cNvSpPr>
          <p:nvPr>
            <p:ph idx="1"/>
          </p:nvPr>
        </p:nvSpPr>
        <p:spPr/>
        <p:txBody>
          <a:bodyPr/>
          <a:lstStyle/>
          <a:p>
            <a:r>
              <a:rPr lang="en-US" dirty="0"/>
              <a:t>The Unified Modelling Language, or the UML, is a graphical modelling language.</a:t>
            </a:r>
          </a:p>
          <a:p>
            <a:r>
              <a:rPr lang="en-US" dirty="0"/>
              <a:t>UML is for visual modelling.</a:t>
            </a:r>
          </a:p>
          <a:p>
            <a:r>
              <a:rPr lang="en-US" dirty="0"/>
              <a:t>Provides us with a syntax for describing the major elements in software engineering projects.</a:t>
            </a:r>
          </a:p>
          <a:p>
            <a:r>
              <a:rPr lang="en-US" dirty="0"/>
              <a:t>Rational Unified Process is the model implemented</a:t>
            </a:r>
          </a:p>
        </p:txBody>
      </p:sp>
    </p:spTree>
    <p:extLst>
      <p:ext uri="{BB962C8B-B14F-4D97-AF65-F5344CB8AC3E}">
        <p14:creationId xmlns:p14="http://schemas.microsoft.com/office/powerpoint/2010/main" val="22350204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UNIFIED </a:t>
            </a:r>
            <a:r>
              <a:rPr lang="en-US" b="1" dirty="0" smtClean="0"/>
              <a:t>PROCESS model</a:t>
            </a:r>
            <a:endParaRPr lang="en-US" dirty="0"/>
          </a:p>
        </p:txBody>
      </p:sp>
      <p:sp>
        <p:nvSpPr>
          <p:cNvPr id="3" name="Content Placeholder 2"/>
          <p:cNvSpPr>
            <a:spLocks noGrp="1"/>
          </p:cNvSpPr>
          <p:nvPr>
            <p:ph idx="1"/>
          </p:nvPr>
        </p:nvSpPr>
        <p:spPr/>
        <p:txBody>
          <a:bodyPr/>
          <a:lstStyle/>
          <a:p>
            <a:r>
              <a:rPr lang="en-US" dirty="0"/>
              <a:t>The Unified Software Development Process or Unified Process is a popular iterative and incremental software development process model for OOD systems.</a:t>
            </a:r>
          </a:p>
          <a:p>
            <a:r>
              <a:rPr lang="en-US" dirty="0"/>
              <a:t>It is an extensible framework which should be customized for specific organizations or projects. </a:t>
            </a:r>
          </a:p>
          <a:p>
            <a:r>
              <a:rPr lang="en-US" dirty="0"/>
              <a:t>Has all necessary tools, documentation and procedures for software development.</a:t>
            </a:r>
          </a:p>
        </p:txBody>
      </p:sp>
    </p:spTree>
    <p:extLst>
      <p:ext uri="{BB962C8B-B14F-4D97-AF65-F5344CB8AC3E}">
        <p14:creationId xmlns:p14="http://schemas.microsoft.com/office/powerpoint/2010/main" val="15297926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NEED FOR UNIFIED LANGUAGE</a:t>
            </a:r>
            <a:endParaRPr lang="en-US" dirty="0"/>
          </a:p>
        </p:txBody>
      </p:sp>
      <p:sp>
        <p:nvSpPr>
          <p:cNvPr id="3" name="Content Placeholder 2"/>
          <p:cNvSpPr>
            <a:spLocks noGrp="1"/>
          </p:cNvSpPr>
          <p:nvPr>
            <p:ph idx="1"/>
          </p:nvPr>
        </p:nvSpPr>
        <p:spPr/>
        <p:txBody>
          <a:bodyPr/>
          <a:lstStyle/>
          <a:p>
            <a:r>
              <a:rPr lang="en-US" dirty="0"/>
              <a:t>Other industries have languages and notations, which are understood by every member of that particular field.</a:t>
            </a:r>
          </a:p>
          <a:p>
            <a:r>
              <a:rPr lang="en-US" dirty="0"/>
              <a:t> Mathematicians have a common language.</a:t>
            </a:r>
          </a:p>
          <a:p>
            <a:r>
              <a:rPr lang="en-US" dirty="0"/>
              <a:t> So do musicians, electronic engineers, and many other disciplines and professions.</a:t>
            </a:r>
          </a:p>
          <a:p>
            <a:r>
              <a:rPr lang="en-US" dirty="0"/>
              <a:t>Software Engineering has lacked such a notation.</a:t>
            </a:r>
          </a:p>
          <a:p>
            <a:r>
              <a:rPr lang="en-US" dirty="0"/>
              <a:t>In the past more than 50 software modelling languages were in common use.</a:t>
            </a:r>
          </a:p>
          <a:p>
            <a:r>
              <a:rPr lang="en-US" dirty="0"/>
              <a:t>Each of them carrying their own notations!</a:t>
            </a:r>
          </a:p>
          <a:p>
            <a:r>
              <a:rPr lang="en-US" dirty="0"/>
              <a:t>Each language contained syntax peculiar to itself.</a:t>
            </a:r>
          </a:p>
        </p:txBody>
      </p:sp>
    </p:spTree>
    <p:extLst>
      <p:ext uri="{BB962C8B-B14F-4D97-AF65-F5344CB8AC3E}">
        <p14:creationId xmlns:p14="http://schemas.microsoft.com/office/powerpoint/2010/main" val="25809654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NEED FOR UNIFIED LANGUAGE</a:t>
            </a:r>
            <a:endParaRPr lang="en-US" dirty="0"/>
          </a:p>
        </p:txBody>
      </p:sp>
      <p:sp>
        <p:nvSpPr>
          <p:cNvPr id="3" name="Content Placeholder 2"/>
          <p:cNvSpPr>
            <a:spLocks noGrp="1"/>
          </p:cNvSpPr>
          <p:nvPr>
            <p:ph idx="1"/>
          </p:nvPr>
        </p:nvSpPr>
        <p:spPr/>
        <p:txBody>
          <a:bodyPr/>
          <a:lstStyle/>
          <a:p>
            <a:r>
              <a:rPr lang="en-US" dirty="0"/>
              <a:t>Today, UML is one of the most widespread graphical object-oriented modeling languages. </a:t>
            </a:r>
          </a:p>
          <a:p>
            <a:r>
              <a:rPr lang="en-US" dirty="0"/>
              <a:t>UML is simply a language, a notation, a syntax, whatever you want to call it. Crucially, it does not tell you how to develop software.</a:t>
            </a:r>
          </a:p>
          <a:p>
            <a:r>
              <a:rPr lang="en-US" dirty="0"/>
              <a:t>The first thing to notice about the UML is that there are a lot of different diagrams (models) to get used to.</a:t>
            </a:r>
          </a:p>
          <a:p>
            <a:r>
              <a:rPr lang="en-US" dirty="0"/>
              <a:t>The reason for this is that it is possible to look at a system from many different viewpoints.</a:t>
            </a:r>
          </a:p>
          <a:p>
            <a:r>
              <a:rPr lang="en-US" dirty="0"/>
              <a:t> A software development will have many stakeholders playing a part for:</a:t>
            </a:r>
          </a:p>
        </p:txBody>
      </p:sp>
    </p:spTree>
    <p:extLst>
      <p:ext uri="{BB962C8B-B14F-4D97-AF65-F5344CB8AC3E}">
        <p14:creationId xmlns:p14="http://schemas.microsoft.com/office/powerpoint/2010/main" val="15938107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blocks</a:t>
            </a:r>
          </a:p>
        </p:txBody>
      </p:sp>
      <p:sp>
        <p:nvSpPr>
          <p:cNvPr id="3" name="Content Placeholder 2"/>
          <p:cNvSpPr>
            <a:spLocks noGrp="1"/>
          </p:cNvSpPr>
          <p:nvPr>
            <p:ph idx="1"/>
          </p:nvPr>
        </p:nvSpPr>
        <p:spPr/>
        <p:txBody>
          <a:bodyPr/>
          <a:lstStyle/>
          <a:p>
            <a:r>
              <a:rPr lang="en-US" dirty="0"/>
              <a:t>UML is composed of three main building blocks, i.e. things, relationships, and diagrams. </a:t>
            </a:r>
          </a:p>
          <a:p>
            <a:r>
              <a:rPr lang="en-US" dirty="0"/>
              <a:t>Building blocks generate one complete UML model diagram by rotating around several different blocks.</a:t>
            </a:r>
          </a:p>
          <a:p>
            <a:r>
              <a:rPr lang="en-US" dirty="0"/>
              <a:t>Things</a:t>
            </a:r>
          </a:p>
          <a:p>
            <a:r>
              <a:rPr lang="en-US" dirty="0"/>
              <a:t>Relationships</a:t>
            </a:r>
          </a:p>
          <a:p>
            <a:r>
              <a:rPr lang="en-US" dirty="0"/>
              <a:t>Diagrams</a:t>
            </a:r>
          </a:p>
        </p:txBody>
      </p:sp>
    </p:spTree>
    <p:extLst>
      <p:ext uri="{BB962C8B-B14F-4D97-AF65-F5344CB8AC3E}">
        <p14:creationId xmlns:p14="http://schemas.microsoft.com/office/powerpoint/2010/main" val="27881542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blocks</a:t>
            </a:r>
          </a:p>
        </p:txBody>
      </p:sp>
      <p:pic>
        <p:nvPicPr>
          <p:cNvPr id="4"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35553" y="1705044"/>
            <a:ext cx="6742630" cy="5016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80111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diagram</a:t>
            </a:r>
          </a:p>
        </p:txBody>
      </p:sp>
      <p:sp>
        <p:nvSpPr>
          <p:cNvPr id="3" name="Content Placeholder 2"/>
          <p:cNvSpPr>
            <a:spLocks noGrp="1"/>
          </p:cNvSpPr>
          <p:nvPr>
            <p:ph idx="1"/>
          </p:nvPr>
        </p:nvSpPr>
        <p:spPr/>
        <p:txBody>
          <a:bodyPr/>
          <a:lstStyle/>
          <a:p>
            <a:r>
              <a:rPr lang="en-US" dirty="0"/>
              <a:t>Structural Diagrams (Static</a:t>
            </a:r>
            <a:r>
              <a:rPr lang="en-US" dirty="0" smtClean="0"/>
              <a:t>)</a:t>
            </a:r>
          </a:p>
          <a:p>
            <a:r>
              <a:rPr lang="en-US" dirty="0" smtClean="0"/>
              <a:t>Behavioral  </a:t>
            </a:r>
            <a:r>
              <a:rPr lang="en-US" dirty="0"/>
              <a:t>Diagrams (Dynamic</a:t>
            </a:r>
            <a:r>
              <a:rPr lang="en-US" dirty="0" smtClean="0"/>
              <a:t>)</a:t>
            </a:r>
            <a:endParaRPr lang="en-US" dirty="0">
              <a:latin typeface="Arial" charset="0"/>
              <a:cs typeface="Arial" charset="0"/>
            </a:endParaRPr>
          </a:p>
        </p:txBody>
      </p:sp>
    </p:spTree>
    <p:extLst>
      <p:ext uri="{BB962C8B-B14F-4D97-AF65-F5344CB8AC3E}">
        <p14:creationId xmlns:p14="http://schemas.microsoft.com/office/powerpoint/2010/main" val="32947236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Diagrams (Static)</a:t>
            </a:r>
            <a:br>
              <a:rPr lang="en-US" dirty="0"/>
            </a:br>
            <a:endParaRPr lang="en-US" dirty="0"/>
          </a:p>
        </p:txBody>
      </p:sp>
      <p:sp>
        <p:nvSpPr>
          <p:cNvPr id="3" name="Content Placeholder 2"/>
          <p:cNvSpPr>
            <a:spLocks noGrp="1"/>
          </p:cNvSpPr>
          <p:nvPr>
            <p:ph idx="1"/>
          </p:nvPr>
        </p:nvSpPr>
        <p:spPr/>
        <p:txBody>
          <a:bodyPr/>
          <a:lstStyle/>
          <a:p>
            <a:r>
              <a:rPr lang="en-US" dirty="0"/>
              <a:t>Structural things are the nouns of UML models. These are the mostly static parts of a model, representing elements that are either conceptual or physical. </a:t>
            </a:r>
          </a:p>
          <a:p>
            <a:r>
              <a:rPr lang="en-US" dirty="0"/>
              <a:t>They display the physical and conceptual components of the system.</a:t>
            </a:r>
          </a:p>
          <a:p>
            <a:r>
              <a:rPr lang="en-US" dirty="0"/>
              <a:t>They include class, object, interface, node, collaboration, component</a:t>
            </a:r>
          </a:p>
        </p:txBody>
      </p:sp>
    </p:spTree>
    <p:extLst>
      <p:ext uri="{BB962C8B-B14F-4D97-AF65-F5344CB8AC3E}">
        <p14:creationId xmlns:p14="http://schemas.microsoft.com/office/powerpoint/2010/main" val="27905208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Diagrams (Dynamic)</a:t>
            </a:r>
            <a:endParaRPr lang="en-US" dirty="0">
              <a:latin typeface="Arial" charset="0"/>
              <a:cs typeface="Arial" charset="0"/>
            </a:endParaRPr>
          </a:p>
        </p:txBody>
      </p:sp>
      <p:sp>
        <p:nvSpPr>
          <p:cNvPr id="3" name="Content Placeholder 2"/>
          <p:cNvSpPr>
            <a:spLocks noGrp="1"/>
          </p:cNvSpPr>
          <p:nvPr>
            <p:ph idx="1"/>
          </p:nvPr>
        </p:nvSpPr>
        <p:spPr/>
        <p:txBody>
          <a:bodyPr/>
          <a:lstStyle/>
          <a:p>
            <a:r>
              <a:rPr lang="en-US" dirty="0"/>
              <a:t>Behavioral things are the dynamic parts of UML models. </a:t>
            </a:r>
          </a:p>
          <a:p>
            <a:r>
              <a:rPr lang="en-US" dirty="0"/>
              <a:t>These are the verbs of a model, representing behavior over time and space. </a:t>
            </a:r>
          </a:p>
          <a:p>
            <a:r>
              <a:rPr lang="en-US" dirty="0"/>
              <a:t>In all, there are three primary kinds of behavioral things.</a:t>
            </a:r>
          </a:p>
          <a:p>
            <a:pPr>
              <a:buFont typeface="Wingdings" panose="05000000000000000000" pitchFamily="2" charset="2"/>
              <a:buChar char="q"/>
            </a:pPr>
            <a:r>
              <a:rPr lang="en-US" dirty="0"/>
              <a:t>Interaction.</a:t>
            </a:r>
          </a:p>
          <a:p>
            <a:pPr>
              <a:buFont typeface="Wingdings" panose="05000000000000000000" pitchFamily="2" charset="2"/>
              <a:buChar char="q"/>
            </a:pPr>
            <a:r>
              <a:rPr lang="en-US" dirty="0"/>
              <a:t>State machine.</a:t>
            </a:r>
          </a:p>
          <a:p>
            <a:pPr>
              <a:buFont typeface="Wingdings" panose="05000000000000000000" pitchFamily="2" charset="2"/>
              <a:buChar char="q"/>
            </a:pPr>
            <a:r>
              <a:rPr lang="en-US" dirty="0"/>
              <a:t>Activity</a:t>
            </a:r>
            <a:r>
              <a:rPr lang="en-US" dirty="0" smtClean="0"/>
              <a:t>.</a:t>
            </a:r>
          </a:p>
          <a:p>
            <a:pPr>
              <a:buFont typeface="Wingdings" panose="05000000000000000000" pitchFamily="2" charset="2"/>
              <a:buChar char="q"/>
            </a:pPr>
            <a:r>
              <a:rPr lang="en-US" dirty="0" smtClean="0"/>
              <a:t>Sequence</a:t>
            </a:r>
            <a:endParaRPr lang="en-US" dirty="0"/>
          </a:p>
          <a:p>
            <a:pPr>
              <a:buFont typeface="Wingdings" panose="05000000000000000000" pitchFamily="2" charset="2"/>
              <a:buChar char="q"/>
            </a:pPr>
            <a:r>
              <a:rPr lang="en-US" dirty="0" err="1" smtClean="0"/>
              <a:t>Usecase</a:t>
            </a:r>
            <a:r>
              <a:rPr lang="en-US" dirty="0" smtClean="0"/>
              <a:t> </a:t>
            </a:r>
            <a:endParaRPr lang="en-US" dirty="0"/>
          </a:p>
        </p:txBody>
      </p:sp>
    </p:spTree>
    <p:extLst>
      <p:ext uri="{BB962C8B-B14F-4D97-AF65-F5344CB8AC3E}">
        <p14:creationId xmlns:p14="http://schemas.microsoft.com/office/powerpoint/2010/main" val="19723357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a:t>
            </a:r>
          </a:p>
        </p:txBody>
      </p:sp>
      <p:sp>
        <p:nvSpPr>
          <p:cNvPr id="3" name="Content Placeholder 2"/>
          <p:cNvSpPr>
            <a:spLocks noGrp="1"/>
          </p:cNvSpPr>
          <p:nvPr>
            <p:ph idx="1"/>
          </p:nvPr>
        </p:nvSpPr>
        <p:spPr/>
        <p:txBody>
          <a:bodyPr/>
          <a:lstStyle/>
          <a:p>
            <a:r>
              <a:rPr lang="en-US" sz="2400" dirty="0"/>
              <a:t>Describes what the system does, without describing how the system does it</a:t>
            </a:r>
          </a:p>
          <a:p>
            <a:r>
              <a:rPr lang="en-US" sz="2400" dirty="0"/>
              <a:t>Each </a:t>
            </a:r>
            <a:r>
              <a:rPr lang="en-US" sz="2400" dirty="0">
                <a:solidFill>
                  <a:srgbClr val="00B050"/>
                </a:solidFill>
                <a:latin typeface="Arial" charset="0"/>
                <a:cs typeface="Arial" charset="0"/>
              </a:rPr>
              <a:t>use case </a:t>
            </a:r>
            <a:r>
              <a:rPr lang="en-US" sz="2400" dirty="0"/>
              <a:t>represents a discrete task that involves external interaction with a system.</a:t>
            </a:r>
          </a:p>
          <a:p>
            <a:r>
              <a:rPr lang="en-US" sz="2400" dirty="0"/>
              <a:t>Actors in a </a:t>
            </a:r>
            <a:r>
              <a:rPr lang="en-US" sz="2400" dirty="0">
                <a:solidFill>
                  <a:srgbClr val="00B050"/>
                </a:solidFill>
                <a:latin typeface="Arial" charset="0"/>
                <a:cs typeface="Arial" charset="0"/>
              </a:rPr>
              <a:t>use case </a:t>
            </a:r>
            <a:r>
              <a:rPr lang="en-US" sz="2400" dirty="0"/>
              <a:t>may be people or other systems.</a:t>
            </a:r>
          </a:p>
          <a:p>
            <a:r>
              <a:rPr lang="en-US" sz="2400" dirty="0"/>
              <a:t>Represented diagrammatically to provide an overview of the use case and in a more detailed textual form.</a:t>
            </a:r>
          </a:p>
        </p:txBody>
      </p:sp>
    </p:spTree>
    <p:extLst>
      <p:ext uri="{BB962C8B-B14F-4D97-AF65-F5344CB8AC3E}">
        <p14:creationId xmlns:p14="http://schemas.microsoft.com/office/powerpoint/2010/main" val="11552492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a:t>
            </a:r>
          </a:p>
        </p:txBody>
      </p:sp>
      <p:sp>
        <p:nvSpPr>
          <p:cNvPr id="3" name="Content Placeholder 2"/>
          <p:cNvSpPr>
            <a:spLocks noGrp="1"/>
          </p:cNvSpPr>
          <p:nvPr>
            <p:ph idx="1"/>
          </p:nvPr>
        </p:nvSpPr>
        <p:spPr/>
        <p:txBody>
          <a:bodyPr/>
          <a:lstStyle/>
          <a:p>
            <a:r>
              <a:rPr lang="en-US" sz="2000" dirty="0"/>
              <a:t>A set of </a:t>
            </a:r>
            <a:r>
              <a:rPr lang="en-US" sz="2000" i="1" dirty="0">
                <a:solidFill>
                  <a:srgbClr val="FF0000"/>
                </a:solidFill>
              </a:rPr>
              <a:t>ACTORS </a:t>
            </a:r>
            <a:r>
              <a:rPr lang="en-US" sz="2000" dirty="0"/>
              <a:t>: roles users can play in interacting with the system.</a:t>
            </a:r>
          </a:p>
          <a:p>
            <a:pPr lvl="1"/>
            <a:r>
              <a:rPr lang="en-US" dirty="0"/>
              <a:t>An actor is used to represent something that users our system.</a:t>
            </a:r>
          </a:p>
          <a:p>
            <a:r>
              <a:rPr lang="en-US" sz="2000" dirty="0"/>
              <a:t>A set of </a:t>
            </a:r>
            <a:r>
              <a:rPr lang="en-US" sz="2000" i="1" dirty="0">
                <a:solidFill>
                  <a:srgbClr val="FF0000"/>
                </a:solidFill>
              </a:rPr>
              <a:t>USE CASES</a:t>
            </a:r>
            <a:r>
              <a:rPr lang="en-US" sz="2000" dirty="0"/>
              <a:t>: each describes a possible kind of interaction between an actor and the system.</a:t>
            </a:r>
          </a:p>
          <a:p>
            <a:pPr lvl="1"/>
            <a:r>
              <a:rPr lang="en-US" dirty="0"/>
              <a:t>Uses cases are actions that a user takes on a system</a:t>
            </a:r>
          </a:p>
          <a:p>
            <a:r>
              <a:rPr lang="en-US" sz="2000" dirty="0"/>
              <a:t>A number of </a:t>
            </a:r>
            <a:r>
              <a:rPr lang="en-US" sz="2000" i="1" dirty="0">
                <a:solidFill>
                  <a:srgbClr val="FF0000"/>
                </a:solidFill>
              </a:rPr>
              <a:t>RELATIONSHIPS</a:t>
            </a:r>
            <a:r>
              <a:rPr lang="en-US" sz="2000" dirty="0"/>
              <a:t> between these entities (Actors and Use Cases).</a:t>
            </a:r>
          </a:p>
          <a:p>
            <a:pPr lvl="1"/>
            <a:r>
              <a:rPr lang="en-US" dirty="0"/>
              <a:t>Relationships are simply illustrated with a line connecting actors to use cases.</a:t>
            </a:r>
          </a:p>
        </p:txBody>
      </p:sp>
    </p:spTree>
    <p:extLst>
      <p:ext uri="{BB962C8B-B14F-4D97-AF65-F5344CB8AC3E}">
        <p14:creationId xmlns:p14="http://schemas.microsoft.com/office/powerpoint/2010/main" val="34815280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relationships</a:t>
            </a:r>
            <a:endParaRPr lang="en-US" dirty="0"/>
          </a:p>
        </p:txBody>
      </p:sp>
      <p:pic>
        <p:nvPicPr>
          <p:cNvPr id="4" name="Content Placeholder 9" descr="1.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047547" y="2315910"/>
            <a:ext cx="9332322" cy="3362577"/>
          </a:xfrm>
        </p:spPr>
      </p:pic>
    </p:spTree>
    <p:extLst>
      <p:ext uri="{BB962C8B-B14F-4D97-AF65-F5344CB8AC3E}">
        <p14:creationId xmlns:p14="http://schemas.microsoft.com/office/powerpoint/2010/main" val="332010070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Modeling use cases</a:t>
            </a:r>
            <a:endParaRPr lang="en-US" dirty="0"/>
          </a:p>
        </p:txBody>
      </p:sp>
      <p:sp>
        <p:nvSpPr>
          <p:cNvPr id="3" name="Content Placeholder 2"/>
          <p:cNvSpPr>
            <a:spLocks noGrp="1"/>
          </p:cNvSpPr>
          <p:nvPr>
            <p:ph idx="1"/>
          </p:nvPr>
        </p:nvSpPr>
        <p:spPr/>
        <p:txBody>
          <a:bodyPr/>
          <a:lstStyle/>
          <a:p>
            <a:pPr lvl="1">
              <a:buClrTx/>
            </a:pPr>
            <a:r>
              <a:rPr lang="en-GB" altLang="en-US" dirty="0">
                <a:latin typeface="Arial" panose="020B0604020202020204" pitchFamily="34" charset="0"/>
              </a:rPr>
              <a:t>Note that no order is imposed in use diagrams.</a:t>
            </a:r>
          </a:p>
          <a:p>
            <a:pPr lvl="2"/>
            <a:r>
              <a:rPr lang="en-GB" altLang="en-US" dirty="0">
                <a:latin typeface="Arial" panose="020B0604020202020204" pitchFamily="34" charset="0"/>
              </a:rPr>
              <a:t>We handle that in a different, later diagram.</a:t>
            </a:r>
          </a:p>
          <a:p>
            <a:pPr lvl="1">
              <a:buClrTx/>
            </a:pPr>
            <a:r>
              <a:rPr lang="en-GB" altLang="en-US" dirty="0">
                <a:latin typeface="Arial" panose="020B0604020202020204" pitchFamily="34" charset="0"/>
              </a:rPr>
              <a:t>You can think of this as a high level overview of your user interface.</a:t>
            </a:r>
          </a:p>
          <a:p>
            <a:pPr lvl="2"/>
            <a:r>
              <a:rPr lang="en-GB" altLang="en-US" dirty="0">
                <a:latin typeface="Arial" panose="020B0604020202020204" pitchFamily="34" charset="0"/>
              </a:rPr>
              <a:t>You need to permit ways for people to do all of the things you’ve indicated on the diagram.</a:t>
            </a:r>
          </a:p>
          <a:p>
            <a:pPr lvl="1">
              <a:buClrTx/>
            </a:pPr>
            <a:r>
              <a:rPr lang="en-GB" altLang="en-US" dirty="0">
                <a:latin typeface="Arial" panose="020B0604020202020204" pitchFamily="34" charset="0"/>
              </a:rPr>
              <a:t>Generating the use case diagram will be a result of interaction with the users and </a:t>
            </a:r>
            <a:r>
              <a:rPr lang="en-GB" altLang="en-US" dirty="0" smtClean="0">
                <a:latin typeface="Arial" panose="020B0604020202020204" pitchFamily="34" charset="0"/>
              </a:rPr>
              <a:t>the system.</a:t>
            </a:r>
          </a:p>
          <a:p>
            <a:pPr lvl="1">
              <a:buClrTx/>
            </a:pPr>
            <a:r>
              <a:rPr lang="en-GB" altLang="en-US" dirty="0">
                <a:latin typeface="Arial" panose="020B0604020202020204" pitchFamily="34" charset="0"/>
              </a:rPr>
              <a:t>We can use a technique called </a:t>
            </a:r>
            <a:r>
              <a:rPr lang="en-GB" altLang="en-US" b="1" dirty="0">
                <a:latin typeface="Arial" panose="020B0604020202020204" pitchFamily="34" charset="0"/>
              </a:rPr>
              <a:t>event decomposition </a:t>
            </a:r>
            <a:r>
              <a:rPr lang="en-GB" altLang="en-US" dirty="0">
                <a:latin typeface="Arial" panose="020B0604020202020204" pitchFamily="34" charset="0"/>
              </a:rPr>
              <a:t>to arrive at a list of candidate events for our system.</a:t>
            </a:r>
          </a:p>
          <a:p>
            <a:pPr lvl="2"/>
            <a:r>
              <a:rPr lang="en-GB" altLang="en-US" dirty="0">
                <a:latin typeface="Arial" panose="020B0604020202020204" pitchFamily="34" charset="0"/>
              </a:rPr>
              <a:t>We treat the system as a black box</a:t>
            </a:r>
          </a:p>
          <a:p>
            <a:pPr lvl="2"/>
            <a:r>
              <a:rPr lang="en-GB" altLang="en-US" dirty="0">
                <a:latin typeface="Arial" panose="020B0604020202020204" pitchFamily="34" charset="0"/>
              </a:rPr>
              <a:t>We focus on the things that happen to the black box.</a:t>
            </a:r>
          </a:p>
          <a:p>
            <a:pPr lvl="1">
              <a:buClrTx/>
            </a:pPr>
            <a:r>
              <a:rPr lang="en-GB" altLang="en-US" dirty="0">
                <a:latin typeface="Arial" panose="020B0604020202020204" pitchFamily="34" charset="0"/>
              </a:rPr>
              <a:t>We may end up discarding or combining the events that we come up with.</a:t>
            </a:r>
          </a:p>
          <a:p>
            <a:pPr lvl="2"/>
            <a:r>
              <a:rPr lang="en-GB" altLang="en-US" dirty="0">
                <a:latin typeface="Arial" panose="020B0604020202020204" pitchFamily="34" charset="0"/>
              </a:rPr>
              <a:t>That’s all part of the iterative process.</a:t>
            </a:r>
          </a:p>
          <a:p>
            <a:pPr lvl="2"/>
            <a:r>
              <a:rPr lang="en-GB" altLang="en-US" dirty="0">
                <a:latin typeface="Arial" panose="020B0604020202020204" pitchFamily="34" charset="0"/>
              </a:rPr>
              <a:t>What we need to begin with is a starting point.</a:t>
            </a:r>
          </a:p>
          <a:p>
            <a:pPr lvl="1"/>
            <a:endParaRPr lang="en-GB" altLang="en-US" dirty="0">
              <a:latin typeface="Arial" panose="020B0604020202020204" pitchFamily="34" charset="0"/>
            </a:endParaRPr>
          </a:p>
          <a:p>
            <a:pPr marL="128016" lvl="1" indent="0">
              <a:buClrTx/>
              <a:buNone/>
            </a:pPr>
            <a:endParaRPr lang="en-GB" altLang="en-US" dirty="0">
              <a:latin typeface="Arial" panose="020B0604020202020204" pitchFamily="34" charset="0"/>
            </a:endParaRPr>
          </a:p>
        </p:txBody>
      </p:sp>
    </p:spTree>
    <p:extLst>
      <p:ext uri="{BB962C8B-B14F-4D97-AF65-F5344CB8AC3E}">
        <p14:creationId xmlns:p14="http://schemas.microsoft.com/office/powerpoint/2010/main" val="23321505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events</a:t>
            </a:r>
          </a:p>
        </p:txBody>
      </p:sp>
      <p:sp>
        <p:nvSpPr>
          <p:cNvPr id="3" name="Content Placeholder 2"/>
          <p:cNvSpPr>
            <a:spLocks noGrp="1"/>
          </p:cNvSpPr>
          <p:nvPr>
            <p:ph idx="1"/>
          </p:nvPr>
        </p:nvSpPr>
        <p:spPr/>
        <p:txBody>
          <a:bodyPr/>
          <a:lstStyle/>
          <a:p>
            <a:pPr lvl="1">
              <a:buClrTx/>
            </a:pPr>
            <a:r>
              <a:rPr lang="en-GB" altLang="en-US" dirty="0">
                <a:latin typeface="Arial" panose="020B0604020202020204" pitchFamily="34" charset="0"/>
              </a:rPr>
              <a:t>There are three main kinds of event we need to look at.</a:t>
            </a:r>
          </a:p>
          <a:p>
            <a:pPr lvl="2"/>
            <a:r>
              <a:rPr lang="en-GB" altLang="en-US" dirty="0">
                <a:latin typeface="Arial" panose="020B0604020202020204" pitchFamily="34" charset="0"/>
              </a:rPr>
              <a:t>External events</a:t>
            </a:r>
          </a:p>
          <a:p>
            <a:pPr lvl="2"/>
            <a:r>
              <a:rPr lang="en-GB" altLang="en-US" dirty="0">
                <a:latin typeface="Arial" panose="020B0604020202020204" pitchFamily="34" charset="0"/>
              </a:rPr>
              <a:t>Temporal events</a:t>
            </a:r>
          </a:p>
          <a:p>
            <a:pPr lvl="2"/>
            <a:r>
              <a:rPr lang="en-GB" altLang="en-US" dirty="0">
                <a:latin typeface="Arial" panose="020B0604020202020204" pitchFamily="34" charset="0"/>
              </a:rPr>
              <a:t>State events</a:t>
            </a:r>
          </a:p>
          <a:p>
            <a:pPr lvl="1">
              <a:buClrTx/>
            </a:pPr>
            <a:r>
              <a:rPr lang="en-GB" altLang="en-US" dirty="0">
                <a:latin typeface="Arial" panose="020B0604020202020204" pitchFamily="34" charset="0"/>
              </a:rPr>
              <a:t>We consider each of these events in relation to the potential actor.</a:t>
            </a:r>
          </a:p>
          <a:p>
            <a:pPr lvl="2"/>
            <a:r>
              <a:rPr lang="en-GB" altLang="en-US" dirty="0">
                <a:latin typeface="Arial" panose="020B0604020202020204" pitchFamily="34" charset="0"/>
              </a:rPr>
              <a:t>This technique is merely a way of focusing our thinking.</a:t>
            </a:r>
          </a:p>
          <a:p>
            <a:pPr lvl="2"/>
            <a:r>
              <a:rPr lang="en-GB" altLang="en-US" dirty="0">
                <a:latin typeface="Arial" panose="020B0604020202020204" pitchFamily="34" charset="0"/>
              </a:rPr>
              <a:t>The starting point will still be the problem statement or the users.</a:t>
            </a:r>
          </a:p>
        </p:txBody>
      </p:sp>
    </p:spTree>
    <p:extLst>
      <p:ext uri="{BB962C8B-B14F-4D97-AF65-F5344CB8AC3E}">
        <p14:creationId xmlns:p14="http://schemas.microsoft.com/office/powerpoint/2010/main" val="10118073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External Events</a:t>
            </a:r>
            <a:endParaRPr lang="en-US" dirty="0"/>
          </a:p>
        </p:txBody>
      </p:sp>
      <p:sp>
        <p:nvSpPr>
          <p:cNvPr id="3" name="Content Placeholder 2"/>
          <p:cNvSpPr>
            <a:spLocks noGrp="1"/>
          </p:cNvSpPr>
          <p:nvPr>
            <p:ph idx="1"/>
          </p:nvPr>
        </p:nvSpPr>
        <p:spPr/>
        <p:txBody>
          <a:bodyPr/>
          <a:lstStyle/>
          <a:p>
            <a:pPr lvl="1">
              <a:buClrTx/>
            </a:pPr>
            <a:r>
              <a:rPr lang="en-GB" altLang="en-US" dirty="0">
                <a:latin typeface="Arial" panose="020B0604020202020204" pitchFamily="34" charset="0"/>
              </a:rPr>
              <a:t>External events exist outside the system, and are usually initiated by a third party outside the scope of our system.</a:t>
            </a:r>
          </a:p>
          <a:p>
            <a:pPr lvl="2"/>
            <a:r>
              <a:rPr lang="en-GB" altLang="en-US" dirty="0">
                <a:latin typeface="Arial" panose="020B0604020202020204" pitchFamily="34" charset="0"/>
              </a:rPr>
              <a:t>For example, the </a:t>
            </a:r>
            <a:r>
              <a:rPr lang="en-GB" altLang="en-US" dirty="0" smtClean="0">
                <a:latin typeface="Arial" panose="020B0604020202020204" pitchFamily="34" charset="0"/>
              </a:rPr>
              <a:t>users of Library, </a:t>
            </a:r>
            <a:r>
              <a:rPr lang="en-GB" altLang="en-US" dirty="0">
                <a:latin typeface="Arial" panose="020B0604020202020204" pitchFamily="34" charset="0"/>
              </a:rPr>
              <a:t>or the database administrator .</a:t>
            </a:r>
          </a:p>
          <a:p>
            <a:pPr lvl="1">
              <a:buClrTx/>
            </a:pPr>
            <a:r>
              <a:rPr lang="en-GB" altLang="en-US" dirty="0">
                <a:latin typeface="Arial" panose="020B0604020202020204" pitchFamily="34" charset="0"/>
              </a:rPr>
              <a:t>We then document all of the potential interactions that each of these actors may be required to perform.</a:t>
            </a:r>
          </a:p>
          <a:p>
            <a:pPr lvl="2"/>
            <a:r>
              <a:rPr lang="en-GB" altLang="en-US" dirty="0">
                <a:latin typeface="Arial" panose="020B0604020202020204" pitchFamily="34" charset="0"/>
              </a:rPr>
              <a:t>Each of these then becomes a candidate for a use case diagram</a:t>
            </a:r>
            <a:r>
              <a:rPr lang="en-GB" altLang="en-US" dirty="0" smtClean="0">
                <a:latin typeface="Arial" panose="020B0604020202020204" pitchFamily="34" charset="0"/>
              </a:rPr>
              <a:t>.</a:t>
            </a:r>
            <a:endParaRPr lang="en-US" altLang="en-US" dirty="0">
              <a:latin typeface="Arial" panose="020B0604020202020204" pitchFamily="34" charset="0"/>
            </a:endParaRPr>
          </a:p>
          <a:p>
            <a:pPr lvl="2"/>
            <a:endParaRPr lang="en-US" dirty="0" smtClean="0">
              <a:latin typeface="Arial" panose="020B0604020202020204" pitchFamily="34" charset="0"/>
            </a:endParaRPr>
          </a:p>
          <a:p>
            <a:pPr lvl="2"/>
            <a:endParaRPr lang="en-US" dirty="0"/>
          </a:p>
        </p:txBody>
      </p:sp>
      <p:pic>
        <p:nvPicPr>
          <p:cNvPr id="5" name="Picture 4"/>
          <p:cNvPicPr>
            <a:picLocks noChangeAspect="1"/>
          </p:cNvPicPr>
          <p:nvPr/>
        </p:nvPicPr>
        <p:blipFill>
          <a:blip r:embed="rId2"/>
          <a:stretch>
            <a:fillRect/>
          </a:stretch>
        </p:blipFill>
        <p:spPr>
          <a:xfrm>
            <a:off x="1425780" y="4186926"/>
            <a:ext cx="8230967" cy="1531121"/>
          </a:xfrm>
          <a:prstGeom prst="rect">
            <a:avLst/>
          </a:prstGeom>
        </p:spPr>
      </p:pic>
    </p:spTree>
    <p:extLst>
      <p:ext uri="{BB962C8B-B14F-4D97-AF65-F5344CB8AC3E}">
        <p14:creationId xmlns:p14="http://schemas.microsoft.com/office/powerpoint/2010/main" val="15817228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Temporal Events</a:t>
            </a:r>
            <a:endParaRPr lang="en-US" dirty="0"/>
          </a:p>
        </p:txBody>
      </p:sp>
      <p:sp>
        <p:nvSpPr>
          <p:cNvPr id="3" name="Content Placeholder 2"/>
          <p:cNvSpPr>
            <a:spLocks noGrp="1"/>
          </p:cNvSpPr>
          <p:nvPr>
            <p:ph idx="1"/>
          </p:nvPr>
        </p:nvSpPr>
        <p:spPr/>
        <p:txBody>
          <a:bodyPr/>
          <a:lstStyle/>
          <a:p>
            <a:pPr lvl="1">
              <a:buClrTx/>
            </a:pPr>
            <a:r>
              <a:rPr lang="en-GB" altLang="en-US" dirty="0">
                <a:latin typeface="Arial" panose="020B0604020202020204" pitchFamily="34" charset="0"/>
              </a:rPr>
              <a:t>Temporal events are those that occur as a result of reaching a particular point in time.</a:t>
            </a:r>
          </a:p>
          <a:p>
            <a:pPr lvl="2"/>
            <a:r>
              <a:rPr lang="en-GB" altLang="en-US" dirty="0">
                <a:latin typeface="Arial" panose="020B0604020202020204" pitchFamily="34" charset="0"/>
              </a:rPr>
              <a:t>End of the month, so handle salaries</a:t>
            </a:r>
          </a:p>
          <a:p>
            <a:pPr lvl="1">
              <a:buClrTx/>
            </a:pPr>
            <a:r>
              <a:rPr lang="en-GB" altLang="en-US" dirty="0">
                <a:latin typeface="Arial" panose="020B0604020202020204" pitchFamily="34" charset="0"/>
              </a:rPr>
              <a:t>Sometimes these events will be triggered by external entities</a:t>
            </a:r>
          </a:p>
          <a:p>
            <a:pPr lvl="2"/>
            <a:r>
              <a:rPr lang="en-GB" altLang="en-US" dirty="0">
                <a:latin typeface="Arial" panose="020B0604020202020204" pitchFamily="34" charset="0"/>
              </a:rPr>
              <a:t>A user may set up an report that should be mailed to them every week</a:t>
            </a:r>
          </a:p>
          <a:p>
            <a:pPr lvl="1">
              <a:buClrTx/>
            </a:pPr>
            <a:r>
              <a:rPr lang="en-GB" altLang="en-US" dirty="0">
                <a:latin typeface="Arial" panose="020B0604020202020204" pitchFamily="34" charset="0"/>
              </a:rPr>
              <a:t>We determine temporal events by detailing any specific deadlines or recurring functionality.</a:t>
            </a:r>
          </a:p>
          <a:p>
            <a:endParaRPr lang="en-US" dirty="0"/>
          </a:p>
        </p:txBody>
      </p:sp>
    </p:spTree>
    <p:extLst>
      <p:ext uri="{BB962C8B-B14F-4D97-AF65-F5344CB8AC3E}">
        <p14:creationId xmlns:p14="http://schemas.microsoft.com/office/powerpoint/2010/main" val="33318034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State Events</a:t>
            </a:r>
            <a:endParaRPr lang="en-US" dirty="0"/>
          </a:p>
        </p:txBody>
      </p:sp>
      <p:sp>
        <p:nvSpPr>
          <p:cNvPr id="3" name="Content Placeholder 2"/>
          <p:cNvSpPr>
            <a:spLocks noGrp="1"/>
          </p:cNvSpPr>
          <p:nvPr>
            <p:ph idx="1"/>
          </p:nvPr>
        </p:nvSpPr>
        <p:spPr/>
        <p:txBody>
          <a:bodyPr>
            <a:normAutofit lnSpcReduction="10000"/>
          </a:bodyPr>
          <a:lstStyle/>
          <a:p>
            <a:pPr lvl="1">
              <a:buClrTx/>
            </a:pPr>
            <a:r>
              <a:rPr lang="en-GB" altLang="en-US" dirty="0">
                <a:latin typeface="Arial" panose="020B0604020202020204" pitchFamily="34" charset="0"/>
              </a:rPr>
              <a:t>State events are those that occur when the data in a system reaches a point where processing is required.</a:t>
            </a:r>
          </a:p>
          <a:p>
            <a:pPr lvl="2"/>
            <a:r>
              <a:rPr lang="en-GB" altLang="en-US" dirty="0">
                <a:latin typeface="Arial" panose="020B0604020202020204" pitchFamily="34" charset="0"/>
              </a:rPr>
              <a:t>When stock drops below a certain amount, email the procurement department.</a:t>
            </a:r>
          </a:p>
          <a:p>
            <a:pPr lvl="1">
              <a:buClrTx/>
            </a:pPr>
            <a:r>
              <a:rPr lang="en-GB" altLang="en-US" dirty="0">
                <a:latin typeface="Arial" panose="020B0604020202020204" pitchFamily="34" charset="0"/>
              </a:rPr>
              <a:t>Normally these occur as a result of other events.</a:t>
            </a:r>
          </a:p>
          <a:p>
            <a:pPr lvl="2"/>
            <a:r>
              <a:rPr lang="en-GB" altLang="en-US" dirty="0">
                <a:latin typeface="Arial" panose="020B0604020202020204" pitchFamily="34" charset="0"/>
              </a:rPr>
              <a:t>Temporal or state</a:t>
            </a:r>
          </a:p>
          <a:p>
            <a:pPr lvl="2"/>
            <a:r>
              <a:rPr lang="en-GB" altLang="en-US" dirty="0">
                <a:latin typeface="Arial" panose="020B0604020202020204" pitchFamily="34" charset="0"/>
              </a:rPr>
              <a:t>A customer buys a product, which adjusts the stock, which throws up a state event</a:t>
            </a:r>
            <a:r>
              <a:rPr lang="en-GB" altLang="en-US" dirty="0" smtClean="0">
                <a:latin typeface="Arial" panose="020B0604020202020204" pitchFamily="34" charset="0"/>
              </a:rPr>
              <a:t>.</a:t>
            </a:r>
          </a:p>
          <a:p>
            <a:pPr lvl="2"/>
            <a:r>
              <a:rPr lang="en-GB" altLang="en-US" dirty="0" smtClean="0">
                <a:latin typeface="Arial" panose="020B0604020202020204" pitchFamily="34" charset="0"/>
              </a:rPr>
              <a:t>Mostly these will lead to state machine diagrams.</a:t>
            </a:r>
          </a:p>
          <a:p>
            <a:pPr lvl="1">
              <a:buClrTx/>
            </a:pPr>
            <a:r>
              <a:rPr lang="en-GB" altLang="en-US" dirty="0">
                <a:latin typeface="Arial" panose="020B0604020202020204" pitchFamily="34" charset="0"/>
              </a:rPr>
              <a:t>What we get out of this is a list of </a:t>
            </a:r>
            <a:r>
              <a:rPr lang="en-GB" altLang="en-US" b="1" dirty="0">
                <a:latin typeface="Arial" panose="020B0604020202020204" pitchFamily="34" charset="0"/>
              </a:rPr>
              <a:t>candidates</a:t>
            </a:r>
            <a:r>
              <a:rPr lang="en-GB" altLang="en-US" dirty="0">
                <a:latin typeface="Arial" panose="020B0604020202020204" pitchFamily="34" charset="0"/>
              </a:rPr>
              <a:t>.</a:t>
            </a:r>
          </a:p>
          <a:p>
            <a:pPr lvl="2"/>
            <a:r>
              <a:rPr lang="en-GB" altLang="en-US" dirty="0">
                <a:latin typeface="Arial" panose="020B0604020202020204" pitchFamily="34" charset="0"/>
              </a:rPr>
              <a:t>They’re not all going to be worthwhile.</a:t>
            </a:r>
          </a:p>
          <a:p>
            <a:pPr marL="914400" lvl="2" indent="0">
              <a:buNone/>
            </a:pPr>
            <a:endParaRPr lang="en-GB" altLang="en-US" dirty="0">
              <a:latin typeface="Arial" panose="020B0604020202020204" pitchFamily="34" charset="0"/>
            </a:endParaRPr>
          </a:p>
          <a:p>
            <a:pPr lvl="1">
              <a:buClrTx/>
            </a:pPr>
            <a:r>
              <a:rPr lang="en-GB" altLang="en-US" dirty="0">
                <a:latin typeface="Arial" panose="020B0604020202020204" pitchFamily="34" charset="0"/>
              </a:rPr>
              <a:t>The only ones we care about are those that directly affect our system.</a:t>
            </a:r>
          </a:p>
          <a:p>
            <a:pPr marL="457200" lvl="1" indent="0">
              <a:buClrTx/>
              <a:buNone/>
            </a:pPr>
            <a:endParaRPr lang="en-GB" altLang="en-US" dirty="0">
              <a:latin typeface="Arial" panose="020B0604020202020204" pitchFamily="34" charset="0"/>
            </a:endParaRPr>
          </a:p>
          <a:p>
            <a:pPr lvl="1">
              <a:buClrTx/>
            </a:pPr>
            <a:r>
              <a:rPr lang="en-GB" altLang="en-US" dirty="0">
                <a:latin typeface="Arial" panose="020B0604020202020204" pitchFamily="34" charset="0"/>
              </a:rPr>
              <a:t>We need to strive for a consistent level of detail across the events.</a:t>
            </a:r>
          </a:p>
          <a:p>
            <a:pPr lvl="2"/>
            <a:r>
              <a:rPr lang="en-GB" altLang="en-US" dirty="0">
                <a:latin typeface="Arial" panose="020B0604020202020204" pitchFamily="34" charset="0"/>
              </a:rPr>
              <a:t>This may involve breaking some out into multiple events, or combining others.</a:t>
            </a:r>
          </a:p>
          <a:p>
            <a:pPr marL="310896" lvl="2" indent="0">
              <a:buNone/>
            </a:pPr>
            <a:endParaRPr lang="en-GB" altLang="en-US" dirty="0">
              <a:latin typeface="Arial" panose="020B0604020202020204" pitchFamily="34" charset="0"/>
            </a:endParaRPr>
          </a:p>
        </p:txBody>
      </p:sp>
    </p:spTree>
    <p:extLst>
      <p:ext uri="{BB962C8B-B14F-4D97-AF65-F5344CB8AC3E}">
        <p14:creationId xmlns:p14="http://schemas.microsoft.com/office/powerpoint/2010/main" val="367693860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diagrams</a:t>
            </a:r>
            <a:endParaRPr lang="en-US" dirty="0"/>
          </a:p>
        </p:txBody>
      </p:sp>
      <p:sp>
        <p:nvSpPr>
          <p:cNvPr id="3" name="Content Placeholder 2"/>
          <p:cNvSpPr>
            <a:spLocks noGrp="1"/>
          </p:cNvSpPr>
          <p:nvPr>
            <p:ph idx="1"/>
          </p:nvPr>
        </p:nvSpPr>
        <p:spPr/>
        <p:txBody>
          <a:bodyPr/>
          <a:lstStyle/>
          <a:p>
            <a:r>
              <a:rPr lang="en-US" dirty="0"/>
              <a:t>A sequence diagram simply depicts interaction between objects in a sequential order i.e. the order in which these interactions take place. </a:t>
            </a:r>
          </a:p>
          <a:p>
            <a:r>
              <a:rPr lang="en-US" dirty="0"/>
              <a:t>We can also use the terms event diagrams or event scenarios to refer to a sequence diagram. </a:t>
            </a:r>
          </a:p>
          <a:p>
            <a:r>
              <a:rPr lang="en-US" dirty="0"/>
              <a:t>Sequence diagrams describe how and in what order the objects in a system function. </a:t>
            </a:r>
          </a:p>
          <a:p>
            <a:r>
              <a:rPr lang="en-US" dirty="0"/>
              <a:t>These diagrams are widely used by businessmen and software developers to document and understand requirements for new and existing systems.</a:t>
            </a:r>
            <a:endParaRPr lang="en-US" dirty="0"/>
          </a:p>
        </p:txBody>
      </p:sp>
    </p:spTree>
    <p:extLst>
      <p:ext uri="{BB962C8B-B14F-4D97-AF65-F5344CB8AC3E}">
        <p14:creationId xmlns:p14="http://schemas.microsoft.com/office/powerpoint/2010/main" val="20867499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a:t>
            </a:r>
            <a:endParaRPr lang="en-US" dirty="0"/>
          </a:p>
        </p:txBody>
      </p:sp>
      <p:sp>
        <p:nvSpPr>
          <p:cNvPr id="3" name="Content Placeholder 2"/>
          <p:cNvSpPr>
            <a:spLocks noGrp="1"/>
          </p:cNvSpPr>
          <p:nvPr>
            <p:ph idx="1"/>
          </p:nvPr>
        </p:nvSpPr>
        <p:spPr/>
        <p:txBody>
          <a:bodyPr/>
          <a:lstStyle/>
          <a:p>
            <a:r>
              <a:rPr lang="en-US" dirty="0"/>
              <a:t>Represent the details of a UML use case.</a:t>
            </a:r>
          </a:p>
          <a:p>
            <a:r>
              <a:rPr lang="en-US" dirty="0"/>
              <a:t>Model the logic of a sophisticated procedure, function, or operation.</a:t>
            </a:r>
          </a:p>
          <a:p>
            <a:r>
              <a:rPr lang="en-US" dirty="0"/>
              <a:t>See how objects and components interact with each other to complete a process.</a:t>
            </a:r>
          </a:p>
          <a:p>
            <a:r>
              <a:rPr lang="en-US" dirty="0"/>
              <a:t>Plan and understand the detailed functionality of an existing or future scenario.</a:t>
            </a:r>
          </a:p>
          <a:p>
            <a:endParaRPr lang="en-US" dirty="0"/>
          </a:p>
        </p:txBody>
      </p:sp>
    </p:spTree>
    <p:extLst>
      <p:ext uri="{BB962C8B-B14F-4D97-AF65-F5344CB8AC3E}">
        <p14:creationId xmlns:p14="http://schemas.microsoft.com/office/powerpoint/2010/main" val="114425377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Notations</a:t>
            </a:r>
          </a:p>
        </p:txBody>
      </p:sp>
      <p:sp>
        <p:nvSpPr>
          <p:cNvPr id="3" name="Content Placeholder 2"/>
          <p:cNvSpPr>
            <a:spLocks noGrp="1"/>
          </p:cNvSpPr>
          <p:nvPr>
            <p:ph idx="1"/>
          </p:nvPr>
        </p:nvSpPr>
        <p:spPr/>
        <p:txBody>
          <a:bodyPr/>
          <a:lstStyle/>
          <a:p>
            <a:pPr lvl="1">
              <a:buClrTx/>
            </a:pPr>
            <a:r>
              <a:rPr lang="en-GB" altLang="en-US" dirty="0">
                <a:latin typeface="Arial" panose="020B0604020202020204" pitchFamily="34" charset="0"/>
              </a:rPr>
              <a:t>Sequence diagrams consist of a number of </a:t>
            </a:r>
            <a:r>
              <a:rPr lang="en-GB" altLang="en-US" b="1" dirty="0">
                <a:latin typeface="Arial" panose="020B0604020202020204" pitchFamily="34" charset="0"/>
              </a:rPr>
              <a:t>lifelines.</a:t>
            </a:r>
          </a:p>
          <a:p>
            <a:pPr lvl="2"/>
            <a:r>
              <a:rPr lang="en-GB" altLang="en-US" dirty="0">
                <a:latin typeface="Arial" panose="020B0604020202020204" pitchFamily="34" charset="0"/>
              </a:rPr>
              <a:t>These are boxes that represent the roles and lifetimes of objects involved in an interaction.</a:t>
            </a:r>
          </a:p>
          <a:p>
            <a:pPr lvl="1">
              <a:buClrTx/>
            </a:pPr>
            <a:r>
              <a:rPr lang="en-GB" altLang="en-US" dirty="0">
                <a:latin typeface="Arial" panose="020B0604020202020204" pitchFamily="34" charset="0"/>
              </a:rPr>
              <a:t>Each of these life-lines will produce </a:t>
            </a:r>
            <a:r>
              <a:rPr lang="en-GB" altLang="en-US" b="1" dirty="0">
                <a:latin typeface="Arial" panose="020B0604020202020204" pitchFamily="34" charset="0"/>
              </a:rPr>
              <a:t>messages</a:t>
            </a:r>
            <a:r>
              <a:rPr lang="en-GB" altLang="en-US" dirty="0">
                <a:latin typeface="Arial" panose="020B0604020202020204" pitchFamily="34" charset="0"/>
              </a:rPr>
              <a:t>.</a:t>
            </a:r>
          </a:p>
          <a:p>
            <a:pPr lvl="2"/>
            <a:r>
              <a:rPr lang="en-GB" altLang="en-US" dirty="0">
                <a:latin typeface="Arial" panose="020B0604020202020204" pitchFamily="34" charset="0"/>
              </a:rPr>
              <a:t>These are labelled arrows that show the name of methods invoked and their parameters.</a:t>
            </a:r>
          </a:p>
          <a:p>
            <a:pPr lvl="1">
              <a:buClrTx/>
            </a:pPr>
            <a:r>
              <a:rPr lang="en-GB" altLang="en-US" dirty="0">
                <a:latin typeface="Arial" panose="020B0604020202020204" pitchFamily="34" charset="0"/>
              </a:rPr>
              <a:t>Return messages are drawn with the type of the parameter, and a dotted </a:t>
            </a:r>
            <a:r>
              <a:rPr lang="en-GB" altLang="en-US" dirty="0" smtClean="0">
                <a:latin typeface="Arial" panose="020B0604020202020204" pitchFamily="34" charset="0"/>
              </a:rPr>
              <a:t>arrow</a:t>
            </a:r>
          </a:p>
          <a:p>
            <a:pPr lvl="1">
              <a:buClrTx/>
            </a:pPr>
            <a:r>
              <a:rPr lang="en-GB" altLang="en-US" dirty="0">
                <a:latin typeface="Arial" panose="020B0604020202020204" pitchFamily="34" charset="0"/>
              </a:rPr>
              <a:t>The flow of logic through a sequence diagram is often dependent on the state of returned values.</a:t>
            </a:r>
          </a:p>
          <a:p>
            <a:pPr lvl="2"/>
            <a:r>
              <a:rPr lang="en-GB" altLang="en-US" dirty="0">
                <a:latin typeface="Arial" panose="020B0604020202020204" pitchFamily="34" charset="0"/>
              </a:rPr>
              <a:t>Card validity</a:t>
            </a:r>
          </a:p>
          <a:p>
            <a:pPr lvl="2"/>
            <a:r>
              <a:rPr lang="en-GB" altLang="en-US" dirty="0">
                <a:latin typeface="Arial" panose="020B0604020202020204" pitchFamily="34" charset="0"/>
              </a:rPr>
              <a:t>Book availability</a:t>
            </a:r>
          </a:p>
          <a:p>
            <a:pPr lvl="1">
              <a:buClrTx/>
            </a:pPr>
            <a:r>
              <a:rPr lang="en-GB" altLang="en-US" dirty="0">
                <a:latin typeface="Arial" panose="020B0604020202020204" pitchFamily="34" charset="0"/>
              </a:rPr>
              <a:t>We represent these in a sequence diagram through the use of a </a:t>
            </a:r>
            <a:r>
              <a:rPr lang="en-GB" altLang="en-US" b="1" dirty="0">
                <a:latin typeface="Arial" panose="020B0604020202020204" pitchFamily="34" charset="0"/>
              </a:rPr>
              <a:t>frame.</a:t>
            </a:r>
          </a:p>
          <a:p>
            <a:pPr lvl="2"/>
            <a:r>
              <a:rPr lang="en-GB" altLang="en-US" dirty="0">
                <a:latin typeface="Arial" panose="020B0604020202020204" pitchFamily="34" charset="0"/>
              </a:rPr>
              <a:t>This allows us to provide if/else structures in our diagrams.</a:t>
            </a:r>
          </a:p>
          <a:p>
            <a:pPr lvl="2"/>
            <a:r>
              <a:rPr lang="en-GB" altLang="en-US" dirty="0">
                <a:latin typeface="Arial" panose="020B0604020202020204" pitchFamily="34" charset="0"/>
              </a:rPr>
              <a:t>We place a </a:t>
            </a:r>
            <a:r>
              <a:rPr lang="en-GB" altLang="en-US" b="1" dirty="0">
                <a:latin typeface="Arial" panose="020B0604020202020204" pitchFamily="34" charset="0"/>
              </a:rPr>
              <a:t>guard</a:t>
            </a:r>
            <a:r>
              <a:rPr lang="en-GB" altLang="en-US" dirty="0">
                <a:latin typeface="Arial" panose="020B0604020202020204" pitchFamily="34" charset="0"/>
              </a:rPr>
              <a:t> condition on the frame which determines whether a frame should be executed</a:t>
            </a:r>
            <a:endParaRPr lang="en-US" dirty="0"/>
          </a:p>
          <a:p>
            <a:pPr lvl="1">
              <a:buClrTx/>
            </a:pPr>
            <a:endParaRPr lang="en-US" dirty="0"/>
          </a:p>
        </p:txBody>
      </p:sp>
    </p:spTree>
    <p:extLst>
      <p:ext uri="{BB962C8B-B14F-4D97-AF65-F5344CB8AC3E}">
        <p14:creationId xmlns:p14="http://schemas.microsoft.com/office/powerpoint/2010/main" val="6820196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notations</a:t>
            </a:r>
            <a:endParaRPr lang="en-US" dirty="0"/>
          </a:p>
        </p:txBody>
      </p:sp>
      <p:sp>
        <p:nvSpPr>
          <p:cNvPr id="3" name="Content Placeholder 2"/>
          <p:cNvSpPr>
            <a:spLocks noGrp="1"/>
          </p:cNvSpPr>
          <p:nvPr>
            <p:ph idx="1"/>
          </p:nvPr>
        </p:nvSpPr>
        <p:spPr/>
        <p:txBody>
          <a:bodyPr/>
          <a:lstStyle/>
          <a:p>
            <a:pPr lvl="1">
              <a:buClrTx/>
            </a:pPr>
            <a:r>
              <a:rPr lang="en-GB" altLang="en-US" dirty="0">
                <a:latin typeface="Arial" panose="020B0604020202020204" pitchFamily="34" charset="0"/>
              </a:rPr>
              <a:t>In a sequence diagram, the boxes at the top of a lifeline represent objects.</a:t>
            </a:r>
          </a:p>
          <a:p>
            <a:pPr lvl="2"/>
            <a:r>
              <a:rPr lang="en-GB" altLang="en-US" dirty="0">
                <a:latin typeface="Arial" panose="020B0604020202020204" pitchFamily="34" charset="0"/>
              </a:rPr>
              <a:t>Not classes.</a:t>
            </a:r>
          </a:p>
          <a:p>
            <a:pPr lvl="1">
              <a:buClrTx/>
            </a:pPr>
            <a:r>
              <a:rPr lang="en-GB" altLang="en-US" dirty="0">
                <a:latin typeface="Arial" panose="020B0604020202020204" pitchFamily="34" charset="0"/>
              </a:rPr>
              <a:t>As such, they should properly be named and typed.</a:t>
            </a:r>
          </a:p>
          <a:p>
            <a:pPr lvl="2"/>
            <a:r>
              <a:rPr lang="en-GB" altLang="en-US" dirty="0">
                <a:latin typeface="Arial" panose="020B0604020202020204" pitchFamily="34" charset="0"/>
              </a:rPr>
              <a:t>Names are of secondary importance unless we can be sure of a particular context.</a:t>
            </a:r>
          </a:p>
          <a:p>
            <a:pPr lvl="1">
              <a:buClrTx/>
            </a:pPr>
            <a:r>
              <a:rPr lang="en-GB" altLang="en-US" dirty="0">
                <a:latin typeface="Arial" panose="020B0604020202020204" pitchFamily="34" charset="0"/>
              </a:rPr>
              <a:t>We name them anyway so that we can distinguish between instances of a class and potentially static operations (in which case, we have the type only</a:t>
            </a:r>
            <a:r>
              <a:rPr lang="en-GB" altLang="en-US" dirty="0" smtClean="0">
                <a:latin typeface="Arial" panose="020B0604020202020204" pitchFamily="34" charset="0"/>
              </a:rPr>
              <a:t>).</a:t>
            </a:r>
          </a:p>
          <a:p>
            <a:pPr lvl="1">
              <a:buClrTx/>
            </a:pPr>
            <a:r>
              <a:rPr lang="en-US" b="1" dirty="0"/>
              <a:t>Actors –</a:t>
            </a:r>
            <a:r>
              <a:rPr lang="en-US" dirty="0"/>
              <a:t> An actor in a UML diagram represents a type of role where it interacts with the system and its objects. It is important to note here that an actor is always outside the scope of the system we aim to model using the UML diagram.</a:t>
            </a:r>
            <a:br>
              <a:rPr lang="en-US" dirty="0"/>
            </a:br>
            <a:endParaRPr lang="en-GB" altLang="en-US" dirty="0">
              <a:latin typeface="Arial" panose="020B0604020202020204" pitchFamily="34" charset="0"/>
            </a:endParaRPr>
          </a:p>
        </p:txBody>
      </p:sp>
    </p:spTree>
    <p:extLst>
      <p:ext uri="{BB962C8B-B14F-4D97-AF65-F5344CB8AC3E}">
        <p14:creationId xmlns:p14="http://schemas.microsoft.com/office/powerpoint/2010/main" val="27289907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notations</a:t>
            </a:r>
            <a:endParaRPr lang="en-US" dirty="0"/>
          </a:p>
        </p:txBody>
      </p:sp>
      <p:sp>
        <p:nvSpPr>
          <p:cNvPr id="3" name="Content Placeholder 2"/>
          <p:cNvSpPr>
            <a:spLocks noGrp="1"/>
          </p:cNvSpPr>
          <p:nvPr>
            <p:ph idx="1"/>
          </p:nvPr>
        </p:nvSpPr>
        <p:spPr/>
        <p:txBody>
          <a:bodyPr/>
          <a:lstStyle/>
          <a:p>
            <a:r>
              <a:rPr lang="en-US" b="1" dirty="0"/>
              <a:t>Lifelines –</a:t>
            </a:r>
            <a:r>
              <a:rPr lang="en-US" dirty="0"/>
              <a:t> A lifeline is a named element which depicts an individual participant in a sequence diagram. So basically each instance in a sequence diagram is represented by a lifeline. Lifeline elements are located at the top in a sequence diagram.</a:t>
            </a:r>
          </a:p>
          <a:p>
            <a:endParaRPr lang="en-US" dirty="0"/>
          </a:p>
          <a:p>
            <a:endParaRPr lang="en-US" dirty="0"/>
          </a:p>
          <a:p>
            <a:pPr marL="0" indent="0">
              <a:buNone/>
            </a:pPr>
            <a:endParaRPr lang="en-US" dirty="0"/>
          </a:p>
          <a:p>
            <a:endParaRPr lang="en-US" dirty="0"/>
          </a:p>
          <a:p>
            <a:r>
              <a:rPr lang="en-US" dirty="0"/>
              <a:t>A lifeline always portrays an object internal to the system whereas actors are used to depict objects external to the system.</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8807" y="3364145"/>
            <a:ext cx="1539373" cy="1958510"/>
          </a:xfrm>
          <a:prstGeom prst="rect">
            <a:avLst/>
          </a:prstGeom>
        </p:spPr>
      </p:pic>
    </p:spTree>
    <p:extLst>
      <p:ext uri="{BB962C8B-B14F-4D97-AF65-F5344CB8AC3E}">
        <p14:creationId xmlns:p14="http://schemas.microsoft.com/office/powerpoint/2010/main" val="20057418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Messages –</a:t>
            </a:r>
            <a:r>
              <a:rPr lang="en-US" dirty="0"/>
              <a:t> Communication between objects is depicted using messages. The messages appear in a sequential order on the lifeline. We represent messages using arrows. Lifelines and messages form the core of a sequence diagram.</a:t>
            </a:r>
          </a:p>
          <a:p>
            <a:endParaRPr lang="en-US" b="1" dirty="0" smtClean="0"/>
          </a:p>
          <a:p>
            <a:r>
              <a:rPr lang="en-US" b="1" dirty="0" smtClean="0"/>
              <a:t>Recursive </a:t>
            </a:r>
            <a:r>
              <a:rPr lang="en-US" b="1" dirty="0"/>
              <a:t>Message:</a:t>
            </a:r>
            <a:r>
              <a:rPr lang="en-US" dirty="0"/>
              <a:t> A self message sent for recursive purpose is called a recursive message. In other words, it can be said that the recursive message is a special case of the self message as it represents the recursive calls</a:t>
            </a:r>
            <a:r>
              <a:rPr lang="en-US" dirty="0" smtClean="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0580" y="3451873"/>
            <a:ext cx="1707028" cy="50483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0580" y="5059111"/>
            <a:ext cx="693480" cy="755280"/>
          </a:xfrm>
          <a:prstGeom prst="rect">
            <a:avLst/>
          </a:prstGeom>
        </p:spPr>
      </p:pic>
    </p:spTree>
    <p:extLst>
      <p:ext uri="{BB962C8B-B14F-4D97-AF65-F5344CB8AC3E}">
        <p14:creationId xmlns:p14="http://schemas.microsoft.com/office/powerpoint/2010/main" val="26206415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messages</a:t>
            </a:r>
            <a:endParaRPr lang="en-US" dirty="0"/>
          </a:p>
        </p:txBody>
      </p:sp>
      <p:sp>
        <p:nvSpPr>
          <p:cNvPr id="3" name="Content Placeholder 2"/>
          <p:cNvSpPr>
            <a:spLocks noGrp="1"/>
          </p:cNvSpPr>
          <p:nvPr>
            <p:ph idx="1"/>
          </p:nvPr>
        </p:nvSpPr>
        <p:spPr/>
        <p:txBody>
          <a:bodyPr/>
          <a:lstStyle/>
          <a:p>
            <a:r>
              <a:rPr lang="en-US" b="1" dirty="0"/>
              <a:t>Self Message –</a:t>
            </a:r>
            <a:r>
              <a:rPr lang="en-US" dirty="0"/>
              <a:t> Certain scenarios might arise where the object needs to send a message to itself. Such messages are called Self Messages and are represented with a U shaped arrow</a:t>
            </a:r>
            <a:r>
              <a:rPr lang="en-US" dirty="0" smtClean="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1007" y="3421237"/>
            <a:ext cx="1615580" cy="2476715"/>
          </a:xfrm>
          <a:prstGeom prst="rect">
            <a:avLst/>
          </a:prstGeom>
        </p:spPr>
      </p:pic>
    </p:spTree>
    <p:extLst>
      <p:ext uri="{BB962C8B-B14F-4D97-AF65-F5344CB8AC3E}">
        <p14:creationId xmlns:p14="http://schemas.microsoft.com/office/powerpoint/2010/main" val="65459950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notations</a:t>
            </a:r>
            <a:endParaRPr lang="en-US" dirty="0"/>
          </a:p>
        </p:txBody>
      </p:sp>
      <p:sp>
        <p:nvSpPr>
          <p:cNvPr id="3" name="Content Placeholder 2"/>
          <p:cNvSpPr>
            <a:spLocks noGrp="1"/>
          </p:cNvSpPr>
          <p:nvPr>
            <p:ph idx="1"/>
          </p:nvPr>
        </p:nvSpPr>
        <p:spPr/>
        <p:txBody>
          <a:bodyPr/>
          <a:lstStyle/>
          <a:p>
            <a:r>
              <a:rPr lang="en-US" b="1" dirty="0"/>
              <a:t>Activation box:</a:t>
            </a:r>
          </a:p>
          <a:p>
            <a:r>
              <a:rPr lang="en-US" dirty="0"/>
              <a:t>Represents the time needed for an object to complete a task. The longer the task will take, the longer the activation box becomes</a:t>
            </a:r>
            <a:r>
              <a:rPr lang="en-US" dirty="0" smtClean="0"/>
              <a:t>.</a:t>
            </a:r>
            <a:endParaRPr lang="en-US" dirty="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6973" y="3994372"/>
            <a:ext cx="658958" cy="1505378"/>
          </a:xfrm>
          <a:prstGeom prst="rect">
            <a:avLst/>
          </a:prstGeom>
        </p:spPr>
      </p:pic>
    </p:spTree>
    <p:extLst>
      <p:ext uri="{BB962C8B-B14F-4D97-AF65-F5344CB8AC3E}">
        <p14:creationId xmlns:p14="http://schemas.microsoft.com/office/powerpoint/2010/main" val="15640695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Draw a Sequence Diagram</a:t>
            </a:r>
          </a:p>
        </p:txBody>
      </p:sp>
      <p:sp>
        <p:nvSpPr>
          <p:cNvPr id="3" name="Content Placeholder 2"/>
          <p:cNvSpPr>
            <a:spLocks noGrp="1"/>
          </p:cNvSpPr>
          <p:nvPr>
            <p:ph idx="1"/>
          </p:nvPr>
        </p:nvSpPr>
        <p:spPr/>
        <p:txBody>
          <a:bodyPr/>
          <a:lstStyle/>
          <a:p>
            <a:r>
              <a:rPr lang="en-US" dirty="0"/>
              <a:t>A sequence diagram represents the scenario or flow of events in one single use case. The message flow of the sequence diagram is based on the narrative of the particular use case.</a:t>
            </a:r>
          </a:p>
          <a:p>
            <a:r>
              <a:rPr lang="en-US" dirty="0"/>
              <a:t>Then, before you start drawing the sequence diagram or decide what interactions should be included in it, you need to draw the use case diagram  and ready a comprehensive description of what the particular use case does.</a:t>
            </a:r>
            <a:endParaRPr lang="en-US" dirty="0"/>
          </a:p>
        </p:txBody>
      </p:sp>
    </p:spTree>
    <p:extLst>
      <p:ext uri="{BB962C8B-B14F-4D97-AF65-F5344CB8AC3E}">
        <p14:creationId xmlns:p14="http://schemas.microsoft.com/office/powerpoint/2010/main" val="20965776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Library  system </a:t>
            </a:r>
            <a:endParaRPr lang="en-US" dirty="0"/>
          </a:p>
        </p:txBody>
      </p:sp>
      <p:pic>
        <p:nvPicPr>
          <p:cNvPr id="5"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4128" y="2286000"/>
            <a:ext cx="7381139" cy="4022725"/>
          </a:xfrm>
        </p:spPr>
      </p:pic>
    </p:spTree>
    <p:extLst>
      <p:ext uri="{BB962C8B-B14F-4D97-AF65-F5344CB8AC3E}">
        <p14:creationId xmlns:p14="http://schemas.microsoft.com/office/powerpoint/2010/main" val="239446323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Based on previous slide</a:t>
            </a:r>
            <a:endParaRPr lang="en-US" dirty="0"/>
          </a:p>
        </p:txBody>
      </p:sp>
      <p:sp>
        <p:nvSpPr>
          <p:cNvPr id="3" name="Content Placeholder 2"/>
          <p:cNvSpPr>
            <a:spLocks noGrp="1"/>
          </p:cNvSpPr>
          <p:nvPr>
            <p:ph idx="1"/>
          </p:nvPr>
        </p:nvSpPr>
        <p:spPr/>
        <p:txBody>
          <a:bodyPr/>
          <a:lstStyle/>
          <a:p>
            <a:r>
              <a:rPr lang="en-US" dirty="0"/>
              <a:t>From the above use case diagram example of ‘Create New Online Library Account’, we will focus on the use case named ‘Create New User Account’ to draw our sequence diagram example.</a:t>
            </a:r>
          </a:p>
          <a:p>
            <a:r>
              <a:rPr lang="en-US" dirty="0"/>
              <a:t>Before drawing the sequence diagram, it’s necessary to identify the objects or actors that would be involved in creating a new user account. These would be:</a:t>
            </a:r>
          </a:p>
          <a:p>
            <a:r>
              <a:rPr lang="en-US" dirty="0"/>
              <a:t>Librarian</a:t>
            </a:r>
          </a:p>
          <a:p>
            <a:r>
              <a:rPr lang="en-US" dirty="0"/>
              <a:t>Online Library Management system</a:t>
            </a:r>
          </a:p>
          <a:p>
            <a:r>
              <a:rPr lang="en-US" dirty="0"/>
              <a:t>User credentials database</a:t>
            </a:r>
          </a:p>
          <a:p>
            <a:r>
              <a:rPr lang="en-US" dirty="0"/>
              <a:t>Email system</a:t>
            </a:r>
            <a:endParaRPr lang="en-US" dirty="0"/>
          </a:p>
        </p:txBody>
      </p:sp>
    </p:spTree>
    <p:extLst>
      <p:ext uri="{BB962C8B-B14F-4D97-AF65-F5344CB8AC3E}">
        <p14:creationId xmlns:p14="http://schemas.microsoft.com/office/powerpoint/2010/main" val="4267341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Once you identify the objects, it is then important to write a detailed description on what the use case does.</a:t>
            </a:r>
          </a:p>
          <a:p>
            <a:r>
              <a:rPr lang="en-US" dirty="0"/>
              <a:t> From this description, you can easily figure out the interactions (that should go in the sequence diagram) that would occur between the objects above, once the use case is executed.</a:t>
            </a:r>
            <a:endParaRPr lang="en-US" dirty="0"/>
          </a:p>
        </p:txBody>
      </p:sp>
    </p:spTree>
    <p:extLst>
      <p:ext uri="{BB962C8B-B14F-4D97-AF65-F5344CB8AC3E}">
        <p14:creationId xmlns:p14="http://schemas.microsoft.com/office/powerpoint/2010/main" val="79868784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a:t>
            </a:r>
            <a:endParaRPr lang="en-US" dirty="0"/>
          </a:p>
        </p:txBody>
      </p:sp>
      <p:sp>
        <p:nvSpPr>
          <p:cNvPr id="3" name="Content Placeholder 2"/>
          <p:cNvSpPr>
            <a:spLocks noGrp="1"/>
          </p:cNvSpPr>
          <p:nvPr>
            <p:ph idx="1"/>
          </p:nvPr>
        </p:nvSpPr>
        <p:spPr/>
        <p:txBody>
          <a:bodyPr/>
          <a:lstStyle/>
          <a:p>
            <a:r>
              <a:rPr lang="en-US" dirty="0"/>
              <a:t>Here are the steps that occur in the use case named ‘Create New Library User Account’.</a:t>
            </a:r>
          </a:p>
          <a:p>
            <a:r>
              <a:rPr lang="en-US" dirty="0"/>
              <a:t>The librarian request the system to create a new online library account</a:t>
            </a:r>
          </a:p>
          <a:p>
            <a:r>
              <a:rPr lang="en-US" dirty="0"/>
              <a:t>The librarian then selects the library user account type</a:t>
            </a:r>
          </a:p>
          <a:p>
            <a:r>
              <a:rPr lang="en-US" dirty="0"/>
              <a:t>The librarian enters the user’s details</a:t>
            </a:r>
          </a:p>
          <a:p>
            <a:r>
              <a:rPr lang="en-US" dirty="0"/>
              <a:t>The user’s details are checked using the user Credentials Database</a:t>
            </a:r>
          </a:p>
          <a:p>
            <a:r>
              <a:rPr lang="en-US" dirty="0"/>
              <a:t>The new library user account is created</a:t>
            </a:r>
          </a:p>
          <a:p>
            <a:r>
              <a:rPr lang="en-US" dirty="0"/>
              <a:t>A summary of the of the new account’s details are then emailed to the user</a:t>
            </a:r>
            <a:endParaRPr lang="en-US" dirty="0"/>
          </a:p>
        </p:txBody>
      </p:sp>
    </p:spTree>
    <p:extLst>
      <p:ext uri="{BB962C8B-B14F-4D97-AF65-F5344CB8AC3E}">
        <p14:creationId xmlns:p14="http://schemas.microsoft.com/office/powerpoint/2010/main" val="424927004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 product</a:t>
            </a:r>
          </a:p>
        </p:txBody>
      </p:sp>
      <p:sp>
        <p:nvSpPr>
          <p:cNvPr id="3" name="Content Placeholder 2"/>
          <p:cNvSpPr>
            <a:spLocks noGrp="1"/>
          </p:cNvSpPr>
          <p:nvPr>
            <p:ph idx="1"/>
          </p:nvPr>
        </p:nvSpPr>
        <p:spPr/>
        <p:txBody>
          <a:bodyPr/>
          <a:lstStyle/>
          <a:p>
            <a:r>
              <a:rPr lang="en-US" dirty="0"/>
              <a:t>From each of these steps, you can easily specify what messages should be exchanged between the objects in the sequence diagram. Once it’s clear, you can go ahead and start drawing the sequence diagram.</a:t>
            </a:r>
          </a:p>
        </p:txBody>
      </p:sp>
    </p:spTree>
    <p:extLst>
      <p:ext uri="{BB962C8B-B14F-4D97-AF65-F5344CB8AC3E}">
        <p14:creationId xmlns:p14="http://schemas.microsoft.com/office/powerpoint/2010/main" val="39758656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 product</a:t>
            </a:r>
            <a:endParaRPr lang="en-US" dirty="0"/>
          </a:p>
        </p:txBody>
      </p:sp>
      <p:pic>
        <p:nvPicPr>
          <p:cNvPr id="4" name="Content Placeholder 3"/>
          <p:cNvPicPr>
            <a:picLocks noGrp="1" noChangeAspect="1"/>
          </p:cNvPicPr>
          <p:nvPr>
            <p:ph idx="1"/>
          </p:nvPr>
        </p:nvPicPr>
        <p:blipFill>
          <a:blip r:embed="rId2"/>
          <a:stretch>
            <a:fillRect/>
          </a:stretch>
        </p:blipFill>
        <p:spPr>
          <a:xfrm>
            <a:off x="1367328" y="2286000"/>
            <a:ext cx="8246084" cy="4447396"/>
          </a:xfrm>
          <a:prstGeom prst="rect">
            <a:avLst/>
          </a:prstGeom>
        </p:spPr>
      </p:pic>
    </p:spTree>
    <p:extLst>
      <p:ext uri="{BB962C8B-B14F-4D97-AF65-F5344CB8AC3E}">
        <p14:creationId xmlns:p14="http://schemas.microsoft.com/office/powerpoint/2010/main" val="141542655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diagrams</a:t>
            </a:r>
          </a:p>
        </p:txBody>
      </p:sp>
      <p:sp>
        <p:nvSpPr>
          <p:cNvPr id="3" name="Content Placeholder 2"/>
          <p:cNvSpPr>
            <a:spLocks noGrp="1"/>
          </p:cNvSpPr>
          <p:nvPr>
            <p:ph idx="1"/>
          </p:nvPr>
        </p:nvSpPr>
        <p:spPr/>
        <p:txBody>
          <a:bodyPr/>
          <a:lstStyle/>
          <a:p>
            <a:r>
              <a:rPr lang="en-US" dirty="0" smtClean="0"/>
              <a:t>Depict high level objects of the system.</a:t>
            </a:r>
          </a:p>
          <a:p>
            <a:pPr lvl="1"/>
            <a:r>
              <a:rPr lang="en-GB" altLang="en-US" dirty="0">
                <a:latin typeface="Arial" panose="020B0604020202020204" pitchFamily="34" charset="0"/>
              </a:rPr>
              <a:t>The most difficult thing when it comes to building class diagrams is working out which classes to include.</a:t>
            </a:r>
          </a:p>
          <a:p>
            <a:pPr lvl="1"/>
            <a:r>
              <a:rPr lang="en-GB" altLang="en-US" dirty="0">
                <a:latin typeface="Arial" panose="020B0604020202020204" pitchFamily="34" charset="0"/>
              </a:rPr>
              <a:t>Usually we progress from a problem statement or a requirements specification.</a:t>
            </a:r>
          </a:p>
          <a:p>
            <a:pPr lvl="1"/>
            <a:r>
              <a:rPr lang="en-GB" altLang="en-US" dirty="0">
                <a:latin typeface="Arial" panose="020B0604020202020204" pitchFamily="34" charset="0"/>
              </a:rPr>
              <a:t>There are formal techniques that aid in identifying classes.</a:t>
            </a:r>
          </a:p>
          <a:p>
            <a:pPr lvl="1"/>
            <a:r>
              <a:rPr lang="en-GB" altLang="en-US" dirty="0">
                <a:latin typeface="Arial" panose="020B0604020202020204" pitchFamily="34" charset="0"/>
              </a:rPr>
              <a:t>We’ll look at one called Natural Language Analysis.</a:t>
            </a:r>
          </a:p>
          <a:p>
            <a:pPr lvl="1"/>
            <a:r>
              <a:rPr lang="en-GB" altLang="en-US" dirty="0">
                <a:latin typeface="Arial" panose="020B0604020202020204" pitchFamily="34" charset="0"/>
              </a:rPr>
              <a:t>We apply this heuristic process to a description of a problem</a:t>
            </a:r>
            <a:endParaRPr lang="en-US" dirty="0"/>
          </a:p>
        </p:txBody>
      </p:sp>
    </p:spTree>
    <p:extLst>
      <p:ext uri="{BB962C8B-B14F-4D97-AF65-F5344CB8AC3E}">
        <p14:creationId xmlns:p14="http://schemas.microsoft.com/office/powerpoint/2010/main" val="6943071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nla</a:t>
            </a:r>
            <a:endParaRPr lang="en-US" dirty="0"/>
          </a:p>
        </p:txBody>
      </p:sp>
      <p:sp>
        <p:nvSpPr>
          <p:cNvPr id="3" name="Content Placeholder 2"/>
          <p:cNvSpPr>
            <a:spLocks noGrp="1"/>
          </p:cNvSpPr>
          <p:nvPr>
            <p:ph idx="1"/>
          </p:nvPr>
        </p:nvSpPr>
        <p:spPr/>
        <p:txBody>
          <a:bodyPr/>
          <a:lstStyle/>
          <a:p>
            <a:pPr lvl="1">
              <a:buClrTx/>
            </a:pPr>
            <a:r>
              <a:rPr lang="en-GB" altLang="en-US" dirty="0">
                <a:latin typeface="Arial" panose="020B0604020202020204" pitchFamily="34" charset="0"/>
              </a:rPr>
              <a:t>Natural language analysis permits us to obtain a list of </a:t>
            </a:r>
            <a:r>
              <a:rPr lang="en-GB" altLang="en-US" b="1" dirty="0">
                <a:latin typeface="Arial" panose="020B0604020202020204" pitchFamily="34" charset="0"/>
              </a:rPr>
              <a:t>candidate classes</a:t>
            </a:r>
            <a:r>
              <a:rPr lang="en-GB" altLang="en-US" dirty="0">
                <a:latin typeface="Arial" panose="020B0604020202020204" pitchFamily="34" charset="0"/>
              </a:rPr>
              <a:t>, their relationships and their attributes.</a:t>
            </a:r>
          </a:p>
          <a:p>
            <a:pPr lvl="1"/>
            <a:r>
              <a:rPr lang="en-GB" altLang="en-US" dirty="0">
                <a:latin typeface="Arial" panose="020B0604020202020204" pitchFamily="34" charset="0"/>
              </a:rPr>
              <a:t>Natural Language Analysis (NLA) is the process of identifying verbs, adjectives and nouns in a piece of descriptive text.</a:t>
            </a:r>
          </a:p>
          <a:p>
            <a:pPr lvl="2"/>
            <a:r>
              <a:rPr lang="en-GB" altLang="en-US" dirty="0">
                <a:latin typeface="Arial" panose="020B0604020202020204" pitchFamily="34" charset="0"/>
              </a:rPr>
              <a:t>Nouns relate to potential classes</a:t>
            </a:r>
          </a:p>
          <a:p>
            <a:pPr lvl="2"/>
            <a:r>
              <a:rPr lang="en-GB" altLang="en-US" dirty="0">
                <a:latin typeface="Arial" panose="020B0604020202020204" pitchFamily="34" charset="0"/>
              </a:rPr>
              <a:t>Adjectives relate to potential attributes</a:t>
            </a:r>
          </a:p>
          <a:p>
            <a:pPr lvl="2"/>
            <a:r>
              <a:rPr lang="en-GB" altLang="en-US" dirty="0">
                <a:latin typeface="Arial" panose="020B0604020202020204" pitchFamily="34" charset="0"/>
              </a:rPr>
              <a:t>Verbs relate to potential functionality that must be represented.</a:t>
            </a:r>
          </a:p>
        </p:txBody>
      </p:sp>
    </p:spTree>
    <p:extLst>
      <p:ext uri="{BB962C8B-B14F-4D97-AF65-F5344CB8AC3E}">
        <p14:creationId xmlns:p14="http://schemas.microsoft.com/office/powerpoint/2010/main" val="65017793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for identifying classes</a:t>
            </a:r>
          </a:p>
        </p:txBody>
      </p:sp>
      <p:sp>
        <p:nvSpPr>
          <p:cNvPr id="3" name="Content Placeholder 2"/>
          <p:cNvSpPr>
            <a:spLocks noGrp="1"/>
          </p:cNvSpPr>
          <p:nvPr>
            <p:ph idx="1"/>
          </p:nvPr>
        </p:nvSpPr>
        <p:spPr/>
        <p:txBody>
          <a:bodyPr/>
          <a:lstStyle/>
          <a:p>
            <a:pPr lvl="1">
              <a:buClrTx/>
            </a:pPr>
            <a:r>
              <a:rPr lang="en-GB" altLang="en-US" dirty="0">
                <a:latin typeface="Arial" panose="020B0604020202020204" pitchFamily="34" charset="0"/>
              </a:rPr>
              <a:t>We take a piece of text and identify each of these in turns, creating lists.</a:t>
            </a:r>
          </a:p>
          <a:p>
            <a:pPr lvl="2"/>
            <a:r>
              <a:rPr lang="en-GB" altLang="en-US" dirty="0">
                <a:latin typeface="Arial" panose="020B0604020202020204" pitchFamily="34" charset="0"/>
              </a:rPr>
              <a:t>Not everything we identify will be useful or relevant.</a:t>
            </a:r>
          </a:p>
          <a:p>
            <a:pPr lvl="2"/>
            <a:r>
              <a:rPr lang="en-GB" altLang="en-US" dirty="0">
                <a:latin typeface="Arial" panose="020B0604020202020204" pitchFamily="34" charset="0"/>
              </a:rPr>
              <a:t>That is why they are </a:t>
            </a:r>
            <a:r>
              <a:rPr lang="en-GB" altLang="en-US" b="1" dirty="0">
                <a:latin typeface="Arial" panose="020B0604020202020204" pitchFamily="34" charset="0"/>
              </a:rPr>
              <a:t>candidates.</a:t>
            </a:r>
          </a:p>
          <a:p>
            <a:pPr lvl="1">
              <a:buClrTx/>
            </a:pPr>
            <a:r>
              <a:rPr lang="en-GB" altLang="en-US" dirty="0">
                <a:latin typeface="Arial" panose="020B0604020202020204" pitchFamily="34" charset="0"/>
              </a:rPr>
              <a:t>Once we have our lists, we get rid of:</a:t>
            </a:r>
          </a:p>
          <a:p>
            <a:pPr lvl="2"/>
            <a:r>
              <a:rPr lang="en-GB" altLang="en-US" dirty="0">
                <a:latin typeface="Arial" panose="020B0604020202020204" pitchFamily="34" charset="0"/>
              </a:rPr>
              <a:t>Duplicates</a:t>
            </a:r>
          </a:p>
          <a:p>
            <a:pPr lvl="2"/>
            <a:r>
              <a:rPr lang="en-GB" altLang="en-US" dirty="0">
                <a:latin typeface="Arial" panose="020B0604020202020204" pitchFamily="34" charset="0"/>
              </a:rPr>
              <a:t>Irrelevancies</a:t>
            </a:r>
          </a:p>
          <a:p>
            <a:pPr lvl="2"/>
            <a:r>
              <a:rPr lang="en-GB" altLang="en-US" dirty="0">
                <a:latin typeface="Arial" panose="020B0604020202020204" pitchFamily="34" charset="0"/>
              </a:rPr>
              <a:t>Candidates that are out-with our project scope</a:t>
            </a:r>
          </a:p>
          <a:p>
            <a:pPr lvl="1">
              <a:buClrTx/>
            </a:pPr>
            <a:r>
              <a:rPr lang="en-GB" altLang="en-US" dirty="0">
                <a:latin typeface="Arial" panose="020B0604020202020204" pitchFamily="34" charset="0"/>
              </a:rPr>
              <a:t>What we end up with is a ‘first draft’ of a representation of the system.</a:t>
            </a:r>
          </a:p>
        </p:txBody>
      </p:sp>
    </p:spTree>
    <p:extLst>
      <p:ext uri="{BB962C8B-B14F-4D97-AF65-F5344CB8AC3E}">
        <p14:creationId xmlns:p14="http://schemas.microsoft.com/office/powerpoint/2010/main" val="15677047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sp>
        <p:nvSpPr>
          <p:cNvPr id="3" name="Content Placeholder 2"/>
          <p:cNvSpPr>
            <a:spLocks noGrp="1"/>
          </p:cNvSpPr>
          <p:nvPr>
            <p:ph idx="1"/>
          </p:nvPr>
        </p:nvSpPr>
        <p:spPr/>
        <p:txBody>
          <a:bodyPr/>
          <a:lstStyle/>
          <a:p>
            <a:r>
              <a:rPr lang="en-GB" altLang="en-US" dirty="0"/>
              <a:t>We need a system that allows us to manage our library.  It needs to let us add, remove and manipulate books, as well as add, remove and manipulate student details.  It should keep a database of all the books that are available on the shelves and those that are in the storeroom.  Students and lecturers should be able to view our catalogue through a webpage and place holds on the books that they wish to reserve.</a:t>
            </a:r>
          </a:p>
        </p:txBody>
      </p:sp>
    </p:spTree>
    <p:extLst>
      <p:ext uri="{BB962C8B-B14F-4D97-AF65-F5344CB8AC3E}">
        <p14:creationId xmlns:p14="http://schemas.microsoft.com/office/powerpoint/2010/main" val="7187474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Nouns</a:t>
            </a:r>
          </a:p>
        </p:txBody>
      </p:sp>
      <p:sp>
        <p:nvSpPr>
          <p:cNvPr id="3" name="Content Placeholder 2"/>
          <p:cNvSpPr>
            <a:spLocks noGrp="1"/>
          </p:cNvSpPr>
          <p:nvPr>
            <p:ph idx="1"/>
          </p:nvPr>
        </p:nvSpPr>
        <p:spPr/>
        <p:txBody>
          <a:bodyPr/>
          <a:lstStyle/>
          <a:p>
            <a:r>
              <a:rPr lang="en-GB" altLang="en-US" dirty="0"/>
              <a:t>We need a </a:t>
            </a:r>
            <a:r>
              <a:rPr lang="en-GB" altLang="en-US" b="1" dirty="0"/>
              <a:t>system</a:t>
            </a:r>
            <a:r>
              <a:rPr lang="en-GB" altLang="en-US" dirty="0"/>
              <a:t> that allows us to manage our </a:t>
            </a:r>
            <a:r>
              <a:rPr lang="en-GB" altLang="en-US" b="1" dirty="0"/>
              <a:t>library</a:t>
            </a:r>
            <a:r>
              <a:rPr lang="en-GB" altLang="en-US" dirty="0"/>
              <a:t>.  It needs to let us add, remove and manipulate </a:t>
            </a:r>
            <a:r>
              <a:rPr lang="en-GB" altLang="en-US" b="1" dirty="0"/>
              <a:t>books</a:t>
            </a:r>
            <a:r>
              <a:rPr lang="en-GB" altLang="en-US" dirty="0"/>
              <a:t>, as well as add, remove and manipulate </a:t>
            </a:r>
            <a:r>
              <a:rPr lang="en-GB" altLang="en-US" b="1" dirty="0"/>
              <a:t>customer details</a:t>
            </a:r>
            <a:r>
              <a:rPr lang="en-GB" altLang="en-US" dirty="0"/>
              <a:t>.  It should keep a </a:t>
            </a:r>
            <a:r>
              <a:rPr lang="en-GB" altLang="en-US" b="1" dirty="0"/>
              <a:t>database</a:t>
            </a:r>
            <a:r>
              <a:rPr lang="en-GB" altLang="en-US" dirty="0"/>
              <a:t> of all the </a:t>
            </a:r>
            <a:r>
              <a:rPr lang="en-GB" altLang="en-US" b="1" dirty="0"/>
              <a:t>books </a:t>
            </a:r>
            <a:r>
              <a:rPr lang="en-GB" altLang="en-US" dirty="0"/>
              <a:t>that are available on the </a:t>
            </a:r>
            <a:r>
              <a:rPr lang="en-GB" altLang="en-US" b="1" dirty="0"/>
              <a:t>shelves</a:t>
            </a:r>
            <a:r>
              <a:rPr lang="en-GB" altLang="en-US" dirty="0"/>
              <a:t> and those that are in the </a:t>
            </a:r>
            <a:r>
              <a:rPr lang="en-GB" altLang="en-US" b="1" dirty="0"/>
              <a:t>storeroom</a:t>
            </a:r>
            <a:r>
              <a:rPr lang="en-GB" altLang="en-US" dirty="0"/>
              <a:t>.  </a:t>
            </a:r>
            <a:r>
              <a:rPr lang="en-GB" altLang="en-US" b="1" dirty="0"/>
              <a:t>Patrons </a:t>
            </a:r>
            <a:r>
              <a:rPr lang="en-GB" altLang="en-US" dirty="0"/>
              <a:t>should be able to view our </a:t>
            </a:r>
            <a:r>
              <a:rPr lang="en-GB" altLang="en-US" b="1" dirty="0"/>
              <a:t>catalogue</a:t>
            </a:r>
            <a:r>
              <a:rPr lang="en-GB" altLang="en-US" dirty="0"/>
              <a:t> through a </a:t>
            </a:r>
            <a:r>
              <a:rPr lang="en-GB" altLang="en-US" b="1" dirty="0"/>
              <a:t>webpage</a:t>
            </a:r>
            <a:r>
              <a:rPr lang="en-GB" altLang="en-US" dirty="0"/>
              <a:t> and place holds on the </a:t>
            </a:r>
            <a:r>
              <a:rPr lang="en-GB" altLang="en-US" b="1" dirty="0"/>
              <a:t>books</a:t>
            </a:r>
            <a:r>
              <a:rPr lang="en-GB" altLang="en-US" dirty="0"/>
              <a:t> that they wish to reserve.</a:t>
            </a:r>
          </a:p>
        </p:txBody>
      </p:sp>
    </p:spTree>
    <p:extLst>
      <p:ext uri="{BB962C8B-B14F-4D97-AF65-F5344CB8AC3E}">
        <p14:creationId xmlns:p14="http://schemas.microsoft.com/office/powerpoint/2010/main" val="26339633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verbs</a:t>
            </a:r>
          </a:p>
        </p:txBody>
      </p:sp>
      <p:sp>
        <p:nvSpPr>
          <p:cNvPr id="3" name="Content Placeholder 2"/>
          <p:cNvSpPr>
            <a:spLocks noGrp="1"/>
          </p:cNvSpPr>
          <p:nvPr>
            <p:ph idx="1"/>
          </p:nvPr>
        </p:nvSpPr>
        <p:spPr/>
        <p:txBody>
          <a:bodyPr/>
          <a:lstStyle/>
          <a:p>
            <a:r>
              <a:rPr lang="en-GB" altLang="en-US" dirty="0"/>
              <a:t>We need a </a:t>
            </a:r>
            <a:r>
              <a:rPr lang="en-GB" altLang="en-US" b="1" dirty="0"/>
              <a:t>system</a:t>
            </a:r>
            <a:r>
              <a:rPr lang="en-GB" altLang="en-US" dirty="0"/>
              <a:t> that allows us to [manage] our </a:t>
            </a:r>
            <a:r>
              <a:rPr lang="en-GB" altLang="en-US" b="1" dirty="0"/>
              <a:t>library</a:t>
            </a:r>
            <a:r>
              <a:rPr lang="en-GB" altLang="en-US" dirty="0"/>
              <a:t>.  It needs to let us [add], [remove] and [manipulate] </a:t>
            </a:r>
            <a:r>
              <a:rPr lang="en-GB" altLang="en-US" b="1" dirty="0"/>
              <a:t>books</a:t>
            </a:r>
            <a:r>
              <a:rPr lang="en-GB" altLang="en-US" dirty="0"/>
              <a:t>, as well as [add], [remove] and [manipulate] </a:t>
            </a:r>
            <a:r>
              <a:rPr lang="en-GB" altLang="en-US" b="1" dirty="0"/>
              <a:t>customer details</a:t>
            </a:r>
            <a:r>
              <a:rPr lang="en-GB" altLang="en-US" dirty="0"/>
              <a:t>.  It should [keep] a </a:t>
            </a:r>
            <a:r>
              <a:rPr lang="en-GB" altLang="en-US" b="1" dirty="0"/>
              <a:t>database</a:t>
            </a:r>
            <a:r>
              <a:rPr lang="en-GB" altLang="en-US" dirty="0"/>
              <a:t> of all the </a:t>
            </a:r>
            <a:r>
              <a:rPr lang="en-GB" altLang="en-US" b="1" dirty="0"/>
              <a:t>books </a:t>
            </a:r>
            <a:r>
              <a:rPr lang="en-GB" altLang="en-US" dirty="0"/>
              <a:t>that are available on the </a:t>
            </a:r>
            <a:r>
              <a:rPr lang="en-GB" altLang="en-US" b="1" dirty="0"/>
              <a:t>shelves</a:t>
            </a:r>
            <a:r>
              <a:rPr lang="en-GB" altLang="en-US" dirty="0"/>
              <a:t> and those that are in the </a:t>
            </a:r>
            <a:r>
              <a:rPr lang="en-GB" altLang="en-US" b="1" dirty="0"/>
              <a:t>storeroom</a:t>
            </a:r>
            <a:r>
              <a:rPr lang="en-GB" altLang="en-US" dirty="0"/>
              <a:t>.  </a:t>
            </a:r>
            <a:r>
              <a:rPr lang="en-GB" altLang="en-US" b="1" dirty="0"/>
              <a:t>patrons</a:t>
            </a:r>
            <a:r>
              <a:rPr lang="en-GB" altLang="en-US" dirty="0"/>
              <a:t> should be able to [view] our </a:t>
            </a:r>
            <a:r>
              <a:rPr lang="en-GB" altLang="en-US" b="1" dirty="0"/>
              <a:t>catalogue</a:t>
            </a:r>
            <a:r>
              <a:rPr lang="en-GB" altLang="en-US" dirty="0"/>
              <a:t> through a </a:t>
            </a:r>
            <a:r>
              <a:rPr lang="en-GB" altLang="en-US" b="1" dirty="0"/>
              <a:t>webpage</a:t>
            </a:r>
            <a:r>
              <a:rPr lang="en-GB" altLang="en-US" dirty="0"/>
              <a:t> and [place] holds on the </a:t>
            </a:r>
            <a:r>
              <a:rPr lang="en-GB" altLang="en-US" b="1" dirty="0"/>
              <a:t>books</a:t>
            </a:r>
            <a:r>
              <a:rPr lang="en-GB" altLang="en-US" dirty="0"/>
              <a:t> that they wish to reserve.</a:t>
            </a:r>
          </a:p>
        </p:txBody>
      </p:sp>
    </p:spTree>
    <p:extLst>
      <p:ext uri="{BB962C8B-B14F-4D97-AF65-F5344CB8AC3E}">
        <p14:creationId xmlns:p14="http://schemas.microsoft.com/office/powerpoint/2010/main" val="30503317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Candidates</a:t>
            </a:r>
          </a:p>
        </p:txBody>
      </p:sp>
      <p:sp>
        <p:nvSpPr>
          <p:cNvPr id="3" name="Content Placeholder 2"/>
          <p:cNvSpPr>
            <a:spLocks noGrp="1"/>
          </p:cNvSpPr>
          <p:nvPr>
            <p:ph idx="1"/>
          </p:nvPr>
        </p:nvSpPr>
        <p:spPr/>
        <p:txBody>
          <a:bodyPr/>
          <a:lstStyle/>
          <a:p>
            <a:pPr lvl="1">
              <a:buClrTx/>
            </a:pPr>
            <a:r>
              <a:rPr lang="en-GB" altLang="en-US" dirty="0">
                <a:latin typeface="Arial" panose="020B0604020202020204" pitchFamily="34" charset="0"/>
              </a:rPr>
              <a:t>This gives us an initial list of possible classes and actions:</a:t>
            </a:r>
            <a:endParaRPr lang="en-GB" altLang="en-US" dirty="0">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1404575" y="2977738"/>
            <a:ext cx="8169348" cy="1688738"/>
          </a:xfrm>
          <a:prstGeom prst="rect">
            <a:avLst/>
          </a:prstGeom>
        </p:spPr>
      </p:pic>
    </p:spTree>
    <p:extLst>
      <p:ext uri="{BB962C8B-B14F-4D97-AF65-F5344CB8AC3E}">
        <p14:creationId xmlns:p14="http://schemas.microsoft.com/office/powerpoint/2010/main" val="14696987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 development</a:t>
            </a:r>
          </a:p>
        </p:txBody>
      </p:sp>
      <p:sp>
        <p:nvSpPr>
          <p:cNvPr id="3" name="Content Placeholder 2"/>
          <p:cNvSpPr>
            <a:spLocks noGrp="1"/>
          </p:cNvSpPr>
          <p:nvPr>
            <p:ph idx="1"/>
          </p:nvPr>
        </p:nvSpPr>
        <p:spPr/>
        <p:txBody>
          <a:bodyPr/>
          <a:lstStyle/>
          <a:p>
            <a:pPr lvl="1">
              <a:buClrTx/>
            </a:pPr>
            <a:r>
              <a:rPr lang="en-GB" altLang="en-US" dirty="0">
                <a:latin typeface="Arial" panose="020B0604020202020204" pitchFamily="34" charset="0"/>
              </a:rPr>
              <a:t>Having been given a list of classes and actions, we need to assign actions to classes.</a:t>
            </a:r>
          </a:p>
          <a:p>
            <a:pPr lvl="2"/>
            <a:r>
              <a:rPr lang="en-GB" altLang="en-US" dirty="0">
                <a:latin typeface="Arial" panose="020B0604020202020204" pitchFamily="34" charset="0"/>
              </a:rPr>
              <a:t>We can use this to build up our first class representation.</a:t>
            </a:r>
          </a:p>
          <a:p>
            <a:pPr lvl="1">
              <a:buClrTx/>
            </a:pPr>
            <a:r>
              <a:rPr lang="en-GB" altLang="en-US" dirty="0">
                <a:latin typeface="Arial" panose="020B0604020202020204" pitchFamily="34" charset="0"/>
              </a:rPr>
              <a:t>Assigning functionality can be difficult.</a:t>
            </a:r>
          </a:p>
          <a:p>
            <a:pPr lvl="2"/>
            <a:r>
              <a:rPr lang="en-GB" altLang="en-US" dirty="0">
                <a:latin typeface="Arial" panose="020B0604020202020204" pitchFamily="34" charset="0"/>
              </a:rPr>
              <a:t>We want it to be stored as close to the data that it is using as possible.</a:t>
            </a:r>
          </a:p>
          <a:p>
            <a:pPr lvl="2"/>
            <a:r>
              <a:rPr lang="en-GB" altLang="en-US" dirty="0">
                <a:latin typeface="Arial" panose="020B0604020202020204" pitchFamily="34" charset="0"/>
              </a:rPr>
              <a:t>We want it to be stored in as high a level of abstraction as it can to ensure maximum maintainability</a:t>
            </a:r>
            <a:r>
              <a:rPr lang="en-GB" altLang="en-US" dirty="0" smtClean="0">
                <a:latin typeface="Arial" panose="020B0604020202020204" pitchFamily="34" charset="0"/>
              </a:rPr>
              <a:t>.</a:t>
            </a:r>
            <a:endParaRPr lang="en-GB" altLang="en-US" dirty="0">
              <a:latin typeface="Arial" panose="020B0604020202020204" pitchFamily="34" charset="0"/>
            </a:endParaRPr>
          </a:p>
          <a:p>
            <a:pPr lvl="1">
              <a:buClrTx/>
            </a:pPr>
            <a:r>
              <a:rPr lang="en-GB" altLang="en-US" dirty="0">
                <a:latin typeface="Arial" panose="020B0604020202020204" pitchFamily="34" charset="0"/>
              </a:rPr>
              <a:t>Constructing the class diagram will help refine our candidates.</a:t>
            </a:r>
          </a:p>
          <a:p>
            <a:pPr lvl="2"/>
            <a:r>
              <a:rPr lang="en-GB" altLang="en-US" dirty="0">
                <a:latin typeface="Arial" panose="020B0604020202020204" pitchFamily="34" charset="0"/>
              </a:rPr>
              <a:t>If we have a class that has no functionality or data associated with it, we probably don’t need it.</a:t>
            </a:r>
          </a:p>
          <a:p>
            <a:pPr lvl="1">
              <a:buClrTx/>
            </a:pPr>
            <a:r>
              <a:rPr lang="en-GB" altLang="en-US" dirty="0">
                <a:latin typeface="Arial" panose="020B0604020202020204" pitchFamily="34" charset="0"/>
              </a:rPr>
              <a:t>If we have a class that contains only one single piece of data, it is probably better represented as an attribute in another class.</a:t>
            </a:r>
          </a:p>
          <a:p>
            <a:pPr lvl="2"/>
            <a:r>
              <a:rPr lang="en-GB" altLang="en-US" dirty="0">
                <a:latin typeface="Arial" panose="020B0604020202020204" pitchFamily="34" charset="0"/>
              </a:rPr>
              <a:t>At this point, we are still on the first draft.</a:t>
            </a:r>
          </a:p>
          <a:p>
            <a:pPr lvl="3"/>
            <a:r>
              <a:rPr lang="en-GB" altLang="en-US" dirty="0">
                <a:latin typeface="Arial" panose="020B0604020202020204" pitchFamily="34" charset="0"/>
              </a:rPr>
              <a:t>This is the draft that lets us go back to those for whom we are building the software.</a:t>
            </a:r>
          </a:p>
          <a:p>
            <a:pPr lvl="2"/>
            <a:endParaRPr lang="en-GB" altLang="en-US" dirty="0">
              <a:latin typeface="Arial" panose="020B0604020202020204" pitchFamily="34" charset="0"/>
            </a:endParaRPr>
          </a:p>
        </p:txBody>
      </p:sp>
    </p:spTree>
    <p:extLst>
      <p:ext uri="{BB962C8B-B14F-4D97-AF65-F5344CB8AC3E}">
        <p14:creationId xmlns:p14="http://schemas.microsoft.com/office/powerpoint/2010/main" val="2557205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Refining class diagram</a:t>
            </a:r>
            <a:endParaRPr lang="en-US" dirty="0"/>
          </a:p>
        </p:txBody>
      </p:sp>
      <p:sp>
        <p:nvSpPr>
          <p:cNvPr id="3" name="Content Placeholder 2"/>
          <p:cNvSpPr>
            <a:spLocks noGrp="1"/>
          </p:cNvSpPr>
          <p:nvPr>
            <p:ph idx="1"/>
          </p:nvPr>
        </p:nvSpPr>
        <p:spPr/>
        <p:txBody>
          <a:bodyPr/>
          <a:lstStyle/>
          <a:p>
            <a:pPr lvl="1">
              <a:buClrTx/>
            </a:pPr>
            <a:r>
              <a:rPr lang="en-GB" altLang="en-US" dirty="0">
                <a:latin typeface="Arial" panose="020B0604020202020204" pitchFamily="34" charset="0"/>
              </a:rPr>
              <a:t>Look at the functionality we have linked to a book.</a:t>
            </a:r>
          </a:p>
          <a:p>
            <a:pPr lvl="2"/>
            <a:r>
              <a:rPr lang="en-GB" altLang="en-US" dirty="0">
                <a:latin typeface="Arial" panose="020B0604020202020204" pitchFamily="34" charset="0"/>
              </a:rPr>
              <a:t>Add books (okay)</a:t>
            </a:r>
          </a:p>
          <a:p>
            <a:pPr lvl="2"/>
            <a:r>
              <a:rPr lang="en-GB" altLang="en-US" dirty="0">
                <a:latin typeface="Arial" panose="020B0604020202020204" pitchFamily="34" charset="0"/>
              </a:rPr>
              <a:t>Remove books (okay)</a:t>
            </a:r>
          </a:p>
          <a:p>
            <a:pPr lvl="2"/>
            <a:r>
              <a:rPr lang="en-GB" altLang="en-US" dirty="0">
                <a:latin typeface="Arial" panose="020B0604020202020204" pitchFamily="34" charset="0"/>
              </a:rPr>
              <a:t>Manipulate books (ambiguous)</a:t>
            </a:r>
          </a:p>
          <a:p>
            <a:pPr lvl="1">
              <a:buClrTx/>
            </a:pPr>
            <a:r>
              <a:rPr lang="en-GB" altLang="en-US" dirty="0">
                <a:latin typeface="Arial" panose="020B0604020202020204" pitchFamily="34" charset="0"/>
              </a:rPr>
              <a:t>Perhaps that means ‘edit’ book details, but we’d need to check.</a:t>
            </a:r>
          </a:p>
          <a:p>
            <a:pPr lvl="1">
              <a:buClrTx/>
            </a:pPr>
            <a:r>
              <a:rPr lang="en-GB" altLang="en-US" dirty="0">
                <a:latin typeface="Arial" panose="020B0604020202020204" pitchFamily="34" charset="0"/>
              </a:rPr>
              <a:t>If it means edit the details, what kinds of details do we need?</a:t>
            </a:r>
          </a:p>
        </p:txBody>
      </p:sp>
    </p:spTree>
    <p:extLst>
      <p:ext uri="{BB962C8B-B14F-4D97-AF65-F5344CB8AC3E}">
        <p14:creationId xmlns:p14="http://schemas.microsoft.com/office/powerpoint/2010/main" val="3279622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Draft diagram</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0991" y="2341146"/>
            <a:ext cx="5674407" cy="4112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92302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3091</TotalTime>
  <Words>3205</Words>
  <Application>Microsoft Office PowerPoint</Application>
  <PresentationFormat>Widescreen</PresentationFormat>
  <Paragraphs>268</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Tw Cen MT</vt:lpstr>
      <vt:lpstr>Tw Cen MT Condensed</vt:lpstr>
      <vt:lpstr>Wingdings</vt:lpstr>
      <vt:lpstr>Wingdings 3</vt:lpstr>
      <vt:lpstr>Integral</vt:lpstr>
      <vt:lpstr>System design and modeling</vt:lpstr>
      <vt:lpstr>System modeling</vt:lpstr>
      <vt:lpstr>Use of graphical models</vt:lpstr>
      <vt:lpstr>Existing and planned system models</vt:lpstr>
      <vt:lpstr>System perspectives</vt:lpstr>
      <vt:lpstr>Context models</vt:lpstr>
      <vt:lpstr>stem boundaries</vt:lpstr>
      <vt:lpstr>The context of the MHC-PMS </vt:lpstr>
      <vt:lpstr>Process perspective</vt:lpstr>
      <vt:lpstr>Process model of involuntary detention </vt:lpstr>
      <vt:lpstr>Structural models</vt:lpstr>
      <vt:lpstr>Behavioral models</vt:lpstr>
      <vt:lpstr>Uml basics</vt:lpstr>
      <vt:lpstr>UNIFIED PROCESS model</vt:lpstr>
      <vt:lpstr>NEED FOR UNIFIED LANGUAGE</vt:lpstr>
      <vt:lpstr>NEED FOR UNIFIED LANGUAGE</vt:lpstr>
      <vt:lpstr>Building blocks</vt:lpstr>
      <vt:lpstr>Building blocks</vt:lpstr>
      <vt:lpstr>UML diagram</vt:lpstr>
      <vt:lpstr>Structural Diagrams (Static) </vt:lpstr>
      <vt:lpstr>Behavioral  Diagrams (Dynamic)</vt:lpstr>
      <vt:lpstr>Use Case Diagram</vt:lpstr>
      <vt:lpstr>Use Case Diagram</vt:lpstr>
      <vt:lpstr>Use case relationships</vt:lpstr>
      <vt:lpstr>Modeling use cases</vt:lpstr>
      <vt:lpstr>System events</vt:lpstr>
      <vt:lpstr>External Events</vt:lpstr>
      <vt:lpstr>Temporal Events</vt:lpstr>
      <vt:lpstr>State Events</vt:lpstr>
      <vt:lpstr>Sequence diagrams</vt:lpstr>
      <vt:lpstr>benefits</vt:lpstr>
      <vt:lpstr>Notations</vt:lpstr>
      <vt:lpstr>notations</vt:lpstr>
      <vt:lpstr>notations</vt:lpstr>
      <vt:lpstr>PowerPoint Presentation</vt:lpstr>
      <vt:lpstr>messages</vt:lpstr>
      <vt:lpstr>notations</vt:lpstr>
      <vt:lpstr>How to Draw a Sequence Diagram</vt:lpstr>
      <vt:lpstr>Library  system </vt:lpstr>
      <vt:lpstr>Based on previous slide</vt:lpstr>
      <vt:lpstr>PowerPoint Presentation</vt:lpstr>
      <vt:lpstr>steps</vt:lpstr>
      <vt:lpstr>Final product</vt:lpstr>
      <vt:lpstr>Final product</vt:lpstr>
      <vt:lpstr>Class diagrams</vt:lpstr>
      <vt:lpstr>nla</vt:lpstr>
      <vt:lpstr>Process for identifying classes</vt:lpstr>
      <vt:lpstr>Example </vt:lpstr>
      <vt:lpstr>Nouns</vt:lpstr>
      <vt:lpstr>verbs</vt:lpstr>
      <vt:lpstr>Candidates</vt:lpstr>
      <vt:lpstr>Class diagram development</vt:lpstr>
      <vt:lpstr>Refining class diagram</vt:lpstr>
      <vt:lpstr>Draft diagram</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design and modeling</dc:title>
  <dc:creator>Windows 用户</dc:creator>
  <cp:lastModifiedBy>Windows 用户</cp:lastModifiedBy>
  <cp:revision>21</cp:revision>
  <dcterms:created xsi:type="dcterms:W3CDTF">2022-07-17T18:58:01Z</dcterms:created>
  <dcterms:modified xsi:type="dcterms:W3CDTF">2022-07-22T07:24:00Z</dcterms:modified>
</cp:coreProperties>
</file>