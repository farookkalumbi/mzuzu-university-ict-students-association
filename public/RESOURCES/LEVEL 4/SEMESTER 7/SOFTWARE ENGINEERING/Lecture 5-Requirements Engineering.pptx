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79" r:id="rId26"/>
    <p:sldId id="281"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6" r:id="rId40"/>
    <p:sldId id="297" r:id="rId41"/>
    <p:sldId id="298" r:id="rId42"/>
    <p:sldId id="299" r:id="rId43"/>
    <p:sldId id="300" r:id="rId44"/>
    <p:sldId id="301" r:id="rId45"/>
    <p:sldId id="307" r:id="rId46"/>
    <p:sldId id="302" r:id="rId47"/>
    <p:sldId id="303" r:id="rId48"/>
    <p:sldId id="304" r:id="rId49"/>
    <p:sldId id="305" r:id="rId50"/>
    <p:sldId id="306" r:id="rId51"/>
    <p:sldId id="282"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9" d="100"/>
          <a:sy n="89" d="100"/>
        </p:scale>
        <p:origin x="42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7/23/2022</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r>
              <a:rPr lang="en-US" dirty="0"/>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dirty="0"/>
              <a:t>7/23/2022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7/23/2022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7/23/2022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7/23/2022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7/23/2022</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7/23/2022</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7/23/2022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7/23/2022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7/23/2022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7/23/2022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7/23/2022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7/23/2022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7/23/2022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7/23/2022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7/23/2022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7/23/2022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7/23/2022</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r>
              <a:rPr lang="en-US" dirty="0"/>
              <a:t>
              </a:t>
            </a:r>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REQUIREMENTS ENGINEERING</a:t>
            </a:r>
            <a:endParaRPr lang="en-US" dirty="0"/>
          </a:p>
        </p:txBody>
      </p:sp>
      <p:sp>
        <p:nvSpPr>
          <p:cNvPr id="3" name="Subtitle 2"/>
          <p:cNvSpPr>
            <a:spLocks noGrp="1"/>
          </p:cNvSpPr>
          <p:nvPr>
            <p:ph type="subTitle" idx="1"/>
          </p:nvPr>
        </p:nvSpPr>
        <p:spPr/>
        <p:txBody>
          <a:bodyPr/>
          <a:lstStyle/>
          <a:p>
            <a:r>
              <a:rPr lang="en-US" dirty="0" smtClean="0"/>
              <a:t>Functional and non functional</a:t>
            </a:r>
            <a:endParaRPr lang="en-US" dirty="0"/>
          </a:p>
        </p:txBody>
      </p:sp>
    </p:spTree>
    <p:extLst>
      <p:ext uri="{BB962C8B-B14F-4D97-AF65-F5344CB8AC3E}">
        <p14:creationId xmlns:p14="http://schemas.microsoft.com/office/powerpoint/2010/main" val="1374916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Functional and non-functional requirements</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The software requirements specification document (SRS)</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Requirements specification</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Requirements engineering processes</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Requirements elicitation and analysis</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Requirements validation</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Requirements management</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marL="0" indent="0">
              <a:buNone/>
            </a:pPr>
            <a:endParaRPr 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0687859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Requirements engineering</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process of establishing the </a:t>
            </a:r>
            <a:r>
              <a:rPr lang="en-GB" i="1"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services</a:t>
            </a:r>
            <a:r>
              <a:rPr lang="en-GB" dirty="0">
                <a:latin typeface="Arial" panose="020B0604020202020204" pitchFamily="34" charset="0"/>
                <a:ea typeface="ＭＳ Ｐゴシック" panose="020B0600070205080204" pitchFamily="34" charset="-128"/>
                <a:cs typeface="Arial" panose="020B0604020202020204" pitchFamily="34" charset="0"/>
              </a:rPr>
              <a:t> that the customer requires from a system and the </a:t>
            </a:r>
            <a:r>
              <a:rPr lang="en-GB" i="1"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constraints</a:t>
            </a: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 </a:t>
            </a:r>
            <a:r>
              <a:rPr lang="en-GB" dirty="0">
                <a:latin typeface="Arial" panose="020B0604020202020204" pitchFamily="34" charset="0"/>
                <a:ea typeface="ＭＳ Ｐゴシック" panose="020B0600070205080204" pitchFamily="34" charset="-128"/>
                <a:cs typeface="Arial" panose="020B0604020202020204" pitchFamily="34" charset="0"/>
              </a:rPr>
              <a:t>under which it operates and is developed.</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requirements themselves are the descriptions of the system services and constraints that are generated during the requirements engineering process.</a:t>
            </a:r>
          </a:p>
        </p:txBody>
      </p:sp>
    </p:spTree>
    <p:extLst>
      <p:ext uri="{BB962C8B-B14F-4D97-AF65-F5344CB8AC3E}">
        <p14:creationId xmlns:p14="http://schemas.microsoft.com/office/powerpoint/2010/main" val="35346128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What is a requirement?</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It may range from a high-level abstract statement of a service or of a system constraint to a detailed mathematical functional specification.</a:t>
            </a:r>
          </a:p>
          <a:p>
            <a:pPr>
              <a:lnSpc>
                <a:spcPct val="90000"/>
              </a:lnSpc>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This is inevitable as requirements may serve a dual function:</a:t>
            </a:r>
          </a:p>
          <a:p>
            <a:pPr lvl="1">
              <a:lnSpc>
                <a:spcPct val="90000"/>
              </a:lnSpc>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May be the basis for a bid for a contract - therefore must be open to interpretation;</a:t>
            </a:r>
          </a:p>
          <a:p>
            <a:pPr lvl="1">
              <a:lnSpc>
                <a:spcPct val="90000"/>
              </a:lnSpc>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May be the basis for the contract itself - therefore must be defined in detail;</a:t>
            </a:r>
          </a:p>
        </p:txBody>
      </p:sp>
    </p:spTree>
    <p:extLst>
      <p:ext uri="{BB962C8B-B14F-4D97-AF65-F5344CB8AC3E}">
        <p14:creationId xmlns:p14="http://schemas.microsoft.com/office/powerpoint/2010/main" val="37475312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Types of requirement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User requirements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Statements in natural language plus diagrams of the services the system provides and its operational constraints. Written for customers.</a:t>
            </a:r>
          </a:p>
          <a:p>
            <a:pPr>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System requirements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A structured document setting out detailed descriptions of the system’s functions, services and operational constraints. Defines what should be implemented so may be part of a contract between client and contractor.</a:t>
            </a:r>
          </a:p>
        </p:txBody>
      </p:sp>
    </p:spTree>
    <p:extLst>
      <p:ext uri="{BB962C8B-B14F-4D97-AF65-F5344CB8AC3E}">
        <p14:creationId xmlns:p14="http://schemas.microsoft.com/office/powerpoint/2010/main" val="26796762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User and system requirements</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7185" y="2389862"/>
            <a:ext cx="7229742" cy="4270873"/>
          </a:xfrm>
        </p:spPr>
      </p:pic>
    </p:spTree>
    <p:extLst>
      <p:ext uri="{BB962C8B-B14F-4D97-AF65-F5344CB8AC3E}">
        <p14:creationId xmlns:p14="http://schemas.microsoft.com/office/powerpoint/2010/main" val="21803066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761413" cy="949136"/>
          </a:xfrm>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Readers of different types of requirements specification</a:t>
            </a:r>
            <a:r>
              <a:rPr lang="en-GB" dirty="0">
                <a:latin typeface="Arial" panose="020B0604020202020204" pitchFamily="34" charset="0"/>
                <a:ea typeface="ＭＳ Ｐゴシック" panose="020B0600070205080204" pitchFamily="34" charset="-128"/>
                <a:cs typeface="Arial" panose="020B0604020202020204" pitchFamily="34" charset="0"/>
              </a:rPr>
              <a:t> </a:t>
            </a:r>
            <a:endParaRPr lang="en-US" dirty="0"/>
          </a:p>
        </p:txBody>
      </p:sp>
      <p:pic>
        <p:nvPicPr>
          <p:cNvPr id="4" name="Content Placeholder 3"/>
          <p:cNvPicPr>
            <a:picLocks noGrp="1" noChangeAspect="1"/>
          </p:cNvPicPr>
          <p:nvPr>
            <p:ph idx="1"/>
          </p:nvPr>
        </p:nvPicPr>
        <p:blipFill>
          <a:blip r:embed="rId2"/>
          <a:stretch>
            <a:fillRect/>
          </a:stretch>
        </p:blipFill>
        <p:spPr>
          <a:xfrm>
            <a:off x="1905712" y="2617892"/>
            <a:ext cx="6481859" cy="3626677"/>
          </a:xfrm>
          <a:prstGeom prst="rect">
            <a:avLst/>
          </a:prstGeom>
        </p:spPr>
      </p:pic>
    </p:spTree>
    <p:extLst>
      <p:ext uri="{BB962C8B-B14F-4D97-AF65-F5344CB8AC3E}">
        <p14:creationId xmlns:p14="http://schemas.microsoft.com/office/powerpoint/2010/main" val="5563353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7"/>
            <a:ext cx="8761413" cy="1077323"/>
          </a:xfrm>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Functional and non-functional requirements</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Functional requirements</a:t>
            </a:r>
          </a:p>
          <a:p>
            <a:pPr lvl="1">
              <a:lnSpc>
                <a:spcPct val="90000"/>
              </a:lnSpc>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Statements of services the system should provide, how the system should react to particular inputs and how the system should behave in particular situations.</a:t>
            </a:r>
          </a:p>
          <a:p>
            <a:pPr lvl="1">
              <a:lnSpc>
                <a:spcPct val="90000"/>
              </a:lnSpc>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May state what the system should not do.</a:t>
            </a:r>
          </a:p>
          <a:p>
            <a:pPr>
              <a:lnSpc>
                <a:spcPct val="90000"/>
              </a:lnSpc>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Non-functional requirements</a:t>
            </a:r>
          </a:p>
          <a:p>
            <a:pPr lvl="1">
              <a:lnSpc>
                <a:spcPct val="90000"/>
              </a:lnSpc>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Constraints on the services or functions offered by the system such as timing constraints, constraints on the development process, standards, etc.</a:t>
            </a:r>
          </a:p>
          <a:p>
            <a:pPr lvl="1">
              <a:lnSpc>
                <a:spcPct val="90000"/>
              </a:lnSpc>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Often apply to the system as a whole rather than individual features or services.</a:t>
            </a:r>
          </a:p>
          <a:p>
            <a:pPr>
              <a:lnSpc>
                <a:spcPct val="90000"/>
              </a:lnSpc>
              <a:buFont typeface="Wingdings" panose="05000000000000000000" pitchFamily="2" charset="2"/>
              <a:buChar char="²"/>
            </a:pPr>
            <a:endPar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3206074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Functional requirements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Describe </a:t>
            </a:r>
            <a:r>
              <a:rPr lang="en-GB" i="1"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functionality</a:t>
            </a:r>
            <a:r>
              <a:rPr lang="en-GB" dirty="0">
                <a:latin typeface="Arial" panose="020B0604020202020204" pitchFamily="34" charset="0"/>
                <a:ea typeface="ＭＳ Ｐゴシック" panose="020B0600070205080204" pitchFamily="34" charset="-128"/>
                <a:cs typeface="Arial" panose="020B0604020202020204" pitchFamily="34" charset="0"/>
              </a:rPr>
              <a:t> or </a:t>
            </a:r>
            <a:r>
              <a:rPr lang="en-GB"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system</a:t>
            </a:r>
            <a:r>
              <a:rPr lang="en-GB" i="1"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 services</a:t>
            </a:r>
            <a:r>
              <a:rPr lang="en-GB" dirty="0">
                <a:latin typeface="Arial" panose="020B0604020202020204" pitchFamily="34" charset="0"/>
                <a:ea typeface="ＭＳ Ｐゴシック" panose="020B0600070205080204" pitchFamily="34" charset="-128"/>
                <a:cs typeface="Arial" panose="020B0604020202020204" pitchFamily="34" charset="0"/>
              </a:rPr>
              <a:t>.</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Depend on the type of software, expected users and the type of system where the software is used.</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Functional user requirements may be high-level statements of what the system should do.</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Functional system requirements should describe the system services in detail.</a:t>
            </a:r>
          </a:p>
        </p:txBody>
      </p:sp>
    </p:spTree>
    <p:extLst>
      <p:ext uri="{BB962C8B-B14F-4D97-AF65-F5344CB8AC3E}">
        <p14:creationId xmlns:p14="http://schemas.microsoft.com/office/powerpoint/2010/main" val="9436085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7"/>
            <a:ext cx="8761413" cy="966227"/>
          </a:xfrm>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Functional requirements for the MHC-PMS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A user shall be able to search the appointments lists for all clinics.</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The system shall generate each day, for each clinic, a list of patients who are expected to attend appointments that day. </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Each staff member using the system shall be uniquely identified by his or her 8-digit employee number.</a:t>
            </a:r>
            <a:endParaRPr lang="en-US" dirty="0"/>
          </a:p>
        </p:txBody>
      </p:sp>
    </p:spTree>
    <p:extLst>
      <p:ext uri="{BB962C8B-B14F-4D97-AF65-F5344CB8AC3E}">
        <p14:creationId xmlns:p14="http://schemas.microsoft.com/office/powerpoint/2010/main" val="15302728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Requirements imprecision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Problems arise when requirements are not precisely stated.</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Ambiguous requirements may be interpreted in different ways by developers and users.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Consider the term ‘search’ in requirement 1</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User intention – search for a patient name across all appointments in all clinics;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Developer interpretation – search for a patient name in an individual clinic. User chooses clinic then search.</a:t>
            </a:r>
          </a:p>
        </p:txBody>
      </p:sp>
    </p:spTree>
    <p:extLst>
      <p:ext uri="{BB962C8B-B14F-4D97-AF65-F5344CB8AC3E}">
        <p14:creationId xmlns:p14="http://schemas.microsoft.com/office/powerpoint/2010/main" val="26411967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Arial" panose="020B0604020202020204" pitchFamily="34" charset="0"/>
                <a:ea typeface="ＭＳ Ｐゴシック" panose="020B0600070205080204" pitchFamily="34" charset="-128"/>
                <a:cs typeface="Arial" panose="020B0604020202020204" pitchFamily="34" charset="0"/>
              </a:rPr>
              <a:t>Completeness  </a:t>
            </a:r>
            <a:r>
              <a:rPr lang="en-GB" dirty="0">
                <a:latin typeface="Arial" panose="020B0604020202020204" pitchFamily="34" charset="0"/>
                <a:ea typeface="ＭＳ Ｐゴシック" panose="020B0600070205080204" pitchFamily="34" charset="-128"/>
                <a:cs typeface="Arial" panose="020B0604020202020204" pitchFamily="34" charset="0"/>
              </a:rPr>
              <a:t>and consistency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In principle, requirements should be both </a:t>
            </a: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complete</a:t>
            </a:r>
            <a:r>
              <a:rPr lang="en-GB" dirty="0">
                <a:latin typeface="Arial" panose="020B0604020202020204" pitchFamily="34" charset="0"/>
                <a:ea typeface="ＭＳ Ｐゴシック" panose="020B0600070205080204" pitchFamily="34" charset="-128"/>
                <a:cs typeface="Arial" panose="020B0604020202020204" pitchFamily="34" charset="0"/>
              </a:rPr>
              <a:t> and </a:t>
            </a: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consistent</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Complete</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They should include descriptions of all facilities required</a:t>
            </a:r>
          </a:p>
          <a:p>
            <a:pPr>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Consistent</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There should be no conflicts or contradictions in the descriptions of the system facilities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In practice, it is impossible to produce a complete and consistent requirements document</a:t>
            </a:r>
          </a:p>
        </p:txBody>
      </p:sp>
    </p:spTree>
    <p:extLst>
      <p:ext uri="{BB962C8B-B14F-4D97-AF65-F5344CB8AC3E}">
        <p14:creationId xmlns:p14="http://schemas.microsoft.com/office/powerpoint/2010/main" val="1883695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Non-functional requirements</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These define </a:t>
            </a:r>
            <a:r>
              <a:rPr lang="en-GB" i="1"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system properties </a:t>
            </a:r>
            <a:r>
              <a:rPr lang="en-GB"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and </a:t>
            </a:r>
            <a:r>
              <a:rPr lang="en-GB" i="1"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constraints </a:t>
            </a:r>
            <a:r>
              <a:rPr lang="en-GB" dirty="0">
                <a:latin typeface="Arial" panose="020B0604020202020204" pitchFamily="34" charset="0"/>
                <a:ea typeface="ＭＳ Ｐゴシック" panose="020B0600070205080204" pitchFamily="34" charset="-128"/>
                <a:cs typeface="Arial" panose="020B0604020202020204" pitchFamily="34" charset="0"/>
              </a:rPr>
              <a:t>e.g. reliability, response time, and storage requirements. Constraints are I/O device capability, system representations, etc.</a:t>
            </a:r>
          </a:p>
          <a:p>
            <a:pPr>
              <a:lnSpc>
                <a:spcPct val="90000"/>
              </a:lnSpc>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Process requirements may also be specified mandating a particular IDE, programming language or development method.</a:t>
            </a:r>
          </a:p>
          <a:p>
            <a:pPr>
              <a:lnSpc>
                <a:spcPct val="90000"/>
              </a:lnSpc>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Non-functional requirements may be more critical than functional requirements. If these are not met, the system may be useless.</a:t>
            </a:r>
          </a:p>
        </p:txBody>
      </p:sp>
    </p:spTree>
    <p:extLst>
      <p:ext uri="{BB962C8B-B14F-4D97-AF65-F5344CB8AC3E}">
        <p14:creationId xmlns:p14="http://schemas.microsoft.com/office/powerpoint/2010/main" val="7535410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Types of nonfunctional requirement</a:t>
            </a:r>
            <a:r>
              <a:rPr lang="en-GB" dirty="0">
                <a:latin typeface="Arial" panose="020B0604020202020204" pitchFamily="34" charset="0"/>
                <a:ea typeface="ＭＳ Ｐゴシック" panose="020B0600070205080204" pitchFamily="34" charset="-128"/>
                <a:cs typeface="Arial" panose="020B0604020202020204" pitchFamily="34" charset="0"/>
              </a:rPr>
              <a:t> </a:t>
            </a:r>
            <a:endParaRPr lang="en-US" dirty="0"/>
          </a:p>
        </p:txBody>
      </p:sp>
      <p:pic>
        <p:nvPicPr>
          <p:cNvPr id="4" name="Picture 6" descr="4.3 Non-functionalReq.eps"/>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9457" y="2427006"/>
            <a:ext cx="5835993" cy="327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45685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ea typeface="ＭＳ Ｐゴシック" panose="020B0600070205080204" pitchFamily="34" charset="-128"/>
                <a:cs typeface="Arial" panose="020B0604020202020204" pitchFamily="34" charset="0"/>
              </a:rPr>
              <a:t>Implementation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Non-functional requirements may affect the overall architecture of a system rather than the individual components. </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For example, to ensure that performance requirements are met, you may have to organize the system to minimize communications between components.</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A single non-functional requirement, such as a security requirement, may generate a number of related functional requirements that define system services that are required. </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It may also generate requirements that restrict existing requirements. </a:t>
            </a:r>
          </a:p>
        </p:txBody>
      </p:sp>
    </p:spTree>
    <p:extLst>
      <p:ext uri="{BB962C8B-B14F-4D97-AF65-F5344CB8AC3E}">
        <p14:creationId xmlns:p14="http://schemas.microsoft.com/office/powerpoint/2010/main" val="13788555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Non-functional classifications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Product requirements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Requirements which specify that the delivered product must behave in a particular way e.g. execution speed, reliability, etc.</a:t>
            </a:r>
          </a:p>
          <a:p>
            <a:pPr>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Organizational requirements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Requirements which are a consequence of organizational policies and procedures e.g. process standards used, implementation requirements, etc.</a:t>
            </a:r>
          </a:p>
          <a:p>
            <a:pPr>
              <a:buFont typeface="Wingdings" panose="05000000000000000000" pitchFamily="2" charset="2"/>
              <a:buChar char="²"/>
            </a:pP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External requirements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Requirements which arise from factors which are external to the system and its development process, e.g. interoperability requirements, legislative requirements, etc.</a:t>
            </a:r>
          </a:p>
        </p:txBody>
      </p:sp>
    </p:spTree>
    <p:extLst>
      <p:ext uri="{BB962C8B-B14F-4D97-AF65-F5344CB8AC3E}">
        <p14:creationId xmlns:p14="http://schemas.microsoft.com/office/powerpoint/2010/main" val="10426033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pPr marL="0" lvl="0" indent="0" fontAlgn="base">
              <a:spcBef>
                <a:spcPct val="0"/>
              </a:spcBef>
              <a:spcAft>
                <a:spcPct val="0"/>
              </a:spcAft>
              <a:buClrTx/>
              <a:buSzTx/>
              <a:buNone/>
            </a:pPr>
            <a:r>
              <a:rPr lang="en-GB" b="1" dirty="0">
                <a:solidFill>
                  <a:srgbClr val="000000"/>
                </a:solidFill>
                <a:latin typeface="Calibri" panose="020F0502020204030204" pitchFamily="34" charset="0"/>
                <a:ea typeface="ＭＳ Ｐゴシック" panose="020B0600070205080204" pitchFamily="34" charset="-128"/>
              </a:rPr>
              <a:t>Product requirement</a:t>
            </a:r>
          </a:p>
          <a:p>
            <a:pPr marL="0" lvl="0" indent="0" fontAlgn="base">
              <a:spcBef>
                <a:spcPct val="0"/>
              </a:spcBef>
              <a:spcAft>
                <a:spcPct val="0"/>
              </a:spcAft>
              <a:buClrTx/>
              <a:buSzTx/>
              <a:buNone/>
            </a:pPr>
            <a:r>
              <a:rPr lang="en-GB" dirty="0">
                <a:solidFill>
                  <a:srgbClr val="000000"/>
                </a:solidFill>
                <a:latin typeface="Calibri" panose="020F0502020204030204" pitchFamily="34" charset="0"/>
                <a:ea typeface="ＭＳ Ｐゴシック" panose="020B0600070205080204" pitchFamily="34" charset="-128"/>
              </a:rPr>
              <a:t>The MHC-PMS shall be available to all clinics during normal working hours (Mon–Fri, 0830–17.30). Downtime within normal working hours shall not exceed five seconds in any one day.</a:t>
            </a:r>
          </a:p>
          <a:p>
            <a:pPr marL="0" lvl="0" indent="0" fontAlgn="base">
              <a:spcBef>
                <a:spcPct val="0"/>
              </a:spcBef>
              <a:spcAft>
                <a:spcPct val="0"/>
              </a:spcAft>
              <a:buClrTx/>
              <a:buSzTx/>
              <a:buNone/>
            </a:pPr>
            <a:endParaRPr lang="en-GB" dirty="0">
              <a:solidFill>
                <a:srgbClr val="000000"/>
              </a:solidFill>
              <a:latin typeface="Calibri" panose="020F0502020204030204" pitchFamily="34" charset="0"/>
              <a:ea typeface="ＭＳ Ｐゴシック" panose="020B0600070205080204" pitchFamily="34" charset="-128"/>
            </a:endParaRPr>
          </a:p>
          <a:p>
            <a:pPr marL="0" lvl="0" indent="0" fontAlgn="base">
              <a:spcBef>
                <a:spcPct val="0"/>
              </a:spcBef>
              <a:spcAft>
                <a:spcPct val="0"/>
              </a:spcAft>
              <a:buClrTx/>
              <a:buSzTx/>
              <a:buNone/>
            </a:pPr>
            <a:r>
              <a:rPr lang="en-GB" b="1" dirty="0">
                <a:solidFill>
                  <a:srgbClr val="000000"/>
                </a:solidFill>
                <a:latin typeface="Calibri" panose="020F0502020204030204" pitchFamily="34" charset="0"/>
                <a:ea typeface="ＭＳ Ｐゴシック" panose="020B0600070205080204" pitchFamily="34" charset="-128"/>
              </a:rPr>
              <a:t>Organizational requirement</a:t>
            </a:r>
            <a:r>
              <a:rPr lang="en-GB" dirty="0">
                <a:solidFill>
                  <a:srgbClr val="000000"/>
                </a:solidFill>
                <a:latin typeface="Calibri" panose="020F0502020204030204" pitchFamily="34" charset="0"/>
                <a:ea typeface="ＭＳ Ｐゴシック" panose="020B0600070205080204" pitchFamily="34" charset="-128"/>
              </a:rPr>
              <a:t/>
            </a:r>
            <a:br>
              <a:rPr lang="en-GB" dirty="0">
                <a:solidFill>
                  <a:srgbClr val="000000"/>
                </a:solidFill>
                <a:latin typeface="Calibri" panose="020F0502020204030204" pitchFamily="34" charset="0"/>
                <a:ea typeface="ＭＳ Ｐゴシック" panose="020B0600070205080204" pitchFamily="34" charset="-128"/>
              </a:rPr>
            </a:br>
            <a:r>
              <a:rPr lang="en-GB" dirty="0">
                <a:solidFill>
                  <a:srgbClr val="000000"/>
                </a:solidFill>
                <a:latin typeface="Calibri" panose="020F0502020204030204" pitchFamily="34" charset="0"/>
                <a:ea typeface="ＭＳ Ｐゴシック" panose="020B0600070205080204" pitchFamily="34" charset="-128"/>
              </a:rPr>
              <a:t>Users of the MHC-PMS system shall authenticate themselves using their health authority identity card.</a:t>
            </a:r>
          </a:p>
          <a:p>
            <a:pPr marL="0" lvl="0" indent="0" fontAlgn="base">
              <a:spcBef>
                <a:spcPct val="0"/>
              </a:spcBef>
              <a:spcAft>
                <a:spcPct val="0"/>
              </a:spcAft>
              <a:buClrTx/>
              <a:buSzTx/>
              <a:buNone/>
            </a:pPr>
            <a:endParaRPr lang="en-GB" dirty="0">
              <a:solidFill>
                <a:srgbClr val="000000"/>
              </a:solidFill>
              <a:latin typeface="Calibri" panose="020F0502020204030204" pitchFamily="34" charset="0"/>
              <a:ea typeface="ＭＳ Ｐゴシック" panose="020B0600070205080204" pitchFamily="34" charset="-128"/>
            </a:endParaRPr>
          </a:p>
          <a:p>
            <a:pPr marL="0" lvl="0" indent="0" fontAlgn="base">
              <a:spcBef>
                <a:spcPct val="0"/>
              </a:spcBef>
              <a:spcAft>
                <a:spcPct val="0"/>
              </a:spcAft>
              <a:buClrTx/>
              <a:buSzTx/>
              <a:buNone/>
            </a:pPr>
            <a:r>
              <a:rPr lang="en-GB" b="1" dirty="0">
                <a:solidFill>
                  <a:srgbClr val="000000"/>
                </a:solidFill>
                <a:latin typeface="Calibri" panose="020F0502020204030204" pitchFamily="34" charset="0"/>
                <a:ea typeface="ＭＳ Ｐゴシック" panose="020B0600070205080204" pitchFamily="34" charset="-128"/>
              </a:rPr>
              <a:t>External requirement</a:t>
            </a:r>
            <a:r>
              <a:rPr lang="en-GB" dirty="0">
                <a:solidFill>
                  <a:srgbClr val="000000"/>
                </a:solidFill>
                <a:latin typeface="Calibri" panose="020F0502020204030204" pitchFamily="34" charset="0"/>
                <a:ea typeface="ＭＳ Ｐゴシック" panose="020B0600070205080204" pitchFamily="34" charset="-128"/>
              </a:rPr>
              <a:t/>
            </a:r>
            <a:br>
              <a:rPr lang="en-GB" dirty="0">
                <a:solidFill>
                  <a:srgbClr val="000000"/>
                </a:solidFill>
                <a:latin typeface="Calibri" panose="020F0502020204030204" pitchFamily="34" charset="0"/>
                <a:ea typeface="ＭＳ Ｐゴシック" panose="020B0600070205080204" pitchFamily="34" charset="-128"/>
              </a:rPr>
            </a:br>
            <a:r>
              <a:rPr lang="en-GB" dirty="0">
                <a:solidFill>
                  <a:srgbClr val="000000"/>
                </a:solidFill>
                <a:latin typeface="Calibri" panose="020F0502020204030204" pitchFamily="34" charset="0"/>
                <a:ea typeface="ＭＳ Ｐゴシック" panose="020B0600070205080204" pitchFamily="34" charset="-128"/>
              </a:rPr>
              <a:t>The system shall implement patient privacy provisions as set out in HStan-03-2006-priv. </a:t>
            </a:r>
          </a:p>
          <a:p>
            <a:pPr marL="0" lvl="0" indent="0" fontAlgn="base">
              <a:spcBef>
                <a:spcPct val="0"/>
              </a:spcBef>
              <a:spcAft>
                <a:spcPct val="0"/>
              </a:spcAft>
              <a:buClrTx/>
              <a:buSzTx/>
              <a:buNone/>
            </a:pPr>
            <a:endParaRPr lang="en-US" dirty="0">
              <a:solidFill>
                <a:srgbClr val="000000"/>
              </a:solidFill>
              <a:latin typeface="Calibri" panose="020F0502020204030204" pitchFamily="34" charset="0"/>
              <a:ea typeface="ＭＳ Ｐゴシック" panose="020B0600070205080204" pitchFamily="34" charset="-128"/>
            </a:endParaRPr>
          </a:p>
          <a:p>
            <a:endParaRPr lang="en-US" dirty="0"/>
          </a:p>
        </p:txBody>
      </p:sp>
    </p:spTree>
    <p:extLst>
      <p:ext uri="{BB962C8B-B14F-4D97-AF65-F5344CB8AC3E}">
        <p14:creationId xmlns:p14="http://schemas.microsoft.com/office/powerpoint/2010/main" val="35955144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Goals and requirements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Non-functional requirements may be very difficult to state precisely and imprecise requirements may be difficult to verify.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Goal</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A general intention of the user such as ease of use.</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Verifiable non-functional requirement</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A statement using some measure that can be objectively tested.</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Goals are helpful to developers as they convey the intentions of the system users.</a:t>
            </a:r>
          </a:p>
        </p:txBody>
      </p:sp>
    </p:spTree>
    <p:extLst>
      <p:ext uri="{BB962C8B-B14F-4D97-AF65-F5344CB8AC3E}">
        <p14:creationId xmlns:p14="http://schemas.microsoft.com/office/powerpoint/2010/main" val="353629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Usability requirements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The system should be easy to use by medical staff and should be organized in such a way that user errors are minimized. (Goal)</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9550878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Metrics for </a:t>
            </a:r>
            <a:r>
              <a:rPr lang="en-US" dirty="0" smtClean="0">
                <a:latin typeface="Arial" panose="020B0604020202020204" pitchFamily="34" charset="0"/>
                <a:ea typeface="ＭＳ Ｐゴシック" panose="020B0600070205080204" pitchFamily="34" charset="-128"/>
                <a:cs typeface="Arial" panose="020B0604020202020204" pitchFamily="34" charset="0"/>
              </a:rPr>
              <a:t>non-functional </a:t>
            </a:r>
            <a:r>
              <a:rPr lang="en-US" dirty="0">
                <a:latin typeface="Arial" panose="020B0604020202020204" pitchFamily="34" charset="0"/>
                <a:ea typeface="ＭＳ Ｐゴシック" panose="020B0600070205080204" pitchFamily="34" charset="-128"/>
                <a:cs typeface="Arial" panose="020B0604020202020204" pitchFamily="34" charset="0"/>
              </a:rPr>
              <a:t>requirements</a:t>
            </a:r>
            <a:endParaRPr lang="en-US" dirty="0"/>
          </a:p>
        </p:txBody>
      </p:sp>
      <p:pic>
        <p:nvPicPr>
          <p:cNvPr id="5" name="Content Placeholder 4"/>
          <p:cNvPicPr>
            <a:picLocks noGrp="1" noChangeAspect="1"/>
          </p:cNvPicPr>
          <p:nvPr>
            <p:ph idx="1"/>
          </p:nvPr>
        </p:nvPicPr>
        <p:blipFill>
          <a:blip r:embed="rId2"/>
          <a:stretch>
            <a:fillRect/>
          </a:stretch>
        </p:blipFill>
        <p:spPr>
          <a:xfrm>
            <a:off x="1726250" y="2346144"/>
            <a:ext cx="6494804" cy="3767660"/>
          </a:xfrm>
          <a:prstGeom prst="rect">
            <a:avLst/>
          </a:prstGeom>
        </p:spPr>
      </p:pic>
    </p:spTree>
    <p:extLst>
      <p:ext uri="{BB962C8B-B14F-4D97-AF65-F5344CB8AC3E}">
        <p14:creationId xmlns:p14="http://schemas.microsoft.com/office/powerpoint/2010/main" val="42430186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Domain requirements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system’s operational domain imposes requirements on the system.</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For example, a train control system has to take into account the braking characteristics in different weather conditions.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Domain requirements can be new functional requirements, constraints on existing requirements, or define specific computations.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If domain requirements are not satisfied, the system may be unworkable</a:t>
            </a:r>
            <a:endParaRPr lang="en-US" dirty="0"/>
          </a:p>
        </p:txBody>
      </p:sp>
    </p:spTree>
    <p:extLst>
      <p:ext uri="{BB962C8B-B14F-4D97-AF65-F5344CB8AC3E}">
        <p14:creationId xmlns:p14="http://schemas.microsoft.com/office/powerpoint/2010/main" val="3057577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Train protection system</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This is a domain requirement for a train protection system:</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deceleration of the train shall be computed as:</a:t>
            </a:r>
          </a:p>
          <a:p>
            <a:pPr lvl="1">
              <a:buFont typeface="Wingdings" panose="05000000000000000000" pitchFamily="2" charset="2"/>
              <a:buChar char="§"/>
            </a:pPr>
            <a:r>
              <a:rPr lang="en-GB" dirty="0" err="1">
                <a:latin typeface="Arial" panose="020B0604020202020204" pitchFamily="34" charset="0"/>
                <a:ea typeface="ＭＳ Ｐゴシック" panose="020B0600070205080204" pitchFamily="34" charset="-128"/>
                <a:cs typeface="Arial" panose="020B0604020202020204" pitchFamily="34" charset="0"/>
              </a:rPr>
              <a:t>Dtrain</a:t>
            </a:r>
            <a:r>
              <a:rPr lang="en-GB" dirty="0">
                <a:latin typeface="Arial" panose="020B0604020202020204" pitchFamily="34" charset="0"/>
                <a:ea typeface="ＭＳ Ｐゴシック" panose="020B0600070205080204" pitchFamily="34" charset="-128"/>
                <a:cs typeface="Arial" panose="020B0604020202020204" pitchFamily="34" charset="0"/>
              </a:rPr>
              <a:t> = </a:t>
            </a:r>
            <a:r>
              <a:rPr lang="en-GB" dirty="0" err="1">
                <a:latin typeface="Arial" panose="020B0604020202020204" pitchFamily="34" charset="0"/>
                <a:ea typeface="ＭＳ Ｐゴシック" panose="020B0600070205080204" pitchFamily="34" charset="-128"/>
                <a:cs typeface="Arial" panose="020B0604020202020204" pitchFamily="34" charset="0"/>
              </a:rPr>
              <a:t>Dcontrol</a:t>
            </a:r>
            <a:r>
              <a:rPr lang="en-GB" dirty="0">
                <a:latin typeface="Arial" panose="020B0604020202020204" pitchFamily="34" charset="0"/>
                <a:ea typeface="ＭＳ Ｐゴシック" panose="020B0600070205080204" pitchFamily="34" charset="-128"/>
                <a:cs typeface="Arial" panose="020B0604020202020204" pitchFamily="34" charset="0"/>
              </a:rPr>
              <a:t> + </a:t>
            </a:r>
            <a:r>
              <a:rPr lang="en-GB" dirty="0" err="1">
                <a:latin typeface="Arial" panose="020B0604020202020204" pitchFamily="34" charset="0"/>
                <a:ea typeface="ＭＳ Ｐゴシック" panose="020B0600070205080204" pitchFamily="34" charset="-128"/>
                <a:cs typeface="Arial" panose="020B0604020202020204" pitchFamily="34" charset="0"/>
              </a:rPr>
              <a:t>Dgradient</a:t>
            </a:r>
            <a:r>
              <a:rPr lang="en-GB" dirty="0">
                <a:latin typeface="Arial" panose="020B0604020202020204" pitchFamily="34" charset="0"/>
                <a:ea typeface="ＭＳ Ｐゴシック" panose="020B0600070205080204" pitchFamily="34" charset="-128"/>
                <a:cs typeface="Arial" panose="020B0604020202020204" pitchFamily="34" charset="0"/>
              </a:rPr>
              <a:t> </a:t>
            </a:r>
          </a:p>
          <a:p>
            <a:pPr lvl="1">
              <a:buFont typeface="Wingdings" panose="05000000000000000000" pitchFamily="2" charset="2"/>
              <a:buChar char="§"/>
            </a:pPr>
            <a:endParaRPr lang="en-GB" dirty="0">
              <a:latin typeface="Arial" panose="020B0604020202020204" pitchFamily="34" charset="0"/>
              <a:ea typeface="ＭＳ Ｐゴシック" panose="020B0600070205080204" pitchFamily="34" charset="-128"/>
              <a:cs typeface="Arial" panose="020B0604020202020204" pitchFamily="34" charset="0"/>
            </a:endParaRP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where </a:t>
            </a:r>
            <a:r>
              <a:rPr lang="en-GB" dirty="0" err="1">
                <a:latin typeface="Arial" panose="020B0604020202020204" pitchFamily="34" charset="0"/>
                <a:ea typeface="ＭＳ Ｐゴシック" panose="020B0600070205080204" pitchFamily="34" charset="-128"/>
                <a:cs typeface="Arial" panose="020B0604020202020204" pitchFamily="34" charset="0"/>
              </a:rPr>
              <a:t>Dgradient</a:t>
            </a:r>
            <a:r>
              <a:rPr lang="en-GB" dirty="0">
                <a:latin typeface="Arial" panose="020B0604020202020204" pitchFamily="34" charset="0"/>
                <a:ea typeface="ＭＳ Ｐゴシック" panose="020B0600070205080204" pitchFamily="34" charset="-128"/>
                <a:cs typeface="Arial" panose="020B0604020202020204" pitchFamily="34" charset="0"/>
              </a:rPr>
              <a:t> is 9.81ms2 * compensated gradient/alpha and where the values of 9.81ms2 /alpha are known for different types of train.</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It is difficult for a non-specialist to understand the implications of this and how it interacts with other requirements.</a:t>
            </a:r>
          </a:p>
          <a:p>
            <a:pPr marL="0" indent="0">
              <a:buNone/>
            </a:pPr>
            <a:endParaRPr lang="en-US" dirty="0"/>
          </a:p>
        </p:txBody>
      </p:sp>
    </p:spTree>
    <p:extLst>
      <p:ext uri="{BB962C8B-B14F-4D97-AF65-F5344CB8AC3E}">
        <p14:creationId xmlns:p14="http://schemas.microsoft.com/office/powerpoint/2010/main" val="25753762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Domain requirements problems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err="1" smtClean="0">
                <a:latin typeface="Arial" panose="020B0604020202020204" pitchFamily="34" charset="0"/>
                <a:ea typeface="ＭＳ Ｐゴシック" panose="020B0600070205080204" pitchFamily="34" charset="-128"/>
                <a:cs typeface="Arial" panose="020B0604020202020204" pitchFamily="34" charset="0"/>
              </a:rPr>
              <a:t>Understandability</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Requirements are expressed in the language of the application domain;</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This is often not understood by software engineers developing the system.</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Implicitness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Domain specialists understand the area so well that they do not think of making the domain requirements explicit.</a:t>
            </a:r>
          </a:p>
          <a:p>
            <a:endParaRPr lang="en-US" dirty="0"/>
          </a:p>
        </p:txBody>
      </p:sp>
    </p:spTree>
    <p:extLst>
      <p:ext uri="{BB962C8B-B14F-4D97-AF65-F5344CB8AC3E}">
        <p14:creationId xmlns:p14="http://schemas.microsoft.com/office/powerpoint/2010/main" val="8417448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Agile methods and requirements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Many agile methods argue that producing a requirements document is a waste of time as requirements change so quickly</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The document is therefore always out of date</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Methods such as XP use incremental requirements engineering and express requirements as ‘user stories</a:t>
            </a:r>
            <a:r>
              <a:rPr lang="en-US" dirty="0" smtClean="0">
                <a:latin typeface="Arial" panose="020B0604020202020204" pitchFamily="34" charset="0"/>
                <a:ea typeface="ＭＳ Ｐゴシック" panose="020B0600070205080204" pitchFamily="34" charset="-128"/>
                <a:cs typeface="Arial" panose="020B0604020202020204" pitchFamily="34" charset="0"/>
              </a:rPr>
              <a:t>’.</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This is practical for business systems but problematic for systems that require a lot of pre-delivery analysis (e.g. critical systems) or systems developed by several teams</a:t>
            </a:r>
          </a:p>
          <a:p>
            <a:pPr marL="0" indent="0">
              <a:buNone/>
            </a:pPr>
            <a:endParaRPr lang="en-US" dirty="0"/>
          </a:p>
        </p:txBody>
      </p:sp>
    </p:spTree>
    <p:extLst>
      <p:ext uri="{BB962C8B-B14F-4D97-AF65-F5344CB8AC3E}">
        <p14:creationId xmlns:p14="http://schemas.microsoft.com/office/powerpoint/2010/main" val="15584341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ea typeface="ＭＳ Ｐゴシック" panose="020B0600070205080204" pitchFamily="34" charset="-128"/>
                <a:cs typeface="Arial" panose="020B0604020202020204" pitchFamily="34" charset="0"/>
              </a:rPr>
              <a:t>The software requirements document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a:t>
            </a:r>
            <a:r>
              <a:rPr lang="en-GB" i="1"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software requirements document </a:t>
            </a:r>
            <a:r>
              <a:rPr lang="en-GB" dirty="0">
                <a:latin typeface="Arial" panose="020B0604020202020204" pitchFamily="34" charset="0"/>
                <a:ea typeface="ＭＳ Ｐゴシック" panose="020B0600070205080204" pitchFamily="34" charset="-128"/>
                <a:cs typeface="Arial" panose="020B0604020202020204" pitchFamily="34" charset="0"/>
              </a:rPr>
              <a:t>is the official statement of what is required of the system developers.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Can include both a definition of user requirements and a specification of the system requirements.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It is NOT a design document. As far as possible, it should set of </a:t>
            </a:r>
            <a:r>
              <a:rPr lang="en-GB" dirty="0">
                <a:solidFill>
                  <a:srgbClr val="00B0F0"/>
                </a:solidFill>
                <a:latin typeface="Arial" panose="020B0604020202020204" pitchFamily="34" charset="0"/>
                <a:ea typeface="ＭＳ Ｐゴシック" panose="020B0600070205080204" pitchFamily="34" charset="-128"/>
                <a:cs typeface="Arial" panose="020B0604020202020204" pitchFamily="34" charset="0"/>
              </a:rPr>
              <a:t>WHAT</a:t>
            </a:r>
            <a:r>
              <a:rPr lang="en-GB" dirty="0">
                <a:latin typeface="Arial" panose="020B0604020202020204" pitchFamily="34" charset="0"/>
                <a:ea typeface="ＭＳ Ｐゴシック" panose="020B0600070205080204" pitchFamily="34" charset="-128"/>
                <a:cs typeface="Arial" panose="020B0604020202020204" pitchFamily="34" charset="0"/>
              </a:rPr>
              <a:t> the system should do rather than HOW it should do it.</a:t>
            </a:r>
          </a:p>
        </p:txBody>
      </p:sp>
    </p:spTree>
    <p:extLst>
      <p:ext uri="{BB962C8B-B14F-4D97-AF65-F5344CB8AC3E}">
        <p14:creationId xmlns:p14="http://schemas.microsoft.com/office/powerpoint/2010/main" val="30753202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Users of a requirements document</a:t>
            </a:r>
            <a:r>
              <a:rPr lang="en-GB" dirty="0">
                <a:latin typeface="Arial" panose="020B0604020202020204" pitchFamily="34" charset="0"/>
                <a:ea typeface="ＭＳ Ｐゴシック" panose="020B0600070205080204" pitchFamily="34" charset="-128"/>
                <a:cs typeface="Arial" panose="020B0604020202020204" pitchFamily="34" charset="0"/>
              </a:rPr>
              <a:t> </a:t>
            </a:r>
            <a:endParaRPr lang="en-US" dirty="0"/>
          </a:p>
        </p:txBody>
      </p:sp>
      <p:pic>
        <p:nvPicPr>
          <p:cNvPr id="4" name="Content Placeholder 3"/>
          <p:cNvPicPr>
            <a:picLocks noGrp="1" noChangeAspect="1"/>
          </p:cNvPicPr>
          <p:nvPr>
            <p:ph idx="1"/>
          </p:nvPr>
        </p:nvPicPr>
        <p:blipFill>
          <a:blip r:embed="rId2"/>
          <a:stretch>
            <a:fillRect/>
          </a:stretch>
        </p:blipFill>
        <p:spPr>
          <a:xfrm>
            <a:off x="2939753" y="2341121"/>
            <a:ext cx="4383993" cy="4308809"/>
          </a:xfrm>
          <a:prstGeom prst="rect">
            <a:avLst/>
          </a:prstGeom>
        </p:spPr>
      </p:pic>
    </p:spTree>
    <p:extLst>
      <p:ext uri="{BB962C8B-B14F-4D97-AF65-F5344CB8AC3E}">
        <p14:creationId xmlns:p14="http://schemas.microsoft.com/office/powerpoint/2010/main" val="28638224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Requirements specification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cs typeface="Arial" panose="020B0604020202020204" pitchFamily="34" charset="0"/>
              </a:rPr>
              <a:t>The process of writing down the user and system requirements in a requirements document</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User requirements have to be understandable by end-users and customers who do not have a technical background</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System requirements are more detailed requirements and may include more technical information</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The requirements may be part of a contract for the system development</a:t>
            </a:r>
          </a:p>
          <a:p>
            <a:pPr lvl="1">
              <a:buFont typeface="Wingdings" panose="05000000000000000000" pitchFamily="2" charset="2"/>
              <a:buChar char="§"/>
            </a:pPr>
            <a:r>
              <a:rPr lang="en-US" dirty="0">
                <a:latin typeface="Arial" panose="020B0604020202020204" pitchFamily="34" charset="0"/>
                <a:cs typeface="Arial" panose="020B0604020202020204" pitchFamily="34" charset="0"/>
              </a:rPr>
              <a:t>It is therefore important that these are as complete as possible</a:t>
            </a:r>
          </a:p>
          <a:p>
            <a:endParaRPr lang="en-US" dirty="0"/>
          </a:p>
        </p:txBody>
      </p:sp>
    </p:spTree>
    <p:extLst>
      <p:ext uri="{BB962C8B-B14F-4D97-AF65-F5344CB8AC3E}">
        <p14:creationId xmlns:p14="http://schemas.microsoft.com/office/powerpoint/2010/main" val="355983180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Ways of writing a system requirements specification </a:t>
            </a:r>
            <a:endParaRPr lang="en-US" dirty="0"/>
          </a:p>
        </p:txBody>
      </p:sp>
      <p:pic>
        <p:nvPicPr>
          <p:cNvPr id="4" name="Content Placeholder 3"/>
          <p:cNvPicPr>
            <a:picLocks noGrp="1" noChangeAspect="1"/>
          </p:cNvPicPr>
          <p:nvPr>
            <p:ph idx="1"/>
          </p:nvPr>
        </p:nvPicPr>
        <p:blipFill>
          <a:blip r:embed="rId2"/>
          <a:stretch>
            <a:fillRect/>
          </a:stretch>
        </p:blipFill>
        <p:spPr>
          <a:xfrm>
            <a:off x="2281727" y="2768251"/>
            <a:ext cx="6048744" cy="3653202"/>
          </a:xfrm>
          <a:prstGeom prst="rect">
            <a:avLst/>
          </a:prstGeom>
        </p:spPr>
      </p:pic>
    </p:spTree>
    <p:extLst>
      <p:ext uri="{BB962C8B-B14F-4D97-AF65-F5344CB8AC3E}">
        <p14:creationId xmlns:p14="http://schemas.microsoft.com/office/powerpoint/2010/main" val="370247165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cs typeface="Arial" panose="020B0604020202020204" pitchFamily="34" charset="0"/>
              </a:rPr>
              <a:t>Requirements and design</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GB" dirty="0">
                <a:latin typeface="Arial" panose="020B0604020202020204" pitchFamily="34" charset="0"/>
                <a:cs typeface="Arial" panose="020B0604020202020204" pitchFamily="34" charset="0"/>
              </a:rPr>
              <a:t>In principle, requirements should state what the system should do and the design should describe how it does this.</a:t>
            </a:r>
          </a:p>
          <a:p>
            <a:pPr>
              <a:lnSpc>
                <a:spcPct val="90000"/>
              </a:lnSpc>
              <a:buFont typeface="Wingdings" panose="05000000000000000000" pitchFamily="2" charset="2"/>
              <a:buChar char="²"/>
            </a:pPr>
            <a:r>
              <a:rPr lang="en-GB" dirty="0">
                <a:latin typeface="Arial" panose="020B0604020202020204" pitchFamily="34" charset="0"/>
                <a:cs typeface="Arial" panose="020B0604020202020204" pitchFamily="34" charset="0"/>
              </a:rPr>
              <a:t>In practice, requirements and design are inseparable</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A system architecture may be designed to structure the requirements;</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The system may inter-operate with other systems that generate design requirements;</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The use of a specific architecture to satisfy non-functional requirements may be a domain requirement.</a:t>
            </a:r>
            <a:endParaRPr lang="en-GB" sz="1800" dirty="0">
              <a:latin typeface="Arial" panose="020B0604020202020204" pitchFamily="34" charset="0"/>
              <a:cs typeface="Arial" panose="020B0604020202020204" pitchFamily="34" charset="0"/>
            </a:endParaRPr>
          </a:p>
          <a:p>
            <a:pPr lvl="1">
              <a:lnSpc>
                <a:spcPct val="90000"/>
              </a:lnSpc>
              <a:buFont typeface="Wingdings" panose="05000000000000000000" pitchFamily="2" charset="2"/>
              <a:buChar char="§"/>
            </a:pPr>
            <a:r>
              <a:rPr lang="en-GB" sz="1800" dirty="0">
                <a:latin typeface="Arial" panose="020B0604020202020204" pitchFamily="34" charset="0"/>
                <a:cs typeface="Arial" panose="020B0604020202020204" pitchFamily="34" charset="0"/>
              </a:rPr>
              <a:t>This may be the consequence of a regulatory requirement.</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41693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Natural language specification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cs typeface="Arial" panose="020B0604020202020204" pitchFamily="34" charset="0"/>
              </a:rPr>
              <a:t>Requirements are written as natural language sentences supplemented by diagrams and tables.</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Used for writing requirements because it is expressive, intuitive and universal. This means that the requirements  can be understood by users and customers.</a:t>
            </a:r>
          </a:p>
        </p:txBody>
      </p:sp>
    </p:spTree>
    <p:extLst>
      <p:ext uri="{BB962C8B-B14F-4D97-AF65-F5344CB8AC3E}">
        <p14:creationId xmlns:p14="http://schemas.microsoft.com/office/powerpoint/2010/main" val="35364589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cs typeface="Arial" panose="020B0604020202020204" pitchFamily="34" charset="0"/>
              </a:rPr>
              <a:t>Guidelines for writing requirements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cs typeface="Arial" panose="020B0604020202020204" pitchFamily="34" charset="0"/>
              </a:rPr>
              <a:t>Create a standard format and use it for all requirements.</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Use language in a consistent way. Use shall for mandatory requirements, should for desirable requirements.</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Use text highlighting to identify key parts of the requirement.</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Avoid the use of computer jargon.</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Include an explanation (rationale) of why a requirement is necessary.</a:t>
            </a:r>
          </a:p>
        </p:txBody>
      </p:sp>
    </p:spTree>
    <p:extLst>
      <p:ext uri="{BB962C8B-B14F-4D97-AF65-F5344CB8AC3E}">
        <p14:creationId xmlns:p14="http://schemas.microsoft.com/office/powerpoint/2010/main" val="27141774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7"/>
            <a:ext cx="8761413" cy="1051685"/>
          </a:xfrm>
        </p:spPr>
        <p:txBody>
          <a:bodyPr/>
          <a:lstStyle/>
          <a:p>
            <a:r>
              <a:rPr lang="en-US" dirty="0">
                <a:latin typeface="Arial" panose="020B0604020202020204" pitchFamily="34" charset="0"/>
                <a:cs typeface="Arial" panose="020B0604020202020204" pitchFamily="34" charset="0"/>
              </a:rPr>
              <a:t>Example requirements for the insulin pump software system</a:t>
            </a:r>
            <a:r>
              <a:rPr lang="en-GB" dirty="0">
                <a:latin typeface="Arial" panose="020B0604020202020204" pitchFamily="34" charset="0"/>
                <a:cs typeface="Arial" panose="020B0604020202020204" pitchFamily="34" charset="0"/>
              </a:rPr>
              <a:t> </a:t>
            </a:r>
            <a:endParaRPr lang="en-US" dirty="0"/>
          </a:p>
        </p:txBody>
      </p:sp>
      <p:sp>
        <p:nvSpPr>
          <p:cNvPr id="3" name="Content Placeholder 2"/>
          <p:cNvSpPr>
            <a:spLocks noGrp="1"/>
          </p:cNvSpPr>
          <p:nvPr>
            <p:ph idx="1"/>
          </p:nvPr>
        </p:nvSpPr>
        <p:spPr/>
        <p:txBody>
          <a:bodyPr/>
          <a:lstStyle/>
          <a:p>
            <a:pPr marL="0" lvl="0" indent="0" fontAlgn="base">
              <a:spcBef>
                <a:spcPct val="0"/>
              </a:spcBef>
              <a:spcAft>
                <a:spcPct val="0"/>
              </a:spcAft>
              <a:buClrTx/>
              <a:buSzTx/>
              <a:buNone/>
            </a:pPr>
            <a:r>
              <a:rPr lang="en-GB" dirty="0">
                <a:solidFill>
                  <a:srgbClr val="000000"/>
                </a:solidFill>
                <a:latin typeface="Calibri" panose="020F0502020204030204" pitchFamily="34" charset="0"/>
                <a:ea typeface="MS PGothic" panose="020B0600070205080204" pitchFamily="34" charset="-128"/>
              </a:rPr>
              <a:t>3.2 The system shall measure the blood sugar and deliver insulin, if required, every 10 minutes.</a:t>
            </a:r>
            <a:r>
              <a:rPr lang="en-GB" i="1" dirty="0">
                <a:solidFill>
                  <a:srgbClr val="000000"/>
                </a:solidFill>
                <a:latin typeface="Calibri" panose="020F0502020204030204" pitchFamily="34" charset="0"/>
                <a:ea typeface="MS PGothic" panose="020B0600070205080204" pitchFamily="34" charset="-128"/>
              </a:rPr>
              <a:t> (Changes in blood sugar are relatively slow so more frequent measurement is unnecessary; less frequent measurement could lead to unnecessarily high sugar levels.)</a:t>
            </a:r>
          </a:p>
          <a:p>
            <a:pPr marL="0" lvl="0" indent="0" fontAlgn="base">
              <a:spcBef>
                <a:spcPct val="0"/>
              </a:spcBef>
              <a:spcAft>
                <a:spcPct val="0"/>
              </a:spcAft>
              <a:buClrTx/>
              <a:buSzTx/>
              <a:buNone/>
            </a:pPr>
            <a:endParaRPr lang="en-GB" dirty="0">
              <a:solidFill>
                <a:srgbClr val="000000"/>
              </a:solidFill>
              <a:latin typeface="Calibri" panose="020F0502020204030204" pitchFamily="34" charset="0"/>
              <a:ea typeface="MS PGothic" panose="020B0600070205080204" pitchFamily="34" charset="-128"/>
            </a:endParaRPr>
          </a:p>
          <a:p>
            <a:pPr marL="0" lvl="0" indent="0" fontAlgn="base">
              <a:spcBef>
                <a:spcPct val="0"/>
              </a:spcBef>
              <a:spcAft>
                <a:spcPct val="0"/>
              </a:spcAft>
              <a:buClrTx/>
              <a:buSzTx/>
              <a:buNone/>
            </a:pPr>
            <a:r>
              <a:rPr lang="en-GB" dirty="0">
                <a:solidFill>
                  <a:srgbClr val="000000"/>
                </a:solidFill>
                <a:latin typeface="Calibri" panose="020F0502020204030204" pitchFamily="34" charset="0"/>
                <a:ea typeface="MS PGothic" panose="020B0600070205080204" pitchFamily="34" charset="-128"/>
              </a:rPr>
              <a:t>3.6 The system shall run a self-test routine every minute with the conditions to be tested and the associated actions defined in Table 1.</a:t>
            </a:r>
            <a:r>
              <a:rPr lang="en-GB" i="1" dirty="0">
                <a:solidFill>
                  <a:srgbClr val="000000"/>
                </a:solidFill>
                <a:latin typeface="Calibri" panose="020F0502020204030204" pitchFamily="34" charset="0"/>
                <a:ea typeface="MS PGothic" panose="020B0600070205080204" pitchFamily="34" charset="-128"/>
              </a:rPr>
              <a:t> (A self-test routine can discover hardware and software problems and alert the user to the fact the normal operation may be impossible.)</a:t>
            </a:r>
          </a:p>
          <a:p>
            <a:pPr marL="0" lvl="0" indent="0" fontAlgn="base">
              <a:spcBef>
                <a:spcPct val="0"/>
              </a:spcBef>
              <a:spcAft>
                <a:spcPct val="0"/>
              </a:spcAft>
              <a:buClrTx/>
              <a:buSzTx/>
              <a:buNone/>
            </a:pPr>
            <a:endParaRPr lang="en-US" b="1" dirty="0">
              <a:solidFill>
                <a:srgbClr val="000000"/>
              </a:solidFill>
              <a:latin typeface="Calibri" panose="020F0502020204030204" pitchFamily="34" charset="0"/>
              <a:ea typeface="MS PGothic" panose="020B0600070205080204" pitchFamily="34" charset="-128"/>
            </a:endParaRPr>
          </a:p>
          <a:p>
            <a:pPr marL="0" indent="0">
              <a:buNone/>
            </a:pPr>
            <a:endParaRPr lang="en-US" dirty="0"/>
          </a:p>
        </p:txBody>
      </p:sp>
    </p:spTree>
    <p:extLst>
      <p:ext uri="{BB962C8B-B14F-4D97-AF65-F5344CB8AC3E}">
        <p14:creationId xmlns:p14="http://schemas.microsoft.com/office/powerpoint/2010/main" val="32631673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cs typeface="Arial" panose="020B0604020202020204" pitchFamily="34" charset="0"/>
              </a:rPr>
              <a:t>Requirements engineering processes</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GB" dirty="0">
                <a:latin typeface="Arial" panose="020B0604020202020204" pitchFamily="34" charset="0"/>
                <a:cs typeface="Arial" panose="020B0604020202020204" pitchFamily="34" charset="0"/>
              </a:rPr>
              <a:t>The processes used for </a:t>
            </a:r>
            <a:r>
              <a:rPr lang="en-GB" dirty="0">
                <a:solidFill>
                  <a:srgbClr val="00B0F0"/>
                </a:solidFill>
                <a:latin typeface="Arial" panose="020B0604020202020204" pitchFamily="34" charset="0"/>
                <a:cs typeface="Arial" panose="020B0604020202020204" pitchFamily="34" charset="0"/>
              </a:rPr>
              <a:t>RE</a:t>
            </a:r>
            <a:r>
              <a:rPr lang="en-GB" dirty="0">
                <a:latin typeface="Arial" panose="020B0604020202020204" pitchFamily="34" charset="0"/>
                <a:cs typeface="Arial" panose="020B0604020202020204" pitchFamily="34" charset="0"/>
              </a:rPr>
              <a:t> vary widely depending on the application domain, the people involved and the organisation developing the requirements.</a:t>
            </a:r>
          </a:p>
          <a:p>
            <a:pPr>
              <a:lnSpc>
                <a:spcPct val="90000"/>
              </a:lnSpc>
              <a:buFont typeface="Wingdings" panose="05000000000000000000" pitchFamily="2" charset="2"/>
              <a:buChar char="²"/>
            </a:pPr>
            <a:r>
              <a:rPr lang="en-GB" dirty="0">
                <a:latin typeface="Arial" panose="020B0604020202020204" pitchFamily="34" charset="0"/>
                <a:cs typeface="Arial" panose="020B0604020202020204" pitchFamily="34" charset="0"/>
              </a:rPr>
              <a:t>However, there are a number of generic activities common to all processes</a:t>
            </a:r>
          </a:p>
          <a:p>
            <a:pPr lvl="1">
              <a:lnSpc>
                <a:spcPct val="90000"/>
              </a:lnSpc>
              <a:buFont typeface="Wingdings" panose="05000000000000000000" pitchFamily="2" charset="2"/>
              <a:buChar char="§"/>
            </a:pPr>
            <a:r>
              <a:rPr lang="en-GB" dirty="0">
                <a:solidFill>
                  <a:srgbClr val="00B0F0"/>
                </a:solidFill>
                <a:latin typeface="Arial" panose="020B0604020202020204" pitchFamily="34" charset="0"/>
                <a:cs typeface="Arial" panose="020B0604020202020204" pitchFamily="34" charset="0"/>
              </a:rPr>
              <a:t>Requirements elicitation;</a:t>
            </a:r>
          </a:p>
          <a:p>
            <a:pPr lvl="1">
              <a:lnSpc>
                <a:spcPct val="90000"/>
              </a:lnSpc>
              <a:buFont typeface="Wingdings" panose="05000000000000000000" pitchFamily="2" charset="2"/>
              <a:buChar char="§"/>
            </a:pPr>
            <a:r>
              <a:rPr lang="en-GB" dirty="0">
                <a:solidFill>
                  <a:srgbClr val="00B0F0"/>
                </a:solidFill>
                <a:latin typeface="Arial" panose="020B0604020202020204" pitchFamily="34" charset="0"/>
                <a:cs typeface="Arial" panose="020B0604020202020204" pitchFamily="34" charset="0"/>
              </a:rPr>
              <a:t>Requirements analysis;</a:t>
            </a:r>
          </a:p>
          <a:p>
            <a:pPr lvl="1">
              <a:lnSpc>
                <a:spcPct val="90000"/>
              </a:lnSpc>
              <a:buFont typeface="Wingdings" panose="05000000000000000000" pitchFamily="2" charset="2"/>
              <a:buChar char="§"/>
            </a:pPr>
            <a:r>
              <a:rPr lang="en-GB" dirty="0">
                <a:solidFill>
                  <a:srgbClr val="00B0F0"/>
                </a:solidFill>
                <a:latin typeface="Arial" panose="020B0604020202020204" pitchFamily="34" charset="0"/>
                <a:cs typeface="Arial" panose="020B0604020202020204" pitchFamily="34" charset="0"/>
              </a:rPr>
              <a:t>Requirements validation;</a:t>
            </a:r>
          </a:p>
          <a:p>
            <a:pPr lvl="1">
              <a:lnSpc>
                <a:spcPct val="90000"/>
              </a:lnSpc>
              <a:buFont typeface="Wingdings" panose="05000000000000000000" pitchFamily="2" charset="2"/>
              <a:buChar char="§"/>
            </a:pPr>
            <a:r>
              <a:rPr lang="en-GB" dirty="0">
                <a:solidFill>
                  <a:srgbClr val="00B0F0"/>
                </a:solidFill>
                <a:latin typeface="Arial" panose="020B0604020202020204" pitchFamily="34" charset="0"/>
                <a:cs typeface="Arial" panose="020B0604020202020204" pitchFamily="34" charset="0"/>
              </a:rPr>
              <a:t>Requirements management.</a:t>
            </a:r>
          </a:p>
          <a:p>
            <a:pPr>
              <a:lnSpc>
                <a:spcPct val="90000"/>
              </a:lnSpc>
              <a:buFont typeface="Wingdings" panose="05000000000000000000" pitchFamily="2" charset="2"/>
              <a:buChar char="²"/>
            </a:pPr>
            <a:r>
              <a:rPr lang="en-GB" dirty="0">
                <a:latin typeface="Arial" panose="020B0604020202020204" pitchFamily="34" charset="0"/>
                <a:cs typeface="Arial" panose="020B0604020202020204" pitchFamily="34" charset="0"/>
              </a:rPr>
              <a:t>In practice, RE is an iterative activity in which these processes are interleaved.</a:t>
            </a:r>
          </a:p>
        </p:txBody>
      </p:sp>
    </p:spTree>
    <p:extLst>
      <p:ext uri="{BB962C8B-B14F-4D97-AF65-F5344CB8AC3E}">
        <p14:creationId xmlns:p14="http://schemas.microsoft.com/office/powerpoint/2010/main" val="6435834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2768837" y="2321488"/>
            <a:ext cx="4653223" cy="4015038"/>
          </a:xfrm>
          <a:prstGeom prst="rect">
            <a:avLst/>
          </a:prstGeom>
        </p:spPr>
      </p:pic>
    </p:spTree>
    <p:extLst>
      <p:ext uri="{BB962C8B-B14F-4D97-AF65-F5344CB8AC3E}">
        <p14:creationId xmlns:p14="http://schemas.microsoft.com/office/powerpoint/2010/main" val="37500101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latin typeface="Arial" panose="020B0604020202020204" pitchFamily="34" charset="0"/>
                <a:cs typeface="Arial" panose="020B0604020202020204" pitchFamily="34" charset="0"/>
              </a:rPr>
              <a:t>Requirements elicitation and analysis</a:t>
            </a:r>
            <a:endParaRPr lang="en-US" dirty="0">
              <a:solidFill>
                <a:schemeClr val="bg1"/>
              </a:solidFill>
            </a:endParaRPr>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cs typeface="Arial" panose="020B0604020202020204" pitchFamily="34" charset="0"/>
              </a:rPr>
              <a:t>Sometimes called </a:t>
            </a:r>
            <a:r>
              <a:rPr lang="en-GB" i="1" dirty="0">
                <a:solidFill>
                  <a:srgbClr val="00B0F0"/>
                </a:solidFill>
                <a:latin typeface="Arial" panose="020B0604020202020204" pitchFamily="34" charset="0"/>
                <a:cs typeface="Arial" panose="020B0604020202020204" pitchFamily="34" charset="0"/>
              </a:rPr>
              <a:t>requirements elicitation </a:t>
            </a:r>
            <a:r>
              <a:rPr lang="en-GB" dirty="0">
                <a:latin typeface="Arial" panose="020B0604020202020204" pitchFamily="34" charset="0"/>
                <a:cs typeface="Arial" panose="020B0604020202020204" pitchFamily="34" charset="0"/>
              </a:rPr>
              <a:t>or </a:t>
            </a:r>
            <a:r>
              <a:rPr lang="en-GB" i="1" dirty="0">
                <a:solidFill>
                  <a:srgbClr val="00B0F0"/>
                </a:solidFill>
                <a:latin typeface="Arial" panose="020B0604020202020204" pitchFamily="34" charset="0"/>
                <a:cs typeface="Arial" panose="020B0604020202020204" pitchFamily="34" charset="0"/>
              </a:rPr>
              <a:t>requirements discovery</a:t>
            </a:r>
            <a:r>
              <a:rPr lang="en-GB" dirty="0">
                <a:latin typeface="Arial" panose="020B0604020202020204" pitchFamily="34" charset="0"/>
                <a:cs typeface="Arial" panose="020B0604020202020204" pitchFamily="34" charset="0"/>
              </a:rPr>
              <a:t>.</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Involves technical staff working with customers to find out about the application domain, the services that the system should provide and the system’s operational constraints.</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May involve end-users, managers, engineers involved in maintenance, domain experts, trade unions, etc. These are called </a:t>
            </a:r>
            <a:r>
              <a:rPr lang="en-GB" i="1" dirty="0">
                <a:solidFill>
                  <a:srgbClr val="00B0F0"/>
                </a:solidFill>
                <a:latin typeface="Arial" panose="020B0604020202020204" pitchFamily="34" charset="0"/>
                <a:cs typeface="Arial" panose="020B0604020202020204" pitchFamily="34" charset="0"/>
              </a:rPr>
              <a:t>stakeholders</a:t>
            </a:r>
            <a:r>
              <a:rPr lang="en-GB"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731495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761413" cy="940590"/>
          </a:xfrm>
        </p:spPr>
        <p:txBody>
          <a:bodyPr/>
          <a:lstStyle/>
          <a:p>
            <a:r>
              <a:rPr lang="en-US" dirty="0" smtClean="0"/>
              <a:t>Problems with the requirements gathering</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cs typeface="Arial" panose="020B0604020202020204" pitchFamily="34" charset="0"/>
              </a:rPr>
              <a:t>Stakeholders don’t know what they really want.</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Stakeholders express requirements in their own terms.</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Different stakeholders may have conflicting requirements.</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Organisational and political factors may influence the system requirements.</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The requirements change during the analysis process. New stakeholders may emerge and the business environment may change.</a:t>
            </a:r>
          </a:p>
        </p:txBody>
      </p:sp>
    </p:spTree>
    <p:extLst>
      <p:ext uri="{BB962C8B-B14F-4D97-AF65-F5344CB8AC3E}">
        <p14:creationId xmlns:p14="http://schemas.microsoft.com/office/powerpoint/2010/main" val="1869896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The requirements </a:t>
            </a:r>
            <a:r>
              <a:rPr lang="en-US" dirty="0" smtClean="0">
                <a:latin typeface="Arial" panose="020B0604020202020204" pitchFamily="34" charset="0"/>
                <a:cs typeface="Arial" panose="020B0604020202020204" pitchFamily="34" charset="0"/>
              </a:rPr>
              <a:t>elicitation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cs typeface="Arial" panose="020B0604020202020204" pitchFamily="34" charset="0"/>
              </a:rPr>
              <a:t>Software engineers work with a range of system stakeholders to find out about the application domain, the services that the system should provide, the required system performance, hardware constraints, other systems, </a:t>
            </a:r>
            <a:r>
              <a:rPr lang="en-US" dirty="0" err="1" smtClean="0">
                <a:latin typeface="Arial" panose="020B0604020202020204" pitchFamily="34" charset="0"/>
                <a:cs typeface="Arial" panose="020B0604020202020204" pitchFamily="34" charset="0"/>
              </a:rPr>
              <a:t>etc</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0782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The requirements elicitation </a:t>
            </a:r>
            <a:endParaRPr lang="en-US" dirty="0"/>
          </a:p>
        </p:txBody>
      </p:sp>
      <p:pic>
        <p:nvPicPr>
          <p:cNvPr id="4" name="Picture 6" descr="4.13 RequirementsElicitation.eps"/>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87155" y="2324455"/>
            <a:ext cx="5726659" cy="376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58389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Methods  for requirements gathering/discovery </a:t>
            </a:r>
            <a:endParaRPr lang="en-US" dirty="0"/>
          </a:p>
        </p:txBody>
      </p:sp>
      <p:sp>
        <p:nvSpPr>
          <p:cNvPr id="3" name="Content Placeholder 2"/>
          <p:cNvSpPr>
            <a:spLocks noGrp="1"/>
          </p:cNvSpPr>
          <p:nvPr>
            <p:ph idx="1"/>
          </p:nvPr>
        </p:nvSpPr>
        <p:spPr/>
        <p:txBody>
          <a:bodyPr/>
          <a:lstStyle/>
          <a:p>
            <a:r>
              <a:rPr lang="en-US" dirty="0" smtClean="0"/>
              <a:t>Interview</a:t>
            </a:r>
          </a:p>
          <a:p>
            <a:r>
              <a:rPr lang="en-US" dirty="0" smtClean="0"/>
              <a:t>Use case</a:t>
            </a:r>
            <a:endParaRPr lang="en-US" dirty="0"/>
          </a:p>
          <a:p>
            <a:r>
              <a:rPr lang="en-US" dirty="0" smtClean="0"/>
              <a:t>Observations </a:t>
            </a:r>
          </a:p>
          <a:p>
            <a:r>
              <a:rPr lang="en-US" dirty="0" smtClean="0"/>
              <a:t>Literature study</a:t>
            </a:r>
            <a:endParaRPr lang="en-US" dirty="0"/>
          </a:p>
        </p:txBody>
      </p:sp>
    </p:spTree>
    <p:extLst>
      <p:ext uri="{BB962C8B-B14F-4D97-AF65-F5344CB8AC3E}">
        <p14:creationId xmlns:p14="http://schemas.microsoft.com/office/powerpoint/2010/main" val="6153902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a:t>
            </a:r>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cs typeface="Arial" panose="020B0604020202020204" pitchFamily="34" charset="0"/>
              </a:rPr>
              <a:t>Formal or informal interviews with stakeholders are part of most RE processes.</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Types of interview</a:t>
            </a:r>
          </a:p>
          <a:p>
            <a:pPr lvl="1">
              <a:buFont typeface="Wingdings" panose="05000000000000000000" pitchFamily="2" charset="2"/>
              <a:buChar char="§"/>
            </a:pPr>
            <a:r>
              <a:rPr lang="en-US" dirty="0">
                <a:latin typeface="Arial" panose="020B0604020202020204" pitchFamily="34" charset="0"/>
                <a:cs typeface="Arial" panose="020B0604020202020204" pitchFamily="34" charset="0"/>
              </a:rPr>
              <a:t>Closed interviews based on pre-determined list of questions</a:t>
            </a:r>
          </a:p>
          <a:p>
            <a:pPr lvl="1">
              <a:buFont typeface="Wingdings" panose="05000000000000000000" pitchFamily="2" charset="2"/>
              <a:buChar char="§"/>
            </a:pPr>
            <a:r>
              <a:rPr lang="en-US" dirty="0">
                <a:latin typeface="Arial" panose="020B0604020202020204" pitchFamily="34" charset="0"/>
                <a:cs typeface="Arial" panose="020B0604020202020204" pitchFamily="34" charset="0"/>
              </a:rPr>
              <a:t>Open interviews where various issues are explored with stakeholders.</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Effective interviewing</a:t>
            </a:r>
          </a:p>
          <a:p>
            <a:pPr lvl="1">
              <a:buFont typeface="Wingdings" panose="05000000000000000000" pitchFamily="2" charset="2"/>
              <a:buChar char="§"/>
            </a:pPr>
            <a:r>
              <a:rPr lang="en-US" dirty="0">
                <a:latin typeface="Arial" panose="020B0604020202020204" pitchFamily="34" charset="0"/>
                <a:cs typeface="Arial" panose="020B0604020202020204" pitchFamily="34" charset="0"/>
              </a:rPr>
              <a:t>Be open-minded, avoid pre-conceived ideas about the requirements and are willing to listen to stakeholders. </a:t>
            </a:r>
            <a:endParaRPr lang="en-GB" dirty="0">
              <a:latin typeface="Arial" panose="020B0604020202020204" pitchFamily="34" charset="0"/>
              <a:cs typeface="Arial" panose="020B0604020202020204" pitchFamily="34" charset="0"/>
            </a:endParaRPr>
          </a:p>
          <a:p>
            <a:pPr lvl="1">
              <a:buFont typeface="Wingdings" panose="05000000000000000000" pitchFamily="2" charset="2"/>
              <a:buChar char="§"/>
            </a:pPr>
            <a:r>
              <a:rPr lang="en-US" dirty="0">
                <a:latin typeface="Arial" panose="020B0604020202020204" pitchFamily="34" charset="0"/>
                <a:cs typeface="Arial" panose="020B0604020202020204" pitchFamily="34" charset="0"/>
              </a:rPr>
              <a:t>Prompt the interviewee to get discussions going using a springboard question, a requirements proposal, or by working together on a prototype system. </a:t>
            </a:r>
          </a:p>
        </p:txBody>
      </p:sp>
    </p:spTree>
    <p:extLst>
      <p:ext uri="{BB962C8B-B14F-4D97-AF65-F5344CB8AC3E}">
        <p14:creationId xmlns:p14="http://schemas.microsoft.com/office/powerpoint/2010/main" val="421095890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Interviews in practice</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US" dirty="0">
                <a:latin typeface="Arial" panose="020B0604020202020204" pitchFamily="34" charset="0"/>
                <a:cs typeface="Arial" panose="020B0604020202020204" pitchFamily="34" charset="0"/>
              </a:rPr>
              <a:t>Normally a mix of closed and open-ended interviewing.</a:t>
            </a:r>
          </a:p>
          <a:p>
            <a:pPr>
              <a:lnSpc>
                <a:spcPct val="90000"/>
              </a:lnSpc>
              <a:buFont typeface="Wingdings" panose="05000000000000000000" pitchFamily="2" charset="2"/>
              <a:buChar char="²"/>
            </a:pPr>
            <a:r>
              <a:rPr lang="en-US" dirty="0">
                <a:latin typeface="Arial" panose="020B0604020202020204" pitchFamily="34" charset="0"/>
                <a:cs typeface="Arial" panose="020B0604020202020204" pitchFamily="34" charset="0"/>
              </a:rPr>
              <a:t>Interviews are good for getting an overall understanding of what stakeholders do and how they might interact with the system.</a:t>
            </a:r>
          </a:p>
          <a:p>
            <a:pPr>
              <a:lnSpc>
                <a:spcPct val="90000"/>
              </a:lnSpc>
              <a:buFont typeface="Wingdings" panose="05000000000000000000" pitchFamily="2" charset="2"/>
              <a:buChar char="²"/>
            </a:pPr>
            <a:r>
              <a:rPr lang="en-US" dirty="0">
                <a:latin typeface="Arial" panose="020B0604020202020204" pitchFamily="34" charset="0"/>
                <a:cs typeface="Arial" panose="020B0604020202020204" pitchFamily="34" charset="0"/>
              </a:rPr>
              <a:t>Interviews are not good for understanding domain requirements</a:t>
            </a:r>
          </a:p>
          <a:p>
            <a:pPr lvl="1">
              <a:lnSpc>
                <a:spcPct val="90000"/>
              </a:lnSpc>
              <a:buFont typeface="Wingdings" panose="05000000000000000000" pitchFamily="2" charset="2"/>
              <a:buChar char="§"/>
            </a:pPr>
            <a:r>
              <a:rPr lang="en-US" dirty="0">
                <a:latin typeface="Arial" panose="020B0604020202020204" pitchFamily="34" charset="0"/>
                <a:cs typeface="Arial" panose="020B0604020202020204" pitchFamily="34" charset="0"/>
              </a:rPr>
              <a:t>Requirements engineers cannot understand specific domain terminology;</a:t>
            </a:r>
          </a:p>
          <a:p>
            <a:pPr lvl="1">
              <a:lnSpc>
                <a:spcPct val="90000"/>
              </a:lnSpc>
              <a:buFont typeface="Wingdings" panose="05000000000000000000" pitchFamily="2" charset="2"/>
              <a:buChar char="§"/>
            </a:pPr>
            <a:r>
              <a:rPr lang="en-US" dirty="0">
                <a:latin typeface="Arial" panose="020B0604020202020204" pitchFamily="34" charset="0"/>
                <a:cs typeface="Arial" panose="020B0604020202020204" pitchFamily="34" charset="0"/>
              </a:rPr>
              <a:t>Some domain knowledge is so familiar that people find it hard to articulate or think that it isn’t worth articulating.</a:t>
            </a:r>
          </a:p>
        </p:txBody>
      </p:sp>
    </p:spTree>
    <p:extLst>
      <p:ext uri="{BB962C8B-B14F-4D97-AF65-F5344CB8AC3E}">
        <p14:creationId xmlns:p14="http://schemas.microsoft.com/office/powerpoint/2010/main" val="221327122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panose="020B0604020202020204" pitchFamily="34" charset="0"/>
                <a:cs typeface="Arial" panose="020B0604020202020204" pitchFamily="34" charset="0"/>
              </a:rPr>
              <a:t>Use cases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cs typeface="Arial" panose="020B0604020202020204" pitchFamily="34" charset="0"/>
              </a:rPr>
              <a:t>Use-cases are a scenario based technique in the UML which identify the actors in an interaction and which describe the interaction itself.</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A set of use cases should describe all possible interactions with the system</a:t>
            </a:r>
            <a:r>
              <a:rPr lang="en-GB" dirty="0" smtClean="0">
                <a:latin typeface="Arial" panose="020B0604020202020204" pitchFamily="34" charset="0"/>
                <a:cs typeface="Arial" panose="020B0604020202020204" pitchFamily="34" charset="0"/>
              </a:rPr>
              <a:t>.</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Sequence diagrams may be used to add detail to use-cases by showing the sequence of event processing in the system.</a:t>
            </a:r>
          </a:p>
          <a:p>
            <a:pPr>
              <a:buFont typeface="Wingdings" panose="05000000000000000000" pitchFamily="2" charset="2"/>
              <a:buChar char="²"/>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10500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Use cases for the MHC-PMS</a:t>
            </a:r>
            <a:endParaRPr lang="en-US" dirty="0"/>
          </a:p>
        </p:txBody>
      </p:sp>
      <p:pic>
        <p:nvPicPr>
          <p:cNvPr id="4" name="Picture 6" descr="4.15 UseCases.eps"/>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3866" y="2623560"/>
            <a:ext cx="5847949" cy="346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784309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latin typeface="Arial" panose="020B0604020202020204" pitchFamily="34" charset="0"/>
                <a:cs typeface="Arial" panose="020B0604020202020204" pitchFamily="34" charset="0"/>
              </a:rPr>
              <a:t>Ethnography</a:t>
            </a:r>
            <a:endParaRPr lang="en-US" dirty="0">
              <a:solidFill>
                <a:schemeClr val="bg1"/>
              </a:solidFill>
            </a:endParaRPr>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cs typeface="Arial" panose="020B0604020202020204" pitchFamily="34" charset="0"/>
              </a:rPr>
              <a:t>A social scientist spends a considerable time observing and analysing how people actually work.</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People do not have to explain or articulate their work.</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Social and organisational factors of importance may be observed.</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Ethnographic studies have shown that work is usually richer and more complex than suggested by simple system models.</a:t>
            </a:r>
          </a:p>
        </p:txBody>
      </p:sp>
    </p:spTree>
    <p:extLst>
      <p:ext uri="{BB962C8B-B14F-4D97-AF65-F5344CB8AC3E}">
        <p14:creationId xmlns:p14="http://schemas.microsoft.com/office/powerpoint/2010/main" val="222037091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analysis </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Requirements classification and organization</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Groups related requirements and organizes them into coherent clusters.</a:t>
            </a:r>
          </a:p>
          <a:p>
            <a:pPr>
              <a:lnSpc>
                <a:spcPct val="90000"/>
              </a:lnSpc>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Prioritization and negotiation</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Prioritizing requirements and resolving requirements conflicts.</a:t>
            </a:r>
          </a:p>
          <a:p>
            <a:pPr>
              <a:lnSpc>
                <a:spcPct val="90000"/>
              </a:lnSpc>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Requirements specification</a:t>
            </a:r>
          </a:p>
          <a:p>
            <a:pPr lvl="1">
              <a:lnSpc>
                <a:spcPct val="90000"/>
              </a:lnSpc>
              <a:buFont typeface="Wingdings" panose="05000000000000000000" pitchFamily="2" charset="2"/>
              <a:buChar char="§"/>
            </a:pPr>
            <a:r>
              <a:rPr lang="en-GB" dirty="0" smtClean="0">
                <a:latin typeface="Arial" panose="020B0604020202020204" pitchFamily="34" charset="0"/>
                <a:cs typeface="Arial" panose="020B0604020202020204" pitchFamily="34" charset="0"/>
              </a:rPr>
              <a:t>Requirements are documented and input into the next round of the spiral.</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19163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latin typeface="Arial" panose="020B0604020202020204" pitchFamily="34" charset="0"/>
                <a:cs typeface="Arial" panose="020B0604020202020204" pitchFamily="34" charset="0"/>
              </a:rPr>
              <a:t>Requirements validation</a:t>
            </a:r>
            <a:endParaRPr lang="en-US" dirty="0">
              <a:solidFill>
                <a:schemeClr val="bg1"/>
              </a:solidFill>
            </a:endParaRPr>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cs typeface="Arial" panose="020B0604020202020204" pitchFamily="34" charset="0"/>
              </a:rPr>
              <a:t>Concerned with demonstrating that the requirements define the system that the customer really wants.</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Requirements error costs are high so validation is very important</a:t>
            </a:r>
          </a:p>
          <a:p>
            <a:pPr lvl="1">
              <a:buFont typeface="Wingdings" panose="05000000000000000000" pitchFamily="2" charset="2"/>
              <a:buChar char="§"/>
            </a:pPr>
            <a:r>
              <a:rPr lang="en-GB" dirty="0">
                <a:latin typeface="Arial" panose="020B0604020202020204" pitchFamily="34" charset="0"/>
                <a:cs typeface="Arial" panose="020B0604020202020204" pitchFamily="34" charset="0"/>
              </a:rPr>
              <a:t>Fixing a requirements error after delivery may cost up to 100 times the cost of fixing an implementation error.</a:t>
            </a:r>
          </a:p>
        </p:txBody>
      </p:sp>
    </p:spTree>
    <p:extLst>
      <p:ext uri="{BB962C8B-B14F-4D97-AF65-F5344CB8AC3E}">
        <p14:creationId xmlns:p14="http://schemas.microsoft.com/office/powerpoint/2010/main" val="32075359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validate?</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Validity. </a:t>
            </a:r>
            <a:r>
              <a:rPr lang="en-GB" dirty="0">
                <a:latin typeface="Arial" panose="020B0604020202020204" pitchFamily="34" charset="0"/>
                <a:cs typeface="Arial" panose="020B0604020202020204" pitchFamily="34" charset="0"/>
              </a:rPr>
              <a:t>Does the system provide the functions which best support the customer’s needs?</a:t>
            </a:r>
          </a:p>
          <a:p>
            <a:pPr>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Consistency</a:t>
            </a:r>
            <a:r>
              <a:rPr lang="en-GB" dirty="0">
                <a:latin typeface="Arial" panose="020B0604020202020204" pitchFamily="34" charset="0"/>
                <a:cs typeface="Arial" panose="020B0604020202020204" pitchFamily="34" charset="0"/>
              </a:rPr>
              <a:t>. Are there any requirements conflicts?</a:t>
            </a:r>
          </a:p>
          <a:p>
            <a:pPr>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Completeness. </a:t>
            </a:r>
            <a:r>
              <a:rPr lang="en-GB" dirty="0">
                <a:latin typeface="Arial" panose="020B0604020202020204" pitchFamily="34" charset="0"/>
                <a:cs typeface="Arial" panose="020B0604020202020204" pitchFamily="34" charset="0"/>
              </a:rPr>
              <a:t>Are all functions required by the customer included?</a:t>
            </a:r>
          </a:p>
          <a:p>
            <a:pPr>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Realism. </a:t>
            </a:r>
            <a:r>
              <a:rPr lang="en-GB" dirty="0">
                <a:latin typeface="Arial" panose="020B0604020202020204" pitchFamily="34" charset="0"/>
                <a:cs typeface="Arial" panose="020B0604020202020204" pitchFamily="34" charset="0"/>
              </a:rPr>
              <a:t>Can the requirements be implemented given available budget and technology</a:t>
            </a:r>
          </a:p>
          <a:p>
            <a:pPr>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Verifiability. </a:t>
            </a:r>
            <a:r>
              <a:rPr lang="en-GB" dirty="0">
                <a:latin typeface="Arial" panose="020B0604020202020204" pitchFamily="34" charset="0"/>
                <a:cs typeface="Arial" panose="020B0604020202020204" pitchFamily="34" charset="0"/>
              </a:rPr>
              <a:t>Can the requirements be checked?</a:t>
            </a:r>
            <a:endParaRPr lang="en-US" dirty="0"/>
          </a:p>
        </p:txBody>
      </p:sp>
    </p:spTree>
    <p:extLst>
      <p:ext uri="{BB962C8B-B14F-4D97-AF65-F5344CB8AC3E}">
        <p14:creationId xmlns:p14="http://schemas.microsoft.com/office/powerpoint/2010/main" val="360727655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a good requirement </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Verifiability</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Is the requirement realistically testable?</a:t>
            </a:r>
          </a:p>
          <a:p>
            <a:pPr>
              <a:lnSpc>
                <a:spcPct val="90000"/>
              </a:lnSpc>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Comprehensibility</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Is the requirement properly understood?</a:t>
            </a:r>
          </a:p>
          <a:p>
            <a:pPr>
              <a:lnSpc>
                <a:spcPct val="90000"/>
              </a:lnSpc>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Traceability</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Is the origin of the requirement clearly stated?</a:t>
            </a:r>
          </a:p>
          <a:p>
            <a:pPr>
              <a:lnSpc>
                <a:spcPct val="90000"/>
              </a:lnSpc>
              <a:buFont typeface="Wingdings" panose="05000000000000000000" pitchFamily="2" charset="2"/>
              <a:buChar char="²"/>
            </a:pPr>
            <a:r>
              <a:rPr lang="en-GB" dirty="0">
                <a:solidFill>
                  <a:srgbClr val="00B0F0"/>
                </a:solidFill>
                <a:latin typeface="Arial" panose="020B0604020202020204" pitchFamily="34" charset="0"/>
                <a:cs typeface="Arial" panose="020B0604020202020204" pitchFamily="34" charset="0"/>
              </a:rPr>
              <a:t>Adaptability</a:t>
            </a:r>
          </a:p>
          <a:p>
            <a:pPr lvl="1">
              <a:lnSpc>
                <a:spcPct val="90000"/>
              </a:lnSpc>
              <a:buFont typeface="Wingdings" panose="05000000000000000000" pitchFamily="2" charset="2"/>
              <a:buChar char="§"/>
            </a:pPr>
            <a:r>
              <a:rPr lang="en-GB" dirty="0">
                <a:latin typeface="Arial" panose="020B0604020202020204" pitchFamily="34" charset="0"/>
                <a:cs typeface="Arial" panose="020B0604020202020204" pitchFamily="34" charset="0"/>
              </a:rPr>
              <a:t>Can the requirement be changed without a large impact on other requirements?</a:t>
            </a:r>
          </a:p>
        </p:txBody>
      </p:sp>
    </p:spTree>
    <p:extLst>
      <p:ext uri="{BB962C8B-B14F-4D97-AF65-F5344CB8AC3E}">
        <p14:creationId xmlns:p14="http://schemas.microsoft.com/office/powerpoint/2010/main" val="2594353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Management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i="1" dirty="0">
                <a:solidFill>
                  <a:srgbClr val="00B0F0"/>
                </a:solidFill>
                <a:latin typeface="Arial" panose="020B0604020202020204" pitchFamily="34" charset="0"/>
                <a:cs typeface="Arial" panose="020B0604020202020204" pitchFamily="34" charset="0"/>
              </a:rPr>
              <a:t>Requirements management </a:t>
            </a:r>
            <a:r>
              <a:rPr lang="en-GB" dirty="0">
                <a:latin typeface="Arial" panose="020B0604020202020204" pitchFamily="34" charset="0"/>
                <a:cs typeface="Arial" panose="020B0604020202020204" pitchFamily="34" charset="0"/>
              </a:rPr>
              <a:t>is the process of managing changing requirements during the requirements engineering process and system development.</a:t>
            </a:r>
          </a:p>
          <a:p>
            <a:pPr>
              <a:buFont typeface="Wingdings" panose="05000000000000000000" pitchFamily="2" charset="2"/>
              <a:buChar char="²"/>
            </a:pPr>
            <a:r>
              <a:rPr lang="en-GB" dirty="0">
                <a:latin typeface="Arial" panose="020B0604020202020204" pitchFamily="34" charset="0"/>
                <a:cs typeface="Arial" panose="020B0604020202020204" pitchFamily="34" charset="0"/>
              </a:rPr>
              <a:t>New requirements emerge as a system is being developed and after it has gone into use.</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46241724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Changing requirements</a:t>
            </a:r>
            <a:endParaRPr lang="en-US" dirty="0"/>
          </a:p>
        </p:txBody>
      </p:sp>
      <p:sp>
        <p:nvSpPr>
          <p:cNvPr id="3" name="Content Placeholder 2"/>
          <p:cNvSpPr>
            <a:spLocks noGrp="1"/>
          </p:cNvSpPr>
          <p:nvPr>
            <p:ph idx="1"/>
          </p:nvPr>
        </p:nvSpPr>
        <p:spPr/>
        <p:txBody>
          <a:bodyPr>
            <a:normAutofit fontScale="85000" lnSpcReduction="10000"/>
          </a:bodyPr>
          <a:lstStyle/>
          <a:p>
            <a:pPr>
              <a:buFont typeface="Wingdings" panose="05000000000000000000" pitchFamily="2" charset="2"/>
              <a:buChar char="²"/>
            </a:pPr>
            <a:r>
              <a:rPr lang="en-US" dirty="0">
                <a:latin typeface="Arial" panose="020B0604020202020204" pitchFamily="34" charset="0"/>
                <a:cs typeface="Arial" panose="020B0604020202020204" pitchFamily="34" charset="0"/>
              </a:rPr>
              <a:t>The business and technical environment of the system always changes after installation. </a:t>
            </a:r>
          </a:p>
          <a:p>
            <a:pPr lvl="1">
              <a:buFont typeface="Wingdings" panose="05000000000000000000" pitchFamily="2" charset="2"/>
              <a:buChar char="§"/>
            </a:pPr>
            <a:r>
              <a:rPr lang="en-US" dirty="0">
                <a:latin typeface="Arial" panose="020B0604020202020204" pitchFamily="34" charset="0"/>
                <a:cs typeface="Arial" panose="020B0604020202020204" pitchFamily="34" charset="0"/>
              </a:rPr>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a:latin typeface="Arial" panose="020B0604020202020204" pitchFamily="34" charset="0"/>
              <a:cs typeface="Arial" panose="020B0604020202020204" pitchFamily="34" charset="0"/>
            </a:endParaRPr>
          </a:p>
          <a:p>
            <a:pPr>
              <a:buFont typeface="Wingdings" panose="05000000000000000000" pitchFamily="2" charset="2"/>
              <a:buChar char="²"/>
            </a:pPr>
            <a:r>
              <a:rPr lang="en-US" dirty="0">
                <a:latin typeface="Arial" panose="020B0604020202020204" pitchFamily="34" charset="0"/>
                <a:cs typeface="Arial" panose="020B0604020202020204" pitchFamily="34" charset="0"/>
              </a:rPr>
              <a:t>The people who pay for a system and the users of that system are rarely the same people. </a:t>
            </a:r>
          </a:p>
          <a:p>
            <a:pPr lvl="1">
              <a:buFont typeface="Wingdings" panose="05000000000000000000" pitchFamily="2" charset="2"/>
              <a:buChar char="§"/>
            </a:pPr>
            <a:r>
              <a:rPr lang="en-US" dirty="0">
                <a:latin typeface="Arial" panose="020B0604020202020204" pitchFamily="34" charset="0"/>
                <a:cs typeface="Arial" panose="020B0604020202020204" pitchFamily="34" charset="0"/>
              </a:rPr>
              <a:t>System customers impose requirements because of organizational and budgetary constraints. These may conflict with end-user requirements and, after delivery, new features may have to be added for user support if the system is to meet its goals</a:t>
            </a:r>
            <a:r>
              <a:rPr lang="en-US" dirty="0" smtClean="0">
                <a:latin typeface="Arial" panose="020B0604020202020204" pitchFamily="34" charset="0"/>
                <a:cs typeface="Arial" panose="020B0604020202020204" pitchFamily="34" charset="0"/>
              </a:rPr>
              <a:t>.</a:t>
            </a:r>
          </a:p>
          <a:p>
            <a:pPr>
              <a:buFont typeface="Wingdings" panose="05000000000000000000" pitchFamily="2" charset="2"/>
              <a:buChar char="²"/>
            </a:pPr>
            <a:r>
              <a:rPr lang="en-US" dirty="0">
                <a:latin typeface="Arial" panose="020B0604020202020204" pitchFamily="34" charset="0"/>
                <a:cs typeface="Arial" panose="020B0604020202020204" pitchFamily="34" charset="0"/>
              </a:rPr>
              <a:t>Large systems usually have a diverse user community, with many users having different requirements and priorities that may be conflicting or contradictory. </a:t>
            </a:r>
          </a:p>
          <a:p>
            <a:pPr lvl="1">
              <a:buFont typeface="Wingdings" panose="05000000000000000000" pitchFamily="2" charset="2"/>
              <a:buChar char="§"/>
            </a:pPr>
            <a:r>
              <a:rPr lang="en-US" dirty="0">
                <a:latin typeface="Arial" panose="020B0604020202020204" pitchFamily="34" charset="0"/>
                <a:cs typeface="Arial" panose="020B0604020202020204" pitchFamily="34" charset="0"/>
              </a:rPr>
              <a:t>The final system requirements are inevitably a compromise between them and, with experience, it is often discovered that the balance of support given to different users has to be changed.</a:t>
            </a:r>
          </a:p>
          <a:p>
            <a:pPr marL="457200" lvl="1" indent="0">
              <a:buNone/>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43792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ea typeface="ＭＳ Ｐゴシック" panose="020B0600070205080204" pitchFamily="34" charset="-128"/>
                <a:cs typeface="Arial" panose="020B0604020202020204" pitchFamily="34" charset="0"/>
              </a:rPr>
              <a:t>Overview of </a:t>
            </a:r>
            <a:r>
              <a:rPr lang="en-US" smtClean="0">
                <a:latin typeface="Arial" panose="020B0604020202020204" pitchFamily="34" charset="0"/>
                <a:ea typeface="ＭＳ Ｐゴシック" panose="020B0600070205080204" pitchFamily="34" charset="-128"/>
                <a:cs typeface="Arial" panose="020B0604020202020204" pitchFamily="34" charset="0"/>
              </a:rPr>
              <a:t>SRS document</a:t>
            </a:r>
            <a:r>
              <a:rPr lang="en-GB" smtClean="0">
                <a:latin typeface="Arial" panose="020B0604020202020204" pitchFamily="34" charset="0"/>
                <a:ea typeface="ＭＳ Ｐゴシック" panose="020B0600070205080204" pitchFamily="34" charset="-128"/>
                <a:cs typeface="Arial" panose="020B0604020202020204" pitchFamily="34" charset="0"/>
              </a:rPr>
              <a:t> </a:t>
            </a:r>
            <a:endParaRPr lang="en-US" dirty="0"/>
          </a:p>
        </p:txBody>
      </p:sp>
      <p:pic>
        <p:nvPicPr>
          <p:cNvPr id="4" name="Content Placeholder 3"/>
          <p:cNvPicPr>
            <a:picLocks noGrp="1" noChangeAspect="1"/>
          </p:cNvPicPr>
          <p:nvPr>
            <p:ph idx="1"/>
          </p:nvPr>
        </p:nvPicPr>
        <p:blipFill>
          <a:blip r:embed="rId2"/>
          <a:stretch>
            <a:fillRect/>
          </a:stretch>
        </p:blipFill>
        <p:spPr>
          <a:xfrm>
            <a:off x="1854437" y="2502364"/>
            <a:ext cx="7007551" cy="3807993"/>
          </a:xfrm>
          <a:prstGeom prst="rect">
            <a:avLst/>
          </a:prstGeom>
        </p:spPr>
      </p:pic>
    </p:spTree>
    <p:extLst>
      <p:ext uri="{BB962C8B-B14F-4D97-AF65-F5344CB8AC3E}">
        <p14:creationId xmlns:p14="http://schemas.microsoft.com/office/powerpoint/2010/main" val="22065567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6764</TotalTime>
  <Words>2601</Words>
  <Application>Microsoft Office PowerPoint</Application>
  <PresentationFormat>Widescreen</PresentationFormat>
  <Paragraphs>232</Paragraphs>
  <Slides>51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ＭＳ Ｐゴシック</vt:lpstr>
      <vt:lpstr>ＭＳ Ｐゴシック</vt:lpstr>
      <vt:lpstr>Arial</vt:lpstr>
      <vt:lpstr>Calibri</vt:lpstr>
      <vt:lpstr>Century Gothic</vt:lpstr>
      <vt:lpstr>Wingdings</vt:lpstr>
      <vt:lpstr>Wingdings 3</vt:lpstr>
      <vt:lpstr>Ion Boardroom</vt:lpstr>
      <vt:lpstr>REQUIREMENTS ENGINEERING</vt:lpstr>
      <vt:lpstr>Outline </vt:lpstr>
      <vt:lpstr>Requirements engineering</vt:lpstr>
      <vt:lpstr>What is a requirement?</vt:lpstr>
      <vt:lpstr>Types of requirement</vt:lpstr>
      <vt:lpstr>User and system requirements</vt:lpstr>
      <vt:lpstr>Readers of different types of requirements specification </vt:lpstr>
      <vt:lpstr>Functional and non-functional requirements</vt:lpstr>
      <vt:lpstr>Functional requirements</vt:lpstr>
      <vt:lpstr>Functional requirements for the MHC-PMS</vt:lpstr>
      <vt:lpstr>Requirements imprecision</vt:lpstr>
      <vt:lpstr>Completeness  and consistency</vt:lpstr>
      <vt:lpstr>Non-functional requirements</vt:lpstr>
      <vt:lpstr>Types of nonfunctional requirement </vt:lpstr>
      <vt:lpstr>Implementation </vt:lpstr>
      <vt:lpstr>Non-functional classifications</vt:lpstr>
      <vt:lpstr>Examples:</vt:lpstr>
      <vt:lpstr>Goals and requirements</vt:lpstr>
      <vt:lpstr>Usability requirements</vt:lpstr>
      <vt:lpstr>Metrics for non-functional requirements</vt:lpstr>
      <vt:lpstr>Domain requirements</vt:lpstr>
      <vt:lpstr>Train protection system</vt:lpstr>
      <vt:lpstr>Domain requirements problems</vt:lpstr>
      <vt:lpstr>Agile methods and requirements</vt:lpstr>
      <vt:lpstr>The software requirements document</vt:lpstr>
      <vt:lpstr>Users of a requirements document </vt:lpstr>
      <vt:lpstr>Requirements specification</vt:lpstr>
      <vt:lpstr>Ways of writing a system requirements specification </vt:lpstr>
      <vt:lpstr>Requirements and design</vt:lpstr>
      <vt:lpstr>Natural language specification</vt:lpstr>
      <vt:lpstr>Guidelines for writing requirements</vt:lpstr>
      <vt:lpstr>Example requirements for the insulin pump software system </vt:lpstr>
      <vt:lpstr>Requirements engineering processes</vt:lpstr>
      <vt:lpstr>PowerPoint Presentation</vt:lpstr>
      <vt:lpstr>Requirements elicitation and analysis</vt:lpstr>
      <vt:lpstr>Problems with the requirements gathering</vt:lpstr>
      <vt:lpstr>The requirements elicitation </vt:lpstr>
      <vt:lpstr>The requirements elicitation </vt:lpstr>
      <vt:lpstr>Methods  for requirements gathering/discovery </vt:lpstr>
      <vt:lpstr>Interview</vt:lpstr>
      <vt:lpstr>Interviews in practice</vt:lpstr>
      <vt:lpstr>Use cases</vt:lpstr>
      <vt:lpstr>Use cases for the MHC-PMS</vt:lpstr>
      <vt:lpstr>Ethnography</vt:lpstr>
      <vt:lpstr>Requirements analysis </vt:lpstr>
      <vt:lpstr>Requirements validation</vt:lpstr>
      <vt:lpstr>How to validate?</vt:lpstr>
      <vt:lpstr>Properties of a good requirement </vt:lpstr>
      <vt:lpstr>Requirements Management </vt:lpstr>
      <vt:lpstr>Changing requirements</vt:lpstr>
      <vt:lpstr>Overview of SRS document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dc:title>
  <dc:creator>Windows 用户</dc:creator>
  <cp:lastModifiedBy>Windows 用户</cp:lastModifiedBy>
  <cp:revision>22</cp:revision>
  <dcterms:created xsi:type="dcterms:W3CDTF">2022-06-28T07:53:08Z</dcterms:created>
  <dcterms:modified xsi:type="dcterms:W3CDTF">2022-07-24T09:22:09Z</dcterms:modified>
</cp:coreProperties>
</file>